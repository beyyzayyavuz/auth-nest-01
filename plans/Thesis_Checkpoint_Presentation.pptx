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61838"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764"/>
    <p:restoredTop sz="95479"/>
  </p:normalViewPr>
  <p:slideViewPr>
    <p:cSldViewPr snapToGrid="0" snapToObjects="1">
      <p:cViewPr varScale="1">
        <p:scale>
          <a:sx n="115" d="100"/>
          <a:sy n="115" d="100"/>
        </p:scale>
        <p:origin x="864"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al__ma_Sayfas_.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tr-TR"/>
  <c:roundedCorners val="1"/>
  <c:style val="2"/>
  <c:chart>
    <c:autoTitleDeleted val="1"/>
    <c:plotArea>
      <c:layout/>
      <c:barChart>
        <c:barDir val="col"/>
        <c:grouping val="clustered"/>
        <c:varyColors val="1"/>
        <c:ser>
          <c:idx val="0"/>
          <c:order val="0"/>
          <c:tx>
            <c:strRef>
              <c:f>Sheet1!$B$1</c:f>
              <c:strCache>
                <c:ptCount val="1"/>
                <c:pt idx="0">
                  <c:v>Proposed (RF)</c:v>
                </c:pt>
              </c:strCache>
            </c:strRef>
          </c:tx>
          <c:spPr>
            <a:solidFill>
              <a:srgbClr val="02C39A"/>
            </a:solidFill>
          </c:spPr>
          <c:invertIfNegative val="1"/>
          <c:dLbls>
            <c:numFmt formatCode="0.00" sourceLinked="0"/>
            <c:spPr>
              <a:noFill/>
              <a:ln>
                <a:noFill/>
              </a:ln>
              <a:effectLst/>
            </c:spPr>
            <c:txPr>
              <a:bodyPr/>
              <a:lstStyle/>
              <a:p>
                <a:pPr>
                  <a:defRPr sz="900">
                    <a:solidFill>
                      <a:srgbClr val="FFFFFF"/>
                    </a:solidFill>
                  </a:defRPr>
                </a:pPr>
                <a:endParaRPr lang="tr-T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http_flood</c:v>
                </c:pt>
                <c:pt idx="1">
                  <c:v>normal_user</c:v>
                </c:pt>
                <c:pt idx="2">
                  <c:v>low_rate_bot</c:v>
                </c:pt>
              </c:strCache>
            </c:strRef>
          </c:cat>
          <c:val>
            <c:numRef>
              <c:f>Sheet1!$B$2:$B$4</c:f>
              <c:numCache>
                <c:formatCode>General</c:formatCode>
                <c:ptCount val="3"/>
                <c:pt idx="0">
                  <c:v>0.96379999999999999</c:v>
                </c:pt>
                <c:pt idx="1">
                  <c:v>3.0800000000000001E-2</c:v>
                </c:pt>
                <c:pt idx="2">
                  <c:v>5.4000000000000003E-3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F65-8E42-BB53-61E1AAB8AF1A}"/>
            </c:ext>
          </c:extLst>
        </c:ser>
        <c:ser>
          <c:idx val="1"/>
          <c:order val="1"/>
          <c:tx>
            <c:strRef>
              <c:f>Sheet1!$C$1</c:f>
              <c:strCache>
                <c:ptCount val="1"/>
                <c:pt idx="0">
                  <c:v>ISO+RF (alternative)</c:v>
                </c:pt>
              </c:strCache>
            </c:strRef>
          </c:tx>
          <c:spPr>
            <a:solidFill>
              <a:srgbClr val="8FAEEB"/>
            </a:solidFill>
          </c:spPr>
          <c:invertIfNegative val="1"/>
          <c:dLbls>
            <c:numFmt formatCode="0.00" sourceLinked="0"/>
            <c:spPr>
              <a:noFill/>
              <a:ln>
                <a:noFill/>
              </a:ln>
              <a:effectLst/>
            </c:spPr>
            <c:txPr>
              <a:bodyPr/>
              <a:lstStyle/>
              <a:p>
                <a:pPr>
                  <a:defRPr sz="900">
                    <a:solidFill>
                      <a:srgbClr val="FFFFFF"/>
                    </a:solidFill>
                  </a:defRPr>
                </a:pPr>
                <a:endParaRPr lang="tr-T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http_flood</c:v>
                </c:pt>
                <c:pt idx="1">
                  <c:v>normal_user</c:v>
                </c:pt>
                <c:pt idx="2">
                  <c:v>low_rate_bot</c:v>
                </c:pt>
              </c:strCache>
            </c:strRef>
          </c:cat>
          <c:val>
            <c:numRef>
              <c:f>Sheet1!$C$2:$C$4</c:f>
              <c:numCache>
                <c:formatCode>General</c:formatCode>
                <c:ptCount val="3"/>
                <c:pt idx="0">
                  <c:v>0.8891</c:v>
                </c:pt>
                <c:pt idx="1">
                  <c:v>0.1055</c:v>
                </c:pt>
                <c:pt idx="2">
                  <c:v>5.4000000000000003E-3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0F65-8E42-BB53-61E1AAB8AF1A}"/>
            </c:ext>
          </c:extLst>
        </c:ser>
        <c:dLbls>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spPr>
        <a:ln>
          <a:solidFill>
            <a:schemeClr val="bg1"/>
          </a:solidFill>
        </a:ln>
      </c:spPr>
    </c:plotArea>
    <c:legend>
      <c:legendPos val="r"/>
      <c:overlay val="0"/>
    </c:legend>
    <c:plotVisOnly val="1"/>
    <c:dispBlanksAs val="gap"/>
    <c:showDLblsOverMax val="1"/>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Rectangle 1"/>
          <p:cNvSpPr/>
          <p:nvPr/>
        </p:nvSpPr>
        <p:spPr>
          <a:xfrm>
            <a:off x="0" y="0"/>
            <a:ext cx="228600" cy="68580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0"/>
            <a:ext cx="10972800" cy="365760"/>
          </a:xfrm>
          <a:prstGeom prst="rect">
            <a:avLst/>
          </a:prstGeom>
          <a:noFill/>
        </p:spPr>
        <p:txBody>
          <a:bodyPr wrap="square" lIns="0" tIns="0" rIns="0" bIns="0" anchor="t">
            <a:spAutoFit/>
          </a:bodyPr>
          <a:lstStyle/>
          <a:p>
            <a:pPr algn="l"/>
            <a:r>
              <a:rPr sz="1200" b="1" i="0" spc="600">
                <a:solidFill>
                  <a:srgbClr val="8FAEEB"/>
                </a:solidFill>
                <a:latin typeface="Calibri"/>
              </a:rPr>
              <a:t>GRADUATION THESIS — CHECKPOINT PRESENTATION</a:t>
            </a:r>
          </a:p>
        </p:txBody>
      </p:sp>
      <p:sp>
        <p:nvSpPr>
          <p:cNvPr id="4" name="TextBox 3"/>
          <p:cNvSpPr txBox="1"/>
          <p:nvPr/>
        </p:nvSpPr>
        <p:spPr>
          <a:xfrm>
            <a:off x="731520" y="1920240"/>
            <a:ext cx="10972800" cy="1645920"/>
          </a:xfrm>
          <a:prstGeom prst="rect">
            <a:avLst/>
          </a:prstGeom>
          <a:noFill/>
        </p:spPr>
        <p:txBody>
          <a:bodyPr wrap="square" lIns="0" tIns="0" rIns="0" bIns="0" anchor="t">
            <a:spAutoFit/>
          </a:bodyPr>
          <a:lstStyle/>
          <a:p>
            <a:pPr algn="l"/>
            <a:r>
              <a:rPr sz="4400" b="1" i="0">
                <a:solidFill>
                  <a:srgbClr val="FFFFFF"/>
                </a:solidFill>
                <a:latin typeface="Calibri"/>
              </a:rPr>
              <a:t>Behavioral DDoS Detection</a:t>
            </a:r>
          </a:p>
          <a:p>
            <a:pPr algn="l"/>
            <a:r>
              <a:rPr sz="4400" b="1" i="0">
                <a:solidFill>
                  <a:srgbClr val="FFFFFF"/>
                </a:solidFill>
                <a:latin typeface="Calibri"/>
              </a:rPr>
              <a:t>at the API Layer</a:t>
            </a:r>
          </a:p>
        </p:txBody>
      </p:sp>
      <p:sp>
        <p:nvSpPr>
          <p:cNvPr id="5" name="TextBox 4"/>
          <p:cNvSpPr txBox="1"/>
          <p:nvPr/>
        </p:nvSpPr>
        <p:spPr>
          <a:xfrm>
            <a:off x="731520" y="3703320"/>
            <a:ext cx="10972800" cy="457200"/>
          </a:xfrm>
          <a:prstGeom prst="rect">
            <a:avLst/>
          </a:prstGeom>
          <a:noFill/>
        </p:spPr>
        <p:txBody>
          <a:bodyPr wrap="square" lIns="0" tIns="0" rIns="0" bIns="0" anchor="t">
            <a:spAutoFit/>
          </a:bodyPr>
          <a:lstStyle/>
          <a:p>
            <a:pPr algn="l"/>
            <a:r>
              <a:rPr sz="2000" b="0" i="1">
                <a:solidFill>
                  <a:srgbClr val="CADCFC"/>
                </a:solidFill>
                <a:latin typeface="Calibri"/>
              </a:rPr>
              <a:t>Robustness of Behavioral Features under Mimicry Attacks</a:t>
            </a:r>
          </a:p>
        </p:txBody>
      </p:sp>
      <p:sp>
        <p:nvSpPr>
          <p:cNvPr id="6" name="Rectangle 5"/>
          <p:cNvSpPr/>
          <p:nvPr/>
        </p:nvSpPr>
        <p:spPr>
          <a:xfrm>
            <a:off x="731520" y="4434840"/>
            <a:ext cx="731520" cy="36576"/>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4663440"/>
            <a:ext cx="7315200" cy="677108"/>
          </a:xfrm>
          <a:prstGeom prst="rect">
            <a:avLst/>
          </a:prstGeom>
          <a:noFill/>
        </p:spPr>
        <p:txBody>
          <a:bodyPr wrap="square" lIns="0" tIns="0" rIns="0" bIns="0" anchor="t">
            <a:spAutoFit/>
          </a:bodyPr>
          <a:lstStyle/>
          <a:p>
            <a:pPr algn="l"/>
            <a:r>
              <a:rPr sz="1800" b="1" i="0" dirty="0">
                <a:solidFill>
                  <a:srgbClr val="FFFFFF"/>
                </a:solidFill>
                <a:latin typeface="Calibri"/>
              </a:rPr>
              <a:t>Beyza Yavuz</a:t>
            </a:r>
          </a:p>
          <a:p>
            <a:pPr algn="l"/>
            <a:r>
              <a:rPr sz="1300" b="0" i="0" dirty="0">
                <a:solidFill>
                  <a:srgbClr val="CADCFC"/>
                </a:solidFill>
                <a:latin typeface="Calibri"/>
              </a:rPr>
              <a:t>Advisor: </a:t>
            </a:r>
            <a:r>
              <a:rPr lang="tr-TR" sz="1300" dirty="0" err="1">
                <a:solidFill>
                  <a:srgbClr val="CADCFC"/>
                </a:solidFill>
                <a:latin typeface="Calibri"/>
              </a:rPr>
              <a:t>Kristin</a:t>
            </a:r>
            <a:r>
              <a:rPr lang="tr-TR" sz="1300" dirty="0">
                <a:solidFill>
                  <a:srgbClr val="CADCFC"/>
                </a:solidFill>
                <a:latin typeface="Calibri"/>
              </a:rPr>
              <a:t> Hocam &lt;3</a:t>
            </a:r>
            <a:br>
              <a:rPr lang="tr-TR" sz="1300" dirty="0">
                <a:solidFill>
                  <a:srgbClr val="CADCFC"/>
                </a:solidFill>
                <a:latin typeface="Calibri"/>
              </a:rPr>
            </a:br>
            <a:r>
              <a:rPr lang="tr-TR" sz="1300" b="0" i="0" dirty="0">
                <a:solidFill>
                  <a:srgbClr val="8FAEEB"/>
                </a:solidFill>
                <a:latin typeface="Calibri"/>
              </a:rPr>
              <a:t>Software</a:t>
            </a:r>
            <a:r>
              <a:rPr sz="1300" b="0" i="0" dirty="0">
                <a:solidFill>
                  <a:srgbClr val="8FAEEB"/>
                </a:solidFill>
                <a:latin typeface="Calibri"/>
              </a:rPr>
              <a:t> Engineering · 2026</a:t>
            </a:r>
          </a:p>
        </p:txBody>
      </p:sp>
      <p:sp>
        <p:nvSpPr>
          <p:cNvPr id="8" name="TextBox 7"/>
          <p:cNvSpPr txBox="1"/>
          <p:nvPr/>
        </p:nvSpPr>
        <p:spPr>
          <a:xfrm>
            <a:off x="8686800" y="6217920"/>
            <a:ext cx="3200400" cy="274320"/>
          </a:xfrm>
          <a:prstGeom prst="rect">
            <a:avLst/>
          </a:prstGeom>
          <a:noFill/>
        </p:spPr>
        <p:txBody>
          <a:bodyPr wrap="square" lIns="0" tIns="0" rIns="0" bIns="0" anchor="t">
            <a:spAutoFit/>
          </a:bodyPr>
          <a:lstStyle/>
          <a:p>
            <a:pPr algn="r"/>
            <a:r>
              <a:rPr sz="900" b="1" i="0" spc="400">
                <a:solidFill>
                  <a:srgbClr val="F96167"/>
                </a:solidFill>
                <a:latin typeface="Calibri"/>
              </a:rPr>
              <a:t>CHECKPOINT · BEFORE FINAL DEFENSE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0 · BEFORE WE BEGIN</a:t>
            </a:r>
          </a:p>
        </p:txBody>
      </p:sp>
      <p:sp>
        <p:nvSpPr>
          <p:cNvPr id="3" name="TextBox 2"/>
          <p:cNvSpPr txBox="1"/>
          <p:nvPr/>
        </p:nvSpPr>
        <p:spPr>
          <a:xfrm>
            <a:off x="365760" y="548640"/>
            <a:ext cx="11430000" cy="640080"/>
          </a:xfrm>
          <a:prstGeom prst="rect">
            <a:avLst/>
          </a:prstGeom>
          <a:noFill/>
        </p:spPr>
        <p:txBody>
          <a:bodyPr wrap="square" lIns="0" tIns="0" rIns="0" bIns="0" anchor="t">
            <a:spAutoFit/>
          </a:bodyPr>
          <a:lstStyle/>
          <a:p>
            <a:pPr algn="l"/>
            <a:r>
              <a:rPr sz="2800" b="1" i="0">
                <a:solidFill>
                  <a:srgbClr val="1E2761"/>
                </a:solidFill>
                <a:latin typeface="Calibri"/>
              </a:rPr>
              <a:t>What I Have Completed</a:t>
            </a:r>
          </a:p>
        </p:txBody>
      </p:sp>
      <p:sp>
        <p:nvSpPr>
          <p:cNvPr id="4" name="TextBox 3"/>
          <p:cNvSpPr txBox="1"/>
          <p:nvPr/>
        </p:nvSpPr>
        <p:spPr>
          <a:xfrm>
            <a:off x="365760" y="1188720"/>
            <a:ext cx="11430000" cy="365760"/>
          </a:xfrm>
          <a:prstGeom prst="rect">
            <a:avLst/>
          </a:prstGeom>
          <a:noFill/>
        </p:spPr>
        <p:txBody>
          <a:bodyPr wrap="square" lIns="0" tIns="0" rIns="0" bIns="0" anchor="t">
            <a:spAutoFit/>
          </a:bodyPr>
          <a:lstStyle/>
          <a:p>
            <a:pPr algn="l"/>
            <a:r>
              <a:rPr sz="1400" b="0" i="1">
                <a:solidFill>
                  <a:srgbClr val="64748B"/>
                </a:solidFill>
                <a:latin typeface="Calibri"/>
              </a:rPr>
              <a:t>A brief summary of the work accomplished since our last meeting</a:t>
            </a:r>
          </a:p>
        </p:txBody>
      </p:sp>
      <p:sp>
        <p:nvSpPr>
          <p:cNvPr id="5" name="Rectangle 4"/>
          <p:cNvSpPr/>
          <p:nvPr/>
        </p:nvSpPr>
        <p:spPr>
          <a:xfrm>
            <a:off x="457200" y="1691640"/>
            <a:ext cx="3657600" cy="4297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691640"/>
            <a:ext cx="3657600" cy="10972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965960"/>
            <a:ext cx="3108960" cy="411480"/>
          </a:xfrm>
          <a:prstGeom prst="rect">
            <a:avLst/>
          </a:prstGeom>
          <a:noFill/>
        </p:spPr>
        <p:txBody>
          <a:bodyPr wrap="square" lIns="0" tIns="0" rIns="0" bIns="0" anchor="t">
            <a:spAutoFit/>
          </a:bodyPr>
          <a:lstStyle/>
          <a:p>
            <a:pPr algn="l"/>
            <a:r>
              <a:rPr sz="1300" b="1" i="0" spc="300">
                <a:solidFill>
                  <a:srgbClr val="1E2761"/>
                </a:solidFill>
                <a:latin typeface="Calibri"/>
              </a:rPr>
              <a:t>INFRASTRUCTURE &amp; TRAFFIC</a:t>
            </a:r>
          </a:p>
        </p:txBody>
      </p:sp>
      <p:sp>
        <p:nvSpPr>
          <p:cNvPr id="8" name="TextBox 7"/>
          <p:cNvSpPr txBox="1"/>
          <p:nvPr/>
        </p:nvSpPr>
        <p:spPr>
          <a:xfrm>
            <a:off x="731520" y="2560320"/>
            <a:ext cx="3108960" cy="3246120"/>
          </a:xfrm>
          <a:prstGeom prst="rect">
            <a:avLst/>
          </a:prstGeom>
          <a:noFill/>
        </p:spPr>
        <p:txBody>
          <a:bodyPr wrap="square" lIns="0" tIns="0" rIns="0" bIns="0">
            <a:spAutoFit/>
          </a:bodyPr>
          <a:lstStyle/>
          <a:p>
            <a:pPr>
              <a:lnSpc>
                <a:spcPct val="115000"/>
              </a:lnSpc>
              <a:spcAft>
                <a:spcPts val="600"/>
              </a:spcAft>
            </a:pPr>
            <a:r>
              <a:rPr sz="1100" b="1">
                <a:solidFill>
                  <a:srgbClr val="1E2761"/>
                </a:solidFill>
                <a:latin typeface="Calibri"/>
              </a:rPr>
              <a:t>▪  </a:t>
            </a:r>
            <a:r>
              <a:rPr sz="1100">
                <a:solidFill>
                  <a:srgbClr val="1A1A2E"/>
                </a:solidFill>
                <a:latin typeface="Calibri"/>
              </a:rPr>
              <a:t>Built the NestJS + nginx + PostgreSQL data pipeline</a:t>
            </a:r>
          </a:p>
          <a:p>
            <a:pPr>
              <a:lnSpc>
                <a:spcPct val="115000"/>
              </a:lnSpc>
              <a:spcAft>
                <a:spcPts val="600"/>
              </a:spcAft>
            </a:pPr>
            <a:r>
              <a:rPr sz="1100" b="1">
                <a:solidFill>
                  <a:srgbClr val="1E2761"/>
                </a:solidFill>
                <a:latin typeface="Calibri"/>
              </a:rPr>
              <a:t>▪  </a:t>
            </a:r>
            <a:r>
              <a:rPr sz="1100">
                <a:solidFill>
                  <a:srgbClr val="1A1A2E"/>
                </a:solidFill>
                <a:latin typeface="Calibri"/>
              </a:rPr>
              <a:t>Per-request backend cost capture via AsyncLocalStorage</a:t>
            </a:r>
          </a:p>
          <a:p>
            <a:pPr>
              <a:lnSpc>
                <a:spcPct val="115000"/>
              </a:lnSpc>
              <a:spcAft>
                <a:spcPts val="600"/>
              </a:spcAft>
            </a:pPr>
            <a:r>
              <a:rPr sz="1100" b="1">
                <a:solidFill>
                  <a:srgbClr val="1E2761"/>
                </a:solidFill>
                <a:latin typeface="Calibri"/>
              </a:rPr>
              <a:t>▪  </a:t>
            </a:r>
            <a:r>
              <a:rPr sz="1100">
                <a:solidFill>
                  <a:srgbClr val="1A1A2E"/>
                </a:solidFill>
                <a:latin typeface="Calibri"/>
              </a:rPr>
              <a:t>Parallel telemetry: nginx access log + Prisma RequestLog</a:t>
            </a:r>
          </a:p>
          <a:p>
            <a:pPr>
              <a:lnSpc>
                <a:spcPct val="115000"/>
              </a:lnSpc>
              <a:spcAft>
                <a:spcPts val="600"/>
              </a:spcAft>
            </a:pPr>
            <a:r>
              <a:rPr sz="1100" b="1">
                <a:solidFill>
                  <a:srgbClr val="1E2761"/>
                </a:solidFill>
                <a:latin typeface="Calibri"/>
              </a:rPr>
              <a:t>▪  </a:t>
            </a:r>
            <a:r>
              <a:rPr sz="1100">
                <a:solidFill>
                  <a:srgbClr val="1A1A2E"/>
                </a:solidFill>
                <a:latin typeface="Calibri"/>
              </a:rPr>
              <a:t>Six k6 scenarios: legit, flood, low-rate, credential, mimicry, slowloris</a:t>
            </a:r>
          </a:p>
        </p:txBody>
      </p:sp>
      <p:sp>
        <p:nvSpPr>
          <p:cNvPr id="9" name="Rectangle 8"/>
          <p:cNvSpPr/>
          <p:nvPr/>
        </p:nvSpPr>
        <p:spPr>
          <a:xfrm>
            <a:off x="4343400" y="1691640"/>
            <a:ext cx="3657600" cy="4297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43400" y="1691640"/>
            <a:ext cx="3657600" cy="109728"/>
          </a:xfrm>
          <a:prstGeom prst="rect">
            <a:avLst/>
          </a:prstGeom>
          <a:solidFill>
            <a:srgbClr val="2B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17720" y="1965960"/>
            <a:ext cx="3108960" cy="411480"/>
          </a:xfrm>
          <a:prstGeom prst="rect">
            <a:avLst/>
          </a:prstGeom>
          <a:noFill/>
        </p:spPr>
        <p:txBody>
          <a:bodyPr wrap="square" lIns="0" tIns="0" rIns="0" bIns="0" anchor="t">
            <a:spAutoFit/>
          </a:bodyPr>
          <a:lstStyle/>
          <a:p>
            <a:pPr algn="l"/>
            <a:r>
              <a:rPr sz="1300" b="1" i="0" spc="300">
                <a:solidFill>
                  <a:srgbClr val="2B3A8C"/>
                </a:solidFill>
                <a:latin typeface="Calibri"/>
              </a:rPr>
              <a:t>FEATURES &amp; MODEL</a:t>
            </a:r>
          </a:p>
        </p:txBody>
      </p:sp>
      <p:sp>
        <p:nvSpPr>
          <p:cNvPr id="12" name="TextBox 11"/>
          <p:cNvSpPr txBox="1"/>
          <p:nvPr/>
        </p:nvSpPr>
        <p:spPr>
          <a:xfrm>
            <a:off x="4617720" y="2560320"/>
            <a:ext cx="3108960" cy="3246120"/>
          </a:xfrm>
          <a:prstGeom prst="rect">
            <a:avLst/>
          </a:prstGeom>
          <a:noFill/>
        </p:spPr>
        <p:txBody>
          <a:bodyPr wrap="square" lIns="0" tIns="0" rIns="0" bIns="0">
            <a:spAutoFit/>
          </a:bodyPr>
          <a:lstStyle/>
          <a:p>
            <a:pPr>
              <a:lnSpc>
                <a:spcPct val="115000"/>
              </a:lnSpc>
              <a:spcAft>
                <a:spcPts val="600"/>
              </a:spcAft>
            </a:pPr>
            <a:r>
              <a:rPr sz="1100" b="1" dirty="0">
                <a:solidFill>
                  <a:srgbClr val="2B3A8C"/>
                </a:solidFill>
                <a:latin typeface="Calibri"/>
              </a:rPr>
              <a:t>▪  </a:t>
            </a:r>
            <a:r>
              <a:rPr sz="1100" dirty="0">
                <a:solidFill>
                  <a:srgbClr val="1A1A2E"/>
                </a:solidFill>
                <a:latin typeface="Calibri"/>
              </a:rPr>
              <a:t>Multi-tier feature pipeline: 37 features across 4 tiers</a:t>
            </a:r>
          </a:p>
          <a:p>
            <a:pPr>
              <a:lnSpc>
                <a:spcPct val="115000"/>
              </a:lnSpc>
              <a:spcAft>
                <a:spcPts val="600"/>
              </a:spcAft>
            </a:pPr>
            <a:r>
              <a:rPr sz="1100" b="1" dirty="0">
                <a:solidFill>
                  <a:srgbClr val="2B3A8C"/>
                </a:solidFill>
                <a:latin typeface="Calibri"/>
              </a:rPr>
              <a:t>▪  </a:t>
            </a:r>
            <a:r>
              <a:rPr sz="1100" dirty="0">
                <a:solidFill>
                  <a:srgbClr val="1A1A2E"/>
                </a:solidFill>
                <a:latin typeface="Calibri"/>
              </a:rPr>
              <a:t>Endpoint cost profile, Markov log-likelihood, IAT KS distance</a:t>
            </a:r>
          </a:p>
          <a:p>
            <a:pPr>
              <a:lnSpc>
                <a:spcPct val="115000"/>
              </a:lnSpc>
              <a:spcAft>
                <a:spcPts val="600"/>
              </a:spcAft>
            </a:pPr>
            <a:r>
              <a:rPr sz="1100" b="1" dirty="0">
                <a:solidFill>
                  <a:srgbClr val="2B3A8C"/>
                </a:solidFill>
                <a:latin typeface="Calibri"/>
              </a:rPr>
              <a:t>▪  </a:t>
            </a:r>
            <a:r>
              <a:rPr sz="1100" dirty="0">
                <a:solidFill>
                  <a:srgbClr val="1A1A2E"/>
                </a:solidFill>
                <a:latin typeface="Calibri"/>
              </a:rPr>
              <a:t>Random Forest (proposed) + ISO+RF (semi-supervised alternative)</a:t>
            </a:r>
          </a:p>
          <a:p>
            <a:pPr>
              <a:lnSpc>
                <a:spcPct val="115000"/>
              </a:lnSpc>
              <a:spcAft>
                <a:spcPts val="600"/>
              </a:spcAft>
            </a:pPr>
            <a:r>
              <a:rPr sz="1100" b="1" dirty="0">
                <a:solidFill>
                  <a:srgbClr val="2B3A8C"/>
                </a:solidFill>
                <a:latin typeface="Calibri"/>
              </a:rPr>
              <a:t>▪  </a:t>
            </a:r>
            <a:r>
              <a:rPr sz="1100" dirty="0">
                <a:solidFill>
                  <a:srgbClr val="1A1A2E"/>
                </a:solidFill>
                <a:latin typeface="Calibri"/>
              </a:rPr>
              <a:t>Mimicry-holdout protocol — never seen during training</a:t>
            </a:r>
          </a:p>
        </p:txBody>
      </p:sp>
      <p:sp>
        <p:nvSpPr>
          <p:cNvPr id="13" name="Rectangle 12"/>
          <p:cNvSpPr/>
          <p:nvPr/>
        </p:nvSpPr>
        <p:spPr>
          <a:xfrm>
            <a:off x="8229600" y="1691640"/>
            <a:ext cx="3657600" cy="4297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229600" y="1691640"/>
            <a:ext cx="3657600" cy="109728"/>
          </a:xfrm>
          <a:prstGeom prst="rect">
            <a:avLst/>
          </a:prstGeom>
          <a:solidFill>
            <a:srgbClr val="018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03920" y="1965960"/>
            <a:ext cx="3108960" cy="411480"/>
          </a:xfrm>
          <a:prstGeom prst="rect">
            <a:avLst/>
          </a:prstGeom>
          <a:noFill/>
        </p:spPr>
        <p:txBody>
          <a:bodyPr wrap="square" lIns="0" tIns="0" rIns="0" bIns="0" anchor="t">
            <a:spAutoFit/>
          </a:bodyPr>
          <a:lstStyle/>
          <a:p>
            <a:pPr algn="l"/>
            <a:r>
              <a:rPr sz="1300" b="1" i="0" spc="300">
                <a:solidFill>
                  <a:srgbClr val="018F71"/>
                </a:solidFill>
                <a:latin typeface="Calibri"/>
              </a:rPr>
              <a:t>EVALUATION &amp; WRITING</a:t>
            </a:r>
          </a:p>
        </p:txBody>
      </p:sp>
      <p:sp>
        <p:nvSpPr>
          <p:cNvPr id="16" name="TextBox 15"/>
          <p:cNvSpPr txBox="1"/>
          <p:nvPr/>
        </p:nvSpPr>
        <p:spPr>
          <a:xfrm>
            <a:off x="8503920" y="2560320"/>
            <a:ext cx="3108960" cy="1700530"/>
          </a:xfrm>
          <a:prstGeom prst="rect">
            <a:avLst/>
          </a:prstGeom>
          <a:noFill/>
        </p:spPr>
        <p:txBody>
          <a:bodyPr wrap="square" lIns="0" tIns="0" rIns="0" bIns="0">
            <a:spAutoFit/>
          </a:bodyPr>
          <a:lstStyle/>
          <a:p>
            <a:pPr>
              <a:lnSpc>
                <a:spcPct val="150000"/>
              </a:lnSpc>
              <a:spcAft>
                <a:spcPts val="600"/>
              </a:spcAft>
            </a:pPr>
            <a:r>
              <a:rPr sz="1100" b="1" dirty="0">
                <a:solidFill>
                  <a:srgbClr val="018F71"/>
                </a:solidFill>
                <a:latin typeface="Calibri"/>
              </a:rPr>
              <a:t>▪  </a:t>
            </a:r>
            <a:r>
              <a:rPr sz="1100" dirty="0">
                <a:solidFill>
                  <a:srgbClr val="1A1A2E"/>
                </a:solidFill>
                <a:latin typeface="Calibri"/>
              </a:rPr>
              <a:t>In-distribution: 100% accuracy, 100% macro-F1</a:t>
            </a:r>
            <a:br>
              <a:rPr lang="tr-TR" sz="1100" dirty="0">
                <a:solidFill>
                  <a:srgbClr val="1A1A2E"/>
                </a:solidFill>
                <a:latin typeface="Calibri"/>
              </a:rPr>
            </a:br>
            <a:r>
              <a:rPr lang="tr-TR" sz="1100" b="1" dirty="0">
                <a:solidFill>
                  <a:srgbClr val="018F71"/>
                </a:solidFill>
              </a:rPr>
              <a:t>▪  </a:t>
            </a:r>
            <a:r>
              <a:rPr lang="tr-TR" sz="1100" dirty="0">
                <a:latin typeface="Calibri" panose="020F0502020204030204" pitchFamily="34" charset="0"/>
                <a:cs typeface="Calibri" panose="020F0502020204030204" pitchFamily="34" charset="0"/>
              </a:rPr>
              <a:t>5-fold CV </a:t>
            </a:r>
            <a:r>
              <a:rPr lang="tr-TR" sz="1100" dirty="0" err="1">
                <a:latin typeface="Calibri" panose="020F0502020204030204" pitchFamily="34" charset="0"/>
                <a:cs typeface="Calibri" panose="020F0502020204030204" pitchFamily="34" charset="0"/>
              </a:rPr>
              <a:t>stability</a:t>
            </a:r>
            <a:r>
              <a:rPr lang="tr-TR" sz="1100" dirty="0">
                <a:latin typeface="Calibri" panose="020F0502020204030204" pitchFamily="34" charset="0"/>
                <a:cs typeface="Calibri" panose="020F0502020204030204" pitchFamily="34" charset="0"/>
              </a:rPr>
              <a:t>: 99.94% ± 0.05% </a:t>
            </a:r>
            <a:r>
              <a:rPr lang="tr-TR" sz="1100" dirty="0" err="1">
                <a:latin typeface="Calibri" panose="020F0502020204030204" pitchFamily="34" charset="0"/>
                <a:cs typeface="Calibri" panose="020F0502020204030204" pitchFamily="34" charset="0"/>
              </a:rPr>
              <a:t>accuracy</a:t>
            </a:r>
            <a:endParaRPr lang="tr-TR" sz="1100" dirty="0">
              <a:latin typeface="Calibri" panose="020F0502020204030204" pitchFamily="34" charset="0"/>
              <a:cs typeface="Calibri" panose="020F0502020204030204" pitchFamily="34" charset="0"/>
            </a:endParaRPr>
          </a:p>
          <a:p>
            <a:pPr>
              <a:lnSpc>
                <a:spcPct val="115000"/>
              </a:lnSpc>
              <a:spcAft>
                <a:spcPts val="600"/>
              </a:spcAft>
            </a:pPr>
            <a:r>
              <a:rPr sz="1100" b="1" dirty="0">
                <a:solidFill>
                  <a:srgbClr val="018F71"/>
                </a:solidFill>
                <a:latin typeface="Calibri"/>
              </a:rPr>
              <a:t>▪  </a:t>
            </a:r>
            <a:r>
              <a:rPr sz="1100" dirty="0">
                <a:solidFill>
                  <a:srgbClr val="1A1A2E"/>
                </a:solidFill>
                <a:latin typeface="Calibri"/>
              </a:rPr>
              <a:t>Mimicry holdout: 96.38% correctly flagged as attack</a:t>
            </a:r>
          </a:p>
          <a:p>
            <a:pPr>
              <a:lnSpc>
                <a:spcPct val="115000"/>
              </a:lnSpc>
              <a:spcAft>
                <a:spcPts val="600"/>
              </a:spcAft>
            </a:pPr>
            <a:r>
              <a:rPr sz="1100" b="1" dirty="0">
                <a:solidFill>
                  <a:srgbClr val="018F71"/>
                </a:solidFill>
                <a:latin typeface="Calibri"/>
              </a:rPr>
              <a:t>▪  </a:t>
            </a:r>
            <a:r>
              <a:rPr sz="1100" dirty="0">
                <a:solidFill>
                  <a:srgbClr val="1A1A2E"/>
                </a:solidFill>
                <a:latin typeface="Calibri"/>
              </a:rPr>
              <a:t>Behavioral lift on mimicry: +23pp over rate-only (73→96%)</a:t>
            </a:r>
          </a:p>
          <a:p>
            <a:pPr>
              <a:lnSpc>
                <a:spcPct val="115000"/>
              </a:lnSpc>
              <a:spcAft>
                <a:spcPts val="600"/>
              </a:spcAft>
            </a:pPr>
            <a:r>
              <a:rPr sz="1100" b="1" dirty="0">
                <a:solidFill>
                  <a:srgbClr val="018F71"/>
                </a:solidFill>
                <a:latin typeface="Calibri"/>
              </a:rPr>
              <a:t>▪  </a:t>
            </a:r>
            <a:r>
              <a:rPr sz="1100" dirty="0">
                <a:solidFill>
                  <a:srgbClr val="1A1A2E"/>
                </a:solidFill>
                <a:latin typeface="Calibri"/>
              </a:rPr>
              <a:t>Sensitivity analysis across three configurations (V1/V2/V3)</a:t>
            </a:r>
          </a:p>
        </p:txBody>
      </p:sp>
      <p:sp>
        <p:nvSpPr>
          <p:cNvPr id="17" name="TextBox 16"/>
          <p:cNvSpPr txBox="1"/>
          <p:nvPr/>
        </p:nvSpPr>
        <p:spPr>
          <a:xfrm>
            <a:off x="457200" y="6126480"/>
            <a:ext cx="11247120" cy="365760"/>
          </a:xfrm>
          <a:prstGeom prst="rect">
            <a:avLst/>
          </a:prstGeom>
          <a:noFill/>
        </p:spPr>
        <p:txBody>
          <a:bodyPr wrap="square" lIns="0" tIns="0" rIns="0" bIns="0" anchor="t">
            <a:spAutoFit/>
          </a:bodyPr>
          <a:lstStyle/>
          <a:p>
            <a:pPr algn="l"/>
            <a:r>
              <a:rPr sz="1100" b="0" i="1">
                <a:solidFill>
                  <a:srgbClr val="64748B"/>
                </a:solidFill>
                <a:latin typeface="Calibri"/>
              </a:rPr>
              <a:t>Today's walkthrough: the question, the system, the results, the limits, and the contributions — start to finish.</a:t>
            </a:r>
          </a:p>
        </p:txBody>
      </p:sp>
      <p:sp>
        <p:nvSpPr>
          <p:cNvPr id="18" name="TextBox 17"/>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Thesis Checkpoint Presentation</a:t>
            </a:r>
          </a:p>
        </p:txBody>
      </p:sp>
      <p:sp>
        <p:nvSpPr>
          <p:cNvPr id="19" name="TextBox 18"/>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2 / 23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1 · RESEARCH QUESTION</a:t>
            </a:r>
          </a:p>
        </p:txBody>
      </p:sp>
      <p:sp>
        <p:nvSpPr>
          <p:cNvPr id="3" name="TextBox 2"/>
          <p:cNvSpPr txBox="1"/>
          <p:nvPr/>
        </p:nvSpPr>
        <p:spPr>
          <a:xfrm>
            <a:off x="365760" y="548640"/>
            <a:ext cx="11430000" cy="640080"/>
          </a:xfrm>
          <a:prstGeom prst="rect">
            <a:avLst/>
          </a:prstGeom>
          <a:noFill/>
        </p:spPr>
        <p:txBody>
          <a:bodyPr wrap="square" lIns="0" tIns="0" rIns="0" bIns="0" anchor="t">
            <a:spAutoFit/>
          </a:bodyPr>
          <a:lstStyle/>
          <a:p>
            <a:pPr algn="l"/>
            <a:r>
              <a:rPr sz="2800" b="1" i="0">
                <a:solidFill>
                  <a:srgbClr val="1E2761"/>
                </a:solidFill>
                <a:latin typeface="Calibri"/>
              </a:rPr>
              <a:t>The Question in One Sentence</a:t>
            </a:r>
          </a:p>
        </p:txBody>
      </p:sp>
      <p:sp>
        <p:nvSpPr>
          <p:cNvPr id="4" name="Rectangle 3"/>
          <p:cNvSpPr/>
          <p:nvPr/>
        </p:nvSpPr>
        <p:spPr>
          <a:xfrm>
            <a:off x="731520" y="1828800"/>
            <a:ext cx="10698480" cy="21945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828800"/>
            <a:ext cx="137160" cy="219456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783080"/>
            <a:ext cx="731520" cy="731520"/>
          </a:xfrm>
          <a:prstGeom prst="rect">
            <a:avLst/>
          </a:prstGeom>
          <a:noFill/>
        </p:spPr>
        <p:txBody>
          <a:bodyPr wrap="square" lIns="0" tIns="0" rIns="0" bIns="0" anchor="t">
            <a:spAutoFit/>
          </a:bodyPr>
          <a:lstStyle/>
          <a:p>
            <a:pPr algn="l"/>
            <a:r>
              <a:rPr sz="6000" b="1" i="0">
                <a:solidFill>
                  <a:srgbClr val="8FAEEB"/>
                </a:solidFill>
                <a:latin typeface="Georgia"/>
              </a:rPr>
              <a:t>"</a:t>
            </a:r>
          </a:p>
        </p:txBody>
      </p:sp>
      <p:sp>
        <p:nvSpPr>
          <p:cNvPr id="7" name="TextBox 6"/>
          <p:cNvSpPr txBox="1"/>
          <p:nvPr/>
        </p:nvSpPr>
        <p:spPr>
          <a:xfrm>
            <a:off x="1463040" y="2057400"/>
            <a:ext cx="9784080" cy="1645920"/>
          </a:xfrm>
          <a:prstGeom prst="rect">
            <a:avLst/>
          </a:prstGeom>
          <a:noFill/>
        </p:spPr>
        <p:txBody>
          <a:bodyPr wrap="square" lIns="0" tIns="0" rIns="0" bIns="0" anchor="ctr">
            <a:spAutoFit/>
          </a:bodyPr>
          <a:lstStyle/>
          <a:p>
            <a:pPr algn="l"/>
            <a:r>
              <a:rPr sz="2100" b="0" i="1">
                <a:solidFill>
                  <a:srgbClr val="FFFFFF"/>
                </a:solidFill>
                <a:latin typeface="Calibri"/>
              </a:rPr>
              <a:t>If an attacker mimics surface features — User-Agent, IP, even request rate — of a real user,</a:t>
            </a:r>
          </a:p>
          <a:p>
            <a:pPr algn="l"/>
            <a:r>
              <a:rPr sz="2100" b="0" i="1">
                <a:solidFill>
                  <a:srgbClr val="FFFFFF"/>
                </a:solidFill>
                <a:latin typeface="Calibri"/>
              </a:rPr>
              <a:t>can a behavior-based detector still tell them apart?</a:t>
            </a:r>
          </a:p>
        </p:txBody>
      </p:sp>
      <p:sp>
        <p:nvSpPr>
          <p:cNvPr id="8" name="Rectangle 7"/>
          <p:cNvSpPr/>
          <p:nvPr/>
        </p:nvSpPr>
        <p:spPr>
          <a:xfrm>
            <a:off x="731520" y="4480560"/>
            <a:ext cx="3566160" cy="1645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4663440"/>
            <a:ext cx="548640" cy="640080"/>
          </a:xfrm>
          <a:prstGeom prst="rect">
            <a:avLst/>
          </a:prstGeom>
          <a:noFill/>
        </p:spPr>
        <p:txBody>
          <a:bodyPr wrap="square" lIns="0" tIns="0" rIns="0" bIns="0" anchor="t">
            <a:spAutoFit/>
          </a:bodyPr>
          <a:lstStyle/>
          <a:p>
            <a:pPr algn="l"/>
            <a:r>
              <a:rPr sz="4000" b="1" i="0">
                <a:solidFill>
                  <a:srgbClr val="F96167"/>
                </a:solidFill>
                <a:latin typeface="Georgia"/>
              </a:rPr>
              <a:t>1</a:t>
            </a:r>
          </a:p>
        </p:txBody>
      </p:sp>
      <p:sp>
        <p:nvSpPr>
          <p:cNvPr id="10" name="TextBox 9"/>
          <p:cNvSpPr txBox="1"/>
          <p:nvPr/>
        </p:nvSpPr>
        <p:spPr>
          <a:xfrm>
            <a:off x="1600200" y="4800600"/>
            <a:ext cx="2514600" cy="1188720"/>
          </a:xfrm>
          <a:prstGeom prst="rect">
            <a:avLst/>
          </a:prstGeom>
          <a:noFill/>
        </p:spPr>
        <p:txBody>
          <a:bodyPr wrap="square" lIns="0" tIns="0" rIns="0" bIns="0" anchor="t">
            <a:spAutoFit/>
          </a:bodyPr>
          <a:lstStyle/>
          <a:p>
            <a:pPr algn="l"/>
            <a:r>
              <a:rPr sz="1200" b="0" i="0">
                <a:solidFill>
                  <a:srgbClr val="1A1A2E"/>
                </a:solidFill>
                <a:latin typeface="Calibri"/>
              </a:rPr>
              <a:t>Are classical rate-based defenses enough against distributed attacks?</a:t>
            </a:r>
          </a:p>
        </p:txBody>
      </p:sp>
      <p:sp>
        <p:nvSpPr>
          <p:cNvPr id="11" name="Rectangle 10"/>
          <p:cNvSpPr/>
          <p:nvPr/>
        </p:nvSpPr>
        <p:spPr>
          <a:xfrm>
            <a:off x="4434840" y="4480560"/>
            <a:ext cx="3566160" cy="1645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63440" y="4663440"/>
            <a:ext cx="548640" cy="640080"/>
          </a:xfrm>
          <a:prstGeom prst="rect">
            <a:avLst/>
          </a:prstGeom>
          <a:noFill/>
        </p:spPr>
        <p:txBody>
          <a:bodyPr wrap="square" lIns="0" tIns="0" rIns="0" bIns="0" anchor="t">
            <a:spAutoFit/>
          </a:bodyPr>
          <a:lstStyle/>
          <a:p>
            <a:pPr algn="l"/>
            <a:r>
              <a:rPr sz="4000" b="1" i="0">
                <a:solidFill>
                  <a:srgbClr val="F96167"/>
                </a:solidFill>
                <a:latin typeface="Georgia"/>
              </a:rPr>
              <a:t>2</a:t>
            </a:r>
          </a:p>
        </p:txBody>
      </p:sp>
      <p:sp>
        <p:nvSpPr>
          <p:cNvPr id="13" name="TextBox 12"/>
          <p:cNvSpPr txBox="1"/>
          <p:nvPr/>
        </p:nvSpPr>
        <p:spPr>
          <a:xfrm>
            <a:off x="5303520" y="4800600"/>
            <a:ext cx="2514600" cy="1188720"/>
          </a:xfrm>
          <a:prstGeom prst="rect">
            <a:avLst/>
          </a:prstGeom>
          <a:noFill/>
        </p:spPr>
        <p:txBody>
          <a:bodyPr wrap="square" lIns="0" tIns="0" rIns="0" bIns="0" anchor="t">
            <a:spAutoFit/>
          </a:bodyPr>
          <a:lstStyle/>
          <a:p>
            <a:pPr algn="l"/>
            <a:r>
              <a:rPr sz="1200" b="0" i="0">
                <a:solidFill>
                  <a:srgbClr val="1A1A2E"/>
                </a:solidFill>
                <a:latin typeface="Calibri"/>
              </a:rPr>
              <a:t>How discriminative are behavioral features like endpoint cost asymmetry?</a:t>
            </a:r>
          </a:p>
        </p:txBody>
      </p:sp>
      <p:sp>
        <p:nvSpPr>
          <p:cNvPr id="14" name="Rectangle 13"/>
          <p:cNvSpPr/>
          <p:nvPr/>
        </p:nvSpPr>
        <p:spPr>
          <a:xfrm>
            <a:off x="8138160" y="4480560"/>
            <a:ext cx="3566160" cy="1645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66760" y="4663440"/>
            <a:ext cx="548640" cy="640080"/>
          </a:xfrm>
          <a:prstGeom prst="rect">
            <a:avLst/>
          </a:prstGeom>
          <a:noFill/>
        </p:spPr>
        <p:txBody>
          <a:bodyPr wrap="square" lIns="0" tIns="0" rIns="0" bIns="0" anchor="t">
            <a:spAutoFit/>
          </a:bodyPr>
          <a:lstStyle/>
          <a:p>
            <a:pPr algn="l"/>
            <a:r>
              <a:rPr sz="4000" b="1" i="0">
                <a:solidFill>
                  <a:srgbClr val="F96167"/>
                </a:solidFill>
                <a:latin typeface="Georgia"/>
              </a:rPr>
              <a:t>3</a:t>
            </a:r>
          </a:p>
        </p:txBody>
      </p:sp>
      <p:sp>
        <p:nvSpPr>
          <p:cNvPr id="16" name="TextBox 15"/>
          <p:cNvSpPr txBox="1"/>
          <p:nvPr/>
        </p:nvSpPr>
        <p:spPr>
          <a:xfrm>
            <a:off x="9006840" y="4800600"/>
            <a:ext cx="2514600" cy="1188720"/>
          </a:xfrm>
          <a:prstGeom prst="rect">
            <a:avLst/>
          </a:prstGeom>
          <a:noFill/>
        </p:spPr>
        <p:txBody>
          <a:bodyPr wrap="square" lIns="0" tIns="0" rIns="0" bIns="0" anchor="t">
            <a:spAutoFit/>
          </a:bodyPr>
          <a:lstStyle/>
          <a:p>
            <a:pPr algn="l"/>
            <a:r>
              <a:rPr sz="1200" b="0" i="0">
                <a:solidFill>
                  <a:srgbClr val="1A1A2E"/>
                </a:solidFill>
                <a:latin typeface="Calibri"/>
              </a:rPr>
              <a:t>Can a model that never saw mimicry in training still flag it as an attack?</a:t>
            </a:r>
          </a:p>
        </p:txBody>
      </p:sp>
      <p:sp>
        <p:nvSpPr>
          <p:cNvPr id="17" name="TextBox 16"/>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Thesis Checkpoint Presentation</a:t>
            </a:r>
          </a:p>
        </p:txBody>
      </p:sp>
      <p:sp>
        <p:nvSpPr>
          <p:cNvPr id="18" name="TextBox 17"/>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3 / 23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1 · RESEARCH QUESTION</a:t>
            </a:r>
          </a:p>
        </p:txBody>
      </p:sp>
      <p:sp>
        <p:nvSpPr>
          <p:cNvPr id="3" name="TextBox 2"/>
          <p:cNvSpPr txBox="1"/>
          <p:nvPr/>
        </p:nvSpPr>
        <p:spPr>
          <a:xfrm>
            <a:off x="365760" y="548640"/>
            <a:ext cx="11430000" cy="640080"/>
          </a:xfrm>
          <a:prstGeom prst="rect">
            <a:avLst/>
          </a:prstGeom>
          <a:noFill/>
        </p:spPr>
        <p:txBody>
          <a:bodyPr wrap="square" lIns="0" tIns="0" rIns="0" bIns="0" anchor="t">
            <a:spAutoFit/>
          </a:bodyPr>
          <a:lstStyle/>
          <a:p>
            <a:pPr algn="l"/>
            <a:r>
              <a:rPr sz="2800" b="1" i="0">
                <a:solidFill>
                  <a:srgbClr val="1E2761"/>
                </a:solidFill>
                <a:latin typeface="Calibri"/>
              </a:rPr>
              <a:t>Why is This Question Hard?</a:t>
            </a:r>
          </a:p>
        </p:txBody>
      </p:sp>
      <p:sp>
        <p:nvSpPr>
          <p:cNvPr id="4" name="TextBox 3"/>
          <p:cNvSpPr txBox="1"/>
          <p:nvPr/>
        </p:nvSpPr>
        <p:spPr>
          <a:xfrm>
            <a:off x="365760" y="1188720"/>
            <a:ext cx="11430000" cy="365760"/>
          </a:xfrm>
          <a:prstGeom prst="rect">
            <a:avLst/>
          </a:prstGeom>
          <a:noFill/>
        </p:spPr>
        <p:txBody>
          <a:bodyPr wrap="square" lIns="0" tIns="0" rIns="0" bIns="0" anchor="t">
            <a:spAutoFit/>
          </a:bodyPr>
          <a:lstStyle/>
          <a:p>
            <a:pPr algn="l"/>
            <a:r>
              <a:rPr sz="1400" b="0" i="1">
                <a:solidFill>
                  <a:srgbClr val="64748B"/>
                </a:solidFill>
                <a:latin typeface="Calibri"/>
              </a:rPr>
              <a:t>Modern API attacks are no longer "one IP, very high rate"</a:t>
            </a:r>
          </a:p>
        </p:txBody>
      </p:sp>
      <p:sp>
        <p:nvSpPr>
          <p:cNvPr id="5" name="Rectangle 4"/>
          <p:cNvSpPr/>
          <p:nvPr/>
        </p:nvSpPr>
        <p:spPr>
          <a:xfrm>
            <a:off x="457200" y="1691640"/>
            <a:ext cx="5486400" cy="2331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31520" y="2011680"/>
            <a:ext cx="640080" cy="64008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965960"/>
            <a:ext cx="640080" cy="731520"/>
          </a:xfrm>
          <a:prstGeom prst="rect">
            <a:avLst/>
          </a:prstGeom>
          <a:noFill/>
        </p:spPr>
        <p:txBody>
          <a:bodyPr wrap="square" lIns="0" tIns="0" rIns="0" bIns="0" anchor="ctr">
            <a:spAutoFit/>
          </a:bodyPr>
          <a:lstStyle/>
          <a:p>
            <a:pPr algn="ctr"/>
            <a:r>
              <a:rPr sz="2200" b="1" i="0">
                <a:solidFill>
                  <a:srgbClr val="FFFFFF"/>
                </a:solidFill>
                <a:latin typeface="Calibri"/>
              </a:rPr>
              <a:t>①</a:t>
            </a:r>
          </a:p>
        </p:txBody>
      </p:sp>
      <p:sp>
        <p:nvSpPr>
          <p:cNvPr id="8" name="TextBox 7"/>
          <p:cNvSpPr txBox="1"/>
          <p:nvPr/>
        </p:nvSpPr>
        <p:spPr>
          <a:xfrm>
            <a:off x="1554480" y="2011680"/>
            <a:ext cx="4206240" cy="457200"/>
          </a:xfrm>
          <a:prstGeom prst="rect">
            <a:avLst/>
          </a:prstGeom>
          <a:noFill/>
        </p:spPr>
        <p:txBody>
          <a:bodyPr wrap="square" lIns="0" tIns="0" rIns="0" bIns="0" anchor="t">
            <a:spAutoFit/>
          </a:bodyPr>
          <a:lstStyle/>
          <a:p>
            <a:pPr algn="l"/>
            <a:r>
              <a:rPr sz="1600" b="1" i="0">
                <a:solidFill>
                  <a:srgbClr val="1E2761"/>
                </a:solidFill>
                <a:latin typeface="Calibri"/>
              </a:rPr>
              <a:t>Distributed Traffic</a:t>
            </a:r>
          </a:p>
        </p:txBody>
      </p:sp>
      <p:sp>
        <p:nvSpPr>
          <p:cNvPr id="9" name="TextBox 8"/>
          <p:cNvSpPr txBox="1"/>
          <p:nvPr/>
        </p:nvSpPr>
        <p:spPr>
          <a:xfrm>
            <a:off x="1554480" y="2514600"/>
            <a:ext cx="4206240" cy="1325879"/>
          </a:xfrm>
          <a:prstGeom prst="rect">
            <a:avLst/>
          </a:prstGeom>
          <a:noFill/>
        </p:spPr>
        <p:txBody>
          <a:bodyPr wrap="square" lIns="0" tIns="0" rIns="0" bIns="0" anchor="t">
            <a:spAutoFit/>
          </a:bodyPr>
          <a:lstStyle/>
          <a:p>
            <a:pPr algn="l"/>
            <a:r>
              <a:rPr sz="1100" b="0" i="0">
                <a:solidFill>
                  <a:srgbClr val="1A1A2E"/>
                </a:solidFill>
                <a:latin typeface="Calibri"/>
              </a:rPr>
              <a:t>Akamai and Cloudflare reports: a typical L7 attack spans hundreds to thousands of source IPs. Per-IP rate thresholds offer little resistance.</a:t>
            </a:r>
          </a:p>
        </p:txBody>
      </p:sp>
      <p:sp>
        <p:nvSpPr>
          <p:cNvPr id="10" name="Rectangle 9"/>
          <p:cNvSpPr/>
          <p:nvPr/>
        </p:nvSpPr>
        <p:spPr>
          <a:xfrm>
            <a:off x="6217920" y="1691640"/>
            <a:ext cx="5486400" cy="2331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492240" y="2011680"/>
            <a:ext cx="640080" cy="64008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92240" y="1965960"/>
            <a:ext cx="640080" cy="731520"/>
          </a:xfrm>
          <a:prstGeom prst="rect">
            <a:avLst/>
          </a:prstGeom>
          <a:noFill/>
        </p:spPr>
        <p:txBody>
          <a:bodyPr wrap="square" lIns="0" tIns="0" rIns="0" bIns="0" anchor="ctr">
            <a:spAutoFit/>
          </a:bodyPr>
          <a:lstStyle/>
          <a:p>
            <a:pPr algn="ctr"/>
            <a:r>
              <a:rPr sz="2200" b="1" i="0">
                <a:solidFill>
                  <a:srgbClr val="FFFFFF"/>
                </a:solidFill>
                <a:latin typeface="Calibri"/>
              </a:rPr>
              <a:t>②</a:t>
            </a:r>
          </a:p>
        </p:txBody>
      </p:sp>
      <p:sp>
        <p:nvSpPr>
          <p:cNvPr id="13" name="TextBox 12"/>
          <p:cNvSpPr txBox="1"/>
          <p:nvPr/>
        </p:nvSpPr>
        <p:spPr>
          <a:xfrm>
            <a:off x="7315200" y="2011680"/>
            <a:ext cx="4206240" cy="457200"/>
          </a:xfrm>
          <a:prstGeom prst="rect">
            <a:avLst/>
          </a:prstGeom>
          <a:noFill/>
        </p:spPr>
        <p:txBody>
          <a:bodyPr wrap="square" lIns="0" tIns="0" rIns="0" bIns="0" anchor="t">
            <a:spAutoFit/>
          </a:bodyPr>
          <a:lstStyle/>
          <a:p>
            <a:pPr algn="l"/>
            <a:r>
              <a:rPr sz="1600" b="1" i="0">
                <a:solidFill>
                  <a:srgbClr val="1E2761"/>
                </a:solidFill>
                <a:latin typeface="Calibri"/>
              </a:rPr>
              <a:t>Surface Mimicry</a:t>
            </a:r>
          </a:p>
        </p:txBody>
      </p:sp>
      <p:sp>
        <p:nvSpPr>
          <p:cNvPr id="14" name="TextBox 13"/>
          <p:cNvSpPr txBox="1"/>
          <p:nvPr/>
        </p:nvSpPr>
        <p:spPr>
          <a:xfrm>
            <a:off x="7315200" y="2514600"/>
            <a:ext cx="4206240" cy="1325879"/>
          </a:xfrm>
          <a:prstGeom prst="rect">
            <a:avLst/>
          </a:prstGeom>
          <a:noFill/>
        </p:spPr>
        <p:txBody>
          <a:bodyPr wrap="square" lIns="0" tIns="0" rIns="0" bIns="0" anchor="t">
            <a:spAutoFit/>
          </a:bodyPr>
          <a:lstStyle/>
          <a:p>
            <a:pPr algn="l"/>
            <a:r>
              <a:rPr sz="1100" b="0" i="0">
                <a:solidFill>
                  <a:srgbClr val="1A1A2E"/>
                </a:solidFill>
                <a:latin typeface="Calibri"/>
              </a:rPr>
              <a:t>Attackers rotate User-Agent strings across Chrome, Safari, iPhone, etc., and vary Accept-Language and Accept-Encoding to look legitimate.</a:t>
            </a:r>
          </a:p>
        </p:txBody>
      </p:sp>
      <p:sp>
        <p:nvSpPr>
          <p:cNvPr id="15" name="Rectangle 14"/>
          <p:cNvSpPr/>
          <p:nvPr/>
        </p:nvSpPr>
        <p:spPr>
          <a:xfrm>
            <a:off x="457200" y="4251960"/>
            <a:ext cx="5486400" cy="2331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31520" y="4572000"/>
            <a:ext cx="640080" cy="64008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4526280"/>
            <a:ext cx="640080" cy="731520"/>
          </a:xfrm>
          <a:prstGeom prst="rect">
            <a:avLst/>
          </a:prstGeom>
          <a:noFill/>
        </p:spPr>
        <p:txBody>
          <a:bodyPr wrap="square" lIns="0" tIns="0" rIns="0" bIns="0" anchor="ctr">
            <a:spAutoFit/>
          </a:bodyPr>
          <a:lstStyle/>
          <a:p>
            <a:pPr algn="ctr"/>
            <a:r>
              <a:rPr sz="2200" b="1" i="0">
                <a:solidFill>
                  <a:srgbClr val="FFFFFF"/>
                </a:solidFill>
                <a:latin typeface="Calibri"/>
              </a:rPr>
              <a:t>③</a:t>
            </a:r>
          </a:p>
        </p:txBody>
      </p:sp>
      <p:sp>
        <p:nvSpPr>
          <p:cNvPr id="18" name="TextBox 17"/>
          <p:cNvSpPr txBox="1"/>
          <p:nvPr/>
        </p:nvSpPr>
        <p:spPr>
          <a:xfrm>
            <a:off x="1554480" y="4572000"/>
            <a:ext cx="4206240" cy="457200"/>
          </a:xfrm>
          <a:prstGeom prst="rect">
            <a:avLst/>
          </a:prstGeom>
          <a:noFill/>
        </p:spPr>
        <p:txBody>
          <a:bodyPr wrap="square" lIns="0" tIns="0" rIns="0" bIns="0" anchor="t">
            <a:spAutoFit/>
          </a:bodyPr>
          <a:lstStyle/>
          <a:p>
            <a:pPr algn="l"/>
            <a:r>
              <a:rPr sz="1600" b="1" i="0">
                <a:solidFill>
                  <a:srgbClr val="1E2761"/>
                </a:solidFill>
                <a:latin typeface="Calibri"/>
              </a:rPr>
              <a:t>Asymmetric Cost</a:t>
            </a:r>
          </a:p>
        </p:txBody>
      </p:sp>
      <p:sp>
        <p:nvSpPr>
          <p:cNvPr id="19" name="TextBox 18"/>
          <p:cNvSpPr txBox="1"/>
          <p:nvPr/>
        </p:nvSpPr>
        <p:spPr>
          <a:xfrm>
            <a:off x="1554480" y="5074920"/>
            <a:ext cx="4206240" cy="1325879"/>
          </a:xfrm>
          <a:prstGeom prst="rect">
            <a:avLst/>
          </a:prstGeom>
          <a:noFill/>
        </p:spPr>
        <p:txBody>
          <a:bodyPr wrap="square" lIns="0" tIns="0" rIns="0" bIns="0" anchor="t">
            <a:spAutoFit/>
          </a:bodyPr>
          <a:lstStyle/>
          <a:p>
            <a:pPr algn="l"/>
            <a:r>
              <a:rPr sz="1100" b="0" i="0">
                <a:solidFill>
                  <a:srgbClr val="1A1A2E"/>
                </a:solidFill>
                <a:latin typeface="Calibri"/>
              </a:rPr>
              <a:t>An /auth/login call costs roughly 200× more than a /user/profile call because of bcrypt. Counting requests alone misses which endpoints cost what.</a:t>
            </a:r>
          </a:p>
        </p:txBody>
      </p:sp>
      <p:sp>
        <p:nvSpPr>
          <p:cNvPr id="20" name="Rectangle 19"/>
          <p:cNvSpPr/>
          <p:nvPr/>
        </p:nvSpPr>
        <p:spPr>
          <a:xfrm>
            <a:off x="6217920" y="4251960"/>
            <a:ext cx="5486400" cy="2331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492240" y="4572000"/>
            <a:ext cx="640080" cy="64008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92240" y="4526280"/>
            <a:ext cx="640080" cy="731520"/>
          </a:xfrm>
          <a:prstGeom prst="rect">
            <a:avLst/>
          </a:prstGeom>
          <a:noFill/>
        </p:spPr>
        <p:txBody>
          <a:bodyPr wrap="square" lIns="0" tIns="0" rIns="0" bIns="0" anchor="ctr">
            <a:spAutoFit/>
          </a:bodyPr>
          <a:lstStyle/>
          <a:p>
            <a:pPr algn="ctr"/>
            <a:r>
              <a:rPr sz="2200" b="1" i="0">
                <a:solidFill>
                  <a:srgbClr val="FFFFFF"/>
                </a:solidFill>
                <a:latin typeface="Calibri"/>
              </a:rPr>
              <a:t>④</a:t>
            </a:r>
          </a:p>
        </p:txBody>
      </p:sp>
      <p:sp>
        <p:nvSpPr>
          <p:cNvPr id="23" name="TextBox 22"/>
          <p:cNvSpPr txBox="1"/>
          <p:nvPr/>
        </p:nvSpPr>
        <p:spPr>
          <a:xfrm>
            <a:off x="7315200" y="4572000"/>
            <a:ext cx="4206240" cy="457200"/>
          </a:xfrm>
          <a:prstGeom prst="rect">
            <a:avLst/>
          </a:prstGeom>
          <a:noFill/>
        </p:spPr>
        <p:txBody>
          <a:bodyPr wrap="square" lIns="0" tIns="0" rIns="0" bIns="0" anchor="t">
            <a:spAutoFit/>
          </a:bodyPr>
          <a:lstStyle/>
          <a:p>
            <a:pPr algn="l"/>
            <a:r>
              <a:rPr sz="1600" b="1" i="0">
                <a:solidFill>
                  <a:srgbClr val="1E2761"/>
                </a:solidFill>
                <a:latin typeface="Calibri"/>
              </a:rPr>
              <a:t>Testing on Unseen Attacks</a:t>
            </a:r>
          </a:p>
        </p:txBody>
      </p:sp>
      <p:sp>
        <p:nvSpPr>
          <p:cNvPr id="24" name="TextBox 23"/>
          <p:cNvSpPr txBox="1"/>
          <p:nvPr/>
        </p:nvSpPr>
        <p:spPr>
          <a:xfrm>
            <a:off x="7315200" y="5074920"/>
            <a:ext cx="4206240" cy="1325879"/>
          </a:xfrm>
          <a:prstGeom prst="rect">
            <a:avLst/>
          </a:prstGeom>
          <a:noFill/>
        </p:spPr>
        <p:txBody>
          <a:bodyPr wrap="square" lIns="0" tIns="0" rIns="0" bIns="0" anchor="t">
            <a:spAutoFit/>
          </a:bodyPr>
          <a:lstStyle/>
          <a:p>
            <a:pPr algn="l"/>
            <a:r>
              <a:rPr sz="1100" b="0" i="0">
                <a:solidFill>
                  <a:srgbClr val="1A1A2E"/>
                </a:solidFill>
                <a:latin typeface="Calibri"/>
              </a:rPr>
              <a:t>If a model has seen every attack type during training, it generalizes poorly. The real test is whether it catches a variant it never saw.</a:t>
            </a:r>
          </a:p>
        </p:txBody>
      </p:sp>
      <p:sp>
        <p:nvSpPr>
          <p:cNvPr id="25" name="TextBox 24"/>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Thesis Checkpoint Presentation</a:t>
            </a:r>
          </a:p>
        </p:txBody>
      </p:sp>
      <p:sp>
        <p:nvSpPr>
          <p:cNvPr id="26" name="TextBox 25"/>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4 / 23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2 · METHODOLOGY</a:t>
            </a:r>
          </a:p>
        </p:txBody>
      </p:sp>
      <p:sp>
        <p:nvSpPr>
          <p:cNvPr id="3" name="TextBox 2"/>
          <p:cNvSpPr txBox="1"/>
          <p:nvPr/>
        </p:nvSpPr>
        <p:spPr>
          <a:xfrm>
            <a:off x="365760" y="548640"/>
            <a:ext cx="11430000" cy="640080"/>
          </a:xfrm>
          <a:prstGeom prst="rect">
            <a:avLst/>
          </a:prstGeom>
          <a:noFill/>
        </p:spPr>
        <p:txBody>
          <a:bodyPr wrap="square" lIns="0" tIns="0" rIns="0" bIns="0" anchor="t">
            <a:spAutoFit/>
          </a:bodyPr>
          <a:lstStyle/>
          <a:p>
            <a:pPr algn="l"/>
            <a:r>
              <a:rPr sz="2800" b="1" i="0">
                <a:solidFill>
                  <a:srgbClr val="1E2761"/>
                </a:solidFill>
                <a:latin typeface="Calibri"/>
              </a:rPr>
              <a:t>System Architecture</a:t>
            </a:r>
          </a:p>
        </p:txBody>
      </p:sp>
      <p:sp>
        <p:nvSpPr>
          <p:cNvPr id="4" name="TextBox 3"/>
          <p:cNvSpPr txBox="1"/>
          <p:nvPr/>
        </p:nvSpPr>
        <p:spPr>
          <a:xfrm>
            <a:off x="365760" y="1188720"/>
            <a:ext cx="11430000" cy="365760"/>
          </a:xfrm>
          <a:prstGeom prst="rect">
            <a:avLst/>
          </a:prstGeom>
          <a:noFill/>
        </p:spPr>
        <p:txBody>
          <a:bodyPr wrap="square" lIns="0" tIns="0" rIns="0" bIns="0" anchor="t">
            <a:spAutoFit/>
          </a:bodyPr>
          <a:lstStyle/>
          <a:p>
            <a:pPr algn="l"/>
            <a:r>
              <a:rPr sz="1400" b="0" i="1">
                <a:solidFill>
                  <a:srgbClr val="64748B"/>
                </a:solidFill>
                <a:latin typeface="Calibri"/>
              </a:rPr>
              <a:t>A single data path from traffic generation to model</a:t>
            </a:r>
          </a:p>
        </p:txBody>
      </p:sp>
      <p:sp>
        <p:nvSpPr>
          <p:cNvPr id="5" name="Rectangle 4"/>
          <p:cNvSpPr/>
          <p:nvPr/>
        </p:nvSpPr>
        <p:spPr>
          <a:xfrm>
            <a:off x="457200" y="1920240"/>
            <a:ext cx="1783080" cy="13716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2103120"/>
            <a:ext cx="1600200" cy="411480"/>
          </a:xfrm>
          <a:prstGeom prst="rect">
            <a:avLst/>
          </a:prstGeom>
          <a:noFill/>
        </p:spPr>
        <p:txBody>
          <a:bodyPr wrap="square" lIns="0" tIns="0" rIns="0" bIns="0" anchor="t">
            <a:spAutoFit/>
          </a:bodyPr>
          <a:lstStyle/>
          <a:p>
            <a:pPr algn="ctr"/>
            <a:r>
              <a:rPr sz="1300" b="1" i="0" spc="200">
                <a:solidFill>
                  <a:srgbClr val="FFFFFF"/>
                </a:solidFill>
                <a:latin typeface="Calibri"/>
              </a:rPr>
              <a:t>TRAFFIC</a:t>
            </a:r>
          </a:p>
        </p:txBody>
      </p:sp>
      <p:sp>
        <p:nvSpPr>
          <p:cNvPr id="7" name="TextBox 6"/>
          <p:cNvSpPr txBox="1"/>
          <p:nvPr/>
        </p:nvSpPr>
        <p:spPr>
          <a:xfrm>
            <a:off x="548640" y="2560320"/>
            <a:ext cx="1600200" cy="640080"/>
          </a:xfrm>
          <a:prstGeom prst="rect">
            <a:avLst/>
          </a:prstGeom>
          <a:noFill/>
        </p:spPr>
        <p:txBody>
          <a:bodyPr wrap="square" lIns="0" tIns="0" rIns="0" bIns="0" anchor="t">
            <a:spAutoFit/>
          </a:bodyPr>
          <a:lstStyle/>
          <a:p>
            <a:pPr algn="ctr"/>
            <a:r>
              <a:rPr sz="1000" b="0" i="0">
                <a:solidFill>
                  <a:srgbClr val="FFFFFF"/>
                </a:solidFill>
                <a:latin typeface="Calibri"/>
              </a:rPr>
              <a:t>k6 + slowhttptest
6 scenarios</a:t>
            </a:r>
          </a:p>
        </p:txBody>
      </p:sp>
      <p:sp>
        <p:nvSpPr>
          <p:cNvPr id="8" name="Right Triangle 7"/>
          <p:cNvSpPr/>
          <p:nvPr/>
        </p:nvSpPr>
        <p:spPr>
          <a:xfrm rot="5400000">
            <a:off x="2249424" y="2532888"/>
            <a:ext cx="137160" cy="146304"/>
          </a:xfrm>
          <a:prstGeom prst="rtTriangle">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404872" y="1920240"/>
            <a:ext cx="1783080" cy="1371600"/>
          </a:xfrm>
          <a:prstGeom prst="rect">
            <a:avLst/>
          </a:prstGeom>
          <a:solidFill>
            <a:srgbClr val="2B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96312" y="2103120"/>
            <a:ext cx="1600200" cy="411480"/>
          </a:xfrm>
          <a:prstGeom prst="rect">
            <a:avLst/>
          </a:prstGeom>
          <a:noFill/>
        </p:spPr>
        <p:txBody>
          <a:bodyPr wrap="square" lIns="0" tIns="0" rIns="0" bIns="0" anchor="t">
            <a:spAutoFit/>
          </a:bodyPr>
          <a:lstStyle/>
          <a:p>
            <a:pPr algn="ctr"/>
            <a:r>
              <a:rPr sz="1300" b="1" i="0" spc="200">
                <a:solidFill>
                  <a:srgbClr val="FFFFFF"/>
                </a:solidFill>
                <a:latin typeface="Calibri"/>
              </a:rPr>
              <a:t>REVERSE PROXY</a:t>
            </a:r>
          </a:p>
        </p:txBody>
      </p:sp>
      <p:sp>
        <p:nvSpPr>
          <p:cNvPr id="11" name="TextBox 10"/>
          <p:cNvSpPr txBox="1"/>
          <p:nvPr/>
        </p:nvSpPr>
        <p:spPr>
          <a:xfrm>
            <a:off x="2496312" y="2560320"/>
            <a:ext cx="1600200" cy="640080"/>
          </a:xfrm>
          <a:prstGeom prst="rect">
            <a:avLst/>
          </a:prstGeom>
          <a:noFill/>
        </p:spPr>
        <p:txBody>
          <a:bodyPr wrap="square" lIns="0" tIns="0" rIns="0" bIns="0" anchor="t">
            <a:spAutoFit/>
          </a:bodyPr>
          <a:lstStyle/>
          <a:p>
            <a:pPr algn="ctr"/>
            <a:r>
              <a:rPr sz="1000" b="0" i="0">
                <a:solidFill>
                  <a:srgbClr val="FFFFFF"/>
                </a:solidFill>
                <a:latin typeface="Calibri"/>
              </a:rPr>
              <a:t>nginx 1.27
JSON access log</a:t>
            </a:r>
          </a:p>
        </p:txBody>
      </p:sp>
      <p:sp>
        <p:nvSpPr>
          <p:cNvPr id="12" name="Right Triangle 11"/>
          <p:cNvSpPr/>
          <p:nvPr/>
        </p:nvSpPr>
        <p:spPr>
          <a:xfrm rot="5400000">
            <a:off x="4197096" y="2532888"/>
            <a:ext cx="137160" cy="146304"/>
          </a:xfrm>
          <a:prstGeom prst="rtTriangle">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2544" y="1920240"/>
            <a:ext cx="1783080" cy="13716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43983" y="2103120"/>
            <a:ext cx="1600200" cy="411480"/>
          </a:xfrm>
          <a:prstGeom prst="rect">
            <a:avLst/>
          </a:prstGeom>
          <a:noFill/>
        </p:spPr>
        <p:txBody>
          <a:bodyPr wrap="square" lIns="0" tIns="0" rIns="0" bIns="0" anchor="t">
            <a:spAutoFit/>
          </a:bodyPr>
          <a:lstStyle/>
          <a:p>
            <a:pPr algn="ctr"/>
            <a:r>
              <a:rPr sz="1300" b="1" i="0" spc="200">
                <a:solidFill>
                  <a:srgbClr val="FFFFFF"/>
                </a:solidFill>
                <a:latin typeface="Calibri"/>
              </a:rPr>
              <a:t>APPLICATION</a:t>
            </a:r>
          </a:p>
        </p:txBody>
      </p:sp>
      <p:sp>
        <p:nvSpPr>
          <p:cNvPr id="15" name="TextBox 14"/>
          <p:cNvSpPr txBox="1"/>
          <p:nvPr/>
        </p:nvSpPr>
        <p:spPr>
          <a:xfrm>
            <a:off x="4443983" y="2560320"/>
            <a:ext cx="1600200" cy="640080"/>
          </a:xfrm>
          <a:prstGeom prst="rect">
            <a:avLst/>
          </a:prstGeom>
          <a:noFill/>
        </p:spPr>
        <p:txBody>
          <a:bodyPr wrap="square" lIns="0" tIns="0" rIns="0" bIns="0" anchor="t">
            <a:spAutoFit/>
          </a:bodyPr>
          <a:lstStyle/>
          <a:p>
            <a:pPr algn="ctr"/>
            <a:r>
              <a:rPr sz="1000" b="0" i="0">
                <a:solidFill>
                  <a:srgbClr val="FFFFFF"/>
                </a:solidFill>
                <a:latin typeface="Calibri"/>
              </a:rPr>
              <a:t>NestJS 11
Middleware + Interceptor</a:t>
            </a:r>
          </a:p>
        </p:txBody>
      </p:sp>
      <p:sp>
        <p:nvSpPr>
          <p:cNvPr id="16" name="Right Triangle 15"/>
          <p:cNvSpPr/>
          <p:nvPr/>
        </p:nvSpPr>
        <p:spPr>
          <a:xfrm rot="5400000">
            <a:off x="6144768" y="2532888"/>
            <a:ext cx="137160" cy="146304"/>
          </a:xfrm>
          <a:prstGeom prst="rtTriangle">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300216" y="1920240"/>
            <a:ext cx="1783080" cy="1371600"/>
          </a:xfrm>
          <a:prstGeom prst="rect">
            <a:avLst/>
          </a:prstGeom>
          <a:solidFill>
            <a:srgbClr val="8FAE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91655" y="2103120"/>
            <a:ext cx="1600200" cy="411480"/>
          </a:xfrm>
          <a:prstGeom prst="rect">
            <a:avLst/>
          </a:prstGeom>
          <a:noFill/>
        </p:spPr>
        <p:txBody>
          <a:bodyPr wrap="square" lIns="0" tIns="0" rIns="0" bIns="0" anchor="t">
            <a:spAutoFit/>
          </a:bodyPr>
          <a:lstStyle/>
          <a:p>
            <a:pPr algn="ctr"/>
            <a:r>
              <a:rPr sz="1300" b="1" i="0" spc="200">
                <a:solidFill>
                  <a:srgbClr val="FFFFFF"/>
                </a:solidFill>
                <a:latin typeface="Calibri"/>
              </a:rPr>
              <a:t>STORAGE</a:t>
            </a:r>
          </a:p>
        </p:txBody>
      </p:sp>
      <p:sp>
        <p:nvSpPr>
          <p:cNvPr id="19" name="TextBox 18"/>
          <p:cNvSpPr txBox="1"/>
          <p:nvPr/>
        </p:nvSpPr>
        <p:spPr>
          <a:xfrm>
            <a:off x="6391655" y="2560320"/>
            <a:ext cx="1600200" cy="640080"/>
          </a:xfrm>
          <a:prstGeom prst="rect">
            <a:avLst/>
          </a:prstGeom>
          <a:noFill/>
        </p:spPr>
        <p:txBody>
          <a:bodyPr wrap="square" lIns="0" tIns="0" rIns="0" bIns="0" anchor="t">
            <a:spAutoFit/>
          </a:bodyPr>
          <a:lstStyle/>
          <a:p>
            <a:pPr algn="ctr"/>
            <a:r>
              <a:rPr sz="1000" b="0" i="0">
                <a:solidFill>
                  <a:srgbClr val="FFFFFF"/>
                </a:solidFill>
                <a:latin typeface="Calibri"/>
              </a:rPr>
              <a:t>PostgreSQL 16
RequestLog + Connection</a:t>
            </a:r>
          </a:p>
        </p:txBody>
      </p:sp>
      <p:sp>
        <p:nvSpPr>
          <p:cNvPr id="20" name="Right Triangle 19"/>
          <p:cNvSpPr/>
          <p:nvPr/>
        </p:nvSpPr>
        <p:spPr>
          <a:xfrm rot="5400000">
            <a:off x="8092440" y="2532888"/>
            <a:ext cx="137160" cy="146304"/>
          </a:xfrm>
          <a:prstGeom prst="rtTriangle">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247888" y="1920240"/>
            <a:ext cx="1783080" cy="1371600"/>
          </a:xfrm>
          <a:prstGeom prst="rect">
            <a:avLst/>
          </a:prstGeom>
          <a:solidFill>
            <a:srgbClr val="018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39327" y="2103120"/>
            <a:ext cx="1600200" cy="411480"/>
          </a:xfrm>
          <a:prstGeom prst="rect">
            <a:avLst/>
          </a:prstGeom>
          <a:noFill/>
        </p:spPr>
        <p:txBody>
          <a:bodyPr wrap="square" lIns="0" tIns="0" rIns="0" bIns="0" anchor="t">
            <a:spAutoFit/>
          </a:bodyPr>
          <a:lstStyle/>
          <a:p>
            <a:pPr algn="ctr"/>
            <a:r>
              <a:rPr sz="1300" b="1" i="0" spc="200">
                <a:solidFill>
                  <a:srgbClr val="FFFFFF"/>
                </a:solidFill>
                <a:latin typeface="Calibri"/>
              </a:rPr>
              <a:t>FEATURES</a:t>
            </a:r>
          </a:p>
        </p:txBody>
      </p:sp>
      <p:sp>
        <p:nvSpPr>
          <p:cNvPr id="23" name="TextBox 22"/>
          <p:cNvSpPr txBox="1"/>
          <p:nvPr/>
        </p:nvSpPr>
        <p:spPr>
          <a:xfrm>
            <a:off x="8339327" y="2560320"/>
            <a:ext cx="1600200" cy="640080"/>
          </a:xfrm>
          <a:prstGeom prst="rect">
            <a:avLst/>
          </a:prstGeom>
          <a:noFill/>
        </p:spPr>
        <p:txBody>
          <a:bodyPr wrap="square" lIns="0" tIns="0" rIns="0" bIns="0" anchor="t">
            <a:spAutoFit/>
          </a:bodyPr>
          <a:lstStyle/>
          <a:p>
            <a:pPr algn="ctr"/>
            <a:r>
              <a:rPr sz="1000" b="0" i="0">
                <a:solidFill>
                  <a:srgbClr val="FFFFFF"/>
                </a:solidFill>
                <a:latin typeface="Calibri"/>
              </a:rPr>
              <a:t>Tier 1-4 pipeline
37 features</a:t>
            </a:r>
          </a:p>
        </p:txBody>
      </p:sp>
      <p:sp>
        <p:nvSpPr>
          <p:cNvPr id="24" name="Right Triangle 23"/>
          <p:cNvSpPr/>
          <p:nvPr/>
        </p:nvSpPr>
        <p:spPr>
          <a:xfrm rot="5400000">
            <a:off x="10040111" y="2532888"/>
            <a:ext cx="137160" cy="146304"/>
          </a:xfrm>
          <a:prstGeom prst="rtTriangle">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0195559" y="1920240"/>
            <a:ext cx="1783080" cy="137160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286999" y="2103120"/>
            <a:ext cx="1600200" cy="411480"/>
          </a:xfrm>
          <a:prstGeom prst="rect">
            <a:avLst/>
          </a:prstGeom>
          <a:noFill/>
        </p:spPr>
        <p:txBody>
          <a:bodyPr wrap="square" lIns="0" tIns="0" rIns="0" bIns="0" anchor="t">
            <a:spAutoFit/>
          </a:bodyPr>
          <a:lstStyle/>
          <a:p>
            <a:pPr algn="ctr"/>
            <a:r>
              <a:rPr sz="1300" b="1" i="0" spc="200">
                <a:solidFill>
                  <a:srgbClr val="FFFFFF"/>
                </a:solidFill>
                <a:latin typeface="Calibri"/>
              </a:rPr>
              <a:t>MODEL</a:t>
            </a:r>
          </a:p>
        </p:txBody>
      </p:sp>
      <p:sp>
        <p:nvSpPr>
          <p:cNvPr id="27" name="TextBox 26"/>
          <p:cNvSpPr txBox="1"/>
          <p:nvPr/>
        </p:nvSpPr>
        <p:spPr>
          <a:xfrm>
            <a:off x="10286999" y="2560320"/>
            <a:ext cx="1600200" cy="640080"/>
          </a:xfrm>
          <a:prstGeom prst="rect">
            <a:avLst/>
          </a:prstGeom>
          <a:noFill/>
        </p:spPr>
        <p:txBody>
          <a:bodyPr wrap="square" lIns="0" tIns="0" rIns="0" bIns="0" anchor="t">
            <a:spAutoFit/>
          </a:bodyPr>
          <a:lstStyle/>
          <a:p>
            <a:pPr algn="ctr"/>
            <a:r>
              <a:rPr sz="1000" b="0" i="0">
                <a:solidFill>
                  <a:srgbClr val="FFFFFF"/>
                </a:solidFill>
                <a:latin typeface="Calibri"/>
              </a:rPr>
              <a:t>Random Forest
(+ISO+RF alt.)</a:t>
            </a:r>
          </a:p>
        </p:txBody>
      </p:sp>
      <p:sp>
        <p:nvSpPr>
          <p:cNvPr id="28" name="TextBox 27"/>
          <p:cNvSpPr txBox="1"/>
          <p:nvPr/>
        </p:nvSpPr>
        <p:spPr>
          <a:xfrm>
            <a:off x="457200" y="3657600"/>
            <a:ext cx="5486400" cy="365760"/>
          </a:xfrm>
          <a:prstGeom prst="rect">
            <a:avLst/>
          </a:prstGeom>
          <a:noFill/>
        </p:spPr>
        <p:txBody>
          <a:bodyPr wrap="square" lIns="0" tIns="0" rIns="0" bIns="0" anchor="t">
            <a:spAutoFit/>
          </a:bodyPr>
          <a:lstStyle/>
          <a:p>
            <a:pPr algn="l"/>
            <a:r>
              <a:rPr sz="1400" b="1" i="0">
                <a:solidFill>
                  <a:srgbClr val="1E2761"/>
                </a:solidFill>
                <a:latin typeface="Calibri"/>
              </a:rPr>
              <a:t>Data Collection Details</a:t>
            </a:r>
          </a:p>
        </p:txBody>
      </p:sp>
      <p:sp>
        <p:nvSpPr>
          <p:cNvPr id="29" name="TextBox 28"/>
          <p:cNvSpPr txBox="1"/>
          <p:nvPr/>
        </p:nvSpPr>
        <p:spPr>
          <a:xfrm>
            <a:off x="457200" y="4023360"/>
            <a:ext cx="5486400" cy="2194560"/>
          </a:xfrm>
          <a:prstGeom prst="rect">
            <a:avLst/>
          </a:prstGeom>
          <a:noFill/>
        </p:spPr>
        <p:txBody>
          <a:bodyPr wrap="square" lIns="0" tIns="0" rIns="0" bIns="0" anchor="t">
            <a:spAutoFit/>
          </a:bodyPr>
          <a:lstStyle/>
          <a:p>
            <a:pPr algn="l"/>
            <a:r>
              <a:rPr sz="1100" b="1" i="0">
                <a:solidFill>
                  <a:srgbClr val="1A1A2E"/>
                </a:solidFill>
                <a:latin typeface="Calibri"/>
              </a:rPr>
              <a:t>nginx access log → </a:t>
            </a:r>
            <a:r>
              <a:rPr sz="1100" b="0" i="0">
                <a:solidFill>
                  <a:srgbClr val="1A1A2E"/>
                </a:solidFill>
                <a:latin typeface="Calibri"/>
              </a:rPr>
              <a:t>per request: connection_id, request_time, status, upstream timing</a:t>
            </a:r>
          </a:p>
          <a:p>
            <a:pPr algn="l"/>
            <a:r>
              <a:rPr sz="1100" b="1" i="0">
                <a:solidFill>
                  <a:srgbClr val="1A1A2E"/>
                </a:solidFill>
                <a:latin typeface="Calibri"/>
              </a:rPr>
              <a:t>NestJS middleware → </a:t>
            </a:r>
            <a:r>
              <a:rPr sz="1100" b="0" i="0">
                <a:solidFill>
                  <a:srgbClr val="1A1A2E"/>
                </a:solidFill>
                <a:latin typeface="Calibri"/>
              </a:rPr>
              <a:t>AsyncLocalStorage isolates per-request metrics: dbQueryCount, dbTotalTimeMs, cpuTimeMs</a:t>
            </a:r>
          </a:p>
          <a:p>
            <a:pPr algn="l"/>
            <a:r>
              <a:rPr sz="1100" b="1" i="0">
                <a:solidFill>
                  <a:srgbClr val="1A1A2E"/>
                </a:solidFill>
                <a:latin typeface="Calibri"/>
              </a:rPr>
              <a:t>Connection enrichment → </a:t>
            </a:r>
            <a:r>
              <a:rPr sz="1100" b="0" i="0">
                <a:solidFill>
                  <a:srgbClr val="1A1A2E"/>
                </a:solidFill>
                <a:latin typeface="Calibri"/>
              </a:rPr>
              <a:t>nginx 408 timeout entries get joined into the Connection table — slowloris becomes visible</a:t>
            </a:r>
          </a:p>
        </p:txBody>
      </p:sp>
      <p:sp>
        <p:nvSpPr>
          <p:cNvPr id="30" name="TextBox 29"/>
          <p:cNvSpPr txBox="1"/>
          <p:nvPr/>
        </p:nvSpPr>
        <p:spPr>
          <a:xfrm>
            <a:off x="6217920" y="3657600"/>
            <a:ext cx="5486400" cy="365760"/>
          </a:xfrm>
          <a:prstGeom prst="rect">
            <a:avLst/>
          </a:prstGeom>
          <a:noFill/>
        </p:spPr>
        <p:txBody>
          <a:bodyPr wrap="square" lIns="0" tIns="0" rIns="0" bIns="0" anchor="t">
            <a:spAutoFit/>
          </a:bodyPr>
          <a:lstStyle/>
          <a:p>
            <a:pPr algn="l"/>
            <a:r>
              <a:rPr sz="1400" b="1" i="0">
                <a:solidFill>
                  <a:srgbClr val="1E2761"/>
                </a:solidFill>
                <a:latin typeface="Calibri"/>
              </a:rPr>
              <a:t>Windowing &amp; Labeling</a:t>
            </a:r>
          </a:p>
        </p:txBody>
      </p:sp>
      <p:sp>
        <p:nvSpPr>
          <p:cNvPr id="31" name="TextBox 30"/>
          <p:cNvSpPr txBox="1"/>
          <p:nvPr/>
        </p:nvSpPr>
        <p:spPr>
          <a:xfrm>
            <a:off x="6217920" y="4023360"/>
            <a:ext cx="5486400" cy="2194560"/>
          </a:xfrm>
          <a:prstGeom prst="rect">
            <a:avLst/>
          </a:prstGeom>
          <a:noFill/>
        </p:spPr>
        <p:txBody>
          <a:bodyPr wrap="square" lIns="0" tIns="0" rIns="0" bIns="0" anchor="t">
            <a:spAutoFit/>
          </a:bodyPr>
          <a:lstStyle/>
          <a:p>
            <a:pPr algn="l"/>
            <a:r>
              <a:rPr sz="1100" b="1" i="0">
                <a:solidFill>
                  <a:srgbClr val="1A1A2E"/>
                </a:solidFill>
                <a:latin typeface="Calibri"/>
              </a:rPr>
              <a:t>Window size: </a:t>
            </a:r>
            <a:r>
              <a:rPr sz="1100" b="0" i="0">
                <a:solidFill>
                  <a:srgbClr val="1A1A2E"/>
                </a:solidFill>
                <a:latin typeface="Calibri"/>
              </a:rPr>
              <a:t>10 seconds, aggregated by IP and /24 subnet</a:t>
            </a:r>
          </a:p>
          <a:p>
            <a:pPr algn="l"/>
            <a:r>
              <a:rPr sz="1100" b="1" i="0">
                <a:solidFill>
                  <a:srgbClr val="1A1A2E"/>
                </a:solidFill>
                <a:latin typeface="Calibri"/>
              </a:rPr>
              <a:t>Label: </a:t>
            </a:r>
            <a:r>
              <a:rPr sz="1100" b="0" i="0">
                <a:solidFill>
                  <a:srgbClr val="1A1A2E"/>
                </a:solidFill>
                <a:latin typeface="Calibri"/>
              </a:rPr>
              <a:t>majority traffic label per window (normal_user, http_flood, etc.)</a:t>
            </a:r>
          </a:p>
          <a:p>
            <a:pPr algn="l"/>
            <a:r>
              <a:rPr sz="1100" b="1" i="0">
                <a:solidFill>
                  <a:srgbClr val="1A1A2E"/>
                </a:solidFill>
                <a:latin typeface="Calibri"/>
              </a:rPr>
              <a:t>Leakage protection: </a:t>
            </a:r>
            <a:r>
              <a:rPr sz="1100" b="0" i="0">
                <a:solidFill>
                  <a:srgbClr val="1A1A2E"/>
                </a:solidFill>
                <a:latin typeface="Calibri"/>
              </a:rPr>
              <a:t>scenario_id, label, window_start removed before training — no target leakage</a:t>
            </a:r>
          </a:p>
        </p:txBody>
      </p:sp>
      <p:sp>
        <p:nvSpPr>
          <p:cNvPr id="32" name="TextBox 31"/>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Thesis Checkpoint Presentation</a:t>
            </a:r>
          </a:p>
        </p:txBody>
      </p:sp>
      <p:sp>
        <p:nvSpPr>
          <p:cNvPr id="33" name="TextBox 32"/>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5 / 23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2 · METHODOLOGY</a:t>
            </a:r>
          </a:p>
        </p:txBody>
      </p:sp>
      <p:sp>
        <p:nvSpPr>
          <p:cNvPr id="3" name="TextBox 2"/>
          <p:cNvSpPr txBox="1"/>
          <p:nvPr/>
        </p:nvSpPr>
        <p:spPr>
          <a:xfrm>
            <a:off x="365760" y="548640"/>
            <a:ext cx="11430000" cy="640080"/>
          </a:xfrm>
          <a:prstGeom prst="rect">
            <a:avLst/>
          </a:prstGeom>
          <a:noFill/>
        </p:spPr>
        <p:txBody>
          <a:bodyPr wrap="square" lIns="0" tIns="0" rIns="0" bIns="0" anchor="t">
            <a:spAutoFit/>
          </a:bodyPr>
          <a:lstStyle/>
          <a:p>
            <a:pPr algn="l"/>
            <a:r>
              <a:rPr sz="2800" b="1" i="0">
                <a:solidFill>
                  <a:srgbClr val="1E2761"/>
                </a:solidFill>
                <a:latin typeface="Calibri"/>
              </a:rPr>
              <a:t>Six Traffic Scenarios</a:t>
            </a:r>
          </a:p>
        </p:txBody>
      </p:sp>
      <p:sp>
        <p:nvSpPr>
          <p:cNvPr id="4" name="TextBox 3"/>
          <p:cNvSpPr txBox="1"/>
          <p:nvPr/>
        </p:nvSpPr>
        <p:spPr>
          <a:xfrm>
            <a:off x="365760" y="1188720"/>
            <a:ext cx="11430000" cy="365760"/>
          </a:xfrm>
          <a:prstGeom prst="rect">
            <a:avLst/>
          </a:prstGeom>
          <a:noFill/>
        </p:spPr>
        <p:txBody>
          <a:bodyPr wrap="square" lIns="0" tIns="0" rIns="0" bIns="0" anchor="t">
            <a:spAutoFit/>
          </a:bodyPr>
          <a:lstStyle/>
          <a:p>
            <a:pPr algn="l"/>
            <a:r>
              <a:rPr sz="1400" b="0" i="1">
                <a:solidFill>
                  <a:srgbClr val="64748B"/>
                </a:solidFill>
                <a:latin typeface="Calibri"/>
              </a:rPr>
              <a:t>Scenario 5 is special: the model only meets it during the exam</a:t>
            </a:r>
          </a:p>
        </p:txBody>
      </p:sp>
      <p:sp>
        <p:nvSpPr>
          <p:cNvPr id="5" name="Rectangle 4"/>
          <p:cNvSpPr/>
          <p:nvPr/>
        </p:nvSpPr>
        <p:spPr>
          <a:xfrm>
            <a:off x="457200" y="1691640"/>
            <a:ext cx="5623560" cy="731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691640"/>
            <a:ext cx="640080" cy="73152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691640"/>
            <a:ext cx="640080" cy="731520"/>
          </a:xfrm>
          <a:prstGeom prst="rect">
            <a:avLst/>
          </a:prstGeom>
          <a:noFill/>
        </p:spPr>
        <p:txBody>
          <a:bodyPr wrap="square" lIns="0" tIns="0" rIns="0" bIns="0" anchor="ctr">
            <a:spAutoFit/>
          </a:bodyPr>
          <a:lstStyle/>
          <a:p>
            <a:pPr algn="ctr"/>
            <a:r>
              <a:rPr sz="1800" b="1" i="0">
                <a:solidFill>
                  <a:srgbClr val="FFFFFF"/>
                </a:solidFill>
                <a:latin typeface="Calibri"/>
              </a:rPr>
              <a:t>S1</a:t>
            </a:r>
          </a:p>
        </p:txBody>
      </p:sp>
      <p:sp>
        <p:nvSpPr>
          <p:cNvPr id="8" name="TextBox 7"/>
          <p:cNvSpPr txBox="1"/>
          <p:nvPr/>
        </p:nvSpPr>
        <p:spPr>
          <a:xfrm>
            <a:off x="1234440" y="1764792"/>
            <a:ext cx="4754880" cy="274320"/>
          </a:xfrm>
          <a:prstGeom prst="rect">
            <a:avLst/>
          </a:prstGeom>
          <a:noFill/>
        </p:spPr>
        <p:txBody>
          <a:bodyPr wrap="square" lIns="0" tIns="0" rIns="0" bIns="0" anchor="t">
            <a:spAutoFit/>
          </a:bodyPr>
          <a:lstStyle/>
          <a:p>
            <a:pPr algn="l"/>
            <a:r>
              <a:rPr sz="1300" b="1" i="0">
                <a:solidFill>
                  <a:srgbClr val="1A1A2E"/>
                </a:solidFill>
                <a:latin typeface="Calibri"/>
              </a:rPr>
              <a:t>Legitimate</a:t>
            </a:r>
            <a:r>
              <a:rPr sz="1100" b="0" i="0">
                <a:solidFill>
                  <a:srgbClr val="64748B"/>
                </a:solidFill>
                <a:latin typeface="Calibri"/>
              </a:rPr>
              <a:t>  ·  </a:t>
            </a:r>
            <a:r>
              <a:rPr sz="1000" b="0" i="1">
                <a:solidFill>
                  <a:srgbClr val="64748B"/>
                </a:solidFill>
                <a:latin typeface="Calibri"/>
              </a:rPr>
              <a:t>Train · Test</a:t>
            </a:r>
          </a:p>
        </p:txBody>
      </p:sp>
      <p:sp>
        <p:nvSpPr>
          <p:cNvPr id="9" name="TextBox 8"/>
          <p:cNvSpPr txBox="1"/>
          <p:nvPr/>
        </p:nvSpPr>
        <p:spPr>
          <a:xfrm>
            <a:off x="1234440" y="2039112"/>
            <a:ext cx="4754880" cy="365760"/>
          </a:xfrm>
          <a:prstGeom prst="rect">
            <a:avLst/>
          </a:prstGeom>
          <a:noFill/>
        </p:spPr>
        <p:txBody>
          <a:bodyPr wrap="square" lIns="0" tIns="0" rIns="0" bIns="0" anchor="t">
            <a:spAutoFit/>
          </a:bodyPr>
          <a:lstStyle/>
          <a:p>
            <a:pPr algn="l"/>
            <a:r>
              <a:rPr sz="1000" b="0" i="0">
                <a:solidFill>
                  <a:srgbClr val="64748B"/>
                </a:solidFill>
                <a:latin typeface="Calibri"/>
              </a:rPr>
              <a:t>Markov navigation, log-normal think time, Zipf search terms, 100 concurrent users</a:t>
            </a:r>
          </a:p>
        </p:txBody>
      </p:sp>
      <p:sp>
        <p:nvSpPr>
          <p:cNvPr id="10" name="Rectangle 9"/>
          <p:cNvSpPr/>
          <p:nvPr/>
        </p:nvSpPr>
        <p:spPr>
          <a:xfrm>
            <a:off x="6263640" y="1691640"/>
            <a:ext cx="5623560" cy="731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63640" y="1691640"/>
            <a:ext cx="640080" cy="7315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63640" y="1691640"/>
            <a:ext cx="640080" cy="731520"/>
          </a:xfrm>
          <a:prstGeom prst="rect">
            <a:avLst/>
          </a:prstGeom>
          <a:noFill/>
        </p:spPr>
        <p:txBody>
          <a:bodyPr wrap="square" lIns="0" tIns="0" rIns="0" bIns="0" anchor="ctr">
            <a:spAutoFit/>
          </a:bodyPr>
          <a:lstStyle/>
          <a:p>
            <a:pPr algn="ctr"/>
            <a:r>
              <a:rPr sz="1800" b="1" i="0">
                <a:solidFill>
                  <a:srgbClr val="FFFFFF"/>
                </a:solidFill>
                <a:latin typeface="Calibri"/>
              </a:rPr>
              <a:t>S2</a:t>
            </a:r>
          </a:p>
        </p:txBody>
      </p:sp>
      <p:sp>
        <p:nvSpPr>
          <p:cNvPr id="13" name="TextBox 12"/>
          <p:cNvSpPr txBox="1"/>
          <p:nvPr/>
        </p:nvSpPr>
        <p:spPr>
          <a:xfrm>
            <a:off x="7040880" y="1764792"/>
            <a:ext cx="4754880" cy="274320"/>
          </a:xfrm>
          <a:prstGeom prst="rect">
            <a:avLst/>
          </a:prstGeom>
          <a:noFill/>
        </p:spPr>
        <p:txBody>
          <a:bodyPr wrap="square" lIns="0" tIns="0" rIns="0" bIns="0" anchor="t">
            <a:spAutoFit/>
          </a:bodyPr>
          <a:lstStyle/>
          <a:p>
            <a:pPr algn="l"/>
            <a:r>
              <a:rPr sz="1300" b="1" i="0">
                <a:solidFill>
                  <a:srgbClr val="1A1A2E"/>
                </a:solidFill>
                <a:latin typeface="Calibri"/>
              </a:rPr>
              <a:t>HTTP Flood</a:t>
            </a:r>
            <a:r>
              <a:rPr sz="1100" b="0" i="0">
                <a:solidFill>
                  <a:srgbClr val="64748B"/>
                </a:solidFill>
                <a:latin typeface="Calibri"/>
              </a:rPr>
              <a:t>  ·  </a:t>
            </a:r>
            <a:r>
              <a:rPr sz="1000" b="0" i="1">
                <a:solidFill>
                  <a:srgbClr val="64748B"/>
                </a:solidFill>
                <a:latin typeface="Calibri"/>
              </a:rPr>
              <a:t>Train · Test</a:t>
            </a:r>
          </a:p>
        </p:txBody>
      </p:sp>
      <p:sp>
        <p:nvSpPr>
          <p:cNvPr id="14" name="TextBox 13"/>
          <p:cNvSpPr txBox="1"/>
          <p:nvPr/>
        </p:nvSpPr>
        <p:spPr>
          <a:xfrm>
            <a:off x="7040880" y="2039112"/>
            <a:ext cx="4754880" cy="365760"/>
          </a:xfrm>
          <a:prstGeom prst="rect">
            <a:avLst/>
          </a:prstGeom>
          <a:noFill/>
        </p:spPr>
        <p:txBody>
          <a:bodyPr wrap="square" lIns="0" tIns="0" rIns="0" bIns="0" anchor="t">
            <a:spAutoFit/>
          </a:bodyPr>
          <a:lstStyle/>
          <a:p>
            <a:pPr algn="l"/>
            <a:r>
              <a:rPr sz="1000" b="0" i="0">
                <a:solidFill>
                  <a:srgbClr val="64748B"/>
                </a:solidFill>
                <a:latin typeface="Calibri"/>
              </a:rPr>
              <a:t>Distributed high-rate requests, naive attacker UA pool</a:t>
            </a:r>
          </a:p>
        </p:txBody>
      </p:sp>
      <p:sp>
        <p:nvSpPr>
          <p:cNvPr id="15" name="Rectangle 14"/>
          <p:cNvSpPr/>
          <p:nvPr/>
        </p:nvSpPr>
        <p:spPr>
          <a:xfrm>
            <a:off x="457200" y="2514600"/>
            <a:ext cx="5623560" cy="731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57200" y="2514600"/>
            <a:ext cx="640080" cy="7315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514600"/>
            <a:ext cx="640080" cy="731520"/>
          </a:xfrm>
          <a:prstGeom prst="rect">
            <a:avLst/>
          </a:prstGeom>
          <a:noFill/>
        </p:spPr>
        <p:txBody>
          <a:bodyPr wrap="square" lIns="0" tIns="0" rIns="0" bIns="0" anchor="ctr">
            <a:spAutoFit/>
          </a:bodyPr>
          <a:lstStyle/>
          <a:p>
            <a:pPr algn="ctr"/>
            <a:r>
              <a:rPr sz="1800" b="1" i="0">
                <a:solidFill>
                  <a:srgbClr val="FFFFFF"/>
                </a:solidFill>
                <a:latin typeface="Calibri"/>
              </a:rPr>
              <a:t>S3</a:t>
            </a:r>
          </a:p>
        </p:txBody>
      </p:sp>
      <p:sp>
        <p:nvSpPr>
          <p:cNvPr id="18" name="TextBox 17"/>
          <p:cNvSpPr txBox="1"/>
          <p:nvPr/>
        </p:nvSpPr>
        <p:spPr>
          <a:xfrm>
            <a:off x="1234440" y="2587752"/>
            <a:ext cx="4754880" cy="274320"/>
          </a:xfrm>
          <a:prstGeom prst="rect">
            <a:avLst/>
          </a:prstGeom>
          <a:noFill/>
        </p:spPr>
        <p:txBody>
          <a:bodyPr wrap="square" lIns="0" tIns="0" rIns="0" bIns="0" anchor="t">
            <a:spAutoFit/>
          </a:bodyPr>
          <a:lstStyle/>
          <a:p>
            <a:pPr algn="l"/>
            <a:r>
              <a:rPr sz="1300" b="1" i="0">
                <a:solidFill>
                  <a:srgbClr val="1A1A2E"/>
                </a:solidFill>
                <a:latin typeface="Calibri"/>
              </a:rPr>
              <a:t>Low-Rate Bot</a:t>
            </a:r>
            <a:r>
              <a:rPr sz="1100" b="0" i="0">
                <a:solidFill>
                  <a:srgbClr val="64748B"/>
                </a:solidFill>
                <a:latin typeface="Calibri"/>
              </a:rPr>
              <a:t>  ·  </a:t>
            </a:r>
            <a:r>
              <a:rPr sz="1000" b="0" i="1">
                <a:solidFill>
                  <a:srgbClr val="64748B"/>
                </a:solidFill>
                <a:latin typeface="Calibri"/>
              </a:rPr>
              <a:t>Train · Test</a:t>
            </a:r>
          </a:p>
        </p:txBody>
      </p:sp>
      <p:sp>
        <p:nvSpPr>
          <p:cNvPr id="19" name="TextBox 18"/>
          <p:cNvSpPr txBox="1"/>
          <p:nvPr/>
        </p:nvSpPr>
        <p:spPr>
          <a:xfrm>
            <a:off x="1234440" y="2862072"/>
            <a:ext cx="4754880" cy="365760"/>
          </a:xfrm>
          <a:prstGeom prst="rect">
            <a:avLst/>
          </a:prstGeom>
          <a:noFill/>
        </p:spPr>
        <p:txBody>
          <a:bodyPr wrap="square" lIns="0" tIns="0" rIns="0" bIns="0" anchor="t">
            <a:spAutoFit/>
          </a:bodyPr>
          <a:lstStyle/>
          <a:p>
            <a:pPr algn="l"/>
            <a:r>
              <a:rPr sz="1000" b="0" i="0">
                <a:solidFill>
                  <a:srgbClr val="64748B"/>
                </a:solidFill>
                <a:latin typeface="Calibri"/>
              </a:rPr>
              <a:t>Persistent low-rate scraping, stays under rate thresholds</a:t>
            </a:r>
          </a:p>
        </p:txBody>
      </p:sp>
      <p:sp>
        <p:nvSpPr>
          <p:cNvPr id="20" name="Rectangle 19"/>
          <p:cNvSpPr/>
          <p:nvPr/>
        </p:nvSpPr>
        <p:spPr>
          <a:xfrm>
            <a:off x="6263640" y="2514600"/>
            <a:ext cx="5623560" cy="731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63640" y="2514600"/>
            <a:ext cx="640080" cy="7315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63640" y="2514600"/>
            <a:ext cx="640080" cy="731520"/>
          </a:xfrm>
          <a:prstGeom prst="rect">
            <a:avLst/>
          </a:prstGeom>
          <a:noFill/>
        </p:spPr>
        <p:txBody>
          <a:bodyPr wrap="square" lIns="0" tIns="0" rIns="0" bIns="0" anchor="ctr">
            <a:spAutoFit/>
          </a:bodyPr>
          <a:lstStyle/>
          <a:p>
            <a:pPr algn="ctr"/>
            <a:r>
              <a:rPr sz="1800" b="1" i="0">
                <a:solidFill>
                  <a:srgbClr val="FFFFFF"/>
                </a:solidFill>
                <a:latin typeface="Calibri"/>
              </a:rPr>
              <a:t>S4</a:t>
            </a:r>
          </a:p>
        </p:txBody>
      </p:sp>
      <p:sp>
        <p:nvSpPr>
          <p:cNvPr id="23" name="TextBox 22"/>
          <p:cNvSpPr txBox="1"/>
          <p:nvPr/>
        </p:nvSpPr>
        <p:spPr>
          <a:xfrm>
            <a:off x="7040880" y="2587752"/>
            <a:ext cx="4754880" cy="274320"/>
          </a:xfrm>
          <a:prstGeom prst="rect">
            <a:avLst/>
          </a:prstGeom>
          <a:noFill/>
        </p:spPr>
        <p:txBody>
          <a:bodyPr wrap="square" lIns="0" tIns="0" rIns="0" bIns="0" anchor="t">
            <a:spAutoFit/>
          </a:bodyPr>
          <a:lstStyle/>
          <a:p>
            <a:pPr algn="l"/>
            <a:r>
              <a:rPr sz="1300" b="1" i="0">
                <a:solidFill>
                  <a:srgbClr val="1A1A2E"/>
                </a:solidFill>
                <a:latin typeface="Calibri"/>
              </a:rPr>
              <a:t>Credential Stuffing</a:t>
            </a:r>
            <a:r>
              <a:rPr sz="1100" b="0" i="0">
                <a:solidFill>
                  <a:srgbClr val="64748B"/>
                </a:solidFill>
                <a:latin typeface="Calibri"/>
              </a:rPr>
              <a:t>  ·  </a:t>
            </a:r>
            <a:r>
              <a:rPr sz="1000" b="0" i="1">
                <a:solidFill>
                  <a:srgbClr val="64748B"/>
                </a:solidFill>
                <a:latin typeface="Calibri"/>
              </a:rPr>
              <a:t>Train · Test</a:t>
            </a:r>
          </a:p>
        </p:txBody>
      </p:sp>
      <p:sp>
        <p:nvSpPr>
          <p:cNvPr id="24" name="TextBox 23"/>
          <p:cNvSpPr txBox="1"/>
          <p:nvPr/>
        </p:nvSpPr>
        <p:spPr>
          <a:xfrm>
            <a:off x="7040880" y="2862072"/>
            <a:ext cx="4754880" cy="365760"/>
          </a:xfrm>
          <a:prstGeom prst="rect">
            <a:avLst/>
          </a:prstGeom>
          <a:noFill/>
        </p:spPr>
        <p:txBody>
          <a:bodyPr wrap="square" lIns="0" tIns="0" rIns="0" bIns="0" anchor="t">
            <a:spAutoFit/>
          </a:bodyPr>
          <a:lstStyle/>
          <a:p>
            <a:pPr algn="l"/>
            <a:r>
              <a:rPr sz="1000" b="0" i="0">
                <a:solidFill>
                  <a:srgbClr val="64748B"/>
                </a:solidFill>
                <a:latin typeface="Calibri"/>
              </a:rPr>
              <a:t>Random email/password login attempts; produces 401 signal</a:t>
            </a:r>
          </a:p>
        </p:txBody>
      </p:sp>
      <p:sp>
        <p:nvSpPr>
          <p:cNvPr id="25" name="Rectangle 24"/>
          <p:cNvSpPr/>
          <p:nvPr/>
        </p:nvSpPr>
        <p:spPr>
          <a:xfrm>
            <a:off x="457200" y="3337560"/>
            <a:ext cx="5623560" cy="731520"/>
          </a:xfrm>
          <a:prstGeom prst="rect">
            <a:avLst/>
          </a:prstGeom>
          <a:solidFill>
            <a:srgbClr val="FFFFFF"/>
          </a:solidFill>
          <a:ln w="254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57200" y="3337560"/>
            <a:ext cx="640080" cy="7315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 y="3337560"/>
            <a:ext cx="640080" cy="731520"/>
          </a:xfrm>
          <a:prstGeom prst="rect">
            <a:avLst/>
          </a:prstGeom>
          <a:noFill/>
        </p:spPr>
        <p:txBody>
          <a:bodyPr wrap="square" lIns="0" tIns="0" rIns="0" bIns="0" anchor="ctr">
            <a:spAutoFit/>
          </a:bodyPr>
          <a:lstStyle/>
          <a:p>
            <a:pPr algn="ctr"/>
            <a:r>
              <a:rPr sz="1800" b="1" i="0">
                <a:solidFill>
                  <a:srgbClr val="FFFFFF"/>
                </a:solidFill>
                <a:latin typeface="Calibri"/>
              </a:rPr>
              <a:t>S5</a:t>
            </a:r>
          </a:p>
        </p:txBody>
      </p:sp>
      <p:sp>
        <p:nvSpPr>
          <p:cNvPr id="28" name="TextBox 27"/>
          <p:cNvSpPr txBox="1"/>
          <p:nvPr/>
        </p:nvSpPr>
        <p:spPr>
          <a:xfrm>
            <a:off x="1234440" y="3410712"/>
            <a:ext cx="4754880" cy="274320"/>
          </a:xfrm>
          <a:prstGeom prst="rect">
            <a:avLst/>
          </a:prstGeom>
          <a:noFill/>
        </p:spPr>
        <p:txBody>
          <a:bodyPr wrap="square" lIns="0" tIns="0" rIns="0" bIns="0" anchor="t">
            <a:spAutoFit/>
          </a:bodyPr>
          <a:lstStyle/>
          <a:p>
            <a:pPr algn="l"/>
            <a:r>
              <a:rPr sz="1300" b="1" i="0">
                <a:solidFill>
                  <a:srgbClr val="1A1A2E"/>
                </a:solidFill>
                <a:latin typeface="Calibri"/>
              </a:rPr>
              <a:t>Mimicry Flood</a:t>
            </a:r>
            <a:r>
              <a:rPr sz="1100" b="0" i="0">
                <a:solidFill>
                  <a:srgbClr val="64748B"/>
                </a:solidFill>
                <a:latin typeface="Calibri"/>
              </a:rPr>
              <a:t>  ·  </a:t>
            </a:r>
            <a:r>
              <a:rPr sz="1000" b="1" i="1">
                <a:solidFill>
                  <a:srgbClr val="F96167"/>
                </a:solidFill>
                <a:latin typeface="Calibri"/>
              </a:rPr>
              <a:t>★ TEST ONLY</a:t>
            </a:r>
          </a:p>
        </p:txBody>
      </p:sp>
      <p:sp>
        <p:nvSpPr>
          <p:cNvPr id="29" name="TextBox 28"/>
          <p:cNvSpPr txBox="1"/>
          <p:nvPr/>
        </p:nvSpPr>
        <p:spPr>
          <a:xfrm>
            <a:off x="1234440" y="3685032"/>
            <a:ext cx="4754880" cy="365760"/>
          </a:xfrm>
          <a:prstGeom prst="rect">
            <a:avLst/>
          </a:prstGeom>
          <a:noFill/>
        </p:spPr>
        <p:txBody>
          <a:bodyPr wrap="square" lIns="0" tIns="0" rIns="0" bIns="0" anchor="t">
            <a:spAutoFit/>
          </a:bodyPr>
          <a:lstStyle/>
          <a:p>
            <a:pPr algn="l"/>
            <a:r>
              <a:rPr sz="1000" b="0" i="0">
                <a:solidFill>
                  <a:srgbClr val="64748B"/>
                </a:solidFill>
                <a:latin typeface="Calibri"/>
              </a:rPr>
              <a:t>UA + IP from legit pool, token reuse, flood-level burst</a:t>
            </a:r>
          </a:p>
        </p:txBody>
      </p:sp>
      <p:sp>
        <p:nvSpPr>
          <p:cNvPr id="30" name="Rectangle 29"/>
          <p:cNvSpPr/>
          <p:nvPr/>
        </p:nvSpPr>
        <p:spPr>
          <a:xfrm>
            <a:off x="6263640" y="3337560"/>
            <a:ext cx="5623560" cy="731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263640" y="3337560"/>
            <a:ext cx="640080" cy="731520"/>
          </a:xfrm>
          <a:prstGeom prst="rect">
            <a:avLst/>
          </a:prstGeom>
          <a:solidFill>
            <a:srgbClr val="C94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263640" y="3337560"/>
            <a:ext cx="640080" cy="731520"/>
          </a:xfrm>
          <a:prstGeom prst="rect">
            <a:avLst/>
          </a:prstGeom>
          <a:noFill/>
        </p:spPr>
        <p:txBody>
          <a:bodyPr wrap="square" lIns="0" tIns="0" rIns="0" bIns="0" anchor="ctr">
            <a:spAutoFit/>
          </a:bodyPr>
          <a:lstStyle/>
          <a:p>
            <a:pPr algn="ctr"/>
            <a:r>
              <a:rPr sz="1800" b="1" i="0">
                <a:solidFill>
                  <a:srgbClr val="FFFFFF"/>
                </a:solidFill>
                <a:latin typeface="Calibri"/>
              </a:rPr>
              <a:t>S6</a:t>
            </a:r>
          </a:p>
        </p:txBody>
      </p:sp>
      <p:sp>
        <p:nvSpPr>
          <p:cNvPr id="33" name="TextBox 32"/>
          <p:cNvSpPr txBox="1"/>
          <p:nvPr/>
        </p:nvSpPr>
        <p:spPr>
          <a:xfrm>
            <a:off x="7040880" y="3410712"/>
            <a:ext cx="4754880" cy="274320"/>
          </a:xfrm>
          <a:prstGeom prst="rect">
            <a:avLst/>
          </a:prstGeom>
          <a:noFill/>
        </p:spPr>
        <p:txBody>
          <a:bodyPr wrap="square" lIns="0" tIns="0" rIns="0" bIns="0" anchor="t">
            <a:spAutoFit/>
          </a:bodyPr>
          <a:lstStyle/>
          <a:p>
            <a:pPr algn="l"/>
            <a:r>
              <a:rPr sz="1300" b="1" i="0">
                <a:solidFill>
                  <a:srgbClr val="1A1A2E"/>
                </a:solidFill>
                <a:latin typeface="Calibri"/>
              </a:rPr>
              <a:t>Slow HTTP</a:t>
            </a:r>
            <a:r>
              <a:rPr sz="1100" b="0" i="0">
                <a:solidFill>
                  <a:srgbClr val="64748B"/>
                </a:solidFill>
                <a:latin typeface="Calibri"/>
              </a:rPr>
              <a:t>  ·  </a:t>
            </a:r>
            <a:r>
              <a:rPr sz="1000" b="0" i="1">
                <a:solidFill>
                  <a:srgbClr val="64748B"/>
                </a:solidFill>
                <a:latin typeface="Calibri"/>
              </a:rPr>
              <a:t>Connection rule</a:t>
            </a:r>
          </a:p>
        </p:txBody>
      </p:sp>
      <p:sp>
        <p:nvSpPr>
          <p:cNvPr id="34" name="TextBox 33"/>
          <p:cNvSpPr txBox="1"/>
          <p:nvPr/>
        </p:nvSpPr>
        <p:spPr>
          <a:xfrm>
            <a:off x="7040880" y="3685032"/>
            <a:ext cx="4754880" cy="365760"/>
          </a:xfrm>
          <a:prstGeom prst="rect">
            <a:avLst/>
          </a:prstGeom>
          <a:noFill/>
        </p:spPr>
        <p:txBody>
          <a:bodyPr wrap="square" lIns="0" tIns="0" rIns="0" bIns="0" anchor="t">
            <a:spAutoFit/>
          </a:bodyPr>
          <a:lstStyle/>
          <a:p>
            <a:pPr algn="l"/>
            <a:r>
              <a:rPr sz="1000" b="0" i="0">
                <a:solidFill>
                  <a:srgbClr val="64748B"/>
                </a:solidFill>
                <a:latin typeface="Calibri"/>
              </a:rPr>
              <a:t>Slowloris; nginx closes at 60s; sparse 408 signal</a:t>
            </a:r>
          </a:p>
        </p:txBody>
      </p:sp>
      <p:sp>
        <p:nvSpPr>
          <p:cNvPr id="35" name="Rectangle 34"/>
          <p:cNvSpPr/>
          <p:nvPr/>
        </p:nvSpPr>
        <p:spPr>
          <a:xfrm>
            <a:off x="457200" y="5120640"/>
            <a:ext cx="11247120" cy="11887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57200" y="5120640"/>
            <a:ext cx="137160" cy="1188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77240" y="5212080"/>
            <a:ext cx="4572000" cy="274320"/>
          </a:xfrm>
          <a:prstGeom prst="rect">
            <a:avLst/>
          </a:prstGeom>
          <a:noFill/>
        </p:spPr>
        <p:txBody>
          <a:bodyPr wrap="square" lIns="0" tIns="0" rIns="0" bIns="0" anchor="t">
            <a:spAutoFit/>
          </a:bodyPr>
          <a:lstStyle/>
          <a:p>
            <a:pPr algn="l"/>
            <a:r>
              <a:rPr sz="1100" b="1" i="0" spc="400">
                <a:solidFill>
                  <a:srgbClr val="8FAEEB"/>
                </a:solidFill>
                <a:latin typeface="Calibri"/>
              </a:rPr>
              <a:t>KEY DESIGN DECISION</a:t>
            </a:r>
          </a:p>
        </p:txBody>
      </p:sp>
      <p:sp>
        <p:nvSpPr>
          <p:cNvPr id="38" name="TextBox 37"/>
          <p:cNvSpPr txBox="1"/>
          <p:nvPr/>
        </p:nvSpPr>
        <p:spPr>
          <a:xfrm>
            <a:off x="777240" y="5532120"/>
            <a:ext cx="10698480" cy="731520"/>
          </a:xfrm>
          <a:prstGeom prst="rect">
            <a:avLst/>
          </a:prstGeom>
          <a:noFill/>
        </p:spPr>
        <p:txBody>
          <a:bodyPr wrap="square" lIns="0" tIns="0" rIns="0" bIns="0" anchor="t">
            <a:spAutoFit/>
          </a:bodyPr>
          <a:lstStyle/>
          <a:p>
            <a:pPr algn="l"/>
            <a:r>
              <a:rPr sz="1300" b="0" i="1">
                <a:solidFill>
                  <a:srgbClr val="FFFFFF"/>
                </a:solidFill>
                <a:latin typeface="Calibri"/>
              </a:rPr>
              <a:t>S5 mimicry_flood is excluded from training and validation. It is used only as a holdout test. This measures whether the model can generalize to an attack it has never seen.</a:t>
            </a:r>
          </a:p>
        </p:txBody>
      </p:sp>
      <p:sp>
        <p:nvSpPr>
          <p:cNvPr id="39" name="TextBox 38"/>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Thesis Checkpoint Presentation</a:t>
            </a:r>
          </a:p>
        </p:txBody>
      </p:sp>
      <p:sp>
        <p:nvSpPr>
          <p:cNvPr id="40" name="TextBox 39"/>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6 / 23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2 · METHODOLOGY</a:t>
            </a:r>
          </a:p>
        </p:txBody>
      </p:sp>
      <p:sp>
        <p:nvSpPr>
          <p:cNvPr id="3" name="TextBox 2"/>
          <p:cNvSpPr txBox="1"/>
          <p:nvPr/>
        </p:nvSpPr>
        <p:spPr>
          <a:xfrm>
            <a:off x="365760" y="548640"/>
            <a:ext cx="11430000" cy="640080"/>
          </a:xfrm>
          <a:prstGeom prst="rect">
            <a:avLst/>
          </a:prstGeom>
          <a:noFill/>
        </p:spPr>
        <p:txBody>
          <a:bodyPr wrap="square" lIns="0" tIns="0" rIns="0" bIns="0" anchor="t">
            <a:spAutoFit/>
          </a:bodyPr>
          <a:lstStyle/>
          <a:p>
            <a:pPr algn="l"/>
            <a:r>
              <a:rPr sz="2800" b="1" i="0">
                <a:solidFill>
                  <a:srgbClr val="1E2761"/>
                </a:solidFill>
                <a:latin typeface="Calibri"/>
              </a:rPr>
              <a:t>Anatomy of the Mimicry Attack</a:t>
            </a:r>
          </a:p>
        </p:txBody>
      </p:sp>
      <p:sp>
        <p:nvSpPr>
          <p:cNvPr id="4" name="TextBox 3"/>
          <p:cNvSpPr txBox="1"/>
          <p:nvPr/>
        </p:nvSpPr>
        <p:spPr>
          <a:xfrm>
            <a:off x="365760" y="1188720"/>
            <a:ext cx="11430000" cy="365760"/>
          </a:xfrm>
          <a:prstGeom prst="rect">
            <a:avLst/>
          </a:prstGeom>
          <a:noFill/>
        </p:spPr>
        <p:txBody>
          <a:bodyPr wrap="square" lIns="0" tIns="0" rIns="0" bIns="0" anchor="t">
            <a:spAutoFit/>
          </a:bodyPr>
          <a:lstStyle/>
          <a:p>
            <a:pPr algn="l"/>
            <a:r>
              <a:rPr sz="1400" b="0" i="1">
                <a:solidFill>
                  <a:srgbClr val="64748B"/>
                </a:solidFill>
                <a:latin typeface="Calibri"/>
              </a:rPr>
              <a:t>Surface looks legit, behavior is flood — this asymmetry is the thesis question</a:t>
            </a:r>
          </a:p>
        </p:txBody>
      </p:sp>
      <p:sp>
        <p:nvSpPr>
          <p:cNvPr id="5" name="Rectangle 4"/>
          <p:cNvSpPr/>
          <p:nvPr/>
        </p:nvSpPr>
        <p:spPr>
          <a:xfrm>
            <a:off x="457200" y="1691640"/>
            <a:ext cx="5623560" cy="38404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691640"/>
            <a:ext cx="5623560" cy="5029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737360"/>
            <a:ext cx="5074920" cy="411480"/>
          </a:xfrm>
          <a:prstGeom prst="rect">
            <a:avLst/>
          </a:prstGeom>
          <a:noFill/>
        </p:spPr>
        <p:txBody>
          <a:bodyPr wrap="square" lIns="0" tIns="0" rIns="0" bIns="0" anchor="ctr">
            <a:spAutoFit/>
          </a:bodyPr>
          <a:lstStyle/>
          <a:p>
            <a:pPr algn="l"/>
            <a:r>
              <a:rPr sz="1500" b="1" i="0" spc="200">
                <a:solidFill>
                  <a:srgbClr val="FFFFFF"/>
                </a:solidFill>
                <a:latin typeface="Calibri"/>
              </a:rPr>
              <a:t>Naive HTTP Flood</a:t>
            </a:r>
          </a:p>
        </p:txBody>
      </p:sp>
      <p:sp>
        <p:nvSpPr>
          <p:cNvPr id="8" name="TextBox 7"/>
          <p:cNvSpPr txBox="1"/>
          <p:nvPr/>
        </p:nvSpPr>
        <p:spPr>
          <a:xfrm>
            <a:off x="731520" y="2377440"/>
            <a:ext cx="1463040" cy="502920"/>
          </a:xfrm>
          <a:prstGeom prst="rect">
            <a:avLst/>
          </a:prstGeom>
          <a:noFill/>
        </p:spPr>
        <p:txBody>
          <a:bodyPr wrap="square" lIns="0" tIns="0" rIns="0" bIns="0" anchor="t">
            <a:spAutoFit/>
          </a:bodyPr>
          <a:lstStyle/>
          <a:p>
            <a:pPr algn="l"/>
            <a:r>
              <a:rPr sz="1000" b="1" i="0" spc="200">
                <a:solidFill>
                  <a:srgbClr val="F96167"/>
                </a:solidFill>
                <a:latin typeface="Calibri"/>
              </a:rPr>
              <a:t>User-Agent</a:t>
            </a:r>
          </a:p>
        </p:txBody>
      </p:sp>
      <p:sp>
        <p:nvSpPr>
          <p:cNvPr id="9" name="TextBox 8"/>
          <p:cNvSpPr txBox="1"/>
          <p:nvPr/>
        </p:nvSpPr>
        <p:spPr>
          <a:xfrm>
            <a:off x="2286000" y="2377440"/>
            <a:ext cx="3611880" cy="548640"/>
          </a:xfrm>
          <a:prstGeom prst="rect">
            <a:avLst/>
          </a:prstGeom>
          <a:noFill/>
        </p:spPr>
        <p:txBody>
          <a:bodyPr wrap="square" lIns="0" tIns="0" rIns="0" bIns="0" anchor="t">
            <a:spAutoFit/>
          </a:bodyPr>
          <a:lstStyle/>
          <a:p>
            <a:pPr algn="l"/>
            <a:r>
              <a:rPr sz="1100" b="0" i="0">
                <a:solidFill>
                  <a:srgbClr val="1A1A2E"/>
                </a:solidFill>
                <a:latin typeface="Calibri"/>
              </a:rPr>
              <a:t>curl/8.7.1, python-requests, Go-http-client</a:t>
            </a:r>
          </a:p>
        </p:txBody>
      </p:sp>
      <p:sp>
        <p:nvSpPr>
          <p:cNvPr id="10" name="TextBox 9"/>
          <p:cNvSpPr txBox="1"/>
          <p:nvPr/>
        </p:nvSpPr>
        <p:spPr>
          <a:xfrm>
            <a:off x="731520" y="2971800"/>
            <a:ext cx="1463040" cy="502920"/>
          </a:xfrm>
          <a:prstGeom prst="rect">
            <a:avLst/>
          </a:prstGeom>
          <a:noFill/>
        </p:spPr>
        <p:txBody>
          <a:bodyPr wrap="square" lIns="0" tIns="0" rIns="0" bIns="0" anchor="t">
            <a:spAutoFit/>
          </a:bodyPr>
          <a:lstStyle/>
          <a:p>
            <a:pPr algn="l"/>
            <a:r>
              <a:rPr sz="1000" b="1" i="0" spc="200">
                <a:solidFill>
                  <a:srgbClr val="F96167"/>
                </a:solidFill>
                <a:latin typeface="Calibri"/>
              </a:rPr>
              <a:t>IP Pool</a:t>
            </a:r>
          </a:p>
        </p:txBody>
      </p:sp>
      <p:sp>
        <p:nvSpPr>
          <p:cNvPr id="11" name="TextBox 10"/>
          <p:cNvSpPr txBox="1"/>
          <p:nvPr/>
        </p:nvSpPr>
        <p:spPr>
          <a:xfrm>
            <a:off x="2286000" y="2971800"/>
            <a:ext cx="3611880" cy="548640"/>
          </a:xfrm>
          <a:prstGeom prst="rect">
            <a:avLst/>
          </a:prstGeom>
          <a:noFill/>
        </p:spPr>
        <p:txBody>
          <a:bodyPr wrap="square" lIns="0" tIns="0" rIns="0" bIns="0" anchor="t">
            <a:spAutoFit/>
          </a:bodyPr>
          <a:lstStyle/>
          <a:p>
            <a:pPr algn="l"/>
            <a:r>
              <a:rPr sz="1100" b="0" i="0">
                <a:solidFill>
                  <a:srgbClr val="1A1A2E"/>
                </a:solidFill>
                <a:latin typeface="Calibri"/>
              </a:rPr>
              <a:t>Attacker-only pool with minimal legit overlap</a:t>
            </a:r>
          </a:p>
        </p:txBody>
      </p:sp>
      <p:sp>
        <p:nvSpPr>
          <p:cNvPr id="12" name="TextBox 11"/>
          <p:cNvSpPr txBox="1"/>
          <p:nvPr/>
        </p:nvSpPr>
        <p:spPr>
          <a:xfrm>
            <a:off x="731520" y="3566160"/>
            <a:ext cx="1463040" cy="502920"/>
          </a:xfrm>
          <a:prstGeom prst="rect">
            <a:avLst/>
          </a:prstGeom>
          <a:noFill/>
        </p:spPr>
        <p:txBody>
          <a:bodyPr wrap="square" lIns="0" tIns="0" rIns="0" bIns="0" anchor="t">
            <a:spAutoFit/>
          </a:bodyPr>
          <a:lstStyle/>
          <a:p>
            <a:pPr algn="l"/>
            <a:r>
              <a:rPr sz="1000" b="1" i="0" spc="200">
                <a:solidFill>
                  <a:srgbClr val="F96167"/>
                </a:solidFill>
                <a:latin typeface="Calibri"/>
              </a:rPr>
              <a:t>Login</a:t>
            </a:r>
          </a:p>
        </p:txBody>
      </p:sp>
      <p:sp>
        <p:nvSpPr>
          <p:cNvPr id="13" name="TextBox 12"/>
          <p:cNvSpPr txBox="1"/>
          <p:nvPr/>
        </p:nvSpPr>
        <p:spPr>
          <a:xfrm>
            <a:off x="2286000" y="3566160"/>
            <a:ext cx="3611880" cy="548640"/>
          </a:xfrm>
          <a:prstGeom prst="rect">
            <a:avLst/>
          </a:prstGeom>
          <a:noFill/>
        </p:spPr>
        <p:txBody>
          <a:bodyPr wrap="square" lIns="0" tIns="0" rIns="0" bIns="0" anchor="t">
            <a:spAutoFit/>
          </a:bodyPr>
          <a:lstStyle/>
          <a:p>
            <a:pPr algn="l"/>
            <a:r>
              <a:rPr sz="1100" b="0" i="0">
                <a:solidFill>
                  <a:srgbClr val="1A1A2E"/>
                </a:solidFill>
                <a:latin typeface="Calibri"/>
              </a:rPr>
              <a:t>Re-login every request, no token reuse</a:t>
            </a:r>
          </a:p>
        </p:txBody>
      </p:sp>
      <p:sp>
        <p:nvSpPr>
          <p:cNvPr id="14" name="TextBox 13"/>
          <p:cNvSpPr txBox="1"/>
          <p:nvPr/>
        </p:nvSpPr>
        <p:spPr>
          <a:xfrm>
            <a:off x="731520" y="4160520"/>
            <a:ext cx="1463040" cy="502920"/>
          </a:xfrm>
          <a:prstGeom prst="rect">
            <a:avLst/>
          </a:prstGeom>
          <a:noFill/>
        </p:spPr>
        <p:txBody>
          <a:bodyPr wrap="square" lIns="0" tIns="0" rIns="0" bIns="0" anchor="t">
            <a:spAutoFit/>
          </a:bodyPr>
          <a:lstStyle/>
          <a:p>
            <a:pPr algn="l"/>
            <a:r>
              <a:rPr sz="1000" b="1" i="0" spc="200">
                <a:solidFill>
                  <a:srgbClr val="F96167"/>
                </a:solidFill>
                <a:latin typeface="Calibri"/>
              </a:rPr>
              <a:t>Cadence</a:t>
            </a:r>
          </a:p>
        </p:txBody>
      </p:sp>
      <p:sp>
        <p:nvSpPr>
          <p:cNvPr id="15" name="TextBox 14"/>
          <p:cNvSpPr txBox="1"/>
          <p:nvPr/>
        </p:nvSpPr>
        <p:spPr>
          <a:xfrm>
            <a:off x="2286000" y="4160520"/>
            <a:ext cx="3611880" cy="548640"/>
          </a:xfrm>
          <a:prstGeom prst="rect">
            <a:avLst/>
          </a:prstGeom>
          <a:noFill/>
        </p:spPr>
        <p:txBody>
          <a:bodyPr wrap="square" lIns="0" tIns="0" rIns="0" bIns="0" anchor="t">
            <a:spAutoFit/>
          </a:bodyPr>
          <a:lstStyle/>
          <a:p>
            <a:pPr algn="l"/>
            <a:r>
              <a:rPr sz="1100" b="0" i="0">
                <a:solidFill>
                  <a:srgbClr val="1A1A2E"/>
                </a:solidFill>
                <a:latin typeface="Calibri"/>
              </a:rPr>
              <a:t>Burst of 2-5 requests, 10-50ms apart</a:t>
            </a:r>
          </a:p>
        </p:txBody>
      </p:sp>
      <p:sp>
        <p:nvSpPr>
          <p:cNvPr id="16" name="TextBox 15"/>
          <p:cNvSpPr txBox="1"/>
          <p:nvPr/>
        </p:nvSpPr>
        <p:spPr>
          <a:xfrm>
            <a:off x="731520" y="4754880"/>
            <a:ext cx="1463040" cy="502920"/>
          </a:xfrm>
          <a:prstGeom prst="rect">
            <a:avLst/>
          </a:prstGeom>
          <a:noFill/>
        </p:spPr>
        <p:txBody>
          <a:bodyPr wrap="square" lIns="0" tIns="0" rIns="0" bIns="0" anchor="t">
            <a:spAutoFit/>
          </a:bodyPr>
          <a:lstStyle/>
          <a:p>
            <a:pPr algn="l"/>
            <a:r>
              <a:rPr sz="1000" b="1" i="0" spc="200">
                <a:solidFill>
                  <a:srgbClr val="F96167"/>
                </a:solidFill>
                <a:latin typeface="Calibri"/>
              </a:rPr>
              <a:t>Signature</a:t>
            </a:r>
          </a:p>
        </p:txBody>
      </p:sp>
      <p:sp>
        <p:nvSpPr>
          <p:cNvPr id="17" name="TextBox 16"/>
          <p:cNvSpPr txBox="1"/>
          <p:nvPr/>
        </p:nvSpPr>
        <p:spPr>
          <a:xfrm>
            <a:off x="2286000" y="4754880"/>
            <a:ext cx="3611880" cy="548640"/>
          </a:xfrm>
          <a:prstGeom prst="rect">
            <a:avLst/>
          </a:prstGeom>
          <a:noFill/>
        </p:spPr>
        <p:txBody>
          <a:bodyPr wrap="square" lIns="0" tIns="0" rIns="0" bIns="0" anchor="t">
            <a:spAutoFit/>
          </a:bodyPr>
          <a:lstStyle/>
          <a:p>
            <a:pPr algn="l"/>
            <a:r>
              <a:rPr sz="1100" b="0" i="0">
                <a:solidFill>
                  <a:srgbClr val="1A1A2E"/>
                </a:solidFill>
                <a:latin typeface="Calibri"/>
              </a:rPr>
              <a:t>High rate + tool UA + distinct IP cluster</a:t>
            </a:r>
          </a:p>
        </p:txBody>
      </p:sp>
      <p:sp>
        <p:nvSpPr>
          <p:cNvPr id="18" name="Rectangle 17"/>
          <p:cNvSpPr/>
          <p:nvPr/>
        </p:nvSpPr>
        <p:spPr>
          <a:xfrm>
            <a:off x="6263640" y="1691640"/>
            <a:ext cx="5623560" cy="38404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63640" y="1691640"/>
            <a:ext cx="5623560"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37960" y="1737360"/>
            <a:ext cx="5074920" cy="411480"/>
          </a:xfrm>
          <a:prstGeom prst="rect">
            <a:avLst/>
          </a:prstGeom>
          <a:noFill/>
        </p:spPr>
        <p:txBody>
          <a:bodyPr wrap="square" lIns="0" tIns="0" rIns="0" bIns="0" anchor="ctr">
            <a:spAutoFit/>
          </a:bodyPr>
          <a:lstStyle/>
          <a:p>
            <a:pPr algn="l"/>
            <a:r>
              <a:rPr sz="1500" b="1" i="0" spc="200">
                <a:solidFill>
                  <a:srgbClr val="FFFFFF"/>
                </a:solidFill>
                <a:latin typeface="Calibri"/>
              </a:rPr>
              <a:t>Mimicry Flood</a:t>
            </a:r>
          </a:p>
        </p:txBody>
      </p:sp>
      <p:sp>
        <p:nvSpPr>
          <p:cNvPr id="21" name="TextBox 20"/>
          <p:cNvSpPr txBox="1"/>
          <p:nvPr/>
        </p:nvSpPr>
        <p:spPr>
          <a:xfrm>
            <a:off x="6537960" y="2377440"/>
            <a:ext cx="1463040" cy="502920"/>
          </a:xfrm>
          <a:prstGeom prst="rect">
            <a:avLst/>
          </a:prstGeom>
          <a:noFill/>
        </p:spPr>
        <p:txBody>
          <a:bodyPr wrap="square" lIns="0" tIns="0" rIns="0" bIns="0" anchor="t">
            <a:spAutoFit/>
          </a:bodyPr>
          <a:lstStyle/>
          <a:p>
            <a:pPr algn="l"/>
            <a:r>
              <a:rPr sz="1000" b="1" i="0" spc="200">
                <a:solidFill>
                  <a:srgbClr val="1E2761"/>
                </a:solidFill>
                <a:latin typeface="Calibri"/>
              </a:rPr>
              <a:t>User-Agent</a:t>
            </a:r>
          </a:p>
        </p:txBody>
      </p:sp>
      <p:sp>
        <p:nvSpPr>
          <p:cNvPr id="22" name="TextBox 21"/>
          <p:cNvSpPr txBox="1"/>
          <p:nvPr/>
        </p:nvSpPr>
        <p:spPr>
          <a:xfrm>
            <a:off x="8092440" y="2377440"/>
            <a:ext cx="3611880" cy="548640"/>
          </a:xfrm>
          <a:prstGeom prst="rect">
            <a:avLst/>
          </a:prstGeom>
          <a:noFill/>
        </p:spPr>
        <p:txBody>
          <a:bodyPr wrap="square" lIns="0" tIns="0" rIns="0" bIns="0" anchor="t">
            <a:spAutoFit/>
          </a:bodyPr>
          <a:lstStyle/>
          <a:p>
            <a:pPr algn="l"/>
            <a:r>
              <a:rPr sz="1100" b="0" i="0">
                <a:solidFill>
                  <a:srgbClr val="1A1A2E"/>
                </a:solidFill>
                <a:latin typeface="Calibri"/>
              </a:rPr>
              <a:t>Chrome/Safari/Firefox/iPhone — same pool as legit</a:t>
            </a:r>
          </a:p>
        </p:txBody>
      </p:sp>
      <p:sp>
        <p:nvSpPr>
          <p:cNvPr id="23" name="TextBox 22"/>
          <p:cNvSpPr txBox="1"/>
          <p:nvPr/>
        </p:nvSpPr>
        <p:spPr>
          <a:xfrm>
            <a:off x="6537960" y="2971800"/>
            <a:ext cx="1463040" cy="502920"/>
          </a:xfrm>
          <a:prstGeom prst="rect">
            <a:avLst/>
          </a:prstGeom>
          <a:noFill/>
        </p:spPr>
        <p:txBody>
          <a:bodyPr wrap="square" lIns="0" tIns="0" rIns="0" bIns="0" anchor="t">
            <a:spAutoFit/>
          </a:bodyPr>
          <a:lstStyle/>
          <a:p>
            <a:pPr algn="l"/>
            <a:r>
              <a:rPr sz="1000" b="1" i="0" spc="200">
                <a:solidFill>
                  <a:srgbClr val="1E2761"/>
                </a:solidFill>
                <a:latin typeface="Calibri"/>
              </a:rPr>
              <a:t>IP Pool</a:t>
            </a:r>
          </a:p>
        </p:txBody>
      </p:sp>
      <p:sp>
        <p:nvSpPr>
          <p:cNvPr id="24" name="TextBox 23"/>
          <p:cNvSpPr txBox="1"/>
          <p:nvPr/>
        </p:nvSpPr>
        <p:spPr>
          <a:xfrm>
            <a:off x="8092440" y="2971800"/>
            <a:ext cx="3611880" cy="548640"/>
          </a:xfrm>
          <a:prstGeom prst="rect">
            <a:avLst/>
          </a:prstGeom>
          <a:noFill/>
        </p:spPr>
        <p:txBody>
          <a:bodyPr wrap="square" lIns="0" tIns="0" rIns="0" bIns="0" anchor="t">
            <a:spAutoFit/>
          </a:bodyPr>
          <a:lstStyle/>
          <a:p>
            <a:pPr algn="l"/>
            <a:r>
              <a:rPr sz="1100" b="0" i="0">
                <a:solidFill>
                  <a:srgbClr val="1A1A2E"/>
                </a:solidFill>
                <a:latin typeface="Calibri"/>
              </a:rPr>
              <a:t>15 IPs taken from legit pool + 5 new — overlap-heavy</a:t>
            </a:r>
          </a:p>
        </p:txBody>
      </p:sp>
      <p:sp>
        <p:nvSpPr>
          <p:cNvPr id="25" name="TextBox 24"/>
          <p:cNvSpPr txBox="1"/>
          <p:nvPr/>
        </p:nvSpPr>
        <p:spPr>
          <a:xfrm>
            <a:off x="6537960" y="3566160"/>
            <a:ext cx="1463040" cy="502920"/>
          </a:xfrm>
          <a:prstGeom prst="rect">
            <a:avLst/>
          </a:prstGeom>
          <a:noFill/>
        </p:spPr>
        <p:txBody>
          <a:bodyPr wrap="square" lIns="0" tIns="0" rIns="0" bIns="0" anchor="t">
            <a:spAutoFit/>
          </a:bodyPr>
          <a:lstStyle/>
          <a:p>
            <a:pPr algn="l"/>
            <a:r>
              <a:rPr sz="1000" b="1" i="0" spc="200">
                <a:solidFill>
                  <a:srgbClr val="1E2761"/>
                </a:solidFill>
                <a:latin typeface="Calibri"/>
              </a:rPr>
              <a:t>Login</a:t>
            </a:r>
          </a:p>
        </p:txBody>
      </p:sp>
      <p:sp>
        <p:nvSpPr>
          <p:cNvPr id="26" name="TextBox 25"/>
          <p:cNvSpPr txBox="1"/>
          <p:nvPr/>
        </p:nvSpPr>
        <p:spPr>
          <a:xfrm>
            <a:off x="8092440" y="3566160"/>
            <a:ext cx="3611880" cy="548640"/>
          </a:xfrm>
          <a:prstGeom prst="rect">
            <a:avLst/>
          </a:prstGeom>
          <a:noFill/>
        </p:spPr>
        <p:txBody>
          <a:bodyPr wrap="square" lIns="0" tIns="0" rIns="0" bIns="0" anchor="t">
            <a:spAutoFit/>
          </a:bodyPr>
          <a:lstStyle/>
          <a:p>
            <a:pPr algn="l"/>
            <a:r>
              <a:rPr sz="1100" b="0" i="0">
                <a:solidFill>
                  <a:srgbClr val="1A1A2E"/>
                </a:solidFill>
                <a:latin typeface="Calibri"/>
              </a:rPr>
              <a:t>Token reuse, re-login every 50 iterations — sticky session</a:t>
            </a:r>
          </a:p>
        </p:txBody>
      </p:sp>
      <p:sp>
        <p:nvSpPr>
          <p:cNvPr id="27" name="TextBox 26"/>
          <p:cNvSpPr txBox="1"/>
          <p:nvPr/>
        </p:nvSpPr>
        <p:spPr>
          <a:xfrm>
            <a:off x="6537960" y="4160520"/>
            <a:ext cx="1463040" cy="502920"/>
          </a:xfrm>
          <a:prstGeom prst="rect">
            <a:avLst/>
          </a:prstGeom>
          <a:noFill/>
        </p:spPr>
        <p:txBody>
          <a:bodyPr wrap="square" lIns="0" tIns="0" rIns="0" bIns="0" anchor="t">
            <a:spAutoFit/>
          </a:bodyPr>
          <a:lstStyle/>
          <a:p>
            <a:pPr algn="l"/>
            <a:r>
              <a:rPr sz="1000" b="1" i="0" spc="200">
                <a:solidFill>
                  <a:srgbClr val="1E2761"/>
                </a:solidFill>
                <a:latin typeface="Calibri"/>
              </a:rPr>
              <a:t>Cadence</a:t>
            </a:r>
          </a:p>
        </p:txBody>
      </p:sp>
      <p:sp>
        <p:nvSpPr>
          <p:cNvPr id="28" name="TextBox 27"/>
          <p:cNvSpPr txBox="1"/>
          <p:nvPr/>
        </p:nvSpPr>
        <p:spPr>
          <a:xfrm>
            <a:off x="8092440" y="4160520"/>
            <a:ext cx="3611880" cy="548640"/>
          </a:xfrm>
          <a:prstGeom prst="rect">
            <a:avLst/>
          </a:prstGeom>
          <a:noFill/>
        </p:spPr>
        <p:txBody>
          <a:bodyPr wrap="square" lIns="0" tIns="0" rIns="0" bIns="0" anchor="t">
            <a:spAutoFit/>
          </a:bodyPr>
          <a:lstStyle/>
          <a:p>
            <a:pPr algn="l"/>
            <a:r>
              <a:rPr sz="1100" b="0" i="0">
                <a:solidFill>
                  <a:srgbClr val="1A1A2E"/>
                </a:solidFill>
                <a:latin typeface="Calibri"/>
              </a:rPr>
              <a:t>Same burst pattern but inside legit-like sessions</a:t>
            </a:r>
          </a:p>
        </p:txBody>
      </p:sp>
      <p:sp>
        <p:nvSpPr>
          <p:cNvPr id="29" name="TextBox 28"/>
          <p:cNvSpPr txBox="1"/>
          <p:nvPr/>
        </p:nvSpPr>
        <p:spPr>
          <a:xfrm>
            <a:off x="6537960" y="4754880"/>
            <a:ext cx="1463040" cy="502920"/>
          </a:xfrm>
          <a:prstGeom prst="rect">
            <a:avLst/>
          </a:prstGeom>
          <a:noFill/>
        </p:spPr>
        <p:txBody>
          <a:bodyPr wrap="square" lIns="0" tIns="0" rIns="0" bIns="0" anchor="t">
            <a:spAutoFit/>
          </a:bodyPr>
          <a:lstStyle/>
          <a:p>
            <a:pPr algn="l"/>
            <a:r>
              <a:rPr sz="1000" b="1" i="0" spc="200">
                <a:solidFill>
                  <a:srgbClr val="1E2761"/>
                </a:solidFill>
                <a:latin typeface="Calibri"/>
              </a:rPr>
              <a:t>Signature</a:t>
            </a:r>
          </a:p>
        </p:txBody>
      </p:sp>
      <p:sp>
        <p:nvSpPr>
          <p:cNvPr id="30" name="TextBox 29"/>
          <p:cNvSpPr txBox="1"/>
          <p:nvPr/>
        </p:nvSpPr>
        <p:spPr>
          <a:xfrm>
            <a:off x="8092440" y="4754880"/>
            <a:ext cx="3611880" cy="548640"/>
          </a:xfrm>
          <a:prstGeom prst="rect">
            <a:avLst/>
          </a:prstGeom>
          <a:noFill/>
        </p:spPr>
        <p:txBody>
          <a:bodyPr wrap="square" lIns="0" tIns="0" rIns="0" bIns="0" anchor="t">
            <a:spAutoFit/>
          </a:bodyPr>
          <a:lstStyle/>
          <a:p>
            <a:pPr algn="l"/>
            <a:r>
              <a:rPr sz="1100" b="0" i="0">
                <a:solidFill>
                  <a:srgbClr val="1A1A2E"/>
                </a:solidFill>
                <a:latin typeface="Calibri"/>
              </a:rPr>
              <a:t>Surface looks legit, but total rate and endpoint focus remain</a:t>
            </a:r>
          </a:p>
        </p:txBody>
      </p:sp>
      <p:sp>
        <p:nvSpPr>
          <p:cNvPr id="31" name="Rectangle 30"/>
          <p:cNvSpPr/>
          <p:nvPr/>
        </p:nvSpPr>
        <p:spPr>
          <a:xfrm>
            <a:off x="457200" y="5715000"/>
            <a:ext cx="11247120" cy="64008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 y="5760720"/>
            <a:ext cx="10972800" cy="548640"/>
          </a:xfrm>
          <a:prstGeom prst="rect">
            <a:avLst/>
          </a:prstGeom>
          <a:noFill/>
        </p:spPr>
        <p:txBody>
          <a:bodyPr wrap="square" lIns="0" tIns="0" rIns="0" bIns="0" anchor="ctr">
            <a:spAutoFit/>
          </a:bodyPr>
          <a:lstStyle/>
          <a:p>
            <a:pPr algn="l"/>
            <a:r>
              <a:rPr sz="1200" b="1" i="1">
                <a:solidFill>
                  <a:srgbClr val="1E2761"/>
                </a:solidFill>
                <a:latin typeface="Calibri"/>
              </a:rPr>
              <a:t>Takeaway: the attacker can imitate the surface, but the endpoint distribution, the backend cost asymmetry, and the session pattern are harder to fake. That gap is the signal we expect the model to catch.</a:t>
            </a:r>
          </a:p>
        </p:txBody>
      </p:sp>
      <p:sp>
        <p:nvSpPr>
          <p:cNvPr id="33" name="TextBox 32"/>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Thesis Checkpoint Presentation</a:t>
            </a:r>
          </a:p>
        </p:txBody>
      </p:sp>
      <p:sp>
        <p:nvSpPr>
          <p:cNvPr id="34" name="TextBox 33"/>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7 / 23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2 · METHODOLOGY</a:t>
            </a:r>
          </a:p>
        </p:txBody>
      </p:sp>
      <p:sp>
        <p:nvSpPr>
          <p:cNvPr id="3" name="TextBox 2"/>
          <p:cNvSpPr txBox="1"/>
          <p:nvPr/>
        </p:nvSpPr>
        <p:spPr>
          <a:xfrm>
            <a:off x="365760" y="548640"/>
            <a:ext cx="11430000" cy="640080"/>
          </a:xfrm>
          <a:prstGeom prst="rect">
            <a:avLst/>
          </a:prstGeom>
          <a:noFill/>
        </p:spPr>
        <p:txBody>
          <a:bodyPr wrap="square" lIns="0" tIns="0" rIns="0" bIns="0" anchor="t">
            <a:spAutoFit/>
          </a:bodyPr>
          <a:lstStyle/>
          <a:p>
            <a:pPr algn="l"/>
            <a:r>
              <a:rPr sz="2800" b="1" i="0">
                <a:solidFill>
                  <a:srgbClr val="1E2761"/>
                </a:solidFill>
                <a:latin typeface="Calibri"/>
              </a:rPr>
              <a:t>Four-Tier Feature Engineering</a:t>
            </a:r>
          </a:p>
        </p:txBody>
      </p:sp>
      <p:sp>
        <p:nvSpPr>
          <p:cNvPr id="4" name="TextBox 3"/>
          <p:cNvSpPr txBox="1"/>
          <p:nvPr/>
        </p:nvSpPr>
        <p:spPr>
          <a:xfrm>
            <a:off x="365760" y="1188720"/>
            <a:ext cx="11430000" cy="365760"/>
          </a:xfrm>
          <a:prstGeom prst="rect">
            <a:avLst/>
          </a:prstGeom>
          <a:noFill/>
        </p:spPr>
        <p:txBody>
          <a:bodyPr wrap="square" lIns="0" tIns="0" rIns="0" bIns="0" anchor="t">
            <a:spAutoFit/>
          </a:bodyPr>
          <a:lstStyle/>
          <a:p>
            <a:pPr algn="l"/>
            <a:r>
              <a:rPr sz="1400" b="0" i="1">
                <a:solidFill>
                  <a:srgbClr val="64748B"/>
                </a:solidFill>
                <a:latin typeface="Calibri"/>
              </a:rPr>
              <a:t>Each tier looks at a different context — together they produce 37 features</a:t>
            </a:r>
          </a:p>
        </p:txBody>
      </p:sp>
      <p:sp>
        <p:nvSpPr>
          <p:cNvPr id="5" name="Rectangle 4"/>
          <p:cNvSpPr/>
          <p:nvPr/>
        </p:nvSpPr>
        <p:spPr>
          <a:xfrm>
            <a:off x="457200" y="1691640"/>
            <a:ext cx="5623560"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691640"/>
            <a:ext cx="914400" cy="219456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2057400"/>
            <a:ext cx="914400" cy="731520"/>
          </a:xfrm>
          <a:prstGeom prst="rect">
            <a:avLst/>
          </a:prstGeom>
          <a:noFill/>
        </p:spPr>
        <p:txBody>
          <a:bodyPr wrap="square" lIns="0" tIns="0" rIns="0" bIns="0" anchor="t">
            <a:spAutoFit/>
          </a:bodyPr>
          <a:lstStyle/>
          <a:p>
            <a:pPr algn="ctr"/>
            <a:r>
              <a:rPr sz="3200" b="1" i="0">
                <a:solidFill>
                  <a:srgbClr val="FFFFFF"/>
                </a:solidFill>
                <a:latin typeface="Georgia"/>
              </a:rPr>
              <a:t>01</a:t>
            </a:r>
          </a:p>
        </p:txBody>
      </p:sp>
      <p:sp>
        <p:nvSpPr>
          <p:cNvPr id="8" name="TextBox 7"/>
          <p:cNvSpPr txBox="1"/>
          <p:nvPr/>
        </p:nvSpPr>
        <p:spPr>
          <a:xfrm>
            <a:off x="457200" y="2788920"/>
            <a:ext cx="914400" cy="274320"/>
          </a:xfrm>
          <a:prstGeom prst="rect">
            <a:avLst/>
          </a:prstGeom>
          <a:noFill/>
        </p:spPr>
        <p:txBody>
          <a:bodyPr wrap="square" lIns="0" tIns="0" rIns="0" bIns="0" anchor="t">
            <a:spAutoFit/>
          </a:bodyPr>
          <a:lstStyle/>
          <a:p>
            <a:pPr algn="ctr"/>
            <a:r>
              <a:rPr sz="900" b="1" i="0" spc="300">
                <a:solidFill>
                  <a:srgbClr val="FFFFFF"/>
                </a:solidFill>
                <a:latin typeface="Calibri"/>
              </a:rPr>
              <a:t>TIER</a:t>
            </a:r>
          </a:p>
        </p:txBody>
      </p:sp>
      <p:sp>
        <p:nvSpPr>
          <p:cNvPr id="9" name="TextBox 8"/>
          <p:cNvSpPr txBox="1"/>
          <p:nvPr/>
        </p:nvSpPr>
        <p:spPr>
          <a:xfrm>
            <a:off x="1554480" y="1920240"/>
            <a:ext cx="4343400" cy="365760"/>
          </a:xfrm>
          <a:prstGeom prst="rect">
            <a:avLst/>
          </a:prstGeom>
          <a:noFill/>
        </p:spPr>
        <p:txBody>
          <a:bodyPr wrap="square" lIns="0" tIns="0" rIns="0" bIns="0" anchor="t">
            <a:spAutoFit/>
          </a:bodyPr>
          <a:lstStyle/>
          <a:p>
            <a:pPr algn="l"/>
            <a:r>
              <a:rPr sz="1500" b="1" i="0">
                <a:solidFill>
                  <a:srgbClr val="F96167"/>
                </a:solidFill>
                <a:latin typeface="Calibri"/>
              </a:rPr>
              <a:t>Connection-level</a:t>
            </a:r>
          </a:p>
        </p:txBody>
      </p:sp>
      <p:sp>
        <p:nvSpPr>
          <p:cNvPr id="10" name="TextBox 9"/>
          <p:cNvSpPr txBox="1"/>
          <p:nvPr/>
        </p:nvSpPr>
        <p:spPr>
          <a:xfrm>
            <a:off x="1554480" y="2331720"/>
            <a:ext cx="4343400" cy="594360"/>
          </a:xfrm>
          <a:prstGeom prst="rect">
            <a:avLst/>
          </a:prstGeom>
          <a:noFill/>
        </p:spPr>
        <p:txBody>
          <a:bodyPr wrap="square" lIns="0" tIns="0" rIns="0" bIns="0" anchor="t">
            <a:spAutoFit/>
          </a:bodyPr>
          <a:lstStyle/>
          <a:p>
            <a:pPr algn="l"/>
            <a:r>
              <a:rPr sz="1100" b="0" i="0">
                <a:solidFill>
                  <a:srgbClr val="1A1A2E"/>
                </a:solidFill>
                <a:latin typeface="Calibri"/>
              </a:rPr>
              <a:t>Per-TCP connection: duration, request count, keepalive, partial/timeout flags</a:t>
            </a:r>
          </a:p>
        </p:txBody>
      </p:sp>
      <p:sp>
        <p:nvSpPr>
          <p:cNvPr id="11" name="TextBox 10"/>
          <p:cNvSpPr txBox="1"/>
          <p:nvPr/>
        </p:nvSpPr>
        <p:spPr>
          <a:xfrm>
            <a:off x="1554480" y="3291840"/>
            <a:ext cx="4343400" cy="502920"/>
          </a:xfrm>
          <a:prstGeom prst="rect">
            <a:avLst/>
          </a:prstGeom>
          <a:noFill/>
        </p:spPr>
        <p:txBody>
          <a:bodyPr wrap="square" lIns="0" tIns="0" rIns="0" bIns="0" anchor="t">
            <a:spAutoFit/>
          </a:bodyPr>
          <a:lstStyle/>
          <a:p>
            <a:pPr algn="l"/>
            <a:r>
              <a:rPr sz="950" b="0" i="0">
                <a:solidFill>
                  <a:srgbClr val="64748B"/>
                </a:solidFill>
                <a:latin typeface="Consolas"/>
              </a:rPr>
              <a:t>durationMs · requestCount · partialRequestCount · timeoutRequestCount</a:t>
            </a:r>
          </a:p>
        </p:txBody>
      </p:sp>
      <p:sp>
        <p:nvSpPr>
          <p:cNvPr id="12" name="Rectangle 11"/>
          <p:cNvSpPr/>
          <p:nvPr/>
        </p:nvSpPr>
        <p:spPr>
          <a:xfrm>
            <a:off x="6263640" y="1691640"/>
            <a:ext cx="5623560"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63640" y="1691640"/>
            <a:ext cx="914400" cy="21945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63640" y="2057400"/>
            <a:ext cx="914400" cy="731520"/>
          </a:xfrm>
          <a:prstGeom prst="rect">
            <a:avLst/>
          </a:prstGeom>
          <a:noFill/>
        </p:spPr>
        <p:txBody>
          <a:bodyPr wrap="square" lIns="0" tIns="0" rIns="0" bIns="0" anchor="t">
            <a:spAutoFit/>
          </a:bodyPr>
          <a:lstStyle/>
          <a:p>
            <a:pPr algn="ctr"/>
            <a:r>
              <a:rPr sz="3200" b="1" i="0">
                <a:solidFill>
                  <a:srgbClr val="FFFFFF"/>
                </a:solidFill>
                <a:latin typeface="Georgia"/>
              </a:rPr>
              <a:t>02</a:t>
            </a:r>
          </a:p>
        </p:txBody>
      </p:sp>
      <p:sp>
        <p:nvSpPr>
          <p:cNvPr id="15" name="TextBox 14"/>
          <p:cNvSpPr txBox="1"/>
          <p:nvPr/>
        </p:nvSpPr>
        <p:spPr>
          <a:xfrm>
            <a:off x="6263640" y="2788920"/>
            <a:ext cx="914400" cy="274320"/>
          </a:xfrm>
          <a:prstGeom prst="rect">
            <a:avLst/>
          </a:prstGeom>
          <a:noFill/>
        </p:spPr>
        <p:txBody>
          <a:bodyPr wrap="square" lIns="0" tIns="0" rIns="0" bIns="0" anchor="t">
            <a:spAutoFit/>
          </a:bodyPr>
          <a:lstStyle/>
          <a:p>
            <a:pPr algn="ctr"/>
            <a:r>
              <a:rPr sz="900" b="1" i="0" spc="300">
                <a:solidFill>
                  <a:srgbClr val="FFFFFF"/>
                </a:solidFill>
                <a:latin typeface="Calibri"/>
              </a:rPr>
              <a:t>TIER</a:t>
            </a:r>
          </a:p>
        </p:txBody>
      </p:sp>
      <p:sp>
        <p:nvSpPr>
          <p:cNvPr id="16" name="TextBox 15"/>
          <p:cNvSpPr txBox="1"/>
          <p:nvPr/>
        </p:nvSpPr>
        <p:spPr>
          <a:xfrm>
            <a:off x="7360920" y="1920240"/>
            <a:ext cx="4343400" cy="365760"/>
          </a:xfrm>
          <a:prstGeom prst="rect">
            <a:avLst/>
          </a:prstGeom>
          <a:noFill/>
        </p:spPr>
        <p:txBody>
          <a:bodyPr wrap="square" lIns="0" tIns="0" rIns="0" bIns="0" anchor="t">
            <a:spAutoFit/>
          </a:bodyPr>
          <a:lstStyle/>
          <a:p>
            <a:pPr algn="l"/>
            <a:r>
              <a:rPr sz="1500" b="1" i="0">
                <a:solidFill>
                  <a:srgbClr val="1E2761"/>
                </a:solidFill>
                <a:latin typeface="Calibri"/>
              </a:rPr>
              <a:t>Window-level (10s)</a:t>
            </a:r>
          </a:p>
        </p:txBody>
      </p:sp>
      <p:sp>
        <p:nvSpPr>
          <p:cNvPr id="17" name="TextBox 16"/>
          <p:cNvSpPr txBox="1"/>
          <p:nvPr/>
        </p:nvSpPr>
        <p:spPr>
          <a:xfrm>
            <a:off x="7360920" y="2331720"/>
            <a:ext cx="4343400" cy="594360"/>
          </a:xfrm>
          <a:prstGeom prst="rect">
            <a:avLst/>
          </a:prstGeom>
          <a:noFill/>
        </p:spPr>
        <p:txBody>
          <a:bodyPr wrap="square" lIns="0" tIns="0" rIns="0" bIns="0" anchor="t">
            <a:spAutoFit/>
          </a:bodyPr>
          <a:lstStyle/>
          <a:p>
            <a:pPr algn="l"/>
            <a:r>
              <a:rPr sz="1100" b="0" i="0">
                <a:solidFill>
                  <a:srgbClr val="1A1A2E"/>
                </a:solidFill>
                <a:latin typeface="Calibri"/>
              </a:rPr>
              <a:t>10-second traffic summaries per source IP and /24 subnet</a:t>
            </a:r>
          </a:p>
        </p:txBody>
      </p:sp>
      <p:sp>
        <p:nvSpPr>
          <p:cNvPr id="18" name="TextBox 17"/>
          <p:cNvSpPr txBox="1"/>
          <p:nvPr/>
        </p:nvSpPr>
        <p:spPr>
          <a:xfrm>
            <a:off x="7360920" y="3291840"/>
            <a:ext cx="4343400" cy="502920"/>
          </a:xfrm>
          <a:prstGeom prst="rect">
            <a:avLst/>
          </a:prstGeom>
          <a:noFill/>
        </p:spPr>
        <p:txBody>
          <a:bodyPr wrap="square" lIns="0" tIns="0" rIns="0" bIns="0" anchor="t">
            <a:spAutoFit/>
          </a:bodyPr>
          <a:lstStyle/>
          <a:p>
            <a:pPr algn="l"/>
            <a:r>
              <a:rPr sz="950" b="0" i="0">
                <a:solidFill>
                  <a:srgbClr val="64748B"/>
                </a:solidFill>
                <a:latin typeface="Consolas"/>
              </a:rPr>
              <a:t>req_rate · iat_cv · endpoint_entropy · endpoint_cost_mean · login_present_ratio · status_4xx_ratio</a:t>
            </a:r>
          </a:p>
        </p:txBody>
      </p:sp>
      <p:sp>
        <p:nvSpPr>
          <p:cNvPr id="19" name="Rectangle 18"/>
          <p:cNvSpPr/>
          <p:nvPr/>
        </p:nvSpPr>
        <p:spPr>
          <a:xfrm>
            <a:off x="457200" y="4050791"/>
            <a:ext cx="5623560"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57200" y="4050791"/>
            <a:ext cx="914400" cy="2194560"/>
          </a:xfrm>
          <a:prstGeom prst="rect">
            <a:avLst/>
          </a:prstGeom>
          <a:solidFill>
            <a:srgbClr val="2B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4416552"/>
            <a:ext cx="914400" cy="731520"/>
          </a:xfrm>
          <a:prstGeom prst="rect">
            <a:avLst/>
          </a:prstGeom>
          <a:noFill/>
        </p:spPr>
        <p:txBody>
          <a:bodyPr wrap="square" lIns="0" tIns="0" rIns="0" bIns="0" anchor="t">
            <a:spAutoFit/>
          </a:bodyPr>
          <a:lstStyle/>
          <a:p>
            <a:pPr algn="ctr"/>
            <a:r>
              <a:rPr sz="3200" b="1" i="0">
                <a:solidFill>
                  <a:srgbClr val="FFFFFF"/>
                </a:solidFill>
                <a:latin typeface="Georgia"/>
              </a:rPr>
              <a:t>03</a:t>
            </a:r>
          </a:p>
        </p:txBody>
      </p:sp>
      <p:sp>
        <p:nvSpPr>
          <p:cNvPr id="22" name="TextBox 21"/>
          <p:cNvSpPr txBox="1"/>
          <p:nvPr/>
        </p:nvSpPr>
        <p:spPr>
          <a:xfrm>
            <a:off x="457200" y="5148072"/>
            <a:ext cx="914400" cy="274320"/>
          </a:xfrm>
          <a:prstGeom prst="rect">
            <a:avLst/>
          </a:prstGeom>
          <a:noFill/>
        </p:spPr>
        <p:txBody>
          <a:bodyPr wrap="square" lIns="0" tIns="0" rIns="0" bIns="0" anchor="t">
            <a:spAutoFit/>
          </a:bodyPr>
          <a:lstStyle/>
          <a:p>
            <a:pPr algn="ctr"/>
            <a:r>
              <a:rPr sz="900" b="1" i="0" spc="300">
                <a:solidFill>
                  <a:srgbClr val="FFFFFF"/>
                </a:solidFill>
                <a:latin typeface="Calibri"/>
              </a:rPr>
              <a:t>TIER</a:t>
            </a:r>
          </a:p>
        </p:txBody>
      </p:sp>
      <p:sp>
        <p:nvSpPr>
          <p:cNvPr id="23" name="TextBox 22"/>
          <p:cNvSpPr txBox="1"/>
          <p:nvPr/>
        </p:nvSpPr>
        <p:spPr>
          <a:xfrm>
            <a:off x="1554480" y="4279392"/>
            <a:ext cx="4343400" cy="365760"/>
          </a:xfrm>
          <a:prstGeom prst="rect">
            <a:avLst/>
          </a:prstGeom>
          <a:noFill/>
        </p:spPr>
        <p:txBody>
          <a:bodyPr wrap="square" lIns="0" tIns="0" rIns="0" bIns="0" anchor="t">
            <a:spAutoFit/>
          </a:bodyPr>
          <a:lstStyle/>
          <a:p>
            <a:pPr algn="l"/>
            <a:r>
              <a:rPr sz="1500" b="1" i="0">
                <a:solidFill>
                  <a:srgbClr val="2B3A8C"/>
                </a:solidFill>
                <a:latin typeface="Calibri"/>
              </a:rPr>
              <a:t>Global (system-wide)</a:t>
            </a:r>
          </a:p>
        </p:txBody>
      </p:sp>
      <p:sp>
        <p:nvSpPr>
          <p:cNvPr id="24" name="TextBox 23"/>
          <p:cNvSpPr txBox="1"/>
          <p:nvPr/>
        </p:nvSpPr>
        <p:spPr>
          <a:xfrm>
            <a:off x="1554480" y="4690872"/>
            <a:ext cx="4343400" cy="594360"/>
          </a:xfrm>
          <a:prstGeom prst="rect">
            <a:avLst/>
          </a:prstGeom>
          <a:noFill/>
        </p:spPr>
        <p:txBody>
          <a:bodyPr wrap="square" lIns="0" tIns="0" rIns="0" bIns="0" anchor="t">
            <a:spAutoFit/>
          </a:bodyPr>
          <a:lstStyle/>
          <a:p>
            <a:pPr algn="l"/>
            <a:r>
              <a:rPr sz="1100" b="0" i="0">
                <a:solidFill>
                  <a:srgbClr val="1A1A2E"/>
                </a:solidFill>
                <a:latin typeface="Calibri"/>
              </a:rPr>
              <a:t>What happens system-wide in that 10-second window — the spread signature</a:t>
            </a:r>
          </a:p>
        </p:txBody>
      </p:sp>
      <p:sp>
        <p:nvSpPr>
          <p:cNvPr id="25" name="TextBox 24"/>
          <p:cNvSpPr txBox="1"/>
          <p:nvPr/>
        </p:nvSpPr>
        <p:spPr>
          <a:xfrm>
            <a:off x="1554480" y="5650992"/>
            <a:ext cx="4343400" cy="502920"/>
          </a:xfrm>
          <a:prstGeom prst="rect">
            <a:avLst/>
          </a:prstGeom>
          <a:noFill/>
        </p:spPr>
        <p:txBody>
          <a:bodyPr wrap="square" lIns="0" tIns="0" rIns="0" bIns="0" anchor="t">
            <a:spAutoFit/>
          </a:bodyPr>
          <a:lstStyle/>
          <a:p>
            <a:pPr algn="l"/>
            <a:r>
              <a:rPr sz="950" b="0" i="0">
                <a:solidFill>
                  <a:srgbClr val="64748B"/>
                </a:solidFill>
                <a:latin typeface="Consolas"/>
              </a:rPr>
              <a:t>global_unique_ip · global_unique_subnet · global_req_rate · global_new_src_ratio</a:t>
            </a:r>
          </a:p>
        </p:txBody>
      </p:sp>
      <p:sp>
        <p:nvSpPr>
          <p:cNvPr id="26" name="Rectangle 25"/>
          <p:cNvSpPr/>
          <p:nvPr/>
        </p:nvSpPr>
        <p:spPr>
          <a:xfrm>
            <a:off x="6263640" y="4050791"/>
            <a:ext cx="5623560"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263640" y="4050791"/>
            <a:ext cx="914400" cy="2194560"/>
          </a:xfrm>
          <a:prstGeom prst="rect">
            <a:avLst/>
          </a:prstGeom>
          <a:solidFill>
            <a:srgbClr val="018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263640" y="4416552"/>
            <a:ext cx="914400" cy="731520"/>
          </a:xfrm>
          <a:prstGeom prst="rect">
            <a:avLst/>
          </a:prstGeom>
          <a:noFill/>
        </p:spPr>
        <p:txBody>
          <a:bodyPr wrap="square" lIns="0" tIns="0" rIns="0" bIns="0" anchor="t">
            <a:spAutoFit/>
          </a:bodyPr>
          <a:lstStyle/>
          <a:p>
            <a:pPr algn="ctr"/>
            <a:r>
              <a:rPr sz="3200" b="1" i="0">
                <a:solidFill>
                  <a:srgbClr val="FFFFFF"/>
                </a:solidFill>
                <a:latin typeface="Georgia"/>
              </a:rPr>
              <a:t>04</a:t>
            </a:r>
          </a:p>
        </p:txBody>
      </p:sp>
      <p:sp>
        <p:nvSpPr>
          <p:cNvPr id="29" name="TextBox 28"/>
          <p:cNvSpPr txBox="1"/>
          <p:nvPr/>
        </p:nvSpPr>
        <p:spPr>
          <a:xfrm>
            <a:off x="6263640" y="5148072"/>
            <a:ext cx="914400" cy="274320"/>
          </a:xfrm>
          <a:prstGeom prst="rect">
            <a:avLst/>
          </a:prstGeom>
          <a:noFill/>
        </p:spPr>
        <p:txBody>
          <a:bodyPr wrap="square" lIns="0" tIns="0" rIns="0" bIns="0" anchor="t">
            <a:spAutoFit/>
          </a:bodyPr>
          <a:lstStyle/>
          <a:p>
            <a:pPr algn="ctr"/>
            <a:r>
              <a:rPr sz="900" b="1" i="0" spc="300">
                <a:solidFill>
                  <a:srgbClr val="FFFFFF"/>
                </a:solidFill>
                <a:latin typeface="Calibri"/>
              </a:rPr>
              <a:t>TIER</a:t>
            </a:r>
          </a:p>
        </p:txBody>
      </p:sp>
      <p:sp>
        <p:nvSpPr>
          <p:cNvPr id="30" name="TextBox 29"/>
          <p:cNvSpPr txBox="1"/>
          <p:nvPr/>
        </p:nvSpPr>
        <p:spPr>
          <a:xfrm>
            <a:off x="7360920" y="4279392"/>
            <a:ext cx="4343400" cy="365760"/>
          </a:xfrm>
          <a:prstGeom prst="rect">
            <a:avLst/>
          </a:prstGeom>
          <a:noFill/>
        </p:spPr>
        <p:txBody>
          <a:bodyPr wrap="square" lIns="0" tIns="0" rIns="0" bIns="0" anchor="t">
            <a:spAutoFit/>
          </a:bodyPr>
          <a:lstStyle/>
          <a:p>
            <a:pPr algn="l"/>
            <a:r>
              <a:rPr sz="1500" b="1" i="0">
                <a:solidFill>
                  <a:srgbClr val="018F71"/>
                </a:solidFill>
                <a:latin typeface="Calibri"/>
              </a:rPr>
              <a:t>Baseline Distance</a:t>
            </a:r>
          </a:p>
        </p:txBody>
      </p:sp>
      <p:sp>
        <p:nvSpPr>
          <p:cNvPr id="31" name="TextBox 30"/>
          <p:cNvSpPr txBox="1"/>
          <p:nvPr/>
        </p:nvSpPr>
        <p:spPr>
          <a:xfrm>
            <a:off x="7360920" y="4690872"/>
            <a:ext cx="4343400" cy="594360"/>
          </a:xfrm>
          <a:prstGeom prst="rect">
            <a:avLst/>
          </a:prstGeom>
          <a:noFill/>
        </p:spPr>
        <p:txBody>
          <a:bodyPr wrap="square" lIns="0" tIns="0" rIns="0" bIns="0" anchor="t">
            <a:spAutoFit/>
          </a:bodyPr>
          <a:lstStyle/>
          <a:p>
            <a:pPr algn="l"/>
            <a:r>
              <a:rPr sz="1100" b="0" i="0">
                <a:solidFill>
                  <a:srgbClr val="1A1A2E"/>
                </a:solidFill>
                <a:latin typeface="Calibri"/>
              </a:rPr>
              <a:t>Distance from a historical reference (NASA traces) — Markov + IAT KS</a:t>
            </a:r>
          </a:p>
        </p:txBody>
      </p:sp>
      <p:sp>
        <p:nvSpPr>
          <p:cNvPr id="32" name="TextBox 31"/>
          <p:cNvSpPr txBox="1"/>
          <p:nvPr/>
        </p:nvSpPr>
        <p:spPr>
          <a:xfrm>
            <a:off x="7360920" y="5650992"/>
            <a:ext cx="4343400" cy="502920"/>
          </a:xfrm>
          <a:prstGeom prst="rect">
            <a:avLst/>
          </a:prstGeom>
          <a:noFill/>
        </p:spPr>
        <p:txBody>
          <a:bodyPr wrap="square" lIns="0" tIns="0" rIns="0" bIns="0" anchor="t">
            <a:spAutoFit/>
          </a:bodyPr>
          <a:lstStyle/>
          <a:p>
            <a:pPr algn="l"/>
            <a:r>
              <a:rPr sz="950" b="0" i="0">
                <a:solidFill>
                  <a:srgbClr val="64748B"/>
                </a:solidFill>
                <a:latin typeface="Consolas"/>
              </a:rPr>
              <a:t>markov_log_likelihood · iat_ks_distance</a:t>
            </a:r>
          </a:p>
        </p:txBody>
      </p:sp>
      <p:sp>
        <p:nvSpPr>
          <p:cNvPr id="33" name="TextBox 32"/>
          <p:cNvSpPr txBox="1"/>
          <p:nvPr/>
        </p:nvSpPr>
        <p:spPr>
          <a:xfrm>
            <a:off x="457200" y="6263640"/>
            <a:ext cx="11247120" cy="274320"/>
          </a:xfrm>
          <a:prstGeom prst="rect">
            <a:avLst/>
          </a:prstGeom>
          <a:noFill/>
        </p:spPr>
        <p:txBody>
          <a:bodyPr wrap="square" lIns="0" tIns="0" rIns="0" bIns="0" anchor="t">
            <a:spAutoFit/>
          </a:bodyPr>
          <a:lstStyle/>
          <a:p>
            <a:pPr algn="ctr"/>
            <a:r>
              <a:rPr sz="1100" b="0" i="1">
                <a:solidFill>
                  <a:srgbClr val="64748B"/>
                </a:solidFill>
                <a:latin typeface="Calibri"/>
              </a:rPr>
              <a:t>37 numerical features in total · separate rows for IP and /24 subnet aggregations · NaN values filled with 0</a:t>
            </a:r>
          </a:p>
        </p:txBody>
      </p:sp>
      <p:sp>
        <p:nvSpPr>
          <p:cNvPr id="34" name="TextBox 33"/>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Thesis Checkpoint Presentation</a:t>
            </a:r>
          </a:p>
        </p:txBody>
      </p:sp>
      <p:sp>
        <p:nvSpPr>
          <p:cNvPr id="35" name="TextBox 34"/>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8 / 23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2 · METHODOLOGY</a:t>
            </a:r>
          </a:p>
        </p:txBody>
      </p:sp>
      <p:sp>
        <p:nvSpPr>
          <p:cNvPr id="3" name="TextBox 2"/>
          <p:cNvSpPr txBox="1"/>
          <p:nvPr/>
        </p:nvSpPr>
        <p:spPr>
          <a:xfrm>
            <a:off x="365760" y="548640"/>
            <a:ext cx="11430000" cy="640080"/>
          </a:xfrm>
          <a:prstGeom prst="rect">
            <a:avLst/>
          </a:prstGeom>
          <a:noFill/>
        </p:spPr>
        <p:txBody>
          <a:bodyPr wrap="square" lIns="0" tIns="0" rIns="0" bIns="0" anchor="t">
            <a:spAutoFit/>
          </a:bodyPr>
          <a:lstStyle/>
          <a:p>
            <a:pPr algn="l"/>
            <a:r>
              <a:rPr sz="2800" b="1" i="0">
                <a:solidFill>
                  <a:srgbClr val="1E2761"/>
                </a:solidFill>
                <a:latin typeface="Calibri"/>
              </a:rPr>
              <a:t>Proposed Approach: Multi-Tier Features + Random Forest</a:t>
            </a:r>
          </a:p>
        </p:txBody>
      </p:sp>
      <p:sp>
        <p:nvSpPr>
          <p:cNvPr id="4" name="TextBox 3"/>
          <p:cNvSpPr txBox="1"/>
          <p:nvPr/>
        </p:nvSpPr>
        <p:spPr>
          <a:xfrm>
            <a:off x="365760" y="1188720"/>
            <a:ext cx="11430000" cy="365760"/>
          </a:xfrm>
          <a:prstGeom prst="rect">
            <a:avLst/>
          </a:prstGeom>
          <a:noFill/>
        </p:spPr>
        <p:txBody>
          <a:bodyPr wrap="square" lIns="0" tIns="0" rIns="0" bIns="0" anchor="t">
            <a:spAutoFit/>
          </a:bodyPr>
          <a:lstStyle/>
          <a:p>
            <a:pPr algn="l"/>
            <a:r>
              <a:rPr sz="1400" b="0" i="1">
                <a:solidFill>
                  <a:srgbClr val="64748B"/>
                </a:solidFill>
                <a:latin typeface="Calibri"/>
              </a:rPr>
              <a:t>Standard supervised classifier; semi-supervised stacking tested as alternative</a:t>
            </a:r>
          </a:p>
        </p:txBody>
      </p:sp>
      <p:sp>
        <p:nvSpPr>
          <p:cNvPr id="5" name="Rectangle 4"/>
          <p:cNvSpPr/>
          <p:nvPr/>
        </p:nvSpPr>
        <p:spPr>
          <a:xfrm>
            <a:off x="457200" y="1828800"/>
            <a:ext cx="530352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828800"/>
            <a:ext cx="5303520" cy="45720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874519"/>
            <a:ext cx="4937760" cy="365760"/>
          </a:xfrm>
          <a:prstGeom prst="rect">
            <a:avLst/>
          </a:prstGeom>
          <a:noFill/>
        </p:spPr>
        <p:txBody>
          <a:bodyPr wrap="square" lIns="0" tIns="0" rIns="0" bIns="0" anchor="ctr">
            <a:spAutoFit/>
          </a:bodyPr>
          <a:lstStyle/>
          <a:p>
            <a:pPr algn="l"/>
            <a:r>
              <a:rPr sz="1300" b="1" i="0" spc="200">
                <a:solidFill>
                  <a:srgbClr val="FFFFFF"/>
                </a:solidFill>
                <a:latin typeface="Calibri"/>
              </a:rPr>
              <a:t>PROPOSED · Random Forest</a:t>
            </a:r>
          </a:p>
        </p:txBody>
      </p:sp>
      <p:sp>
        <p:nvSpPr>
          <p:cNvPr id="8" name="TextBox 7"/>
          <p:cNvSpPr txBox="1"/>
          <p:nvPr/>
        </p:nvSpPr>
        <p:spPr>
          <a:xfrm>
            <a:off x="640080" y="2423160"/>
            <a:ext cx="4937760" cy="320040"/>
          </a:xfrm>
          <a:prstGeom prst="rect">
            <a:avLst/>
          </a:prstGeom>
          <a:noFill/>
        </p:spPr>
        <p:txBody>
          <a:bodyPr wrap="square" lIns="0" tIns="0" rIns="0" bIns="0" anchor="t">
            <a:spAutoFit/>
          </a:bodyPr>
          <a:lstStyle/>
          <a:p>
            <a:pPr algn="l"/>
            <a:r>
              <a:rPr sz="1100" b="0" i="1">
                <a:solidFill>
                  <a:srgbClr val="64748B"/>
                </a:solidFill>
                <a:latin typeface="Calibri"/>
              </a:rPr>
              <a:t>Supervised · 4-class multiclass on 37-feature pipeline</a:t>
            </a:r>
          </a:p>
        </p:txBody>
      </p:sp>
      <p:sp>
        <p:nvSpPr>
          <p:cNvPr id="9" name="TextBox 8"/>
          <p:cNvSpPr txBox="1"/>
          <p:nvPr/>
        </p:nvSpPr>
        <p:spPr>
          <a:xfrm>
            <a:off x="640080" y="2880360"/>
            <a:ext cx="4937760" cy="2926080"/>
          </a:xfrm>
          <a:prstGeom prst="rect">
            <a:avLst/>
          </a:prstGeom>
          <a:noFill/>
        </p:spPr>
        <p:txBody>
          <a:bodyPr wrap="square" lIns="0" tIns="0" rIns="0" bIns="0" anchor="t">
            <a:spAutoFit/>
          </a:bodyPr>
          <a:lstStyle/>
          <a:p>
            <a:pPr algn="l"/>
            <a:r>
              <a:rPr sz="1200" b="1" i="0">
                <a:solidFill>
                  <a:srgbClr val="1A1A2E"/>
                </a:solidFill>
                <a:latin typeface="Calibri"/>
              </a:rPr>
              <a:t>Input: </a:t>
            </a:r>
            <a:r>
              <a:rPr sz="1200" b="0" i="0">
                <a:solidFill>
                  <a:srgbClr val="1A1A2E"/>
                </a:solidFill>
                <a:latin typeface="Calibri"/>
              </a:rPr>
              <a:t>37 features from the 4-tier pipeline (connection, window, global, baseline-distance).</a:t>
            </a:r>
          </a:p>
          <a:p>
            <a:pPr algn="l"/>
            <a:r>
              <a:rPr sz="1200" b="1" i="0">
                <a:solidFill>
                  <a:srgbClr val="1A1A2E"/>
                </a:solidFill>
                <a:latin typeface="Calibri"/>
              </a:rPr>
              <a:t>Classes: </a:t>
            </a:r>
            <a:r>
              <a:rPr sz="1200" b="0" i="0">
                <a:solidFill>
                  <a:srgbClr val="1A1A2E"/>
                </a:solidFill>
                <a:latin typeface="Calibri"/>
              </a:rPr>
              <a:t>normal_user · http_flood · low_rate_bot · credential_stuffing</a:t>
            </a:r>
          </a:p>
          <a:p>
            <a:pPr algn="l"/>
            <a:r>
              <a:rPr sz="1200" b="1" i="0">
                <a:solidFill>
                  <a:srgbClr val="1A1A2E"/>
                </a:solidFill>
                <a:latin typeface="Calibri"/>
              </a:rPr>
              <a:t>Setup: </a:t>
            </a:r>
            <a:r>
              <a:rPr sz="1200" b="0" i="0">
                <a:solidFill>
                  <a:srgbClr val="1A1A2E"/>
                </a:solidFill>
                <a:latin typeface="Calibri"/>
              </a:rPr>
              <a:t>200 trees, balanced_subsample class weight.</a:t>
            </a:r>
          </a:p>
          <a:p>
            <a:pPr algn="l"/>
            <a:r>
              <a:rPr sz="1200" b="1" i="0">
                <a:solidFill>
                  <a:srgbClr val="018F71"/>
                </a:solidFill>
                <a:latin typeface="Calibri"/>
              </a:rPr>
              <a:t>Why this model: </a:t>
            </a:r>
            <a:r>
              <a:rPr sz="1200" b="0" i="1">
                <a:solidFill>
                  <a:srgbClr val="1A1A2E"/>
                </a:solidFill>
                <a:latin typeface="Calibri"/>
              </a:rPr>
              <a:t>The thesis contribution is the feature engineering pipeline, not a novel model. RF provides a strong supervised baseline that the features can be evaluated against.</a:t>
            </a:r>
          </a:p>
        </p:txBody>
      </p:sp>
      <p:sp>
        <p:nvSpPr>
          <p:cNvPr id="10" name="Rectangle 9"/>
          <p:cNvSpPr/>
          <p:nvPr/>
        </p:nvSpPr>
        <p:spPr>
          <a:xfrm>
            <a:off x="6400800" y="1828800"/>
            <a:ext cx="530352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0" y="1828800"/>
            <a:ext cx="5303520" cy="457200"/>
          </a:xfrm>
          <a:prstGeom prst="rect">
            <a:avLst/>
          </a:prstGeom>
          <a:solidFill>
            <a:srgbClr val="8FAE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0" y="1874519"/>
            <a:ext cx="4937760" cy="365760"/>
          </a:xfrm>
          <a:prstGeom prst="rect">
            <a:avLst/>
          </a:prstGeom>
          <a:noFill/>
        </p:spPr>
        <p:txBody>
          <a:bodyPr wrap="square" lIns="0" tIns="0" rIns="0" bIns="0" anchor="ctr">
            <a:spAutoFit/>
          </a:bodyPr>
          <a:lstStyle/>
          <a:p>
            <a:pPr algn="l"/>
            <a:r>
              <a:rPr sz="1300" b="1" i="0" spc="200">
                <a:solidFill>
                  <a:srgbClr val="FFFFFF"/>
                </a:solidFill>
                <a:latin typeface="Calibri"/>
              </a:rPr>
              <a:t>ALTERNATIVE · ISO + RF Stacked</a:t>
            </a:r>
          </a:p>
        </p:txBody>
      </p:sp>
      <p:sp>
        <p:nvSpPr>
          <p:cNvPr id="13" name="TextBox 12"/>
          <p:cNvSpPr txBox="1"/>
          <p:nvPr/>
        </p:nvSpPr>
        <p:spPr>
          <a:xfrm>
            <a:off x="6583680" y="2423160"/>
            <a:ext cx="4937760" cy="320040"/>
          </a:xfrm>
          <a:prstGeom prst="rect">
            <a:avLst/>
          </a:prstGeom>
          <a:noFill/>
        </p:spPr>
        <p:txBody>
          <a:bodyPr wrap="square" lIns="0" tIns="0" rIns="0" bIns="0" anchor="t">
            <a:spAutoFit/>
          </a:bodyPr>
          <a:lstStyle/>
          <a:p>
            <a:pPr algn="l"/>
            <a:r>
              <a:rPr sz="1100" b="0" i="1">
                <a:solidFill>
                  <a:srgbClr val="64748B"/>
                </a:solidFill>
                <a:latin typeface="Calibri"/>
              </a:rPr>
              <a:t>Semi-supervised extension · Reported for comparison</a:t>
            </a:r>
          </a:p>
        </p:txBody>
      </p:sp>
      <p:sp>
        <p:nvSpPr>
          <p:cNvPr id="14" name="TextBox 13"/>
          <p:cNvSpPr txBox="1"/>
          <p:nvPr/>
        </p:nvSpPr>
        <p:spPr>
          <a:xfrm>
            <a:off x="6583680" y="2880360"/>
            <a:ext cx="4937760" cy="2926080"/>
          </a:xfrm>
          <a:prstGeom prst="rect">
            <a:avLst/>
          </a:prstGeom>
          <a:noFill/>
        </p:spPr>
        <p:txBody>
          <a:bodyPr wrap="square" lIns="0" tIns="0" rIns="0" bIns="0" anchor="t">
            <a:spAutoFit/>
          </a:bodyPr>
          <a:lstStyle/>
          <a:p>
            <a:pPr algn="l"/>
            <a:r>
              <a:rPr sz="1200" b="1" i="0">
                <a:solidFill>
                  <a:srgbClr val="1A1A2E"/>
                </a:solidFill>
                <a:latin typeface="Calibri"/>
              </a:rPr>
              <a:t>Layer A: </a:t>
            </a:r>
            <a:r>
              <a:rPr sz="1200" b="0" i="0">
                <a:solidFill>
                  <a:srgbClr val="1A1A2E"/>
                </a:solidFill>
                <a:latin typeface="Calibri"/>
              </a:rPr>
              <a:t>Isolation Forest trained only on normal_user, produces </a:t>
            </a:r>
            <a:r>
              <a:rPr sz="1200" b="1" i="0">
                <a:solidFill>
                  <a:srgbClr val="1E2761"/>
                </a:solidFill>
                <a:latin typeface="Calibri"/>
              </a:rPr>
              <a:t>anomaly_score</a:t>
            </a:r>
            <a:r>
              <a:rPr sz="1200" b="0" i="0">
                <a:solidFill>
                  <a:srgbClr val="1A1A2E"/>
                </a:solidFill>
                <a:latin typeface="Calibri"/>
              </a:rPr>
              <a:t>.</a:t>
            </a:r>
          </a:p>
          <a:p>
            <a:pPr algn="l"/>
            <a:r>
              <a:rPr sz="1200" b="1" i="0">
                <a:solidFill>
                  <a:srgbClr val="1A1A2E"/>
                </a:solidFill>
                <a:latin typeface="Calibri"/>
              </a:rPr>
              <a:t>Layer B: </a:t>
            </a:r>
            <a:r>
              <a:rPr sz="1200" b="0" i="0">
                <a:solidFill>
                  <a:srgbClr val="1A1A2E"/>
                </a:solidFill>
                <a:latin typeface="Calibri"/>
              </a:rPr>
              <a:t>Random Forest with the original 37 features + anomaly_score.</a:t>
            </a:r>
          </a:p>
          <a:p>
            <a:pPr algn="l"/>
            <a:r>
              <a:rPr sz="1200" b="1" i="0">
                <a:solidFill>
                  <a:srgbClr val="F96167"/>
                </a:solidFill>
                <a:latin typeface="Calibri"/>
              </a:rPr>
              <a:t>Finding: </a:t>
            </a:r>
            <a:r>
              <a:rPr sz="1200" b="0" i="1">
                <a:solidFill>
                  <a:srgbClr val="1A1A2E"/>
                </a:solidFill>
                <a:latin typeface="Calibri"/>
              </a:rPr>
              <a:t>Under V3 production-realistic conditions, the ISO+RF extension provides no additional mimicry detection benefit (88.9% vs 96.4%). The unsupervised layer becomes redundant when rate signals are well-separated.</a:t>
            </a:r>
          </a:p>
        </p:txBody>
      </p:sp>
      <p:sp>
        <p:nvSpPr>
          <p:cNvPr id="15" name="TextBox 14"/>
          <p:cNvSpPr txBox="1"/>
          <p:nvPr/>
        </p:nvSpPr>
        <p:spPr>
          <a:xfrm>
            <a:off x="457200" y="6126480"/>
            <a:ext cx="11247120" cy="411480"/>
          </a:xfrm>
          <a:prstGeom prst="rect">
            <a:avLst/>
          </a:prstGeom>
          <a:noFill/>
        </p:spPr>
        <p:txBody>
          <a:bodyPr wrap="square" lIns="0" tIns="0" rIns="0" bIns="0" anchor="t">
            <a:spAutoFit/>
          </a:bodyPr>
          <a:lstStyle/>
          <a:p>
            <a:pPr algn="ctr"/>
            <a:r>
              <a:rPr sz="1100" b="0" i="1">
                <a:solidFill>
                  <a:srgbClr val="64748B"/>
                </a:solidFill>
                <a:latin typeface="Calibri"/>
              </a:rPr>
              <a:t>Evaluation: Proposed RF compared against rate-threshold, EWMA/CUSUM, and default RF baselines, plus ISO+RF alternative. Mimicry holdout protocol applied throughout.</a:t>
            </a:r>
          </a:p>
        </p:txBody>
      </p:sp>
      <p:sp>
        <p:nvSpPr>
          <p:cNvPr id="16" name="TextBox 15"/>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Thesis Checkpoint Presentation</a:t>
            </a:r>
          </a:p>
        </p:txBody>
      </p:sp>
      <p:sp>
        <p:nvSpPr>
          <p:cNvPr id="17" name="TextBox 16"/>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9 / 23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2 · METHODOLOGY</a:t>
            </a:r>
          </a:p>
        </p:txBody>
      </p:sp>
      <p:sp>
        <p:nvSpPr>
          <p:cNvPr id="3" name="TextBox 2"/>
          <p:cNvSpPr txBox="1"/>
          <p:nvPr/>
        </p:nvSpPr>
        <p:spPr>
          <a:xfrm>
            <a:off x="365760" y="548640"/>
            <a:ext cx="11430000" cy="640080"/>
          </a:xfrm>
          <a:prstGeom prst="rect">
            <a:avLst/>
          </a:prstGeom>
          <a:noFill/>
        </p:spPr>
        <p:txBody>
          <a:bodyPr wrap="square" lIns="0" tIns="0" rIns="0" bIns="0" anchor="t">
            <a:spAutoFit/>
          </a:bodyPr>
          <a:lstStyle/>
          <a:p>
            <a:pPr algn="l"/>
            <a:r>
              <a:rPr sz="2800" b="1" i="0">
                <a:solidFill>
                  <a:srgbClr val="1E2761"/>
                </a:solidFill>
                <a:latin typeface="Calibri"/>
              </a:rPr>
              <a:t>Evaluation Protocol</a:t>
            </a:r>
          </a:p>
        </p:txBody>
      </p:sp>
      <p:sp>
        <p:nvSpPr>
          <p:cNvPr id="4" name="TextBox 3"/>
          <p:cNvSpPr txBox="1"/>
          <p:nvPr/>
        </p:nvSpPr>
        <p:spPr>
          <a:xfrm>
            <a:off x="365760" y="1188720"/>
            <a:ext cx="11430000" cy="365760"/>
          </a:xfrm>
          <a:prstGeom prst="rect">
            <a:avLst/>
          </a:prstGeom>
          <a:noFill/>
        </p:spPr>
        <p:txBody>
          <a:bodyPr wrap="square" lIns="0" tIns="0" rIns="0" bIns="0" anchor="t">
            <a:spAutoFit/>
          </a:bodyPr>
          <a:lstStyle/>
          <a:p>
            <a:pPr algn="l"/>
            <a:r>
              <a:rPr sz="1400" b="0" i="1">
                <a:solidFill>
                  <a:srgbClr val="64748B"/>
                </a:solidFill>
                <a:latin typeface="Calibri"/>
              </a:rPr>
              <a:t>Three independent exams: in-distribution, holdout, and leakage check</a:t>
            </a:r>
          </a:p>
        </p:txBody>
      </p:sp>
      <p:sp>
        <p:nvSpPr>
          <p:cNvPr id="5" name="Rectangle 4"/>
          <p:cNvSpPr/>
          <p:nvPr/>
        </p:nvSpPr>
        <p:spPr>
          <a:xfrm>
            <a:off x="457200" y="1691640"/>
            <a:ext cx="11247120" cy="14173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691640"/>
            <a:ext cx="822960" cy="14173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2011680"/>
            <a:ext cx="822960" cy="777240"/>
          </a:xfrm>
          <a:prstGeom prst="rect">
            <a:avLst/>
          </a:prstGeom>
          <a:noFill/>
        </p:spPr>
        <p:txBody>
          <a:bodyPr wrap="square" lIns="0" tIns="0" rIns="0" bIns="0" anchor="t">
            <a:spAutoFit/>
          </a:bodyPr>
          <a:lstStyle/>
          <a:p>
            <a:pPr algn="ctr"/>
            <a:r>
              <a:rPr sz="4000" b="1" i="0">
                <a:solidFill>
                  <a:srgbClr val="FFFFFF"/>
                </a:solidFill>
                <a:latin typeface="Georgia"/>
              </a:rPr>
              <a:t>A</a:t>
            </a:r>
          </a:p>
        </p:txBody>
      </p:sp>
      <p:sp>
        <p:nvSpPr>
          <p:cNvPr id="8" name="TextBox 7"/>
          <p:cNvSpPr txBox="1"/>
          <p:nvPr/>
        </p:nvSpPr>
        <p:spPr>
          <a:xfrm>
            <a:off x="1463040" y="1874520"/>
            <a:ext cx="10058400" cy="365760"/>
          </a:xfrm>
          <a:prstGeom prst="rect">
            <a:avLst/>
          </a:prstGeom>
          <a:noFill/>
        </p:spPr>
        <p:txBody>
          <a:bodyPr wrap="square" lIns="0" tIns="0" rIns="0" bIns="0" anchor="t">
            <a:spAutoFit/>
          </a:bodyPr>
          <a:lstStyle/>
          <a:p>
            <a:pPr algn="l"/>
            <a:r>
              <a:rPr sz="1600" b="1" i="0">
                <a:solidFill>
                  <a:srgbClr val="1E2761"/>
                </a:solidFill>
                <a:latin typeface="Calibri"/>
              </a:rPr>
              <a:t>In-Distribution Test</a:t>
            </a:r>
          </a:p>
        </p:txBody>
      </p:sp>
      <p:sp>
        <p:nvSpPr>
          <p:cNvPr id="9" name="TextBox 8"/>
          <p:cNvSpPr txBox="1"/>
          <p:nvPr/>
        </p:nvSpPr>
        <p:spPr>
          <a:xfrm>
            <a:off x="1463040" y="2240280"/>
            <a:ext cx="10058400" cy="320040"/>
          </a:xfrm>
          <a:prstGeom prst="rect">
            <a:avLst/>
          </a:prstGeom>
          <a:noFill/>
        </p:spPr>
        <p:txBody>
          <a:bodyPr wrap="square" lIns="0" tIns="0" rIns="0" bIns="0" anchor="t">
            <a:spAutoFit/>
          </a:bodyPr>
          <a:lstStyle/>
          <a:p>
            <a:pPr algn="l"/>
            <a:r>
              <a:rPr sz="1000" b="1" i="0">
                <a:solidFill>
                  <a:srgbClr val="64748B"/>
                </a:solidFill>
                <a:latin typeface="Calibri"/>
              </a:rPr>
              <a:t>What it does:  </a:t>
            </a:r>
            <a:r>
              <a:rPr sz="1100" b="0" i="0">
                <a:solidFill>
                  <a:srgbClr val="1A1A2E"/>
                </a:solidFill>
                <a:latin typeface="Calibri"/>
              </a:rPr>
              <a:t>Four classes (normal / flood / low-rate / credential) with stratified train/val/test split</a:t>
            </a:r>
          </a:p>
        </p:txBody>
      </p:sp>
      <p:sp>
        <p:nvSpPr>
          <p:cNvPr id="10" name="TextBox 9"/>
          <p:cNvSpPr txBox="1"/>
          <p:nvPr/>
        </p:nvSpPr>
        <p:spPr>
          <a:xfrm>
            <a:off x="1463040" y="2532888"/>
            <a:ext cx="10058400" cy="161583"/>
          </a:xfrm>
          <a:prstGeom prst="rect">
            <a:avLst/>
          </a:prstGeom>
          <a:noFill/>
        </p:spPr>
        <p:txBody>
          <a:bodyPr wrap="square" lIns="0" tIns="0" rIns="0" bIns="0" anchor="t">
            <a:spAutoFit/>
          </a:bodyPr>
          <a:lstStyle/>
          <a:p>
            <a:r>
              <a:rPr sz="1000" b="1" i="0" dirty="0">
                <a:solidFill>
                  <a:srgbClr val="64748B"/>
                </a:solidFill>
                <a:latin typeface="Calibri"/>
              </a:rPr>
              <a:t>Metrics:  </a:t>
            </a:r>
            <a:r>
              <a:rPr sz="1050" b="0" i="1" dirty="0">
                <a:solidFill>
                  <a:srgbClr val="1A1A2E"/>
                </a:solidFill>
                <a:latin typeface="Calibri"/>
              </a:rPr>
              <a:t>Accuracy · Macro-F1 · PR-AUC · </a:t>
            </a:r>
            <a:r>
              <a:rPr lang="tr-TR" sz="1050" i="1" dirty="0">
                <a:solidFill>
                  <a:srgbClr val="1A1A2E"/>
                </a:solidFill>
              </a:rPr>
              <a:t>5-fold CV </a:t>
            </a:r>
            <a:r>
              <a:rPr lang="tr-TR" sz="1050" i="1" dirty="0" err="1">
                <a:solidFill>
                  <a:srgbClr val="1A1A2E"/>
                </a:solidFill>
              </a:rPr>
              <a:t>stability</a:t>
            </a:r>
            <a:endParaRPr sz="1050" b="0" i="1" dirty="0">
              <a:solidFill>
                <a:srgbClr val="1A1A2E"/>
              </a:solidFill>
              <a:latin typeface="Calibri"/>
            </a:endParaRPr>
          </a:p>
        </p:txBody>
      </p:sp>
      <p:sp>
        <p:nvSpPr>
          <p:cNvPr id="11" name="TextBox 10"/>
          <p:cNvSpPr txBox="1"/>
          <p:nvPr/>
        </p:nvSpPr>
        <p:spPr>
          <a:xfrm>
            <a:off x="1463040" y="2807208"/>
            <a:ext cx="10058400" cy="274320"/>
          </a:xfrm>
          <a:prstGeom prst="rect">
            <a:avLst/>
          </a:prstGeom>
          <a:noFill/>
        </p:spPr>
        <p:txBody>
          <a:bodyPr wrap="square" lIns="0" tIns="0" rIns="0" bIns="0" anchor="t">
            <a:spAutoFit/>
          </a:bodyPr>
          <a:lstStyle/>
          <a:p>
            <a:pPr algn="l"/>
            <a:r>
              <a:rPr sz="1000" b="1" i="0">
                <a:solidFill>
                  <a:srgbClr val="64748B"/>
                </a:solidFill>
                <a:latin typeface="Calibri"/>
              </a:rPr>
              <a:t>Purpose:  </a:t>
            </a:r>
            <a:r>
              <a:rPr sz="1100" b="0" i="1">
                <a:solidFill>
                  <a:srgbClr val="1E2761"/>
                </a:solidFill>
                <a:latin typeface="Calibri"/>
              </a:rPr>
              <a:t>Does the model separate known attack types correctly?</a:t>
            </a:r>
          </a:p>
        </p:txBody>
      </p:sp>
      <p:sp>
        <p:nvSpPr>
          <p:cNvPr id="12" name="Rectangle 11"/>
          <p:cNvSpPr/>
          <p:nvPr/>
        </p:nvSpPr>
        <p:spPr>
          <a:xfrm>
            <a:off x="457200" y="3246120"/>
            <a:ext cx="11247120" cy="14173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200" y="3246120"/>
            <a:ext cx="822960" cy="14173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3566160"/>
            <a:ext cx="822960" cy="777240"/>
          </a:xfrm>
          <a:prstGeom prst="rect">
            <a:avLst/>
          </a:prstGeom>
          <a:noFill/>
        </p:spPr>
        <p:txBody>
          <a:bodyPr wrap="square" lIns="0" tIns="0" rIns="0" bIns="0" anchor="t">
            <a:spAutoFit/>
          </a:bodyPr>
          <a:lstStyle/>
          <a:p>
            <a:pPr algn="ctr"/>
            <a:r>
              <a:rPr sz="4000" b="1" i="0">
                <a:solidFill>
                  <a:srgbClr val="FFFFFF"/>
                </a:solidFill>
                <a:latin typeface="Georgia"/>
              </a:rPr>
              <a:t>B</a:t>
            </a:r>
          </a:p>
        </p:txBody>
      </p:sp>
      <p:sp>
        <p:nvSpPr>
          <p:cNvPr id="15" name="TextBox 14"/>
          <p:cNvSpPr txBox="1"/>
          <p:nvPr/>
        </p:nvSpPr>
        <p:spPr>
          <a:xfrm>
            <a:off x="1463040" y="3429000"/>
            <a:ext cx="10058400" cy="365760"/>
          </a:xfrm>
          <a:prstGeom prst="rect">
            <a:avLst/>
          </a:prstGeom>
          <a:noFill/>
        </p:spPr>
        <p:txBody>
          <a:bodyPr wrap="square" lIns="0" tIns="0" rIns="0" bIns="0" anchor="t">
            <a:spAutoFit/>
          </a:bodyPr>
          <a:lstStyle/>
          <a:p>
            <a:pPr algn="l"/>
            <a:r>
              <a:rPr sz="1600" b="1" i="0">
                <a:solidFill>
                  <a:srgbClr val="F96167"/>
                </a:solidFill>
                <a:latin typeface="Calibri"/>
              </a:rPr>
              <a:t>★ Mimicry Holdout</a:t>
            </a:r>
          </a:p>
        </p:txBody>
      </p:sp>
      <p:sp>
        <p:nvSpPr>
          <p:cNvPr id="16" name="TextBox 15"/>
          <p:cNvSpPr txBox="1"/>
          <p:nvPr/>
        </p:nvSpPr>
        <p:spPr>
          <a:xfrm>
            <a:off x="1463040" y="3794759"/>
            <a:ext cx="10058400" cy="320040"/>
          </a:xfrm>
          <a:prstGeom prst="rect">
            <a:avLst/>
          </a:prstGeom>
          <a:noFill/>
        </p:spPr>
        <p:txBody>
          <a:bodyPr wrap="square" lIns="0" tIns="0" rIns="0" bIns="0" anchor="t">
            <a:spAutoFit/>
          </a:bodyPr>
          <a:lstStyle/>
          <a:p>
            <a:pPr algn="l"/>
            <a:r>
              <a:rPr sz="1000" b="1" i="0">
                <a:solidFill>
                  <a:srgbClr val="64748B"/>
                </a:solidFill>
                <a:latin typeface="Calibri"/>
              </a:rPr>
              <a:t>What it does:  </a:t>
            </a:r>
            <a:r>
              <a:rPr sz="1100" b="0" i="0">
                <a:solidFill>
                  <a:srgbClr val="1A1A2E"/>
                </a:solidFill>
                <a:latin typeface="Calibri"/>
              </a:rPr>
              <a:t>S5 is excluded from training. The model only meets it during testing.</a:t>
            </a:r>
          </a:p>
        </p:txBody>
      </p:sp>
      <p:sp>
        <p:nvSpPr>
          <p:cNvPr id="17" name="TextBox 16"/>
          <p:cNvSpPr txBox="1"/>
          <p:nvPr/>
        </p:nvSpPr>
        <p:spPr>
          <a:xfrm>
            <a:off x="1463040" y="4087368"/>
            <a:ext cx="10058400" cy="274320"/>
          </a:xfrm>
          <a:prstGeom prst="rect">
            <a:avLst/>
          </a:prstGeom>
          <a:noFill/>
        </p:spPr>
        <p:txBody>
          <a:bodyPr wrap="square" lIns="0" tIns="0" rIns="0" bIns="0" anchor="t">
            <a:spAutoFit/>
          </a:bodyPr>
          <a:lstStyle/>
          <a:p>
            <a:pPr algn="l"/>
            <a:r>
              <a:rPr sz="1000" b="1" i="0">
                <a:solidFill>
                  <a:srgbClr val="64748B"/>
                </a:solidFill>
                <a:latin typeface="Calibri"/>
              </a:rPr>
              <a:t>Metrics:  </a:t>
            </a:r>
            <a:r>
              <a:rPr sz="1050" b="0" i="1">
                <a:solidFill>
                  <a:srgbClr val="1A1A2E"/>
                </a:solidFill>
                <a:latin typeface="Calibri"/>
              </a:rPr>
              <a:t>recall_as_flood · evasion_rate · binary_attack_recall</a:t>
            </a:r>
          </a:p>
        </p:txBody>
      </p:sp>
      <p:sp>
        <p:nvSpPr>
          <p:cNvPr id="18" name="TextBox 17"/>
          <p:cNvSpPr txBox="1"/>
          <p:nvPr/>
        </p:nvSpPr>
        <p:spPr>
          <a:xfrm>
            <a:off x="1463040" y="4361688"/>
            <a:ext cx="10058400" cy="274320"/>
          </a:xfrm>
          <a:prstGeom prst="rect">
            <a:avLst/>
          </a:prstGeom>
          <a:noFill/>
        </p:spPr>
        <p:txBody>
          <a:bodyPr wrap="square" lIns="0" tIns="0" rIns="0" bIns="0" anchor="t">
            <a:spAutoFit/>
          </a:bodyPr>
          <a:lstStyle/>
          <a:p>
            <a:pPr algn="l"/>
            <a:r>
              <a:rPr sz="1000" b="1" i="0">
                <a:solidFill>
                  <a:srgbClr val="64748B"/>
                </a:solidFill>
                <a:latin typeface="Calibri"/>
              </a:rPr>
              <a:t>Purpose:  </a:t>
            </a:r>
            <a:r>
              <a:rPr sz="1100" b="0" i="1">
                <a:solidFill>
                  <a:srgbClr val="F96167"/>
                </a:solidFill>
                <a:latin typeface="Calibri"/>
              </a:rPr>
              <a:t>Does the model also catch an attack type it has never seen?</a:t>
            </a:r>
          </a:p>
        </p:txBody>
      </p:sp>
      <p:sp>
        <p:nvSpPr>
          <p:cNvPr id="19" name="Rectangle 18"/>
          <p:cNvSpPr/>
          <p:nvPr/>
        </p:nvSpPr>
        <p:spPr>
          <a:xfrm>
            <a:off x="457200" y="4800600"/>
            <a:ext cx="11247120" cy="14173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57200" y="4800600"/>
            <a:ext cx="822960" cy="1417320"/>
          </a:xfrm>
          <a:prstGeom prst="rect">
            <a:avLst/>
          </a:prstGeom>
          <a:solidFill>
            <a:srgbClr val="018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5120640"/>
            <a:ext cx="822960" cy="777240"/>
          </a:xfrm>
          <a:prstGeom prst="rect">
            <a:avLst/>
          </a:prstGeom>
          <a:noFill/>
        </p:spPr>
        <p:txBody>
          <a:bodyPr wrap="square" lIns="0" tIns="0" rIns="0" bIns="0" anchor="t">
            <a:spAutoFit/>
          </a:bodyPr>
          <a:lstStyle/>
          <a:p>
            <a:pPr algn="ctr"/>
            <a:r>
              <a:rPr sz="4000" b="1" i="0">
                <a:solidFill>
                  <a:srgbClr val="FFFFFF"/>
                </a:solidFill>
                <a:latin typeface="Georgia"/>
              </a:rPr>
              <a:t>C</a:t>
            </a:r>
          </a:p>
        </p:txBody>
      </p:sp>
      <p:sp>
        <p:nvSpPr>
          <p:cNvPr id="22" name="TextBox 21"/>
          <p:cNvSpPr txBox="1"/>
          <p:nvPr/>
        </p:nvSpPr>
        <p:spPr>
          <a:xfrm>
            <a:off x="1463040" y="4983480"/>
            <a:ext cx="10058400" cy="365760"/>
          </a:xfrm>
          <a:prstGeom prst="rect">
            <a:avLst/>
          </a:prstGeom>
          <a:noFill/>
        </p:spPr>
        <p:txBody>
          <a:bodyPr wrap="square" lIns="0" tIns="0" rIns="0" bIns="0" anchor="t">
            <a:spAutoFit/>
          </a:bodyPr>
          <a:lstStyle/>
          <a:p>
            <a:pPr algn="l"/>
            <a:r>
              <a:rPr sz="1600" b="1" i="0">
                <a:solidFill>
                  <a:srgbClr val="018F71"/>
                </a:solidFill>
                <a:latin typeface="Calibri"/>
              </a:rPr>
              <a:t>Leakage &amp; Ablation Checks</a:t>
            </a:r>
          </a:p>
        </p:txBody>
      </p:sp>
      <p:sp>
        <p:nvSpPr>
          <p:cNvPr id="23" name="TextBox 22"/>
          <p:cNvSpPr txBox="1"/>
          <p:nvPr/>
        </p:nvSpPr>
        <p:spPr>
          <a:xfrm>
            <a:off x="1463040" y="5349240"/>
            <a:ext cx="10058400" cy="320040"/>
          </a:xfrm>
          <a:prstGeom prst="rect">
            <a:avLst/>
          </a:prstGeom>
          <a:noFill/>
        </p:spPr>
        <p:txBody>
          <a:bodyPr wrap="square" lIns="0" tIns="0" rIns="0" bIns="0" anchor="t">
            <a:spAutoFit/>
          </a:bodyPr>
          <a:lstStyle/>
          <a:p>
            <a:pPr algn="l"/>
            <a:r>
              <a:rPr sz="1000" b="1" i="0">
                <a:solidFill>
                  <a:srgbClr val="64748B"/>
                </a:solidFill>
                <a:latin typeface="Calibri"/>
              </a:rPr>
              <a:t>What it does:  </a:t>
            </a:r>
            <a:r>
              <a:rPr sz="1100" b="0" i="0">
                <a:solidFill>
                  <a:srgbClr val="1A1A2E"/>
                </a:solidFill>
                <a:latin typeface="Calibri"/>
              </a:rPr>
              <a:t>Random-label permutation (real 99.8% vs permuted 33%) + 12 feature-group ablations</a:t>
            </a:r>
          </a:p>
        </p:txBody>
      </p:sp>
      <p:sp>
        <p:nvSpPr>
          <p:cNvPr id="24" name="TextBox 23"/>
          <p:cNvSpPr txBox="1"/>
          <p:nvPr/>
        </p:nvSpPr>
        <p:spPr>
          <a:xfrm>
            <a:off x="1463040" y="5641848"/>
            <a:ext cx="10058400" cy="274320"/>
          </a:xfrm>
          <a:prstGeom prst="rect">
            <a:avLst/>
          </a:prstGeom>
          <a:noFill/>
        </p:spPr>
        <p:txBody>
          <a:bodyPr wrap="square" lIns="0" tIns="0" rIns="0" bIns="0" anchor="t">
            <a:spAutoFit/>
          </a:bodyPr>
          <a:lstStyle/>
          <a:p>
            <a:pPr algn="l"/>
            <a:r>
              <a:rPr sz="1000" b="1" i="0">
                <a:solidFill>
                  <a:srgbClr val="64748B"/>
                </a:solidFill>
                <a:latin typeface="Calibri"/>
              </a:rPr>
              <a:t>Metrics:  </a:t>
            </a:r>
            <a:r>
              <a:rPr sz="1050" b="0" i="1">
                <a:solidFill>
                  <a:srgbClr val="1A1A2E"/>
                </a:solidFill>
                <a:latin typeface="Calibri"/>
              </a:rPr>
              <a:t>Δ accuracy (real vs permuted) · per-group validation + mimicry recall</a:t>
            </a:r>
          </a:p>
        </p:txBody>
      </p:sp>
      <p:sp>
        <p:nvSpPr>
          <p:cNvPr id="25" name="TextBox 24"/>
          <p:cNvSpPr txBox="1"/>
          <p:nvPr/>
        </p:nvSpPr>
        <p:spPr>
          <a:xfrm>
            <a:off x="1463040" y="5916168"/>
            <a:ext cx="10058400" cy="274320"/>
          </a:xfrm>
          <a:prstGeom prst="rect">
            <a:avLst/>
          </a:prstGeom>
          <a:noFill/>
        </p:spPr>
        <p:txBody>
          <a:bodyPr wrap="square" lIns="0" tIns="0" rIns="0" bIns="0" anchor="t">
            <a:spAutoFit/>
          </a:bodyPr>
          <a:lstStyle/>
          <a:p>
            <a:pPr algn="l"/>
            <a:r>
              <a:rPr sz="1000" b="1" i="0">
                <a:solidFill>
                  <a:srgbClr val="64748B"/>
                </a:solidFill>
                <a:latin typeface="Calibri"/>
              </a:rPr>
              <a:t>Purpose:  </a:t>
            </a:r>
            <a:r>
              <a:rPr sz="1100" b="0" i="1">
                <a:solidFill>
                  <a:srgbClr val="018F71"/>
                </a:solidFill>
                <a:latin typeface="Calibri"/>
              </a:rPr>
              <a:t>Is the model learning real signal, or just taking shortcuts?</a:t>
            </a:r>
          </a:p>
        </p:txBody>
      </p:sp>
      <p:sp>
        <p:nvSpPr>
          <p:cNvPr id="26" name="TextBox 25"/>
          <p:cNvSpPr txBox="1"/>
          <p:nvPr/>
        </p:nvSpPr>
        <p:spPr>
          <a:xfrm>
            <a:off x="457200" y="6309360"/>
            <a:ext cx="11247120" cy="274320"/>
          </a:xfrm>
          <a:prstGeom prst="rect">
            <a:avLst/>
          </a:prstGeom>
          <a:noFill/>
        </p:spPr>
        <p:txBody>
          <a:bodyPr wrap="square" lIns="0" tIns="0" rIns="0" bIns="0" anchor="t">
            <a:spAutoFit/>
          </a:bodyPr>
          <a:lstStyle/>
          <a:p>
            <a:pPr algn="ctr"/>
            <a:r>
              <a:rPr sz="1100" b="0" i="1">
                <a:solidFill>
                  <a:srgbClr val="64748B"/>
                </a:solidFill>
                <a:latin typeface="Calibri"/>
              </a:rPr>
              <a:t>Three independent exams. When all three point the same way, the central claim becomes defensible.</a:t>
            </a:r>
          </a:p>
        </p:txBody>
      </p:sp>
      <p:sp>
        <p:nvSpPr>
          <p:cNvPr id="27" name="TextBox 26"/>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Thesis Checkpoint Presentation</a:t>
            </a:r>
          </a:p>
        </p:txBody>
      </p:sp>
      <p:sp>
        <p:nvSpPr>
          <p:cNvPr id="28" name="TextBox 27"/>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10 / 23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3 · RESULTS</a:t>
            </a:r>
          </a:p>
        </p:txBody>
      </p:sp>
      <p:sp>
        <p:nvSpPr>
          <p:cNvPr id="3" name="TextBox 2"/>
          <p:cNvSpPr txBox="1"/>
          <p:nvPr/>
        </p:nvSpPr>
        <p:spPr>
          <a:xfrm>
            <a:off x="365760" y="548640"/>
            <a:ext cx="11430000" cy="640080"/>
          </a:xfrm>
          <a:prstGeom prst="rect">
            <a:avLst/>
          </a:prstGeom>
          <a:noFill/>
        </p:spPr>
        <p:txBody>
          <a:bodyPr wrap="square" lIns="0" tIns="0" rIns="0" bIns="0" anchor="t">
            <a:spAutoFit/>
          </a:bodyPr>
          <a:lstStyle/>
          <a:p>
            <a:pPr algn="l"/>
            <a:r>
              <a:rPr sz="2800" b="1" i="0" dirty="0">
                <a:solidFill>
                  <a:srgbClr val="1E2761"/>
                </a:solidFill>
                <a:latin typeface="Calibri"/>
              </a:rPr>
              <a:t>Result 1 — In-Distribution Performance</a:t>
            </a:r>
          </a:p>
        </p:txBody>
      </p:sp>
      <p:sp>
        <p:nvSpPr>
          <p:cNvPr id="4" name="TextBox 3"/>
          <p:cNvSpPr txBox="1"/>
          <p:nvPr/>
        </p:nvSpPr>
        <p:spPr>
          <a:xfrm>
            <a:off x="365760" y="1188720"/>
            <a:ext cx="11430000" cy="365760"/>
          </a:xfrm>
          <a:prstGeom prst="rect">
            <a:avLst/>
          </a:prstGeom>
          <a:noFill/>
        </p:spPr>
        <p:txBody>
          <a:bodyPr wrap="square" lIns="0" tIns="0" rIns="0" bIns="0" anchor="t">
            <a:spAutoFit/>
          </a:bodyPr>
          <a:lstStyle/>
          <a:p>
            <a:pPr algn="l"/>
            <a:r>
              <a:rPr sz="1400" b="0" i="1">
                <a:solidFill>
                  <a:srgbClr val="64748B"/>
                </a:solidFill>
                <a:latin typeface="Calibri"/>
              </a:rPr>
              <a:t>On the four known classes, the model is perfect</a:t>
            </a:r>
          </a:p>
        </p:txBody>
      </p:sp>
      <p:sp>
        <p:nvSpPr>
          <p:cNvPr id="5" name="Rectangle 4"/>
          <p:cNvSpPr/>
          <p:nvPr/>
        </p:nvSpPr>
        <p:spPr>
          <a:xfrm>
            <a:off x="457200" y="1691640"/>
            <a:ext cx="3657600" cy="13716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691640"/>
            <a:ext cx="91440" cy="13716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828800"/>
            <a:ext cx="3291840" cy="822960"/>
          </a:xfrm>
          <a:prstGeom prst="rect">
            <a:avLst/>
          </a:prstGeom>
          <a:noFill/>
        </p:spPr>
        <p:txBody>
          <a:bodyPr wrap="square" lIns="0" tIns="0" rIns="0" bIns="0" anchor="t">
            <a:spAutoFit/>
          </a:bodyPr>
          <a:lstStyle/>
          <a:p>
            <a:pPr algn="l"/>
            <a:r>
              <a:rPr sz="4400" b="1" i="0">
                <a:solidFill>
                  <a:srgbClr val="1E2761"/>
                </a:solidFill>
                <a:latin typeface="Calibri"/>
              </a:rPr>
              <a:t>100%</a:t>
            </a:r>
          </a:p>
        </p:txBody>
      </p:sp>
      <p:sp>
        <p:nvSpPr>
          <p:cNvPr id="8" name="TextBox 7"/>
          <p:cNvSpPr txBox="1"/>
          <p:nvPr/>
        </p:nvSpPr>
        <p:spPr>
          <a:xfrm>
            <a:off x="731520" y="2651760"/>
            <a:ext cx="3291840" cy="320040"/>
          </a:xfrm>
          <a:prstGeom prst="rect">
            <a:avLst/>
          </a:prstGeom>
          <a:noFill/>
        </p:spPr>
        <p:txBody>
          <a:bodyPr wrap="square" lIns="0" tIns="0" rIns="0" bIns="0" anchor="t">
            <a:spAutoFit/>
          </a:bodyPr>
          <a:lstStyle/>
          <a:p>
            <a:pPr algn="l"/>
            <a:r>
              <a:rPr sz="1000" b="1" i="0" spc="300">
                <a:solidFill>
                  <a:srgbClr val="64748B"/>
                </a:solidFill>
                <a:latin typeface="Calibri"/>
              </a:rPr>
              <a:t>TEST ACCURACY</a:t>
            </a:r>
          </a:p>
        </p:txBody>
      </p:sp>
      <p:sp>
        <p:nvSpPr>
          <p:cNvPr id="9" name="Rectangle 8"/>
          <p:cNvSpPr/>
          <p:nvPr/>
        </p:nvSpPr>
        <p:spPr>
          <a:xfrm>
            <a:off x="4251960" y="1691640"/>
            <a:ext cx="3657600" cy="13716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251960" y="1691640"/>
            <a:ext cx="91440" cy="1371600"/>
          </a:xfrm>
          <a:prstGeom prst="rect">
            <a:avLst/>
          </a:prstGeom>
          <a:solidFill>
            <a:srgbClr val="2B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26280" y="1828800"/>
            <a:ext cx="3291840" cy="822960"/>
          </a:xfrm>
          <a:prstGeom prst="rect">
            <a:avLst/>
          </a:prstGeom>
          <a:noFill/>
        </p:spPr>
        <p:txBody>
          <a:bodyPr wrap="square" lIns="0" tIns="0" rIns="0" bIns="0" anchor="t">
            <a:spAutoFit/>
          </a:bodyPr>
          <a:lstStyle/>
          <a:p>
            <a:pPr algn="l"/>
            <a:r>
              <a:rPr sz="4400" b="1" i="0">
                <a:solidFill>
                  <a:srgbClr val="2B3A8C"/>
                </a:solidFill>
                <a:latin typeface="Calibri"/>
              </a:rPr>
              <a:t>100%</a:t>
            </a:r>
          </a:p>
        </p:txBody>
      </p:sp>
      <p:sp>
        <p:nvSpPr>
          <p:cNvPr id="12" name="TextBox 11"/>
          <p:cNvSpPr txBox="1"/>
          <p:nvPr/>
        </p:nvSpPr>
        <p:spPr>
          <a:xfrm>
            <a:off x="4526280" y="2651760"/>
            <a:ext cx="3291840" cy="320040"/>
          </a:xfrm>
          <a:prstGeom prst="rect">
            <a:avLst/>
          </a:prstGeom>
          <a:noFill/>
        </p:spPr>
        <p:txBody>
          <a:bodyPr wrap="square" lIns="0" tIns="0" rIns="0" bIns="0" anchor="t">
            <a:spAutoFit/>
          </a:bodyPr>
          <a:lstStyle/>
          <a:p>
            <a:pPr algn="l"/>
            <a:r>
              <a:rPr sz="1000" b="1" i="0" spc="300">
                <a:solidFill>
                  <a:srgbClr val="64748B"/>
                </a:solidFill>
                <a:latin typeface="Calibri"/>
              </a:rPr>
              <a:t>MACRO-F1</a:t>
            </a:r>
          </a:p>
        </p:txBody>
      </p:sp>
      <p:sp>
        <p:nvSpPr>
          <p:cNvPr id="13" name="Rectangle 12"/>
          <p:cNvSpPr/>
          <p:nvPr/>
        </p:nvSpPr>
        <p:spPr>
          <a:xfrm>
            <a:off x="8046720" y="1691640"/>
            <a:ext cx="3657600" cy="13716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46720" y="1691640"/>
            <a:ext cx="91440" cy="1371600"/>
          </a:xfrm>
          <a:prstGeom prst="rect">
            <a:avLst/>
          </a:prstGeom>
          <a:solidFill>
            <a:srgbClr val="018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1040" y="1828800"/>
            <a:ext cx="3291840" cy="822960"/>
          </a:xfrm>
          <a:prstGeom prst="rect">
            <a:avLst/>
          </a:prstGeom>
          <a:noFill/>
        </p:spPr>
        <p:txBody>
          <a:bodyPr wrap="square" lIns="0" tIns="0" rIns="0" bIns="0" anchor="t">
            <a:spAutoFit/>
          </a:bodyPr>
          <a:lstStyle/>
          <a:p>
            <a:pPr algn="l"/>
            <a:r>
              <a:rPr sz="4400" b="1" i="0">
                <a:solidFill>
                  <a:srgbClr val="018F71"/>
                </a:solidFill>
                <a:latin typeface="Calibri"/>
              </a:rPr>
              <a:t>100%</a:t>
            </a:r>
          </a:p>
        </p:txBody>
      </p:sp>
      <p:sp>
        <p:nvSpPr>
          <p:cNvPr id="16" name="TextBox 15"/>
          <p:cNvSpPr txBox="1"/>
          <p:nvPr/>
        </p:nvSpPr>
        <p:spPr>
          <a:xfrm>
            <a:off x="8321040" y="2651760"/>
            <a:ext cx="3291840" cy="320040"/>
          </a:xfrm>
          <a:prstGeom prst="rect">
            <a:avLst/>
          </a:prstGeom>
          <a:noFill/>
        </p:spPr>
        <p:txBody>
          <a:bodyPr wrap="square" lIns="0" tIns="0" rIns="0" bIns="0" anchor="t">
            <a:spAutoFit/>
          </a:bodyPr>
          <a:lstStyle/>
          <a:p>
            <a:pPr algn="l"/>
            <a:r>
              <a:rPr sz="1000" b="1" i="0" spc="300">
                <a:solidFill>
                  <a:srgbClr val="64748B"/>
                </a:solidFill>
                <a:latin typeface="Calibri"/>
              </a:rPr>
              <a:t>MEAN PR-AUC</a:t>
            </a:r>
          </a:p>
        </p:txBody>
      </p:sp>
      <p:sp>
        <p:nvSpPr>
          <p:cNvPr id="17" name="TextBox 16"/>
          <p:cNvSpPr txBox="1"/>
          <p:nvPr/>
        </p:nvSpPr>
        <p:spPr>
          <a:xfrm>
            <a:off x="457200" y="3291840"/>
            <a:ext cx="11247120" cy="365760"/>
          </a:xfrm>
          <a:prstGeom prst="rect">
            <a:avLst/>
          </a:prstGeom>
          <a:noFill/>
        </p:spPr>
        <p:txBody>
          <a:bodyPr wrap="square" lIns="0" tIns="0" rIns="0" bIns="0" anchor="t">
            <a:spAutoFit/>
          </a:bodyPr>
          <a:lstStyle/>
          <a:p>
            <a:pPr algn="l"/>
            <a:r>
              <a:rPr sz="1400" b="1" i="0">
                <a:solidFill>
                  <a:srgbClr val="1E2761"/>
                </a:solidFill>
                <a:latin typeface="Calibri"/>
              </a:rPr>
              <a:t>Per-class performance (Proposed Random Forest · Test set, n=1446)</a:t>
            </a:r>
          </a:p>
        </p:txBody>
      </p:sp>
      <p:graphicFrame>
        <p:nvGraphicFramePr>
          <p:cNvPr id="18" name="Table 17"/>
          <p:cNvGraphicFramePr>
            <a:graphicFrameLocks noGrp="1"/>
          </p:cNvGraphicFramePr>
          <p:nvPr/>
        </p:nvGraphicFramePr>
        <p:xfrm>
          <a:off x="457200" y="3703320"/>
          <a:ext cx="11247120" cy="182880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tblGrid>
              <a:tr h="365760">
                <a:tc>
                  <a:txBody>
                    <a:bodyPr/>
                    <a:lstStyle/>
                    <a:p>
                      <a:pPr algn="l"/>
                      <a:r>
                        <a:rPr sz="1200" b="1">
                          <a:solidFill>
                            <a:srgbClr val="FFFFFF"/>
                          </a:solidFill>
                          <a:latin typeface="Calibri"/>
                        </a:rPr>
                        <a:t>Class</a:t>
                      </a:r>
                    </a:p>
                  </a:txBody>
                  <a:tcPr marL="73152" marR="73152" marT="36576" marB="36576">
                    <a:solidFill>
                      <a:srgbClr val="1E2761"/>
                    </a:solidFill>
                  </a:tcPr>
                </a:tc>
                <a:tc>
                  <a:txBody>
                    <a:bodyPr/>
                    <a:lstStyle/>
                    <a:p>
                      <a:pPr algn="ctr"/>
                      <a:r>
                        <a:rPr sz="1200" b="1">
                          <a:solidFill>
                            <a:srgbClr val="FFFFFF"/>
                          </a:solidFill>
                          <a:latin typeface="Calibri"/>
                        </a:rPr>
                        <a:t>Precision</a:t>
                      </a:r>
                    </a:p>
                  </a:txBody>
                  <a:tcPr marL="73152" marR="73152" marT="36576" marB="36576">
                    <a:solidFill>
                      <a:srgbClr val="1E2761"/>
                    </a:solidFill>
                  </a:tcPr>
                </a:tc>
                <a:tc>
                  <a:txBody>
                    <a:bodyPr/>
                    <a:lstStyle/>
                    <a:p>
                      <a:pPr algn="ctr"/>
                      <a:r>
                        <a:rPr sz="1200" b="1">
                          <a:solidFill>
                            <a:srgbClr val="FFFFFF"/>
                          </a:solidFill>
                          <a:latin typeface="Calibri"/>
                        </a:rPr>
                        <a:t>Recall</a:t>
                      </a:r>
                    </a:p>
                  </a:txBody>
                  <a:tcPr marL="73152" marR="73152" marT="36576" marB="36576">
                    <a:solidFill>
                      <a:srgbClr val="1E2761"/>
                    </a:solidFill>
                  </a:tcPr>
                </a:tc>
                <a:tc>
                  <a:txBody>
                    <a:bodyPr/>
                    <a:lstStyle/>
                    <a:p>
                      <a:pPr algn="ctr"/>
                      <a:r>
                        <a:rPr sz="1200" b="1">
                          <a:solidFill>
                            <a:srgbClr val="FFFFFF"/>
                          </a:solidFill>
                          <a:latin typeface="Calibri"/>
                        </a:rPr>
                        <a:t>F1-score</a:t>
                      </a:r>
                    </a:p>
                  </a:txBody>
                  <a:tcPr marL="73152" marR="73152" marT="36576" marB="36576">
                    <a:solidFill>
                      <a:srgbClr val="1E2761"/>
                    </a:solidFill>
                  </a:tcPr>
                </a:tc>
                <a:tc>
                  <a:txBody>
                    <a:bodyPr/>
                    <a:lstStyle/>
                    <a:p>
                      <a:pPr algn="ctr"/>
                      <a:r>
                        <a:rPr sz="1200" b="1">
                          <a:solidFill>
                            <a:srgbClr val="FFFFFF"/>
                          </a:solidFill>
                          <a:latin typeface="Calibri"/>
                        </a:rPr>
                        <a:t>Support</a:t>
                      </a:r>
                    </a:p>
                  </a:txBody>
                  <a:tcPr marL="73152" marR="73152" marT="36576" marB="36576">
                    <a:solidFill>
                      <a:srgbClr val="1E2761"/>
                    </a:solidFill>
                  </a:tcPr>
                </a:tc>
                <a:extLst>
                  <a:ext uri="{0D108BD9-81ED-4DB2-BD59-A6C34878D82A}">
                    <a16:rowId xmlns:a16="http://schemas.microsoft.com/office/drawing/2014/main" val="10000"/>
                  </a:ext>
                </a:extLst>
              </a:tr>
              <a:tr h="365760">
                <a:tc>
                  <a:txBody>
                    <a:bodyPr/>
                    <a:lstStyle/>
                    <a:p>
                      <a:pPr algn="l"/>
                      <a:r>
                        <a:rPr sz="1200" b="0">
                          <a:solidFill>
                            <a:srgbClr val="1A1A2E"/>
                          </a:solidFill>
                          <a:latin typeface="Calibri"/>
                        </a:rPr>
                        <a:t>credential_stuffing</a:t>
                      </a:r>
                    </a:p>
                  </a:txBody>
                  <a:tcPr marL="73152" marR="73152" marT="36576" marB="36576"/>
                </a:tc>
                <a:tc>
                  <a:txBody>
                    <a:bodyPr/>
                    <a:lstStyle/>
                    <a:p>
                      <a:pPr algn="ctr"/>
                      <a:r>
                        <a:rPr sz="1200" b="0">
                          <a:solidFill>
                            <a:srgbClr val="1A1A2E"/>
                          </a:solidFill>
                          <a:latin typeface="Calibri"/>
                        </a:rPr>
                        <a:t>1.0000</a:t>
                      </a:r>
                    </a:p>
                  </a:txBody>
                  <a:tcPr marL="73152" marR="73152" marT="36576" marB="36576"/>
                </a:tc>
                <a:tc>
                  <a:txBody>
                    <a:bodyPr/>
                    <a:lstStyle/>
                    <a:p>
                      <a:pPr algn="ctr"/>
                      <a:r>
                        <a:rPr sz="1200" b="0">
                          <a:solidFill>
                            <a:srgbClr val="1A1A2E"/>
                          </a:solidFill>
                          <a:latin typeface="Calibri"/>
                        </a:rPr>
                        <a:t>1.0000</a:t>
                      </a:r>
                    </a:p>
                  </a:txBody>
                  <a:tcPr marL="73152" marR="73152" marT="36576" marB="36576"/>
                </a:tc>
                <a:tc>
                  <a:txBody>
                    <a:bodyPr/>
                    <a:lstStyle/>
                    <a:p>
                      <a:pPr algn="ctr"/>
                      <a:r>
                        <a:rPr sz="1200" b="0">
                          <a:solidFill>
                            <a:srgbClr val="1A1A2E"/>
                          </a:solidFill>
                          <a:latin typeface="Calibri"/>
                        </a:rPr>
                        <a:t>1.0000</a:t>
                      </a:r>
                    </a:p>
                  </a:txBody>
                  <a:tcPr marL="73152" marR="73152" marT="36576" marB="36576"/>
                </a:tc>
                <a:tc>
                  <a:txBody>
                    <a:bodyPr/>
                    <a:lstStyle/>
                    <a:p>
                      <a:pPr algn="ctr"/>
                      <a:r>
                        <a:rPr sz="1200" b="0">
                          <a:solidFill>
                            <a:srgbClr val="1A1A2E"/>
                          </a:solidFill>
                          <a:latin typeface="Calibri"/>
                        </a:rPr>
                        <a:t>396</a:t>
                      </a:r>
                    </a:p>
                  </a:txBody>
                  <a:tcPr marL="73152" marR="73152" marT="36576" marB="36576"/>
                </a:tc>
                <a:extLst>
                  <a:ext uri="{0D108BD9-81ED-4DB2-BD59-A6C34878D82A}">
                    <a16:rowId xmlns:a16="http://schemas.microsoft.com/office/drawing/2014/main" val="10001"/>
                  </a:ext>
                </a:extLst>
              </a:tr>
              <a:tr h="365760">
                <a:tc>
                  <a:txBody>
                    <a:bodyPr/>
                    <a:lstStyle/>
                    <a:p>
                      <a:pPr algn="l"/>
                      <a:r>
                        <a:rPr sz="1200" b="0">
                          <a:solidFill>
                            <a:srgbClr val="1A1A2E"/>
                          </a:solidFill>
                          <a:latin typeface="Calibri"/>
                        </a:rPr>
                        <a:t>http_flood</a:t>
                      </a:r>
                    </a:p>
                  </a:txBody>
                  <a:tcPr marL="73152" marR="73152" marT="36576" marB="36576"/>
                </a:tc>
                <a:tc>
                  <a:txBody>
                    <a:bodyPr/>
                    <a:lstStyle/>
                    <a:p>
                      <a:pPr algn="ctr"/>
                      <a:r>
                        <a:rPr sz="1200" b="0">
                          <a:solidFill>
                            <a:srgbClr val="1A1A2E"/>
                          </a:solidFill>
                          <a:latin typeface="Calibri"/>
                        </a:rPr>
                        <a:t>1.0000</a:t>
                      </a:r>
                    </a:p>
                  </a:txBody>
                  <a:tcPr marL="73152" marR="73152" marT="36576" marB="36576"/>
                </a:tc>
                <a:tc>
                  <a:txBody>
                    <a:bodyPr/>
                    <a:lstStyle/>
                    <a:p>
                      <a:pPr algn="ctr"/>
                      <a:r>
                        <a:rPr sz="1200" b="0">
                          <a:solidFill>
                            <a:srgbClr val="1A1A2E"/>
                          </a:solidFill>
                          <a:latin typeface="Calibri"/>
                        </a:rPr>
                        <a:t>1.0000</a:t>
                      </a:r>
                    </a:p>
                  </a:txBody>
                  <a:tcPr marL="73152" marR="73152" marT="36576" marB="36576"/>
                </a:tc>
                <a:tc>
                  <a:txBody>
                    <a:bodyPr/>
                    <a:lstStyle/>
                    <a:p>
                      <a:pPr algn="ctr"/>
                      <a:r>
                        <a:rPr sz="1200" b="0">
                          <a:solidFill>
                            <a:srgbClr val="1A1A2E"/>
                          </a:solidFill>
                          <a:latin typeface="Calibri"/>
                        </a:rPr>
                        <a:t>1.0000</a:t>
                      </a:r>
                    </a:p>
                  </a:txBody>
                  <a:tcPr marL="73152" marR="73152" marT="36576" marB="36576"/>
                </a:tc>
                <a:tc>
                  <a:txBody>
                    <a:bodyPr/>
                    <a:lstStyle/>
                    <a:p>
                      <a:pPr algn="ctr"/>
                      <a:r>
                        <a:rPr sz="1200" b="0">
                          <a:solidFill>
                            <a:srgbClr val="1A1A2E"/>
                          </a:solidFill>
                          <a:latin typeface="Calibri"/>
                        </a:rPr>
                        <a:t>332</a:t>
                      </a:r>
                    </a:p>
                  </a:txBody>
                  <a:tcPr marL="73152" marR="73152" marT="36576" marB="36576"/>
                </a:tc>
                <a:extLst>
                  <a:ext uri="{0D108BD9-81ED-4DB2-BD59-A6C34878D82A}">
                    <a16:rowId xmlns:a16="http://schemas.microsoft.com/office/drawing/2014/main" val="10002"/>
                  </a:ext>
                </a:extLst>
              </a:tr>
              <a:tr h="365760">
                <a:tc>
                  <a:txBody>
                    <a:bodyPr/>
                    <a:lstStyle/>
                    <a:p>
                      <a:pPr algn="l"/>
                      <a:r>
                        <a:rPr sz="1200" b="0">
                          <a:solidFill>
                            <a:srgbClr val="1A1A2E"/>
                          </a:solidFill>
                          <a:latin typeface="Calibri"/>
                        </a:rPr>
                        <a:t>low_rate_bot</a:t>
                      </a:r>
                    </a:p>
                  </a:txBody>
                  <a:tcPr marL="73152" marR="73152" marT="36576" marB="36576"/>
                </a:tc>
                <a:tc>
                  <a:txBody>
                    <a:bodyPr/>
                    <a:lstStyle/>
                    <a:p>
                      <a:pPr algn="ctr"/>
                      <a:r>
                        <a:rPr sz="1200" b="0">
                          <a:solidFill>
                            <a:srgbClr val="1A1A2E"/>
                          </a:solidFill>
                          <a:latin typeface="Calibri"/>
                        </a:rPr>
                        <a:t>1.0000</a:t>
                      </a:r>
                    </a:p>
                  </a:txBody>
                  <a:tcPr marL="73152" marR="73152" marT="36576" marB="36576"/>
                </a:tc>
                <a:tc>
                  <a:txBody>
                    <a:bodyPr/>
                    <a:lstStyle/>
                    <a:p>
                      <a:pPr algn="ctr"/>
                      <a:r>
                        <a:rPr sz="1200" b="0">
                          <a:solidFill>
                            <a:srgbClr val="1A1A2E"/>
                          </a:solidFill>
                          <a:latin typeface="Calibri"/>
                        </a:rPr>
                        <a:t>1.0000</a:t>
                      </a:r>
                    </a:p>
                  </a:txBody>
                  <a:tcPr marL="73152" marR="73152" marT="36576" marB="36576"/>
                </a:tc>
                <a:tc>
                  <a:txBody>
                    <a:bodyPr/>
                    <a:lstStyle/>
                    <a:p>
                      <a:pPr algn="ctr"/>
                      <a:r>
                        <a:rPr sz="1200" b="0">
                          <a:solidFill>
                            <a:srgbClr val="1A1A2E"/>
                          </a:solidFill>
                          <a:latin typeface="Calibri"/>
                        </a:rPr>
                        <a:t>1.0000</a:t>
                      </a:r>
                    </a:p>
                  </a:txBody>
                  <a:tcPr marL="73152" marR="73152" marT="36576" marB="36576"/>
                </a:tc>
                <a:tc>
                  <a:txBody>
                    <a:bodyPr/>
                    <a:lstStyle/>
                    <a:p>
                      <a:pPr algn="ctr"/>
                      <a:r>
                        <a:rPr sz="1200" b="0">
                          <a:solidFill>
                            <a:srgbClr val="1A1A2E"/>
                          </a:solidFill>
                          <a:latin typeface="Calibri"/>
                        </a:rPr>
                        <a:t>145</a:t>
                      </a:r>
                    </a:p>
                  </a:txBody>
                  <a:tcPr marL="73152" marR="73152" marT="36576" marB="36576"/>
                </a:tc>
                <a:extLst>
                  <a:ext uri="{0D108BD9-81ED-4DB2-BD59-A6C34878D82A}">
                    <a16:rowId xmlns:a16="http://schemas.microsoft.com/office/drawing/2014/main" val="10003"/>
                  </a:ext>
                </a:extLst>
              </a:tr>
              <a:tr h="365760">
                <a:tc>
                  <a:txBody>
                    <a:bodyPr/>
                    <a:lstStyle/>
                    <a:p>
                      <a:pPr algn="l"/>
                      <a:r>
                        <a:rPr sz="1200" b="0">
                          <a:solidFill>
                            <a:srgbClr val="1A1A2E"/>
                          </a:solidFill>
                          <a:latin typeface="Calibri"/>
                        </a:rPr>
                        <a:t>normal_user</a:t>
                      </a:r>
                    </a:p>
                  </a:txBody>
                  <a:tcPr marL="73152" marR="73152" marT="36576" marB="36576"/>
                </a:tc>
                <a:tc>
                  <a:txBody>
                    <a:bodyPr/>
                    <a:lstStyle/>
                    <a:p>
                      <a:pPr algn="ctr"/>
                      <a:r>
                        <a:rPr sz="1200" b="0">
                          <a:solidFill>
                            <a:srgbClr val="1A1A2E"/>
                          </a:solidFill>
                          <a:latin typeface="Calibri"/>
                        </a:rPr>
                        <a:t>1.0000</a:t>
                      </a:r>
                    </a:p>
                  </a:txBody>
                  <a:tcPr marL="73152" marR="73152" marT="36576" marB="36576"/>
                </a:tc>
                <a:tc>
                  <a:txBody>
                    <a:bodyPr/>
                    <a:lstStyle/>
                    <a:p>
                      <a:pPr algn="ctr"/>
                      <a:r>
                        <a:rPr sz="1200" b="0">
                          <a:solidFill>
                            <a:srgbClr val="1A1A2E"/>
                          </a:solidFill>
                          <a:latin typeface="Calibri"/>
                        </a:rPr>
                        <a:t>1.0000</a:t>
                      </a:r>
                    </a:p>
                  </a:txBody>
                  <a:tcPr marL="73152" marR="73152" marT="36576" marB="36576"/>
                </a:tc>
                <a:tc>
                  <a:txBody>
                    <a:bodyPr/>
                    <a:lstStyle/>
                    <a:p>
                      <a:pPr algn="ctr"/>
                      <a:r>
                        <a:rPr sz="1200" b="0">
                          <a:solidFill>
                            <a:srgbClr val="1A1A2E"/>
                          </a:solidFill>
                          <a:latin typeface="Calibri"/>
                        </a:rPr>
                        <a:t>1.0000</a:t>
                      </a:r>
                    </a:p>
                  </a:txBody>
                  <a:tcPr marL="73152" marR="73152" marT="36576" marB="36576"/>
                </a:tc>
                <a:tc>
                  <a:txBody>
                    <a:bodyPr/>
                    <a:lstStyle/>
                    <a:p>
                      <a:pPr algn="ctr"/>
                      <a:r>
                        <a:rPr sz="1200" b="0">
                          <a:solidFill>
                            <a:srgbClr val="1A1A2E"/>
                          </a:solidFill>
                          <a:latin typeface="Calibri"/>
                        </a:rPr>
                        <a:t>573</a:t>
                      </a:r>
                    </a:p>
                  </a:txBody>
                  <a:tcPr marL="73152" marR="73152" marT="36576" marB="36576"/>
                </a:tc>
                <a:extLst>
                  <a:ext uri="{0D108BD9-81ED-4DB2-BD59-A6C34878D82A}">
                    <a16:rowId xmlns:a16="http://schemas.microsoft.com/office/drawing/2014/main" val="10004"/>
                  </a:ext>
                </a:extLst>
              </a:tr>
            </a:tbl>
          </a:graphicData>
        </a:graphic>
      </p:graphicFrame>
      <p:sp>
        <p:nvSpPr>
          <p:cNvPr id="19" name="Rectangle 18"/>
          <p:cNvSpPr/>
          <p:nvPr/>
        </p:nvSpPr>
        <p:spPr>
          <a:xfrm>
            <a:off x="457200" y="5852160"/>
            <a:ext cx="11247120" cy="64008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 y="5852160"/>
            <a:ext cx="10972800" cy="640080"/>
          </a:xfrm>
          <a:prstGeom prst="rect">
            <a:avLst/>
          </a:prstGeom>
          <a:noFill/>
        </p:spPr>
        <p:txBody>
          <a:bodyPr wrap="square" lIns="0" tIns="0" rIns="0" bIns="0" anchor="ctr">
            <a:spAutoFit/>
          </a:bodyPr>
          <a:lstStyle/>
          <a:p>
            <a:pPr algn="l"/>
            <a:r>
              <a:rPr sz="1200" b="1" i="0">
                <a:solidFill>
                  <a:srgbClr val="1E2761"/>
                </a:solidFill>
                <a:latin typeface="Calibri"/>
              </a:rPr>
              <a:t>Reading: </a:t>
            </a:r>
            <a:r>
              <a:rPr sz="1200" b="0" i="1">
                <a:solidFill>
                  <a:srgbClr val="1A1A2E"/>
                </a:solidFill>
                <a:latin typeface="Calibri"/>
              </a:rPr>
              <a:t>zero misclassifications across 1446 test windows. Random-label permutation sanity (real 99.8% vs permuted 33%) confirms genuine signal, not memorization.</a:t>
            </a:r>
          </a:p>
        </p:txBody>
      </p:sp>
      <p:sp>
        <p:nvSpPr>
          <p:cNvPr id="21" name="TextBox 20"/>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Thesis Checkpoint Presentation</a:t>
            </a:r>
          </a:p>
        </p:txBody>
      </p:sp>
      <p:sp>
        <p:nvSpPr>
          <p:cNvPr id="22" name="TextBox 21"/>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11 / 23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3 · RESULTS</a:t>
            </a:r>
          </a:p>
        </p:txBody>
      </p:sp>
      <p:sp>
        <p:nvSpPr>
          <p:cNvPr id="3" name="TextBox 2"/>
          <p:cNvSpPr txBox="1"/>
          <p:nvPr/>
        </p:nvSpPr>
        <p:spPr>
          <a:xfrm>
            <a:off x="365760" y="548640"/>
            <a:ext cx="11430000" cy="430887"/>
          </a:xfrm>
          <a:prstGeom prst="rect">
            <a:avLst/>
          </a:prstGeom>
          <a:noFill/>
        </p:spPr>
        <p:txBody>
          <a:bodyPr wrap="square" lIns="0" tIns="0" rIns="0" bIns="0" anchor="t">
            <a:spAutoFit/>
          </a:bodyPr>
          <a:lstStyle/>
          <a:p>
            <a:r>
              <a:rPr lang="tr-TR" sz="2800" b="1" dirty="0">
                <a:solidFill>
                  <a:srgbClr val="002060"/>
                </a:solidFill>
                <a:latin typeface="Calibri" panose="020F0502020204030204" pitchFamily="34" charset="0"/>
                <a:cs typeface="Calibri" panose="020F0502020204030204" pitchFamily="34" charset="0"/>
              </a:rPr>
              <a:t>Cross-</a:t>
            </a:r>
            <a:r>
              <a:rPr lang="tr-TR" sz="2800" b="1" dirty="0" err="1">
                <a:solidFill>
                  <a:srgbClr val="002060"/>
                </a:solidFill>
                <a:latin typeface="Calibri" panose="020F0502020204030204" pitchFamily="34" charset="0"/>
                <a:cs typeface="Calibri" panose="020F0502020204030204" pitchFamily="34" charset="0"/>
              </a:rPr>
              <a:t>Validation</a:t>
            </a:r>
            <a:r>
              <a:rPr lang="tr-TR" sz="2800" b="1" dirty="0">
                <a:solidFill>
                  <a:srgbClr val="002060"/>
                </a:solidFill>
                <a:latin typeface="Calibri" panose="020F0502020204030204" pitchFamily="34" charset="0"/>
                <a:cs typeface="Calibri" panose="020F0502020204030204" pitchFamily="34" charset="0"/>
              </a:rPr>
              <a:t> </a:t>
            </a:r>
            <a:r>
              <a:rPr lang="tr-TR" sz="2800" b="1" dirty="0" err="1">
                <a:solidFill>
                  <a:srgbClr val="002060"/>
                </a:solidFill>
                <a:latin typeface="Calibri" panose="020F0502020204030204" pitchFamily="34" charset="0"/>
                <a:cs typeface="Calibri" panose="020F0502020204030204" pitchFamily="34" charset="0"/>
              </a:rPr>
              <a:t>Stability</a:t>
            </a:r>
            <a:r>
              <a:rPr lang="tr-TR" sz="2800" b="1" dirty="0">
                <a:solidFill>
                  <a:srgbClr val="002060"/>
                </a:solidFill>
                <a:latin typeface="Calibri" panose="020F0502020204030204" pitchFamily="34" charset="0"/>
                <a:cs typeface="Calibri" panose="020F0502020204030204" pitchFamily="34" charset="0"/>
              </a:rPr>
              <a:t> </a:t>
            </a:r>
            <a:r>
              <a:rPr lang="tr-TR" sz="2800" b="1" dirty="0" err="1">
                <a:solidFill>
                  <a:srgbClr val="002060"/>
                </a:solidFill>
                <a:latin typeface="Calibri" panose="020F0502020204030204" pitchFamily="34" charset="0"/>
                <a:cs typeface="Calibri" panose="020F0502020204030204" pitchFamily="34" charset="0"/>
              </a:rPr>
              <a:t>Check</a:t>
            </a:r>
            <a:endParaRPr sz="2800" b="1" i="0" dirty="0">
              <a:solidFill>
                <a:srgbClr val="002060"/>
              </a:solidFill>
              <a:latin typeface="Calibri" panose="020F0502020204030204" pitchFamily="34" charset="0"/>
              <a:cs typeface="Calibri" panose="020F0502020204030204" pitchFamily="34" charset="0"/>
            </a:endParaRPr>
          </a:p>
        </p:txBody>
      </p:sp>
      <p:sp>
        <p:nvSpPr>
          <p:cNvPr id="4" name="TextBox 3"/>
          <p:cNvSpPr txBox="1"/>
          <p:nvPr/>
        </p:nvSpPr>
        <p:spPr>
          <a:xfrm>
            <a:off x="365760" y="1188720"/>
            <a:ext cx="11430000" cy="215444"/>
          </a:xfrm>
          <a:prstGeom prst="rect">
            <a:avLst/>
          </a:prstGeom>
          <a:noFill/>
        </p:spPr>
        <p:txBody>
          <a:bodyPr wrap="square" lIns="0" tIns="0" rIns="0" bIns="0" anchor="t">
            <a:spAutoFit/>
          </a:bodyPr>
          <a:lstStyle/>
          <a:p>
            <a:r>
              <a:rPr lang="tr-TR" sz="1400" i="1" dirty="0" err="1">
                <a:solidFill>
                  <a:srgbClr val="64748B"/>
                </a:solidFill>
              </a:rPr>
              <a:t>Checking</a:t>
            </a:r>
            <a:r>
              <a:rPr lang="tr-TR" sz="1400" i="1" dirty="0">
                <a:solidFill>
                  <a:srgbClr val="64748B"/>
                </a:solidFill>
              </a:rPr>
              <a:t> </a:t>
            </a:r>
            <a:r>
              <a:rPr lang="tr-TR" sz="1400" i="1" dirty="0" err="1">
                <a:solidFill>
                  <a:srgbClr val="64748B"/>
                </a:solidFill>
              </a:rPr>
              <a:t>whether</a:t>
            </a:r>
            <a:r>
              <a:rPr lang="tr-TR" sz="1400" i="1" dirty="0">
                <a:solidFill>
                  <a:srgbClr val="64748B"/>
                </a:solidFill>
              </a:rPr>
              <a:t> </a:t>
            </a:r>
            <a:r>
              <a:rPr lang="tr-TR" sz="1400" i="1" dirty="0" err="1">
                <a:solidFill>
                  <a:srgbClr val="64748B"/>
                </a:solidFill>
              </a:rPr>
              <a:t>high</a:t>
            </a:r>
            <a:r>
              <a:rPr lang="tr-TR" sz="1400" i="1" dirty="0">
                <a:solidFill>
                  <a:srgbClr val="64748B"/>
                </a:solidFill>
              </a:rPr>
              <a:t> in-</a:t>
            </a:r>
            <a:r>
              <a:rPr lang="tr-TR" sz="1400" i="1" dirty="0" err="1">
                <a:solidFill>
                  <a:srgbClr val="64748B"/>
                </a:solidFill>
              </a:rPr>
              <a:t>distribution</a:t>
            </a:r>
            <a:r>
              <a:rPr lang="tr-TR" sz="1400" i="1" dirty="0">
                <a:solidFill>
                  <a:srgbClr val="64748B"/>
                </a:solidFill>
              </a:rPr>
              <a:t> </a:t>
            </a:r>
            <a:r>
              <a:rPr lang="tr-TR" sz="1400" i="1" dirty="0" err="1">
                <a:solidFill>
                  <a:srgbClr val="64748B"/>
                </a:solidFill>
              </a:rPr>
              <a:t>performance</a:t>
            </a:r>
            <a:r>
              <a:rPr lang="tr-TR" sz="1400" i="1" dirty="0">
                <a:solidFill>
                  <a:srgbClr val="64748B"/>
                </a:solidFill>
              </a:rPr>
              <a:t> is </a:t>
            </a:r>
            <a:r>
              <a:rPr lang="tr-TR" sz="1400" i="1" dirty="0" err="1">
                <a:solidFill>
                  <a:srgbClr val="64748B"/>
                </a:solidFill>
              </a:rPr>
              <a:t>stable</a:t>
            </a:r>
            <a:r>
              <a:rPr lang="tr-TR" sz="1400" i="1" dirty="0">
                <a:solidFill>
                  <a:srgbClr val="64748B"/>
                </a:solidFill>
              </a:rPr>
              <a:t> </a:t>
            </a:r>
            <a:r>
              <a:rPr lang="tr-TR" sz="1400" i="1" dirty="0" err="1">
                <a:solidFill>
                  <a:srgbClr val="64748B"/>
                </a:solidFill>
              </a:rPr>
              <a:t>across</a:t>
            </a:r>
            <a:r>
              <a:rPr lang="tr-TR" sz="1400" i="1" dirty="0">
                <a:solidFill>
                  <a:srgbClr val="64748B"/>
                </a:solidFill>
              </a:rPr>
              <a:t> </a:t>
            </a:r>
            <a:r>
              <a:rPr lang="tr-TR" sz="1400" i="1" dirty="0" err="1">
                <a:solidFill>
                  <a:srgbClr val="64748B"/>
                </a:solidFill>
              </a:rPr>
              <a:t>folds</a:t>
            </a:r>
            <a:endParaRPr sz="1400" b="0" i="1" dirty="0">
              <a:solidFill>
                <a:srgbClr val="64748B"/>
              </a:solidFill>
              <a:latin typeface="Calibri"/>
            </a:endParaRPr>
          </a:p>
        </p:txBody>
      </p:sp>
      <p:sp>
        <p:nvSpPr>
          <p:cNvPr id="6" name="TextBox 5"/>
          <p:cNvSpPr txBox="1"/>
          <p:nvPr/>
        </p:nvSpPr>
        <p:spPr>
          <a:xfrm>
            <a:off x="9281160" y="1605721"/>
            <a:ext cx="4114800" cy="365760"/>
          </a:xfrm>
          <a:prstGeom prst="rect">
            <a:avLst/>
          </a:prstGeom>
          <a:noFill/>
        </p:spPr>
        <p:txBody>
          <a:bodyPr wrap="square" lIns="0" tIns="0" rIns="0" bIns="0" anchor="t">
            <a:spAutoFit/>
          </a:bodyPr>
          <a:lstStyle/>
          <a:p>
            <a:pPr algn="l"/>
            <a:r>
              <a:rPr sz="1600" b="1" i="0" dirty="0">
                <a:solidFill>
                  <a:srgbClr val="1E2761"/>
                </a:solidFill>
                <a:latin typeface="Calibri"/>
              </a:rPr>
              <a:t>Observations</a:t>
            </a:r>
          </a:p>
        </p:txBody>
      </p:sp>
      <p:sp>
        <p:nvSpPr>
          <p:cNvPr id="7" name="Rectangle 6"/>
          <p:cNvSpPr/>
          <p:nvPr/>
        </p:nvSpPr>
        <p:spPr>
          <a:xfrm>
            <a:off x="9281160" y="1971638"/>
            <a:ext cx="914400" cy="36576"/>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81160" y="2268831"/>
            <a:ext cx="4114800" cy="215444"/>
          </a:xfrm>
          <a:prstGeom prst="rect">
            <a:avLst/>
          </a:prstGeom>
          <a:noFill/>
        </p:spPr>
        <p:txBody>
          <a:bodyPr wrap="square" lIns="0" tIns="0" rIns="0" bIns="0" anchor="t">
            <a:spAutoFit/>
          </a:bodyPr>
          <a:lstStyle/>
          <a:p>
            <a:r>
              <a:rPr lang="tr-TR" sz="1400" b="1" dirty="0">
                <a:solidFill>
                  <a:srgbClr val="1E2761"/>
                </a:solidFill>
                <a:latin typeface="Consolas"/>
              </a:rPr>
              <a:t>99.94% ± 0.05% </a:t>
            </a:r>
            <a:endParaRPr sz="1400" b="1" i="0" dirty="0">
              <a:solidFill>
                <a:srgbClr val="1E2761"/>
              </a:solidFill>
              <a:latin typeface="Consolas"/>
            </a:endParaRPr>
          </a:p>
        </p:txBody>
      </p:sp>
      <p:sp>
        <p:nvSpPr>
          <p:cNvPr id="9" name="TextBox 8"/>
          <p:cNvSpPr txBox="1"/>
          <p:nvPr/>
        </p:nvSpPr>
        <p:spPr>
          <a:xfrm>
            <a:off x="9281160" y="2625447"/>
            <a:ext cx="4114800" cy="169277"/>
          </a:xfrm>
          <a:prstGeom prst="rect">
            <a:avLst/>
          </a:prstGeom>
          <a:noFill/>
        </p:spPr>
        <p:txBody>
          <a:bodyPr wrap="square" lIns="0" tIns="0" rIns="0" bIns="0" anchor="t">
            <a:spAutoFit/>
          </a:bodyPr>
          <a:lstStyle/>
          <a:p>
            <a:r>
              <a:rPr lang="tr-TR" sz="1100" dirty="0" err="1">
                <a:solidFill>
                  <a:srgbClr val="1A1A2E"/>
                </a:solidFill>
              </a:rPr>
              <a:t>Mean</a:t>
            </a:r>
            <a:r>
              <a:rPr lang="tr-TR" sz="1100" dirty="0">
                <a:solidFill>
                  <a:srgbClr val="1A1A2E"/>
                </a:solidFill>
              </a:rPr>
              <a:t> </a:t>
            </a:r>
            <a:r>
              <a:rPr lang="tr-TR" sz="1100" dirty="0" err="1">
                <a:solidFill>
                  <a:srgbClr val="1A1A2E"/>
                </a:solidFill>
              </a:rPr>
              <a:t>accuracy</a:t>
            </a:r>
            <a:r>
              <a:rPr lang="tr-TR" sz="1100" dirty="0">
                <a:solidFill>
                  <a:srgbClr val="1A1A2E"/>
                </a:solidFill>
              </a:rPr>
              <a:t> </a:t>
            </a:r>
            <a:r>
              <a:rPr lang="tr-TR" sz="1100" dirty="0" err="1">
                <a:solidFill>
                  <a:srgbClr val="1A1A2E"/>
                </a:solidFill>
              </a:rPr>
              <a:t>across</a:t>
            </a:r>
            <a:r>
              <a:rPr lang="tr-TR" sz="1100" dirty="0">
                <a:solidFill>
                  <a:srgbClr val="1A1A2E"/>
                </a:solidFill>
              </a:rPr>
              <a:t> 5 </a:t>
            </a:r>
            <a:r>
              <a:rPr lang="tr-TR" sz="1100" dirty="0" err="1">
                <a:solidFill>
                  <a:srgbClr val="1A1A2E"/>
                </a:solidFill>
              </a:rPr>
              <a:t>folds</a:t>
            </a:r>
            <a:endParaRPr sz="1100" b="0" i="0" dirty="0">
              <a:solidFill>
                <a:srgbClr val="1A1A2E"/>
              </a:solidFill>
              <a:latin typeface="Calibri"/>
            </a:endParaRPr>
          </a:p>
        </p:txBody>
      </p:sp>
      <p:sp>
        <p:nvSpPr>
          <p:cNvPr id="10" name="TextBox 9"/>
          <p:cNvSpPr txBox="1"/>
          <p:nvPr/>
        </p:nvSpPr>
        <p:spPr>
          <a:xfrm>
            <a:off x="9281160" y="3101882"/>
            <a:ext cx="4114800" cy="215444"/>
          </a:xfrm>
          <a:prstGeom prst="rect">
            <a:avLst/>
          </a:prstGeom>
          <a:noFill/>
        </p:spPr>
        <p:txBody>
          <a:bodyPr wrap="square" lIns="0" tIns="0" rIns="0" bIns="0" anchor="t">
            <a:spAutoFit/>
          </a:bodyPr>
          <a:lstStyle/>
          <a:p>
            <a:r>
              <a:rPr lang="tr-TR" sz="1400" b="1" dirty="0">
                <a:solidFill>
                  <a:srgbClr val="1E2761"/>
                </a:solidFill>
                <a:latin typeface="Consolas"/>
              </a:rPr>
              <a:t>99.92% ± 0.05%</a:t>
            </a:r>
            <a:endParaRPr sz="1400" b="1" i="0" dirty="0">
              <a:solidFill>
                <a:srgbClr val="1E2761"/>
              </a:solidFill>
              <a:latin typeface="Consolas"/>
            </a:endParaRPr>
          </a:p>
        </p:txBody>
      </p:sp>
      <p:sp>
        <p:nvSpPr>
          <p:cNvPr id="11" name="TextBox 10"/>
          <p:cNvSpPr txBox="1"/>
          <p:nvPr/>
        </p:nvSpPr>
        <p:spPr>
          <a:xfrm>
            <a:off x="9281160" y="3429000"/>
            <a:ext cx="4114800" cy="169277"/>
          </a:xfrm>
          <a:prstGeom prst="rect">
            <a:avLst/>
          </a:prstGeom>
          <a:noFill/>
        </p:spPr>
        <p:txBody>
          <a:bodyPr wrap="square" lIns="0" tIns="0" rIns="0" bIns="0" anchor="t">
            <a:spAutoFit/>
          </a:bodyPr>
          <a:lstStyle/>
          <a:p>
            <a:r>
              <a:rPr lang="tr-TR" sz="1100" dirty="0" err="1">
                <a:solidFill>
                  <a:srgbClr val="1A1A2E"/>
                </a:solidFill>
              </a:rPr>
              <a:t>Mean</a:t>
            </a:r>
            <a:r>
              <a:rPr lang="tr-TR" sz="1100" dirty="0">
                <a:solidFill>
                  <a:srgbClr val="1A1A2E"/>
                </a:solidFill>
              </a:rPr>
              <a:t> macro-F1 </a:t>
            </a:r>
            <a:r>
              <a:rPr lang="tr-TR" sz="1100" dirty="0" err="1">
                <a:solidFill>
                  <a:srgbClr val="1A1A2E"/>
                </a:solidFill>
              </a:rPr>
              <a:t>across</a:t>
            </a:r>
            <a:r>
              <a:rPr lang="tr-TR" sz="1100" dirty="0">
                <a:solidFill>
                  <a:srgbClr val="1A1A2E"/>
                </a:solidFill>
              </a:rPr>
              <a:t> 5 </a:t>
            </a:r>
            <a:r>
              <a:rPr lang="tr-TR" sz="1100" dirty="0" err="1">
                <a:solidFill>
                  <a:srgbClr val="1A1A2E"/>
                </a:solidFill>
              </a:rPr>
              <a:t>folds</a:t>
            </a:r>
            <a:endParaRPr sz="1100" b="0" i="0" dirty="0">
              <a:solidFill>
                <a:srgbClr val="1A1A2E"/>
              </a:solidFill>
              <a:latin typeface="Calibri"/>
            </a:endParaRPr>
          </a:p>
        </p:txBody>
      </p:sp>
      <p:sp>
        <p:nvSpPr>
          <p:cNvPr id="12" name="TextBox 11"/>
          <p:cNvSpPr txBox="1"/>
          <p:nvPr/>
        </p:nvSpPr>
        <p:spPr>
          <a:xfrm>
            <a:off x="9281160" y="3864573"/>
            <a:ext cx="4114800" cy="215444"/>
          </a:xfrm>
          <a:prstGeom prst="rect">
            <a:avLst/>
          </a:prstGeom>
          <a:noFill/>
        </p:spPr>
        <p:txBody>
          <a:bodyPr wrap="square" lIns="0" tIns="0" rIns="0" bIns="0" anchor="t">
            <a:spAutoFit/>
          </a:bodyPr>
          <a:lstStyle/>
          <a:p>
            <a:r>
              <a:rPr lang="tr-TR" sz="1400" b="1" dirty="0" err="1">
                <a:solidFill>
                  <a:srgbClr val="1E2761"/>
                </a:solidFill>
                <a:latin typeface="Consolas"/>
              </a:rPr>
              <a:t>All</a:t>
            </a:r>
            <a:r>
              <a:rPr lang="tr-TR" sz="1400" b="1" dirty="0">
                <a:solidFill>
                  <a:srgbClr val="1E2761"/>
                </a:solidFill>
                <a:latin typeface="Consolas"/>
              </a:rPr>
              <a:t> </a:t>
            </a:r>
            <a:r>
              <a:rPr lang="tr-TR" sz="1400" b="1" dirty="0" err="1">
                <a:solidFill>
                  <a:srgbClr val="1E2761"/>
                </a:solidFill>
                <a:latin typeface="Consolas"/>
              </a:rPr>
              <a:t>folds</a:t>
            </a:r>
            <a:r>
              <a:rPr lang="tr-TR" sz="1400" b="1" dirty="0">
                <a:solidFill>
                  <a:srgbClr val="1E2761"/>
                </a:solidFill>
                <a:latin typeface="Consolas"/>
              </a:rPr>
              <a:t> ≈ 1.00</a:t>
            </a:r>
            <a:endParaRPr sz="1400" b="1" i="0" dirty="0">
              <a:solidFill>
                <a:srgbClr val="1E2761"/>
              </a:solidFill>
              <a:latin typeface="Consolas"/>
            </a:endParaRPr>
          </a:p>
        </p:txBody>
      </p:sp>
      <p:sp>
        <p:nvSpPr>
          <p:cNvPr id="13" name="TextBox 12"/>
          <p:cNvSpPr txBox="1"/>
          <p:nvPr/>
        </p:nvSpPr>
        <p:spPr>
          <a:xfrm>
            <a:off x="9281160" y="4221065"/>
            <a:ext cx="4114800" cy="169277"/>
          </a:xfrm>
          <a:prstGeom prst="rect">
            <a:avLst/>
          </a:prstGeom>
          <a:noFill/>
        </p:spPr>
        <p:txBody>
          <a:bodyPr wrap="square" lIns="0" tIns="0" rIns="0" bIns="0" anchor="t">
            <a:spAutoFit/>
          </a:bodyPr>
          <a:lstStyle/>
          <a:p>
            <a:r>
              <a:rPr lang="tr-TR" sz="1100" dirty="0" err="1">
                <a:solidFill>
                  <a:srgbClr val="1A1A2E"/>
                </a:solidFill>
              </a:rPr>
              <a:t>Performance</a:t>
            </a:r>
            <a:r>
              <a:rPr lang="tr-TR" sz="1100" dirty="0">
                <a:solidFill>
                  <a:srgbClr val="1A1A2E"/>
                </a:solidFill>
              </a:rPr>
              <a:t> </a:t>
            </a:r>
            <a:r>
              <a:rPr lang="tr-TR" sz="1100" dirty="0" err="1">
                <a:solidFill>
                  <a:srgbClr val="1A1A2E"/>
                </a:solidFill>
              </a:rPr>
              <a:t>remains</a:t>
            </a:r>
            <a:r>
              <a:rPr lang="tr-TR" sz="1100" dirty="0">
                <a:solidFill>
                  <a:srgbClr val="1A1A2E"/>
                </a:solidFill>
              </a:rPr>
              <a:t> </a:t>
            </a:r>
            <a:r>
              <a:rPr lang="tr-TR" sz="1100" dirty="0" err="1">
                <a:solidFill>
                  <a:srgbClr val="1A1A2E"/>
                </a:solidFill>
              </a:rPr>
              <a:t>stable</a:t>
            </a:r>
            <a:r>
              <a:rPr lang="tr-TR" sz="1100" dirty="0">
                <a:solidFill>
                  <a:srgbClr val="1A1A2E"/>
                </a:solidFill>
              </a:rPr>
              <a:t> </a:t>
            </a:r>
            <a:r>
              <a:rPr lang="tr-TR" sz="1100" dirty="0" err="1">
                <a:solidFill>
                  <a:srgbClr val="1A1A2E"/>
                </a:solidFill>
              </a:rPr>
              <a:t>across</a:t>
            </a:r>
            <a:r>
              <a:rPr lang="tr-TR" sz="1100" dirty="0">
                <a:solidFill>
                  <a:srgbClr val="1A1A2E"/>
                </a:solidFill>
              </a:rPr>
              <a:t> </a:t>
            </a:r>
            <a:r>
              <a:rPr lang="tr-TR" sz="1100" dirty="0" err="1">
                <a:solidFill>
                  <a:srgbClr val="1A1A2E"/>
                </a:solidFill>
              </a:rPr>
              <a:t>partitions</a:t>
            </a:r>
            <a:endParaRPr sz="1100" b="0" i="0" dirty="0">
              <a:solidFill>
                <a:srgbClr val="1A1A2E"/>
              </a:solidFill>
              <a:latin typeface="Calibri"/>
            </a:endParaRPr>
          </a:p>
        </p:txBody>
      </p:sp>
      <p:sp>
        <p:nvSpPr>
          <p:cNvPr id="14" name="TextBox 13"/>
          <p:cNvSpPr txBox="1"/>
          <p:nvPr/>
        </p:nvSpPr>
        <p:spPr>
          <a:xfrm>
            <a:off x="9281160" y="4727050"/>
            <a:ext cx="4114800" cy="215444"/>
          </a:xfrm>
          <a:prstGeom prst="rect">
            <a:avLst/>
          </a:prstGeom>
          <a:noFill/>
        </p:spPr>
        <p:txBody>
          <a:bodyPr wrap="square" lIns="0" tIns="0" rIns="0" bIns="0" anchor="t">
            <a:spAutoFit/>
          </a:bodyPr>
          <a:lstStyle/>
          <a:p>
            <a:r>
              <a:rPr lang="tr-TR" sz="1400" b="1" dirty="0">
                <a:solidFill>
                  <a:srgbClr val="1E2761"/>
                </a:solidFill>
                <a:latin typeface="Consolas"/>
              </a:rPr>
              <a:t>Main </a:t>
            </a:r>
            <a:r>
              <a:rPr lang="tr-TR" sz="1400" b="1" dirty="0" err="1">
                <a:solidFill>
                  <a:srgbClr val="1E2761"/>
                </a:solidFill>
                <a:latin typeface="Consolas"/>
              </a:rPr>
              <a:t>takeaway</a:t>
            </a:r>
            <a:endParaRPr sz="1400" b="1" i="0" dirty="0">
              <a:solidFill>
                <a:srgbClr val="1E2761"/>
              </a:solidFill>
              <a:latin typeface="Consolas"/>
            </a:endParaRPr>
          </a:p>
        </p:txBody>
      </p:sp>
      <p:sp>
        <p:nvSpPr>
          <p:cNvPr id="15" name="TextBox 14"/>
          <p:cNvSpPr txBox="1"/>
          <p:nvPr/>
        </p:nvSpPr>
        <p:spPr>
          <a:xfrm>
            <a:off x="9281160" y="5095102"/>
            <a:ext cx="2631440" cy="338554"/>
          </a:xfrm>
          <a:prstGeom prst="rect">
            <a:avLst/>
          </a:prstGeom>
          <a:noFill/>
        </p:spPr>
        <p:txBody>
          <a:bodyPr wrap="square" lIns="0" tIns="0" rIns="0" bIns="0" anchor="t">
            <a:spAutoFit/>
          </a:bodyPr>
          <a:lstStyle/>
          <a:p>
            <a:r>
              <a:rPr lang="tr-TR" sz="1100" dirty="0" err="1">
                <a:solidFill>
                  <a:srgbClr val="1A1A2E"/>
                </a:solidFill>
              </a:rPr>
              <a:t>The</a:t>
            </a:r>
            <a:r>
              <a:rPr lang="tr-TR" sz="1100" dirty="0">
                <a:solidFill>
                  <a:srgbClr val="1A1A2E"/>
                </a:solidFill>
              </a:rPr>
              <a:t> </a:t>
            </a:r>
            <a:r>
              <a:rPr lang="tr-TR" sz="1100" dirty="0" err="1">
                <a:solidFill>
                  <a:srgbClr val="1A1A2E"/>
                </a:solidFill>
              </a:rPr>
              <a:t>high</a:t>
            </a:r>
            <a:r>
              <a:rPr lang="tr-TR" sz="1100" dirty="0">
                <a:solidFill>
                  <a:srgbClr val="1A1A2E"/>
                </a:solidFill>
              </a:rPr>
              <a:t> in-</a:t>
            </a:r>
            <a:r>
              <a:rPr lang="tr-TR" sz="1100" dirty="0" err="1">
                <a:solidFill>
                  <a:srgbClr val="1A1A2E"/>
                </a:solidFill>
              </a:rPr>
              <a:t>distribution</a:t>
            </a:r>
            <a:r>
              <a:rPr lang="tr-TR" sz="1100" dirty="0">
                <a:solidFill>
                  <a:srgbClr val="1A1A2E"/>
                </a:solidFill>
              </a:rPr>
              <a:t> </a:t>
            </a:r>
            <a:r>
              <a:rPr lang="tr-TR" sz="1100" dirty="0" err="1">
                <a:solidFill>
                  <a:srgbClr val="1A1A2E"/>
                </a:solidFill>
              </a:rPr>
              <a:t>result</a:t>
            </a:r>
            <a:r>
              <a:rPr lang="tr-TR" sz="1100" dirty="0">
                <a:solidFill>
                  <a:srgbClr val="1A1A2E"/>
                </a:solidFill>
              </a:rPr>
              <a:t> is not </a:t>
            </a:r>
            <a:r>
              <a:rPr lang="tr-TR" sz="1100" dirty="0" err="1">
                <a:solidFill>
                  <a:srgbClr val="1A1A2E"/>
                </a:solidFill>
              </a:rPr>
              <a:t>only</a:t>
            </a:r>
            <a:r>
              <a:rPr lang="tr-TR" sz="1100" dirty="0">
                <a:solidFill>
                  <a:srgbClr val="1A1A2E"/>
                </a:solidFill>
              </a:rPr>
              <a:t> a </a:t>
            </a:r>
            <a:r>
              <a:rPr lang="tr-TR" sz="1100" dirty="0" err="1">
                <a:solidFill>
                  <a:srgbClr val="1A1A2E"/>
                </a:solidFill>
              </a:rPr>
              <a:t>single-split</a:t>
            </a:r>
            <a:r>
              <a:rPr lang="tr-TR" sz="1100" dirty="0">
                <a:solidFill>
                  <a:srgbClr val="1A1A2E"/>
                </a:solidFill>
              </a:rPr>
              <a:t> </a:t>
            </a:r>
            <a:r>
              <a:rPr lang="tr-TR" sz="1100" dirty="0" err="1">
                <a:solidFill>
                  <a:srgbClr val="1A1A2E"/>
                </a:solidFill>
              </a:rPr>
              <a:t>artifact</a:t>
            </a:r>
            <a:endParaRPr sz="1100" b="0" i="0" dirty="0">
              <a:solidFill>
                <a:srgbClr val="1A1A2E"/>
              </a:solidFill>
              <a:latin typeface="Calibri"/>
            </a:endParaRPr>
          </a:p>
        </p:txBody>
      </p:sp>
      <p:sp>
        <p:nvSpPr>
          <p:cNvPr id="18" name="TextBox 17"/>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Thesis Checkpoint Presentation</a:t>
            </a:r>
          </a:p>
        </p:txBody>
      </p:sp>
      <p:sp>
        <p:nvSpPr>
          <p:cNvPr id="19" name="TextBox 18"/>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12 / 23</a:t>
            </a:r>
          </a:p>
        </p:txBody>
      </p:sp>
      <p:pic>
        <p:nvPicPr>
          <p:cNvPr id="21" name="Resim 20">
            <a:extLst>
              <a:ext uri="{FF2B5EF4-FFF2-40B4-BE49-F238E27FC236}">
                <a16:creationId xmlns:a16="http://schemas.microsoft.com/office/drawing/2014/main" id="{6B7E5241-69C1-C48B-B0CD-A146C3928EC2}"/>
              </a:ext>
            </a:extLst>
          </p:cNvPr>
          <p:cNvPicPr>
            <a:picLocks noChangeAspect="1"/>
          </p:cNvPicPr>
          <p:nvPr/>
        </p:nvPicPr>
        <p:blipFill>
          <a:blip r:embed="rId2"/>
          <a:stretch>
            <a:fillRect/>
          </a:stretch>
        </p:blipFill>
        <p:spPr>
          <a:xfrm>
            <a:off x="365760" y="1977610"/>
            <a:ext cx="8619132" cy="376970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Rectangle 1"/>
          <p:cNvSpPr/>
          <p:nvPr/>
        </p:nvSpPr>
        <p:spPr>
          <a:xfrm>
            <a:off x="0" y="0"/>
            <a:ext cx="228600" cy="68580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5486400" cy="274320"/>
          </a:xfrm>
          <a:prstGeom prst="rect">
            <a:avLst/>
          </a:prstGeom>
          <a:noFill/>
        </p:spPr>
        <p:txBody>
          <a:bodyPr wrap="square" lIns="0" tIns="0" rIns="0" bIns="0" anchor="t">
            <a:spAutoFit/>
          </a:bodyPr>
          <a:lstStyle/>
          <a:p>
            <a:pPr algn="l"/>
            <a:r>
              <a:rPr sz="1000" b="1" i="0" spc="400">
                <a:solidFill>
                  <a:srgbClr val="F96167"/>
                </a:solidFill>
                <a:latin typeface="Calibri"/>
              </a:rPr>
              <a:t>3 · RESULTS · THE KEY EXPERIMENT</a:t>
            </a:r>
          </a:p>
        </p:txBody>
      </p:sp>
      <p:sp>
        <p:nvSpPr>
          <p:cNvPr id="4" name="TextBox 3"/>
          <p:cNvSpPr txBox="1"/>
          <p:nvPr/>
        </p:nvSpPr>
        <p:spPr>
          <a:xfrm>
            <a:off x="457200" y="548640"/>
            <a:ext cx="11430000" cy="640080"/>
          </a:xfrm>
          <a:prstGeom prst="rect">
            <a:avLst/>
          </a:prstGeom>
          <a:noFill/>
        </p:spPr>
        <p:txBody>
          <a:bodyPr wrap="square" lIns="0" tIns="0" rIns="0" bIns="0" anchor="t">
            <a:spAutoFit/>
          </a:bodyPr>
          <a:lstStyle/>
          <a:p>
            <a:pPr algn="l"/>
            <a:r>
              <a:rPr sz="2800" b="1" i="0">
                <a:solidFill>
                  <a:srgbClr val="FFFFFF"/>
                </a:solidFill>
                <a:latin typeface="Calibri"/>
              </a:rPr>
              <a:t>★ Mimicry Holdout — The Heart of the Thesis</a:t>
            </a:r>
          </a:p>
        </p:txBody>
      </p:sp>
      <p:sp>
        <p:nvSpPr>
          <p:cNvPr id="5" name="TextBox 4"/>
          <p:cNvSpPr txBox="1"/>
          <p:nvPr/>
        </p:nvSpPr>
        <p:spPr>
          <a:xfrm>
            <a:off x="457200" y="1188720"/>
            <a:ext cx="11430000" cy="365760"/>
          </a:xfrm>
          <a:prstGeom prst="rect">
            <a:avLst/>
          </a:prstGeom>
          <a:noFill/>
        </p:spPr>
        <p:txBody>
          <a:bodyPr wrap="square" lIns="0" tIns="0" rIns="0" bIns="0" anchor="t">
            <a:spAutoFit/>
          </a:bodyPr>
          <a:lstStyle/>
          <a:p>
            <a:pPr algn="l"/>
            <a:r>
              <a:rPr sz="1400" b="0" i="1">
                <a:solidFill>
                  <a:srgbClr val="CADCFC"/>
                </a:solidFill>
                <a:latin typeface="Calibri"/>
              </a:rPr>
              <a:t>The model never saw this attack during training. It only met it during the exam.</a:t>
            </a:r>
          </a:p>
        </p:txBody>
      </p:sp>
      <p:sp>
        <p:nvSpPr>
          <p:cNvPr id="6" name="Rectangle 5"/>
          <p:cNvSpPr/>
          <p:nvPr/>
        </p:nvSpPr>
        <p:spPr>
          <a:xfrm>
            <a:off x="457200" y="1828800"/>
            <a:ext cx="3657600" cy="2560320"/>
          </a:xfrm>
          <a:prstGeom prst="rect">
            <a:avLst/>
          </a:prstGeom>
          <a:solidFill>
            <a:srgbClr val="131A47"/>
          </a:solidFill>
          <a:ln w="38100">
            <a:solidFill>
              <a:srgbClr val="02C3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2194560"/>
            <a:ext cx="3657600" cy="1280160"/>
          </a:xfrm>
          <a:prstGeom prst="rect">
            <a:avLst/>
          </a:prstGeom>
          <a:noFill/>
        </p:spPr>
        <p:txBody>
          <a:bodyPr wrap="square" lIns="0" tIns="0" rIns="0" bIns="0" anchor="t">
            <a:spAutoFit/>
          </a:bodyPr>
          <a:lstStyle/>
          <a:p>
            <a:pPr algn="ctr"/>
            <a:r>
              <a:rPr sz="6400" b="1" i="0">
                <a:solidFill>
                  <a:srgbClr val="02C39A"/>
                </a:solidFill>
                <a:latin typeface="Calibri"/>
              </a:rPr>
              <a:t>96.38%</a:t>
            </a:r>
          </a:p>
        </p:txBody>
      </p:sp>
      <p:sp>
        <p:nvSpPr>
          <p:cNvPr id="8" name="TextBox 7"/>
          <p:cNvSpPr txBox="1"/>
          <p:nvPr/>
        </p:nvSpPr>
        <p:spPr>
          <a:xfrm>
            <a:off x="731520" y="3474720"/>
            <a:ext cx="3108960" cy="822960"/>
          </a:xfrm>
          <a:prstGeom prst="rect">
            <a:avLst/>
          </a:prstGeom>
          <a:noFill/>
        </p:spPr>
        <p:txBody>
          <a:bodyPr wrap="square" lIns="0" tIns="0" rIns="0" bIns="0" anchor="t">
            <a:spAutoFit/>
          </a:bodyPr>
          <a:lstStyle/>
          <a:p>
            <a:pPr algn="ctr"/>
            <a:r>
              <a:rPr sz="1100" b="1" i="0" spc="200">
                <a:solidFill>
                  <a:srgbClr val="CADCFC"/>
                </a:solidFill>
                <a:latin typeface="Calibri"/>
              </a:rPr>
              <a:t>classified CORRECTLY
as http_flood</a:t>
            </a:r>
          </a:p>
        </p:txBody>
      </p:sp>
      <p:sp>
        <p:nvSpPr>
          <p:cNvPr id="9" name="Rectangle 8"/>
          <p:cNvSpPr/>
          <p:nvPr/>
        </p:nvSpPr>
        <p:spPr>
          <a:xfrm>
            <a:off x="4251960" y="1828800"/>
            <a:ext cx="3657600" cy="2560320"/>
          </a:xfrm>
          <a:prstGeom prst="rect">
            <a:avLst/>
          </a:prstGeom>
          <a:solidFill>
            <a:srgbClr val="131A47"/>
          </a:solidFill>
          <a:ln w="12700">
            <a:solidFill>
              <a:srgbClr val="F9616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51960" y="2194560"/>
            <a:ext cx="3657600" cy="1280160"/>
          </a:xfrm>
          <a:prstGeom prst="rect">
            <a:avLst/>
          </a:prstGeom>
          <a:noFill/>
        </p:spPr>
        <p:txBody>
          <a:bodyPr wrap="square" lIns="0" tIns="0" rIns="0" bIns="0" anchor="t">
            <a:spAutoFit/>
          </a:bodyPr>
          <a:lstStyle/>
          <a:p>
            <a:pPr algn="ctr"/>
            <a:r>
              <a:rPr sz="6400" b="1" i="0">
                <a:solidFill>
                  <a:srgbClr val="F96167"/>
                </a:solidFill>
                <a:latin typeface="Calibri"/>
              </a:rPr>
              <a:t>3.08%</a:t>
            </a:r>
          </a:p>
        </p:txBody>
      </p:sp>
      <p:sp>
        <p:nvSpPr>
          <p:cNvPr id="11" name="TextBox 10"/>
          <p:cNvSpPr txBox="1"/>
          <p:nvPr/>
        </p:nvSpPr>
        <p:spPr>
          <a:xfrm>
            <a:off x="4526280" y="3474720"/>
            <a:ext cx="3108960" cy="822960"/>
          </a:xfrm>
          <a:prstGeom prst="rect">
            <a:avLst/>
          </a:prstGeom>
          <a:noFill/>
        </p:spPr>
        <p:txBody>
          <a:bodyPr wrap="square" lIns="0" tIns="0" rIns="0" bIns="0" anchor="t">
            <a:spAutoFit/>
          </a:bodyPr>
          <a:lstStyle/>
          <a:p>
            <a:pPr algn="ctr"/>
            <a:r>
              <a:rPr sz="1100" b="1" i="0" spc="200">
                <a:solidFill>
                  <a:srgbClr val="CADCFC"/>
                </a:solidFill>
                <a:latin typeface="Calibri"/>
              </a:rPr>
              <a:t>missed as normal_user
(evasion rate)</a:t>
            </a:r>
          </a:p>
        </p:txBody>
      </p:sp>
      <p:sp>
        <p:nvSpPr>
          <p:cNvPr id="12" name="Rectangle 11"/>
          <p:cNvSpPr/>
          <p:nvPr/>
        </p:nvSpPr>
        <p:spPr>
          <a:xfrm>
            <a:off x="8046720" y="1828800"/>
            <a:ext cx="3657600" cy="2560320"/>
          </a:xfrm>
          <a:prstGeom prst="rect">
            <a:avLst/>
          </a:prstGeom>
          <a:solidFill>
            <a:srgbClr val="131A47"/>
          </a:solidFill>
          <a:ln w="12700">
            <a:solidFill>
              <a:srgbClr val="8FAE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46720" y="2194560"/>
            <a:ext cx="3657600" cy="1280160"/>
          </a:xfrm>
          <a:prstGeom prst="rect">
            <a:avLst/>
          </a:prstGeom>
          <a:noFill/>
        </p:spPr>
        <p:txBody>
          <a:bodyPr wrap="square" lIns="0" tIns="0" rIns="0" bIns="0" anchor="t">
            <a:spAutoFit/>
          </a:bodyPr>
          <a:lstStyle/>
          <a:p>
            <a:pPr algn="ctr"/>
            <a:r>
              <a:rPr sz="6400" b="1" i="0">
                <a:solidFill>
                  <a:srgbClr val="8FAEEB"/>
                </a:solidFill>
                <a:latin typeface="Calibri"/>
              </a:rPr>
              <a:t>96.92%</a:t>
            </a:r>
          </a:p>
        </p:txBody>
      </p:sp>
      <p:sp>
        <p:nvSpPr>
          <p:cNvPr id="14" name="TextBox 13"/>
          <p:cNvSpPr txBox="1"/>
          <p:nvPr/>
        </p:nvSpPr>
        <p:spPr>
          <a:xfrm>
            <a:off x="8321040" y="3474720"/>
            <a:ext cx="3108960" cy="822960"/>
          </a:xfrm>
          <a:prstGeom prst="rect">
            <a:avLst/>
          </a:prstGeom>
          <a:noFill/>
        </p:spPr>
        <p:txBody>
          <a:bodyPr wrap="square" lIns="0" tIns="0" rIns="0" bIns="0" anchor="t">
            <a:spAutoFit/>
          </a:bodyPr>
          <a:lstStyle/>
          <a:p>
            <a:pPr algn="ctr"/>
            <a:r>
              <a:rPr sz="1100" b="1" i="0" spc="200">
                <a:solidFill>
                  <a:srgbClr val="CADCFC"/>
                </a:solidFill>
                <a:latin typeface="Calibri"/>
              </a:rPr>
              <a:t>BINARY ATTACK
RECALL (total)</a:t>
            </a:r>
          </a:p>
        </p:txBody>
      </p:sp>
      <p:sp>
        <p:nvSpPr>
          <p:cNvPr id="15" name="TextBox 14"/>
          <p:cNvSpPr txBox="1"/>
          <p:nvPr/>
        </p:nvSpPr>
        <p:spPr>
          <a:xfrm>
            <a:off x="457200" y="4617720"/>
            <a:ext cx="11430000" cy="320040"/>
          </a:xfrm>
          <a:prstGeom prst="rect">
            <a:avLst/>
          </a:prstGeom>
          <a:noFill/>
        </p:spPr>
        <p:txBody>
          <a:bodyPr wrap="square" lIns="0" tIns="0" rIns="0" bIns="0" anchor="t">
            <a:spAutoFit/>
          </a:bodyPr>
          <a:lstStyle/>
          <a:p>
            <a:pPr algn="l"/>
            <a:r>
              <a:rPr sz="1300" b="1" i="0">
                <a:solidFill>
                  <a:srgbClr val="CADCFC"/>
                </a:solidFill>
                <a:latin typeface="Calibri"/>
              </a:rPr>
              <a:t>Proposed Random Forest vs ISO+RF (alternative) — mimicry predictions</a:t>
            </a:r>
          </a:p>
        </p:txBody>
      </p:sp>
      <p:graphicFrame>
        <p:nvGraphicFramePr>
          <p:cNvPr id="16" name="Chart 15"/>
          <p:cNvGraphicFramePr>
            <a:graphicFrameLocks noGrp="1"/>
          </p:cNvGraphicFramePr>
          <p:nvPr>
            <p:extLst>
              <p:ext uri="{D42A27DB-BD31-4B8C-83A1-F6EECF244321}">
                <p14:modId xmlns:p14="http://schemas.microsoft.com/office/powerpoint/2010/main" val="1042119456"/>
              </p:ext>
            </p:extLst>
          </p:nvPr>
        </p:nvGraphicFramePr>
        <p:xfrm>
          <a:off x="457200" y="4937760"/>
          <a:ext cx="11430000" cy="1371600"/>
        </p:xfrm>
        <a:graphic>
          <a:graphicData uri="http://schemas.openxmlformats.org/drawingml/2006/chart">
            <c:chart xmlns:c="http://schemas.openxmlformats.org/drawingml/2006/chart" xmlns:r="http://schemas.openxmlformats.org/officeDocument/2006/relationships" r:id="rId2"/>
          </a:graphicData>
        </a:graphic>
      </p:graphicFrame>
      <p:sp>
        <p:nvSpPr>
          <p:cNvPr id="17" name="TextBox 16"/>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13 / 23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3 · RESULTS · INTERPRETATION</a:t>
            </a:r>
          </a:p>
        </p:txBody>
      </p:sp>
      <p:sp>
        <p:nvSpPr>
          <p:cNvPr id="3" name="TextBox 2"/>
          <p:cNvSpPr txBox="1"/>
          <p:nvPr/>
        </p:nvSpPr>
        <p:spPr>
          <a:xfrm>
            <a:off x="365760" y="548640"/>
            <a:ext cx="11430000" cy="640080"/>
          </a:xfrm>
          <a:prstGeom prst="rect">
            <a:avLst/>
          </a:prstGeom>
          <a:noFill/>
        </p:spPr>
        <p:txBody>
          <a:bodyPr wrap="square" lIns="0" tIns="0" rIns="0" bIns="0" anchor="t">
            <a:spAutoFit/>
          </a:bodyPr>
          <a:lstStyle/>
          <a:p>
            <a:pPr algn="l"/>
            <a:r>
              <a:rPr sz="2800" b="1" i="0">
                <a:solidFill>
                  <a:srgbClr val="1E2761"/>
                </a:solidFill>
                <a:latin typeface="Calibri"/>
              </a:rPr>
              <a:t>How to Read the Mimicry Result</a:t>
            </a:r>
          </a:p>
        </p:txBody>
      </p:sp>
      <p:sp>
        <p:nvSpPr>
          <p:cNvPr id="4" name="TextBox 3"/>
          <p:cNvSpPr txBox="1"/>
          <p:nvPr/>
        </p:nvSpPr>
        <p:spPr>
          <a:xfrm>
            <a:off x="365760" y="1188720"/>
            <a:ext cx="11430000" cy="365760"/>
          </a:xfrm>
          <a:prstGeom prst="rect">
            <a:avLst/>
          </a:prstGeom>
          <a:noFill/>
        </p:spPr>
        <p:txBody>
          <a:bodyPr wrap="square" lIns="0" tIns="0" rIns="0" bIns="0" anchor="t">
            <a:spAutoFit/>
          </a:bodyPr>
          <a:lstStyle/>
          <a:p>
            <a:pPr algn="l"/>
            <a:r>
              <a:rPr sz="1400" b="0" i="1">
                <a:solidFill>
                  <a:srgbClr val="64748B"/>
                </a:solidFill>
                <a:latin typeface="Calibri"/>
              </a:rPr>
              <a:t>Three layers: what the attacker did, what they couldn't fake, and why it matters</a:t>
            </a:r>
          </a:p>
        </p:txBody>
      </p:sp>
      <p:pic>
        <p:nvPicPr>
          <p:cNvPr id="5" name="Picture 4" descr="fig10_mimicry_breakdown.png"/>
          <p:cNvPicPr>
            <a:picLocks noChangeAspect="1"/>
          </p:cNvPicPr>
          <p:nvPr/>
        </p:nvPicPr>
        <p:blipFill>
          <a:blip r:embed="rId2"/>
          <a:stretch>
            <a:fillRect/>
          </a:stretch>
        </p:blipFill>
        <p:spPr>
          <a:xfrm>
            <a:off x="457200" y="1691640"/>
            <a:ext cx="5943600" cy="4114800"/>
          </a:xfrm>
          <a:prstGeom prst="rect">
            <a:avLst/>
          </a:prstGeom>
        </p:spPr>
      </p:pic>
      <p:sp>
        <p:nvSpPr>
          <p:cNvPr id="6" name="TextBox 5"/>
          <p:cNvSpPr txBox="1"/>
          <p:nvPr/>
        </p:nvSpPr>
        <p:spPr>
          <a:xfrm>
            <a:off x="6675120" y="1691640"/>
            <a:ext cx="5212080" cy="320040"/>
          </a:xfrm>
          <a:prstGeom prst="rect">
            <a:avLst/>
          </a:prstGeom>
          <a:noFill/>
        </p:spPr>
        <p:txBody>
          <a:bodyPr wrap="square" lIns="0" tIns="0" rIns="0" bIns="0" anchor="t">
            <a:spAutoFit/>
          </a:bodyPr>
          <a:lstStyle/>
          <a:p>
            <a:pPr algn="l"/>
            <a:r>
              <a:rPr sz="1000" b="1" i="0" spc="400">
                <a:solidFill>
                  <a:srgbClr val="F96167"/>
                </a:solidFill>
                <a:latin typeface="Calibri"/>
              </a:rPr>
              <a:t>LAYERS OF INTERPRETATION</a:t>
            </a:r>
          </a:p>
        </p:txBody>
      </p:sp>
      <p:sp>
        <p:nvSpPr>
          <p:cNvPr id="7" name="TextBox 6"/>
          <p:cNvSpPr txBox="1"/>
          <p:nvPr/>
        </p:nvSpPr>
        <p:spPr>
          <a:xfrm>
            <a:off x="6675120" y="2103120"/>
            <a:ext cx="457200" cy="457200"/>
          </a:xfrm>
          <a:prstGeom prst="rect">
            <a:avLst/>
          </a:prstGeom>
          <a:noFill/>
        </p:spPr>
        <p:txBody>
          <a:bodyPr wrap="square" lIns="0" tIns="0" rIns="0" bIns="0" anchor="t">
            <a:spAutoFit/>
          </a:bodyPr>
          <a:lstStyle/>
          <a:p>
            <a:pPr algn="l"/>
            <a:r>
              <a:rPr sz="3200" b="1" i="0">
                <a:solidFill>
                  <a:srgbClr val="1E2761"/>
                </a:solidFill>
                <a:latin typeface="Georgia"/>
              </a:rPr>
              <a:t>1</a:t>
            </a:r>
          </a:p>
        </p:txBody>
      </p:sp>
      <p:sp>
        <p:nvSpPr>
          <p:cNvPr id="8" name="TextBox 7"/>
          <p:cNvSpPr txBox="1"/>
          <p:nvPr/>
        </p:nvSpPr>
        <p:spPr>
          <a:xfrm>
            <a:off x="7178040" y="2148839"/>
            <a:ext cx="4663440" cy="320040"/>
          </a:xfrm>
          <a:prstGeom prst="rect">
            <a:avLst/>
          </a:prstGeom>
          <a:noFill/>
        </p:spPr>
        <p:txBody>
          <a:bodyPr wrap="square" lIns="0" tIns="0" rIns="0" bIns="0" anchor="t">
            <a:spAutoFit/>
          </a:bodyPr>
          <a:lstStyle/>
          <a:p>
            <a:pPr algn="l"/>
            <a:r>
              <a:rPr sz="1300" b="1" i="0">
                <a:solidFill>
                  <a:srgbClr val="1E2761"/>
                </a:solidFill>
                <a:latin typeface="Calibri"/>
              </a:rPr>
              <a:t>What the attacker did well</a:t>
            </a:r>
          </a:p>
        </p:txBody>
      </p:sp>
      <p:sp>
        <p:nvSpPr>
          <p:cNvPr id="9" name="TextBox 8"/>
          <p:cNvSpPr txBox="1"/>
          <p:nvPr/>
        </p:nvSpPr>
        <p:spPr>
          <a:xfrm>
            <a:off x="7178040" y="2487168"/>
            <a:ext cx="4663440" cy="914400"/>
          </a:xfrm>
          <a:prstGeom prst="rect">
            <a:avLst/>
          </a:prstGeom>
          <a:noFill/>
        </p:spPr>
        <p:txBody>
          <a:bodyPr wrap="square" lIns="0" tIns="0" rIns="0" bIns="0" anchor="t">
            <a:spAutoFit/>
          </a:bodyPr>
          <a:lstStyle/>
          <a:p>
            <a:pPr algn="l"/>
            <a:r>
              <a:rPr sz="1100" b="0" i="0">
                <a:solidFill>
                  <a:srgbClr val="1A1A2E"/>
                </a:solidFill>
                <a:latin typeface="Calibri"/>
              </a:rPr>
              <a:t>Surface mimicry worked: UA pool, IP overlap, token reuse, sticky sessions — all successfully imitated. Even per-window request rate overlaps normal_user.</a:t>
            </a:r>
          </a:p>
        </p:txBody>
      </p:sp>
      <p:sp>
        <p:nvSpPr>
          <p:cNvPr id="10" name="TextBox 9"/>
          <p:cNvSpPr txBox="1"/>
          <p:nvPr/>
        </p:nvSpPr>
        <p:spPr>
          <a:xfrm>
            <a:off x="6675120" y="3520439"/>
            <a:ext cx="457200" cy="457200"/>
          </a:xfrm>
          <a:prstGeom prst="rect">
            <a:avLst/>
          </a:prstGeom>
          <a:noFill/>
        </p:spPr>
        <p:txBody>
          <a:bodyPr wrap="square" lIns="0" tIns="0" rIns="0" bIns="0" anchor="t">
            <a:spAutoFit/>
          </a:bodyPr>
          <a:lstStyle/>
          <a:p>
            <a:pPr algn="l"/>
            <a:r>
              <a:rPr sz="3200" b="1" i="0">
                <a:solidFill>
                  <a:srgbClr val="1E2761"/>
                </a:solidFill>
                <a:latin typeface="Georgia"/>
              </a:rPr>
              <a:t>2</a:t>
            </a:r>
          </a:p>
        </p:txBody>
      </p:sp>
      <p:sp>
        <p:nvSpPr>
          <p:cNvPr id="11" name="TextBox 10"/>
          <p:cNvSpPr txBox="1"/>
          <p:nvPr/>
        </p:nvSpPr>
        <p:spPr>
          <a:xfrm>
            <a:off x="7178040" y="3566159"/>
            <a:ext cx="4663440" cy="320040"/>
          </a:xfrm>
          <a:prstGeom prst="rect">
            <a:avLst/>
          </a:prstGeom>
          <a:noFill/>
        </p:spPr>
        <p:txBody>
          <a:bodyPr wrap="square" lIns="0" tIns="0" rIns="0" bIns="0" anchor="t">
            <a:spAutoFit/>
          </a:bodyPr>
          <a:lstStyle/>
          <a:p>
            <a:pPr algn="l"/>
            <a:r>
              <a:rPr sz="1300" b="1" i="0">
                <a:solidFill>
                  <a:srgbClr val="1E2761"/>
                </a:solidFill>
                <a:latin typeface="Calibri"/>
              </a:rPr>
              <a:t>What the attacker could not fake</a:t>
            </a:r>
          </a:p>
        </p:txBody>
      </p:sp>
      <p:sp>
        <p:nvSpPr>
          <p:cNvPr id="12" name="TextBox 11"/>
          <p:cNvSpPr txBox="1"/>
          <p:nvPr/>
        </p:nvSpPr>
        <p:spPr>
          <a:xfrm>
            <a:off x="7178040" y="3904487"/>
            <a:ext cx="4663440" cy="914400"/>
          </a:xfrm>
          <a:prstGeom prst="rect">
            <a:avLst/>
          </a:prstGeom>
          <a:noFill/>
        </p:spPr>
        <p:txBody>
          <a:bodyPr wrap="square" lIns="0" tIns="0" rIns="0" bIns="0" anchor="t">
            <a:spAutoFit/>
          </a:bodyPr>
          <a:lstStyle/>
          <a:p>
            <a:pPr algn="l"/>
            <a:r>
              <a:rPr sz="1100" b="0" i="0">
                <a:solidFill>
                  <a:srgbClr val="1A1A2E"/>
                </a:solidFill>
                <a:latin typeface="Calibri"/>
              </a:rPr>
              <a:t>Endpoint distribution (search-burst only), endpoint cost asymmetry (heavy login + search), login pattern, status code mix — these behavioral signatures bleed through.</a:t>
            </a:r>
          </a:p>
        </p:txBody>
      </p:sp>
      <p:sp>
        <p:nvSpPr>
          <p:cNvPr id="13" name="TextBox 12"/>
          <p:cNvSpPr txBox="1"/>
          <p:nvPr/>
        </p:nvSpPr>
        <p:spPr>
          <a:xfrm>
            <a:off x="6675120" y="4937760"/>
            <a:ext cx="457200" cy="457200"/>
          </a:xfrm>
          <a:prstGeom prst="rect">
            <a:avLst/>
          </a:prstGeom>
          <a:noFill/>
        </p:spPr>
        <p:txBody>
          <a:bodyPr wrap="square" lIns="0" tIns="0" rIns="0" bIns="0" anchor="t">
            <a:spAutoFit/>
          </a:bodyPr>
          <a:lstStyle/>
          <a:p>
            <a:pPr algn="l"/>
            <a:r>
              <a:rPr sz="3200" b="1" i="0">
                <a:solidFill>
                  <a:srgbClr val="1E2761"/>
                </a:solidFill>
                <a:latin typeface="Georgia"/>
              </a:rPr>
              <a:t>3</a:t>
            </a:r>
          </a:p>
        </p:txBody>
      </p:sp>
      <p:sp>
        <p:nvSpPr>
          <p:cNvPr id="14" name="TextBox 13"/>
          <p:cNvSpPr txBox="1"/>
          <p:nvPr/>
        </p:nvSpPr>
        <p:spPr>
          <a:xfrm>
            <a:off x="7178040" y="4983480"/>
            <a:ext cx="4663440" cy="320040"/>
          </a:xfrm>
          <a:prstGeom prst="rect">
            <a:avLst/>
          </a:prstGeom>
          <a:noFill/>
        </p:spPr>
        <p:txBody>
          <a:bodyPr wrap="square" lIns="0" tIns="0" rIns="0" bIns="0" anchor="t">
            <a:spAutoFit/>
          </a:bodyPr>
          <a:lstStyle/>
          <a:p>
            <a:pPr algn="l"/>
            <a:r>
              <a:rPr sz="1300" b="1" i="0">
                <a:solidFill>
                  <a:srgbClr val="1E2761"/>
                </a:solidFill>
                <a:latin typeface="Calibri"/>
              </a:rPr>
              <a:t>Why this matters</a:t>
            </a:r>
          </a:p>
        </p:txBody>
      </p:sp>
      <p:sp>
        <p:nvSpPr>
          <p:cNvPr id="15" name="TextBox 14"/>
          <p:cNvSpPr txBox="1"/>
          <p:nvPr/>
        </p:nvSpPr>
        <p:spPr>
          <a:xfrm>
            <a:off x="7178040" y="5321808"/>
            <a:ext cx="4663440" cy="914400"/>
          </a:xfrm>
          <a:prstGeom prst="rect">
            <a:avLst/>
          </a:prstGeom>
          <a:noFill/>
        </p:spPr>
        <p:txBody>
          <a:bodyPr wrap="square" lIns="0" tIns="0" rIns="0" bIns="0" anchor="t">
            <a:spAutoFit/>
          </a:bodyPr>
          <a:lstStyle/>
          <a:p>
            <a:pPr algn="l"/>
            <a:r>
              <a:rPr sz="1100" b="0" i="0">
                <a:solidFill>
                  <a:srgbClr val="1A1A2E"/>
                </a:solidFill>
                <a:latin typeface="Calibri"/>
              </a:rPr>
              <a:t>The model never saw the mimicry variant of these features during training. It still flagged 96.92% of mimicry windows as attack — the features GENERALIZE to a new attack type.</a:t>
            </a:r>
          </a:p>
        </p:txBody>
      </p:sp>
      <p:sp>
        <p:nvSpPr>
          <p:cNvPr id="16" name="TextBox 15"/>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Thesis Checkpoint Presentation</a:t>
            </a:r>
          </a:p>
        </p:txBody>
      </p:sp>
      <p:sp>
        <p:nvSpPr>
          <p:cNvPr id="17" name="TextBox 16"/>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14 / 23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3 · RESULTS · ABLATION</a:t>
            </a:r>
          </a:p>
        </p:txBody>
      </p:sp>
      <p:sp>
        <p:nvSpPr>
          <p:cNvPr id="3" name="TextBox 2"/>
          <p:cNvSpPr txBox="1"/>
          <p:nvPr/>
        </p:nvSpPr>
        <p:spPr>
          <a:xfrm>
            <a:off x="365760" y="548640"/>
            <a:ext cx="11430000" cy="640080"/>
          </a:xfrm>
          <a:prstGeom prst="rect">
            <a:avLst/>
          </a:prstGeom>
          <a:noFill/>
        </p:spPr>
        <p:txBody>
          <a:bodyPr wrap="square" lIns="0" tIns="0" rIns="0" bIns="0" anchor="t">
            <a:spAutoFit/>
          </a:bodyPr>
          <a:lstStyle/>
          <a:p>
            <a:pPr algn="l"/>
            <a:r>
              <a:rPr sz="2800" b="1" i="0">
                <a:solidFill>
                  <a:srgbClr val="1E2761"/>
                </a:solidFill>
                <a:latin typeface="Calibri"/>
              </a:rPr>
              <a:t>★ Proving the Behavioral Lift on Mimicry</a:t>
            </a:r>
          </a:p>
        </p:txBody>
      </p:sp>
      <p:sp>
        <p:nvSpPr>
          <p:cNvPr id="4" name="TextBox 3"/>
          <p:cNvSpPr txBox="1"/>
          <p:nvPr/>
        </p:nvSpPr>
        <p:spPr>
          <a:xfrm>
            <a:off x="365760" y="1188720"/>
            <a:ext cx="11430000" cy="365760"/>
          </a:xfrm>
          <a:prstGeom prst="rect">
            <a:avLst/>
          </a:prstGeom>
          <a:noFill/>
        </p:spPr>
        <p:txBody>
          <a:bodyPr wrap="square" lIns="0" tIns="0" rIns="0" bIns="0" anchor="t">
            <a:spAutoFit/>
          </a:bodyPr>
          <a:lstStyle/>
          <a:p>
            <a:pPr algn="l"/>
            <a:r>
              <a:rPr sz="1400" b="0" i="1">
                <a:solidFill>
                  <a:srgbClr val="64748B"/>
                </a:solidFill>
                <a:latin typeface="Calibri"/>
              </a:rPr>
              <a:t>Rate-only recalls 73% of mimicry; the full feature pipeline recalls 96% — a +23pp gap</a:t>
            </a:r>
          </a:p>
        </p:txBody>
      </p:sp>
      <p:pic>
        <p:nvPicPr>
          <p:cNvPr id="5" name="Picture 4" descr="fig6_ablation.png"/>
          <p:cNvPicPr>
            <a:picLocks noChangeAspect="1"/>
          </p:cNvPicPr>
          <p:nvPr/>
        </p:nvPicPr>
        <p:blipFill>
          <a:blip r:embed="rId2"/>
          <a:stretch>
            <a:fillRect/>
          </a:stretch>
        </p:blipFill>
        <p:spPr>
          <a:xfrm>
            <a:off x="457200" y="1691640"/>
            <a:ext cx="6858000" cy="4572000"/>
          </a:xfrm>
          <a:prstGeom prst="rect">
            <a:avLst/>
          </a:prstGeom>
        </p:spPr>
      </p:pic>
      <p:sp>
        <p:nvSpPr>
          <p:cNvPr id="6" name="TextBox 5"/>
          <p:cNvSpPr txBox="1"/>
          <p:nvPr/>
        </p:nvSpPr>
        <p:spPr>
          <a:xfrm>
            <a:off x="7589520" y="1783080"/>
            <a:ext cx="4297680" cy="320040"/>
          </a:xfrm>
          <a:prstGeom prst="rect">
            <a:avLst/>
          </a:prstGeom>
          <a:noFill/>
        </p:spPr>
        <p:txBody>
          <a:bodyPr wrap="square" lIns="0" tIns="0" rIns="0" bIns="0" anchor="t">
            <a:spAutoFit/>
          </a:bodyPr>
          <a:lstStyle/>
          <a:p>
            <a:pPr algn="l"/>
            <a:r>
              <a:rPr sz="1000" b="1" i="0" spc="400">
                <a:solidFill>
                  <a:srgbClr val="F96167"/>
                </a:solidFill>
                <a:latin typeface="Calibri"/>
              </a:rPr>
              <a:t>KEY MIMICRY-RECALL FINDINGS</a:t>
            </a:r>
          </a:p>
        </p:txBody>
      </p:sp>
      <p:sp>
        <p:nvSpPr>
          <p:cNvPr id="7" name="Rectangle 6"/>
          <p:cNvSpPr/>
          <p:nvPr/>
        </p:nvSpPr>
        <p:spPr>
          <a:xfrm>
            <a:off x="7589520" y="2194560"/>
            <a:ext cx="4297680" cy="868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589520" y="2194560"/>
            <a:ext cx="73152" cy="86868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0" y="2240279"/>
            <a:ext cx="1371600" cy="411480"/>
          </a:xfrm>
          <a:prstGeom prst="rect">
            <a:avLst/>
          </a:prstGeom>
          <a:noFill/>
        </p:spPr>
        <p:txBody>
          <a:bodyPr wrap="square" lIns="0" tIns="0" rIns="0" bIns="0" anchor="t">
            <a:spAutoFit/>
          </a:bodyPr>
          <a:lstStyle/>
          <a:p>
            <a:pPr algn="l"/>
            <a:r>
              <a:rPr sz="2200" b="1" i="0">
                <a:solidFill>
                  <a:srgbClr val="02C39A"/>
                </a:solidFill>
                <a:latin typeface="Calibri"/>
              </a:rPr>
              <a:t>96.4%</a:t>
            </a:r>
          </a:p>
        </p:txBody>
      </p:sp>
      <p:sp>
        <p:nvSpPr>
          <p:cNvPr id="10" name="TextBox 9"/>
          <p:cNvSpPr txBox="1"/>
          <p:nvPr/>
        </p:nvSpPr>
        <p:spPr>
          <a:xfrm>
            <a:off x="9189720" y="2286000"/>
            <a:ext cx="2606040" cy="320040"/>
          </a:xfrm>
          <a:prstGeom prst="rect">
            <a:avLst/>
          </a:prstGeom>
          <a:noFill/>
        </p:spPr>
        <p:txBody>
          <a:bodyPr wrap="square" lIns="0" tIns="0" rIns="0" bIns="0" anchor="t">
            <a:spAutoFit/>
          </a:bodyPr>
          <a:lstStyle/>
          <a:p>
            <a:pPr algn="l"/>
            <a:r>
              <a:rPr sz="1200" b="1" i="0">
                <a:solidFill>
                  <a:srgbClr val="1E2761"/>
                </a:solidFill>
                <a:latin typeface="Calibri"/>
              </a:rPr>
              <a:t>All features (full)</a:t>
            </a:r>
          </a:p>
        </p:txBody>
      </p:sp>
      <p:sp>
        <p:nvSpPr>
          <p:cNvPr id="11" name="TextBox 10"/>
          <p:cNvSpPr txBox="1"/>
          <p:nvPr/>
        </p:nvSpPr>
        <p:spPr>
          <a:xfrm>
            <a:off x="7772400" y="2651760"/>
            <a:ext cx="4023360" cy="411480"/>
          </a:xfrm>
          <a:prstGeom prst="rect">
            <a:avLst/>
          </a:prstGeom>
          <a:noFill/>
        </p:spPr>
        <p:txBody>
          <a:bodyPr wrap="square" lIns="0" tIns="0" rIns="0" bIns="0" anchor="t">
            <a:spAutoFit/>
          </a:bodyPr>
          <a:lstStyle/>
          <a:p>
            <a:pPr algn="l"/>
            <a:r>
              <a:rPr sz="1000" b="0" i="1">
                <a:solidFill>
                  <a:srgbClr val="64748B"/>
                </a:solidFill>
                <a:latin typeface="Calibri"/>
              </a:rPr>
              <a:t>The proposed pipeline detection.</a:t>
            </a:r>
          </a:p>
        </p:txBody>
      </p:sp>
      <p:sp>
        <p:nvSpPr>
          <p:cNvPr id="12" name="Rectangle 11"/>
          <p:cNvSpPr/>
          <p:nvPr/>
        </p:nvSpPr>
        <p:spPr>
          <a:xfrm>
            <a:off x="7589520" y="3154680"/>
            <a:ext cx="4297680" cy="868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589520" y="3154680"/>
            <a:ext cx="73152" cy="86868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0" y="3200400"/>
            <a:ext cx="1371600" cy="411480"/>
          </a:xfrm>
          <a:prstGeom prst="rect">
            <a:avLst/>
          </a:prstGeom>
          <a:noFill/>
        </p:spPr>
        <p:txBody>
          <a:bodyPr wrap="square" lIns="0" tIns="0" rIns="0" bIns="0" anchor="t">
            <a:spAutoFit/>
          </a:bodyPr>
          <a:lstStyle/>
          <a:p>
            <a:pPr algn="l"/>
            <a:r>
              <a:rPr sz="2200" b="1" i="0">
                <a:solidFill>
                  <a:srgbClr val="F96167"/>
                </a:solidFill>
                <a:latin typeface="Calibri"/>
              </a:rPr>
              <a:t>73.1%</a:t>
            </a:r>
          </a:p>
        </p:txBody>
      </p:sp>
      <p:sp>
        <p:nvSpPr>
          <p:cNvPr id="15" name="TextBox 14"/>
          <p:cNvSpPr txBox="1"/>
          <p:nvPr/>
        </p:nvSpPr>
        <p:spPr>
          <a:xfrm>
            <a:off x="9189720" y="3246120"/>
            <a:ext cx="2606040" cy="320040"/>
          </a:xfrm>
          <a:prstGeom prst="rect">
            <a:avLst/>
          </a:prstGeom>
          <a:noFill/>
        </p:spPr>
        <p:txBody>
          <a:bodyPr wrap="square" lIns="0" tIns="0" rIns="0" bIns="0" anchor="t">
            <a:spAutoFit/>
          </a:bodyPr>
          <a:lstStyle/>
          <a:p>
            <a:pPr algn="l"/>
            <a:r>
              <a:rPr sz="1200" b="1" i="0">
                <a:solidFill>
                  <a:srgbClr val="1E2761"/>
                </a:solidFill>
                <a:latin typeface="Calibri"/>
              </a:rPr>
              <a:t>Rate-only</a:t>
            </a:r>
          </a:p>
        </p:txBody>
      </p:sp>
      <p:sp>
        <p:nvSpPr>
          <p:cNvPr id="16" name="TextBox 15"/>
          <p:cNvSpPr txBox="1"/>
          <p:nvPr/>
        </p:nvSpPr>
        <p:spPr>
          <a:xfrm>
            <a:off x="7772400" y="3611880"/>
            <a:ext cx="4023360" cy="411480"/>
          </a:xfrm>
          <a:prstGeom prst="rect">
            <a:avLst/>
          </a:prstGeom>
          <a:noFill/>
        </p:spPr>
        <p:txBody>
          <a:bodyPr wrap="square" lIns="0" tIns="0" rIns="0" bIns="0" anchor="t">
            <a:spAutoFit/>
          </a:bodyPr>
          <a:lstStyle/>
          <a:p>
            <a:pPr algn="l"/>
            <a:r>
              <a:rPr sz="1000" b="0" i="1">
                <a:solidFill>
                  <a:srgbClr val="64748B"/>
                </a:solidFill>
                <a:latin typeface="Calibri"/>
              </a:rPr>
              <a:t>Rate alone insufficient against mimicry. Behavioral lift: +23pp.</a:t>
            </a:r>
          </a:p>
        </p:txBody>
      </p:sp>
      <p:sp>
        <p:nvSpPr>
          <p:cNvPr id="17" name="Rectangle 16"/>
          <p:cNvSpPr/>
          <p:nvPr/>
        </p:nvSpPr>
        <p:spPr>
          <a:xfrm>
            <a:off x="7589520" y="4114800"/>
            <a:ext cx="4297680" cy="868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589520" y="4114800"/>
            <a:ext cx="73152" cy="868680"/>
          </a:xfrm>
          <a:prstGeom prst="rect">
            <a:avLst/>
          </a:prstGeom>
          <a:solidFill>
            <a:srgbClr val="C94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0" y="4160520"/>
            <a:ext cx="1371600" cy="411480"/>
          </a:xfrm>
          <a:prstGeom prst="rect">
            <a:avLst/>
          </a:prstGeom>
          <a:noFill/>
        </p:spPr>
        <p:txBody>
          <a:bodyPr wrap="square" lIns="0" tIns="0" rIns="0" bIns="0" anchor="t">
            <a:spAutoFit/>
          </a:bodyPr>
          <a:lstStyle/>
          <a:p>
            <a:pPr algn="l"/>
            <a:r>
              <a:rPr sz="2200" b="1" i="0">
                <a:solidFill>
                  <a:srgbClr val="C9434A"/>
                </a:solidFill>
                <a:latin typeface="Calibri"/>
              </a:rPr>
              <a:t>13.2%</a:t>
            </a:r>
          </a:p>
        </p:txBody>
      </p:sp>
      <p:sp>
        <p:nvSpPr>
          <p:cNvPr id="20" name="TextBox 19"/>
          <p:cNvSpPr txBox="1"/>
          <p:nvPr/>
        </p:nvSpPr>
        <p:spPr>
          <a:xfrm>
            <a:off x="9189720" y="4206240"/>
            <a:ext cx="2606040" cy="320040"/>
          </a:xfrm>
          <a:prstGeom prst="rect">
            <a:avLst/>
          </a:prstGeom>
          <a:noFill/>
        </p:spPr>
        <p:txBody>
          <a:bodyPr wrap="square" lIns="0" tIns="0" rIns="0" bIns="0" anchor="t">
            <a:spAutoFit/>
          </a:bodyPr>
          <a:lstStyle/>
          <a:p>
            <a:pPr algn="l"/>
            <a:r>
              <a:rPr sz="1200" b="1" i="0">
                <a:solidFill>
                  <a:srgbClr val="1E2761"/>
                </a:solidFill>
                <a:latin typeface="Calibri"/>
              </a:rPr>
              <a:t>UA-only</a:t>
            </a:r>
          </a:p>
        </p:txBody>
      </p:sp>
      <p:sp>
        <p:nvSpPr>
          <p:cNvPr id="21" name="TextBox 20"/>
          <p:cNvSpPr txBox="1"/>
          <p:nvPr/>
        </p:nvSpPr>
        <p:spPr>
          <a:xfrm>
            <a:off x="7772400" y="4572000"/>
            <a:ext cx="4023360" cy="411480"/>
          </a:xfrm>
          <a:prstGeom prst="rect">
            <a:avLst/>
          </a:prstGeom>
          <a:noFill/>
        </p:spPr>
        <p:txBody>
          <a:bodyPr wrap="square" lIns="0" tIns="0" rIns="0" bIns="0" anchor="t">
            <a:spAutoFit/>
          </a:bodyPr>
          <a:lstStyle/>
          <a:p>
            <a:pPr algn="l"/>
            <a:r>
              <a:rPr sz="1000" b="0" i="1">
                <a:solidFill>
                  <a:srgbClr val="64748B"/>
                </a:solidFill>
                <a:latin typeface="Calibri"/>
              </a:rPr>
              <a:t>Below class baseline. Model does NOT use UA shortcut.</a:t>
            </a:r>
          </a:p>
        </p:txBody>
      </p:sp>
      <p:sp>
        <p:nvSpPr>
          <p:cNvPr id="22" name="Rectangle 21"/>
          <p:cNvSpPr/>
          <p:nvPr/>
        </p:nvSpPr>
        <p:spPr>
          <a:xfrm>
            <a:off x="7589520" y="5074920"/>
            <a:ext cx="4297680" cy="868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589520" y="5074920"/>
            <a:ext cx="73152" cy="868680"/>
          </a:xfrm>
          <a:prstGeom prst="rect">
            <a:avLst/>
          </a:prstGeom>
          <a:solidFill>
            <a:srgbClr val="2B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72400" y="5120640"/>
            <a:ext cx="1371600" cy="411480"/>
          </a:xfrm>
          <a:prstGeom prst="rect">
            <a:avLst/>
          </a:prstGeom>
          <a:noFill/>
        </p:spPr>
        <p:txBody>
          <a:bodyPr wrap="square" lIns="0" tIns="0" rIns="0" bIns="0" anchor="t">
            <a:spAutoFit/>
          </a:bodyPr>
          <a:lstStyle/>
          <a:p>
            <a:pPr algn="l"/>
            <a:r>
              <a:rPr sz="2200" b="1" i="0">
                <a:solidFill>
                  <a:srgbClr val="2B3A8C"/>
                </a:solidFill>
                <a:latin typeface="Calibri"/>
              </a:rPr>
              <a:t>14.9%</a:t>
            </a:r>
          </a:p>
        </p:txBody>
      </p:sp>
      <p:sp>
        <p:nvSpPr>
          <p:cNvPr id="25" name="TextBox 24"/>
          <p:cNvSpPr txBox="1"/>
          <p:nvPr/>
        </p:nvSpPr>
        <p:spPr>
          <a:xfrm>
            <a:off x="9189720" y="5166360"/>
            <a:ext cx="2606040" cy="320040"/>
          </a:xfrm>
          <a:prstGeom prst="rect">
            <a:avLst/>
          </a:prstGeom>
          <a:noFill/>
        </p:spPr>
        <p:txBody>
          <a:bodyPr wrap="square" lIns="0" tIns="0" rIns="0" bIns="0" anchor="t">
            <a:spAutoFit/>
          </a:bodyPr>
          <a:lstStyle/>
          <a:p>
            <a:pPr algn="l"/>
            <a:r>
              <a:rPr sz="1200" b="1" i="0">
                <a:solidFill>
                  <a:srgbClr val="1E2761"/>
                </a:solidFill>
                <a:latin typeface="Calibri"/>
              </a:rPr>
              <a:t>No global/baseline</a:t>
            </a:r>
          </a:p>
        </p:txBody>
      </p:sp>
      <p:sp>
        <p:nvSpPr>
          <p:cNvPr id="26" name="TextBox 25"/>
          <p:cNvSpPr txBox="1"/>
          <p:nvPr/>
        </p:nvSpPr>
        <p:spPr>
          <a:xfrm>
            <a:off x="7772400" y="5532120"/>
            <a:ext cx="4023360" cy="411480"/>
          </a:xfrm>
          <a:prstGeom prst="rect">
            <a:avLst/>
          </a:prstGeom>
          <a:noFill/>
        </p:spPr>
        <p:txBody>
          <a:bodyPr wrap="square" lIns="0" tIns="0" rIns="0" bIns="0" anchor="t">
            <a:spAutoFit/>
          </a:bodyPr>
          <a:lstStyle/>
          <a:p>
            <a:pPr algn="l"/>
            <a:r>
              <a:rPr sz="1000" b="0" i="1">
                <a:solidFill>
                  <a:srgbClr val="64748B"/>
                </a:solidFill>
                <a:latin typeface="Calibri"/>
              </a:rPr>
              <a:t>Removing global features collapses mimicry detection (-81pp).</a:t>
            </a:r>
          </a:p>
        </p:txBody>
      </p:sp>
      <p:sp>
        <p:nvSpPr>
          <p:cNvPr id="27" name="TextBox 26"/>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Thesis Checkpoint Presentation</a:t>
            </a:r>
          </a:p>
        </p:txBody>
      </p:sp>
      <p:sp>
        <p:nvSpPr>
          <p:cNvPr id="28" name="TextBox 27"/>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15 / 23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3 · RESULTS · FEATURES</a:t>
            </a:r>
          </a:p>
        </p:txBody>
      </p:sp>
      <p:sp>
        <p:nvSpPr>
          <p:cNvPr id="3" name="TextBox 2"/>
          <p:cNvSpPr txBox="1"/>
          <p:nvPr/>
        </p:nvSpPr>
        <p:spPr>
          <a:xfrm>
            <a:off x="365760" y="548640"/>
            <a:ext cx="11430000" cy="640080"/>
          </a:xfrm>
          <a:prstGeom prst="rect">
            <a:avLst/>
          </a:prstGeom>
          <a:noFill/>
        </p:spPr>
        <p:txBody>
          <a:bodyPr wrap="square" lIns="0" tIns="0" rIns="0" bIns="0" anchor="t">
            <a:spAutoFit/>
          </a:bodyPr>
          <a:lstStyle/>
          <a:p>
            <a:pPr algn="l"/>
            <a:r>
              <a:rPr sz="2800" b="1" i="0">
                <a:solidFill>
                  <a:srgbClr val="1E2761"/>
                </a:solidFill>
                <a:latin typeface="Calibri"/>
              </a:rPr>
              <a:t>What Features Is the Model Actually Using?</a:t>
            </a:r>
          </a:p>
        </p:txBody>
      </p:sp>
      <p:sp>
        <p:nvSpPr>
          <p:cNvPr id="4" name="TextBox 3"/>
          <p:cNvSpPr txBox="1"/>
          <p:nvPr/>
        </p:nvSpPr>
        <p:spPr>
          <a:xfrm>
            <a:off x="365760" y="1188720"/>
            <a:ext cx="11430000" cy="365760"/>
          </a:xfrm>
          <a:prstGeom prst="rect">
            <a:avLst/>
          </a:prstGeom>
          <a:noFill/>
        </p:spPr>
        <p:txBody>
          <a:bodyPr wrap="square" lIns="0" tIns="0" rIns="0" bIns="0" anchor="t">
            <a:spAutoFit/>
          </a:bodyPr>
          <a:lstStyle/>
          <a:p>
            <a:pPr algn="l"/>
            <a:r>
              <a:rPr sz="1400" b="0" i="1">
                <a:solidFill>
                  <a:srgbClr val="64748B"/>
                </a:solidFill>
                <a:latin typeface="Calibri"/>
              </a:rPr>
              <a:t>Top feature importances · Proposed Random Forest model</a:t>
            </a:r>
          </a:p>
        </p:txBody>
      </p:sp>
      <p:pic>
        <p:nvPicPr>
          <p:cNvPr id="5" name="Picture 4" descr="fig4_feature_importance.png"/>
          <p:cNvPicPr>
            <a:picLocks noChangeAspect="1"/>
          </p:cNvPicPr>
          <p:nvPr/>
        </p:nvPicPr>
        <p:blipFill>
          <a:blip r:embed="rId2"/>
          <a:stretch>
            <a:fillRect/>
          </a:stretch>
        </p:blipFill>
        <p:spPr>
          <a:xfrm>
            <a:off x="457200" y="1691640"/>
            <a:ext cx="6400800" cy="4572000"/>
          </a:xfrm>
          <a:prstGeom prst="rect">
            <a:avLst/>
          </a:prstGeom>
        </p:spPr>
      </p:pic>
      <p:sp>
        <p:nvSpPr>
          <p:cNvPr id="6" name="TextBox 5"/>
          <p:cNvSpPr txBox="1"/>
          <p:nvPr/>
        </p:nvSpPr>
        <p:spPr>
          <a:xfrm>
            <a:off x="7223760" y="1737360"/>
            <a:ext cx="4663440" cy="320040"/>
          </a:xfrm>
          <a:prstGeom prst="rect">
            <a:avLst/>
          </a:prstGeom>
          <a:noFill/>
        </p:spPr>
        <p:txBody>
          <a:bodyPr wrap="square" lIns="0" tIns="0" rIns="0" bIns="0" anchor="t">
            <a:spAutoFit/>
          </a:bodyPr>
          <a:lstStyle/>
          <a:p>
            <a:pPr algn="l"/>
            <a:r>
              <a:rPr sz="1000" b="1" i="0" spc="400">
                <a:solidFill>
                  <a:srgbClr val="F96167"/>
                </a:solidFill>
                <a:latin typeface="Calibri"/>
              </a:rPr>
              <a:t>DISCRIMINATIVE GROUPS</a:t>
            </a:r>
          </a:p>
        </p:txBody>
      </p:sp>
      <p:sp>
        <p:nvSpPr>
          <p:cNvPr id="7" name="Rectangle 6"/>
          <p:cNvSpPr/>
          <p:nvPr/>
        </p:nvSpPr>
        <p:spPr>
          <a:xfrm>
            <a:off x="7223760" y="2148840"/>
            <a:ext cx="73152" cy="9144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06640" y="2148840"/>
            <a:ext cx="4389120" cy="274320"/>
          </a:xfrm>
          <a:prstGeom prst="rect">
            <a:avLst/>
          </a:prstGeom>
          <a:noFill/>
        </p:spPr>
        <p:txBody>
          <a:bodyPr wrap="square" lIns="0" tIns="0" rIns="0" bIns="0" anchor="t">
            <a:spAutoFit/>
          </a:bodyPr>
          <a:lstStyle/>
          <a:p>
            <a:pPr algn="l"/>
            <a:r>
              <a:rPr sz="1200" b="1" i="0">
                <a:solidFill>
                  <a:srgbClr val="1E2761"/>
                </a:solidFill>
                <a:latin typeface="Calibri"/>
              </a:rPr>
              <a:t>Source Diversity (global)</a:t>
            </a:r>
          </a:p>
        </p:txBody>
      </p:sp>
      <p:sp>
        <p:nvSpPr>
          <p:cNvPr id="9" name="TextBox 8"/>
          <p:cNvSpPr txBox="1"/>
          <p:nvPr/>
        </p:nvSpPr>
        <p:spPr>
          <a:xfrm>
            <a:off x="7406640" y="2423160"/>
            <a:ext cx="4389120" cy="365760"/>
          </a:xfrm>
          <a:prstGeom prst="rect">
            <a:avLst/>
          </a:prstGeom>
          <a:noFill/>
        </p:spPr>
        <p:txBody>
          <a:bodyPr wrap="square" lIns="0" tIns="0" rIns="0" bIns="0" anchor="t">
            <a:spAutoFit/>
          </a:bodyPr>
          <a:lstStyle/>
          <a:p>
            <a:pPr algn="l"/>
            <a:r>
              <a:rPr sz="950" b="0" i="0">
                <a:solidFill>
                  <a:srgbClr val="1A1A2E"/>
                </a:solidFill>
                <a:latin typeface="Consolas"/>
              </a:rPr>
              <a:t>global_unique_ip (#1) · global_unique_subnet (#2) · global_req_rate (#3)</a:t>
            </a:r>
          </a:p>
        </p:txBody>
      </p:sp>
      <p:sp>
        <p:nvSpPr>
          <p:cNvPr id="10" name="TextBox 9"/>
          <p:cNvSpPr txBox="1"/>
          <p:nvPr/>
        </p:nvSpPr>
        <p:spPr>
          <a:xfrm>
            <a:off x="7406640" y="2788920"/>
            <a:ext cx="4389120" cy="274320"/>
          </a:xfrm>
          <a:prstGeom prst="rect">
            <a:avLst/>
          </a:prstGeom>
          <a:noFill/>
        </p:spPr>
        <p:txBody>
          <a:bodyPr wrap="square" lIns="0" tIns="0" rIns="0" bIns="0" anchor="t">
            <a:spAutoFit/>
          </a:bodyPr>
          <a:lstStyle/>
          <a:p>
            <a:pPr algn="l"/>
            <a:r>
              <a:rPr sz="1000" b="0" i="1">
                <a:solidFill>
                  <a:srgbClr val="64748B"/>
                </a:solidFill>
                <a:latin typeface="Calibri"/>
              </a:rPr>
              <a:t>How distributed and how fast is the attack?</a:t>
            </a:r>
          </a:p>
        </p:txBody>
      </p:sp>
      <p:sp>
        <p:nvSpPr>
          <p:cNvPr id="11" name="Rectangle 10"/>
          <p:cNvSpPr/>
          <p:nvPr/>
        </p:nvSpPr>
        <p:spPr>
          <a:xfrm>
            <a:off x="7223760" y="3154680"/>
            <a:ext cx="73152" cy="914400"/>
          </a:xfrm>
          <a:prstGeom prst="rect">
            <a:avLst/>
          </a:prstGeom>
          <a:solidFill>
            <a:srgbClr val="2B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06640" y="3154680"/>
            <a:ext cx="4389120" cy="274320"/>
          </a:xfrm>
          <a:prstGeom prst="rect">
            <a:avLst/>
          </a:prstGeom>
          <a:noFill/>
        </p:spPr>
        <p:txBody>
          <a:bodyPr wrap="square" lIns="0" tIns="0" rIns="0" bIns="0" anchor="t">
            <a:spAutoFit/>
          </a:bodyPr>
          <a:lstStyle/>
          <a:p>
            <a:pPr algn="l"/>
            <a:r>
              <a:rPr sz="1200" b="1" i="0">
                <a:solidFill>
                  <a:srgbClr val="2B3A8C"/>
                </a:solidFill>
                <a:latin typeface="Calibri"/>
              </a:rPr>
              <a:t>Identity &amp; Status</a:t>
            </a:r>
          </a:p>
        </p:txBody>
      </p:sp>
      <p:sp>
        <p:nvSpPr>
          <p:cNvPr id="13" name="TextBox 12"/>
          <p:cNvSpPr txBox="1"/>
          <p:nvPr/>
        </p:nvSpPr>
        <p:spPr>
          <a:xfrm>
            <a:off x="7406640" y="3429000"/>
            <a:ext cx="4389120" cy="365760"/>
          </a:xfrm>
          <a:prstGeom prst="rect">
            <a:avLst/>
          </a:prstGeom>
          <a:noFill/>
        </p:spPr>
        <p:txBody>
          <a:bodyPr wrap="square" lIns="0" tIns="0" rIns="0" bIns="0" anchor="t">
            <a:spAutoFit/>
          </a:bodyPr>
          <a:lstStyle/>
          <a:p>
            <a:pPr algn="l"/>
            <a:r>
              <a:rPr sz="950" b="0" i="0">
                <a:solidFill>
                  <a:srgbClr val="1A1A2E"/>
                </a:solidFill>
                <a:latin typeface="Consolas"/>
              </a:rPr>
              <a:t>status_4xx_ratio (#5) · login_present_ratio (#7)</a:t>
            </a:r>
          </a:p>
        </p:txBody>
      </p:sp>
      <p:sp>
        <p:nvSpPr>
          <p:cNvPr id="14" name="TextBox 13"/>
          <p:cNvSpPr txBox="1"/>
          <p:nvPr/>
        </p:nvSpPr>
        <p:spPr>
          <a:xfrm>
            <a:off x="7406640" y="3794760"/>
            <a:ext cx="4389120" cy="274320"/>
          </a:xfrm>
          <a:prstGeom prst="rect">
            <a:avLst/>
          </a:prstGeom>
          <a:noFill/>
        </p:spPr>
        <p:txBody>
          <a:bodyPr wrap="square" lIns="0" tIns="0" rIns="0" bIns="0" anchor="t">
            <a:spAutoFit/>
          </a:bodyPr>
          <a:lstStyle/>
          <a:p>
            <a:pPr algn="l"/>
            <a:r>
              <a:rPr sz="1000" b="0" i="1">
                <a:solidFill>
                  <a:srgbClr val="64748B"/>
                </a:solidFill>
                <a:latin typeface="Calibri"/>
              </a:rPr>
              <a:t>Auth pattern + error signal</a:t>
            </a:r>
          </a:p>
        </p:txBody>
      </p:sp>
      <p:sp>
        <p:nvSpPr>
          <p:cNvPr id="15" name="Rectangle 14"/>
          <p:cNvSpPr/>
          <p:nvPr/>
        </p:nvSpPr>
        <p:spPr>
          <a:xfrm>
            <a:off x="7223760" y="4160520"/>
            <a:ext cx="73152" cy="914400"/>
          </a:xfrm>
          <a:prstGeom prst="rect">
            <a:avLst/>
          </a:prstGeom>
          <a:solidFill>
            <a:srgbClr val="018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06640" y="4160520"/>
            <a:ext cx="4389120" cy="274320"/>
          </a:xfrm>
          <a:prstGeom prst="rect">
            <a:avLst/>
          </a:prstGeom>
          <a:noFill/>
        </p:spPr>
        <p:txBody>
          <a:bodyPr wrap="square" lIns="0" tIns="0" rIns="0" bIns="0" anchor="t">
            <a:spAutoFit/>
          </a:bodyPr>
          <a:lstStyle/>
          <a:p>
            <a:pPr algn="l"/>
            <a:r>
              <a:rPr sz="1200" b="1" i="0">
                <a:solidFill>
                  <a:srgbClr val="018F71"/>
                </a:solidFill>
                <a:latin typeface="Calibri"/>
              </a:rPr>
              <a:t>Endpoint Cost (behavioral)</a:t>
            </a:r>
          </a:p>
        </p:txBody>
      </p:sp>
      <p:sp>
        <p:nvSpPr>
          <p:cNvPr id="17" name="TextBox 16"/>
          <p:cNvSpPr txBox="1"/>
          <p:nvPr/>
        </p:nvSpPr>
        <p:spPr>
          <a:xfrm>
            <a:off x="7406640" y="4434840"/>
            <a:ext cx="4389120" cy="365760"/>
          </a:xfrm>
          <a:prstGeom prst="rect">
            <a:avLst/>
          </a:prstGeom>
          <a:noFill/>
        </p:spPr>
        <p:txBody>
          <a:bodyPr wrap="square" lIns="0" tIns="0" rIns="0" bIns="0" anchor="t">
            <a:spAutoFit/>
          </a:bodyPr>
          <a:lstStyle/>
          <a:p>
            <a:pPr algn="l"/>
            <a:r>
              <a:rPr sz="950" b="0" i="0">
                <a:solidFill>
                  <a:srgbClr val="1A1A2E"/>
                </a:solidFill>
                <a:latin typeface="Consolas"/>
              </a:rPr>
              <a:t>endpoint_cost_mean (#4) · endpoint_cost_sum (#10) · mean_cpu_time (#8)</a:t>
            </a:r>
          </a:p>
        </p:txBody>
      </p:sp>
      <p:sp>
        <p:nvSpPr>
          <p:cNvPr id="18" name="TextBox 17"/>
          <p:cNvSpPr txBox="1"/>
          <p:nvPr/>
        </p:nvSpPr>
        <p:spPr>
          <a:xfrm>
            <a:off x="7406640" y="4800600"/>
            <a:ext cx="4389120" cy="274320"/>
          </a:xfrm>
          <a:prstGeom prst="rect">
            <a:avLst/>
          </a:prstGeom>
          <a:noFill/>
        </p:spPr>
        <p:txBody>
          <a:bodyPr wrap="square" lIns="0" tIns="0" rIns="0" bIns="0" anchor="t">
            <a:spAutoFit/>
          </a:bodyPr>
          <a:lstStyle/>
          <a:p>
            <a:pPr algn="l"/>
            <a:r>
              <a:rPr sz="1000" b="0" i="1">
                <a:solidFill>
                  <a:srgbClr val="64748B"/>
                </a:solidFill>
                <a:latin typeface="Calibri"/>
              </a:rPr>
              <a:t>Backend cost asymmetry — hard for attacker to fake</a:t>
            </a:r>
          </a:p>
        </p:txBody>
      </p:sp>
      <p:sp>
        <p:nvSpPr>
          <p:cNvPr id="19" name="Rectangle 18"/>
          <p:cNvSpPr/>
          <p:nvPr/>
        </p:nvSpPr>
        <p:spPr>
          <a:xfrm>
            <a:off x="7223760" y="5166360"/>
            <a:ext cx="73152" cy="914400"/>
          </a:xfrm>
          <a:prstGeom prst="rect">
            <a:avLst/>
          </a:prstGeom>
          <a:solidFill>
            <a:srgbClr val="8FAE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406640" y="5166360"/>
            <a:ext cx="4389120" cy="274320"/>
          </a:xfrm>
          <a:prstGeom prst="rect">
            <a:avLst/>
          </a:prstGeom>
          <a:noFill/>
        </p:spPr>
        <p:txBody>
          <a:bodyPr wrap="square" lIns="0" tIns="0" rIns="0" bIns="0" anchor="t">
            <a:spAutoFit/>
          </a:bodyPr>
          <a:lstStyle/>
          <a:p>
            <a:pPr algn="l"/>
            <a:r>
              <a:rPr sz="1200" b="1" i="0">
                <a:solidFill>
                  <a:srgbClr val="8FAEEB"/>
                </a:solidFill>
                <a:latin typeface="Calibri"/>
              </a:rPr>
              <a:t>Timing Behavior</a:t>
            </a:r>
          </a:p>
        </p:txBody>
      </p:sp>
      <p:sp>
        <p:nvSpPr>
          <p:cNvPr id="21" name="TextBox 20"/>
          <p:cNvSpPr txBox="1"/>
          <p:nvPr/>
        </p:nvSpPr>
        <p:spPr>
          <a:xfrm>
            <a:off x="7406640" y="5440680"/>
            <a:ext cx="4389120" cy="365760"/>
          </a:xfrm>
          <a:prstGeom prst="rect">
            <a:avLst/>
          </a:prstGeom>
          <a:noFill/>
        </p:spPr>
        <p:txBody>
          <a:bodyPr wrap="square" lIns="0" tIns="0" rIns="0" bIns="0" anchor="t">
            <a:spAutoFit/>
          </a:bodyPr>
          <a:lstStyle/>
          <a:p>
            <a:pPr algn="l"/>
            <a:r>
              <a:rPr sz="950" b="0" i="0">
                <a:solidFill>
                  <a:srgbClr val="1A1A2E"/>
                </a:solidFill>
                <a:latin typeface="Consolas"/>
              </a:rPr>
              <a:t>iat_mean (#9) · iat_cv · iat_p95 · iat_ks_distance</a:t>
            </a:r>
          </a:p>
        </p:txBody>
      </p:sp>
      <p:sp>
        <p:nvSpPr>
          <p:cNvPr id="22" name="TextBox 21"/>
          <p:cNvSpPr txBox="1"/>
          <p:nvPr/>
        </p:nvSpPr>
        <p:spPr>
          <a:xfrm>
            <a:off x="7406640" y="5806440"/>
            <a:ext cx="4389120" cy="274320"/>
          </a:xfrm>
          <a:prstGeom prst="rect">
            <a:avLst/>
          </a:prstGeom>
          <a:noFill/>
        </p:spPr>
        <p:txBody>
          <a:bodyPr wrap="square" lIns="0" tIns="0" rIns="0" bIns="0" anchor="t">
            <a:spAutoFit/>
          </a:bodyPr>
          <a:lstStyle/>
          <a:p>
            <a:pPr algn="l"/>
            <a:r>
              <a:rPr sz="1000" b="0" i="1">
                <a:solidFill>
                  <a:srgbClr val="64748B"/>
                </a:solidFill>
                <a:latin typeface="Calibri"/>
              </a:rPr>
              <a:t>Request timing patterns — strong on mimicry</a:t>
            </a:r>
          </a:p>
        </p:txBody>
      </p:sp>
      <p:sp>
        <p:nvSpPr>
          <p:cNvPr id="23" name="TextBox 22"/>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Thesis Checkpoint Presentation</a:t>
            </a:r>
          </a:p>
        </p:txBody>
      </p:sp>
      <p:sp>
        <p:nvSpPr>
          <p:cNvPr id="24" name="TextBox 23"/>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16 / 23</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3 · RESULTS · DEEP-DIVE</a:t>
            </a:r>
          </a:p>
        </p:txBody>
      </p:sp>
      <p:sp>
        <p:nvSpPr>
          <p:cNvPr id="3" name="TextBox 2"/>
          <p:cNvSpPr txBox="1"/>
          <p:nvPr/>
        </p:nvSpPr>
        <p:spPr>
          <a:xfrm>
            <a:off x="365760" y="548640"/>
            <a:ext cx="11430000" cy="640080"/>
          </a:xfrm>
          <a:prstGeom prst="rect">
            <a:avLst/>
          </a:prstGeom>
          <a:noFill/>
        </p:spPr>
        <p:txBody>
          <a:bodyPr wrap="square" lIns="0" tIns="0" rIns="0" bIns="0" anchor="t">
            <a:spAutoFit/>
          </a:bodyPr>
          <a:lstStyle/>
          <a:p>
            <a:pPr algn="l"/>
            <a:r>
              <a:rPr sz="2800" b="1" i="0">
                <a:solidFill>
                  <a:srgbClr val="1E2761"/>
                </a:solidFill>
                <a:latin typeface="Calibri"/>
              </a:rPr>
              <a:t>Mimicry, Flood, and Legit — Side by Side</a:t>
            </a:r>
          </a:p>
        </p:txBody>
      </p:sp>
      <p:sp>
        <p:nvSpPr>
          <p:cNvPr id="4" name="TextBox 3"/>
          <p:cNvSpPr txBox="1"/>
          <p:nvPr/>
        </p:nvSpPr>
        <p:spPr>
          <a:xfrm>
            <a:off x="365760" y="1188720"/>
            <a:ext cx="11430000" cy="365760"/>
          </a:xfrm>
          <a:prstGeom prst="rect">
            <a:avLst/>
          </a:prstGeom>
          <a:noFill/>
        </p:spPr>
        <p:txBody>
          <a:bodyPr wrap="square" lIns="0" tIns="0" rIns="0" bIns="0" anchor="t">
            <a:spAutoFit/>
          </a:bodyPr>
          <a:lstStyle/>
          <a:p>
            <a:pPr algn="l"/>
            <a:r>
              <a:rPr sz="1400" b="0" i="1">
                <a:solidFill>
                  <a:srgbClr val="64748B"/>
                </a:solidFill>
                <a:latin typeface="Calibri"/>
              </a:rPr>
              <a:t>Which features overlap, which ones separate?</a:t>
            </a:r>
          </a:p>
        </p:txBody>
      </p:sp>
      <p:pic>
        <p:nvPicPr>
          <p:cNvPr id="5" name="Picture 4" descr="fig9_mimicry_features.png"/>
          <p:cNvPicPr>
            <a:picLocks noChangeAspect="1"/>
          </p:cNvPicPr>
          <p:nvPr/>
        </p:nvPicPr>
        <p:blipFill>
          <a:blip r:embed="rId2"/>
          <a:stretch>
            <a:fillRect/>
          </a:stretch>
        </p:blipFill>
        <p:spPr>
          <a:xfrm>
            <a:off x="457200" y="1691640"/>
            <a:ext cx="7772400" cy="4572000"/>
          </a:xfrm>
          <a:prstGeom prst="rect">
            <a:avLst/>
          </a:prstGeom>
        </p:spPr>
      </p:pic>
      <p:sp>
        <p:nvSpPr>
          <p:cNvPr id="6" name="TextBox 5"/>
          <p:cNvSpPr txBox="1"/>
          <p:nvPr/>
        </p:nvSpPr>
        <p:spPr>
          <a:xfrm>
            <a:off x="8595360" y="1783080"/>
            <a:ext cx="3291840" cy="320040"/>
          </a:xfrm>
          <a:prstGeom prst="rect">
            <a:avLst/>
          </a:prstGeom>
          <a:noFill/>
        </p:spPr>
        <p:txBody>
          <a:bodyPr wrap="square" lIns="0" tIns="0" rIns="0" bIns="0" anchor="t">
            <a:spAutoFit/>
          </a:bodyPr>
          <a:lstStyle/>
          <a:p>
            <a:pPr algn="l"/>
            <a:r>
              <a:rPr sz="1000" b="1" i="0" spc="300">
                <a:solidFill>
                  <a:srgbClr val="F96167"/>
                </a:solidFill>
                <a:latin typeface="Calibri"/>
              </a:rPr>
              <a:t>SEPARATION POINTS</a:t>
            </a:r>
          </a:p>
        </p:txBody>
      </p:sp>
      <p:sp>
        <p:nvSpPr>
          <p:cNvPr id="7" name="TextBox 6"/>
          <p:cNvSpPr txBox="1"/>
          <p:nvPr/>
        </p:nvSpPr>
        <p:spPr>
          <a:xfrm>
            <a:off x="8595360" y="2194560"/>
            <a:ext cx="3291840" cy="274320"/>
          </a:xfrm>
          <a:prstGeom prst="rect">
            <a:avLst/>
          </a:prstGeom>
          <a:noFill/>
        </p:spPr>
        <p:txBody>
          <a:bodyPr wrap="square" lIns="0" tIns="0" rIns="0" bIns="0" anchor="t">
            <a:spAutoFit/>
          </a:bodyPr>
          <a:lstStyle/>
          <a:p>
            <a:pPr algn="l"/>
            <a:r>
              <a:rPr sz="1100" b="1" i="0">
                <a:solidFill>
                  <a:srgbClr val="1E2761"/>
                </a:solidFill>
                <a:latin typeface="Consolas"/>
              </a:rPr>
              <a:t>req_rate</a:t>
            </a:r>
          </a:p>
        </p:txBody>
      </p:sp>
      <p:sp>
        <p:nvSpPr>
          <p:cNvPr id="8" name="TextBox 7"/>
          <p:cNvSpPr txBox="1"/>
          <p:nvPr/>
        </p:nvSpPr>
        <p:spPr>
          <a:xfrm>
            <a:off x="8595360" y="2468879"/>
            <a:ext cx="3291840" cy="274320"/>
          </a:xfrm>
          <a:prstGeom prst="rect">
            <a:avLst/>
          </a:prstGeom>
          <a:noFill/>
        </p:spPr>
        <p:txBody>
          <a:bodyPr wrap="square" lIns="0" tIns="0" rIns="0" bIns="0" anchor="t">
            <a:spAutoFit/>
          </a:bodyPr>
          <a:lstStyle/>
          <a:p>
            <a:pPr algn="l"/>
            <a:r>
              <a:rPr sz="900" b="1" i="0" spc="300">
                <a:solidFill>
                  <a:srgbClr val="F96167"/>
                </a:solidFill>
                <a:latin typeface="Calibri"/>
              </a:rPr>
              <a:t>OVERLAPS</a:t>
            </a:r>
          </a:p>
        </p:txBody>
      </p:sp>
      <p:sp>
        <p:nvSpPr>
          <p:cNvPr id="9" name="TextBox 8"/>
          <p:cNvSpPr txBox="1"/>
          <p:nvPr/>
        </p:nvSpPr>
        <p:spPr>
          <a:xfrm>
            <a:off x="8595360" y="2743200"/>
            <a:ext cx="3291840" cy="502920"/>
          </a:xfrm>
          <a:prstGeom prst="rect">
            <a:avLst/>
          </a:prstGeom>
          <a:noFill/>
        </p:spPr>
        <p:txBody>
          <a:bodyPr wrap="square" lIns="0" tIns="0" rIns="0" bIns="0" anchor="t">
            <a:spAutoFit/>
          </a:bodyPr>
          <a:lstStyle/>
          <a:p>
            <a:pPr algn="l"/>
            <a:r>
              <a:rPr sz="1000" b="0" i="0">
                <a:solidFill>
                  <a:srgbClr val="1A1A2E"/>
                </a:solidFill>
                <a:latin typeface="Calibri"/>
              </a:rPr>
              <a:t>All three classes share similar rate distributions — rate alone cannot tell mimicry from legit.</a:t>
            </a:r>
          </a:p>
        </p:txBody>
      </p:sp>
      <p:sp>
        <p:nvSpPr>
          <p:cNvPr id="10" name="TextBox 9"/>
          <p:cNvSpPr txBox="1"/>
          <p:nvPr/>
        </p:nvSpPr>
        <p:spPr>
          <a:xfrm>
            <a:off x="8595360" y="3337560"/>
            <a:ext cx="3291840" cy="274320"/>
          </a:xfrm>
          <a:prstGeom prst="rect">
            <a:avLst/>
          </a:prstGeom>
          <a:noFill/>
        </p:spPr>
        <p:txBody>
          <a:bodyPr wrap="square" lIns="0" tIns="0" rIns="0" bIns="0" anchor="t">
            <a:spAutoFit/>
          </a:bodyPr>
          <a:lstStyle/>
          <a:p>
            <a:pPr algn="l"/>
            <a:r>
              <a:rPr sz="1100" b="1" i="0">
                <a:solidFill>
                  <a:srgbClr val="1E2761"/>
                </a:solidFill>
                <a:latin typeface="Consolas"/>
              </a:rPr>
              <a:t>endpoint_entropy</a:t>
            </a:r>
          </a:p>
        </p:txBody>
      </p:sp>
      <p:sp>
        <p:nvSpPr>
          <p:cNvPr id="11" name="TextBox 10"/>
          <p:cNvSpPr txBox="1"/>
          <p:nvPr/>
        </p:nvSpPr>
        <p:spPr>
          <a:xfrm>
            <a:off x="8595360" y="3611879"/>
            <a:ext cx="3291840" cy="274320"/>
          </a:xfrm>
          <a:prstGeom prst="rect">
            <a:avLst/>
          </a:prstGeom>
          <a:noFill/>
        </p:spPr>
        <p:txBody>
          <a:bodyPr wrap="square" lIns="0" tIns="0" rIns="0" bIns="0" anchor="t">
            <a:spAutoFit/>
          </a:bodyPr>
          <a:lstStyle/>
          <a:p>
            <a:pPr algn="l"/>
            <a:r>
              <a:rPr sz="900" b="1" i="0" spc="300">
                <a:solidFill>
                  <a:srgbClr val="02C39A"/>
                </a:solidFill>
                <a:latin typeface="Calibri"/>
              </a:rPr>
              <a:t>SEPARATES</a:t>
            </a:r>
          </a:p>
        </p:txBody>
      </p:sp>
      <p:sp>
        <p:nvSpPr>
          <p:cNvPr id="12" name="TextBox 11"/>
          <p:cNvSpPr txBox="1"/>
          <p:nvPr/>
        </p:nvSpPr>
        <p:spPr>
          <a:xfrm>
            <a:off x="8595360" y="3886200"/>
            <a:ext cx="3291840" cy="502920"/>
          </a:xfrm>
          <a:prstGeom prst="rect">
            <a:avLst/>
          </a:prstGeom>
          <a:noFill/>
        </p:spPr>
        <p:txBody>
          <a:bodyPr wrap="square" lIns="0" tIns="0" rIns="0" bIns="0" anchor="t">
            <a:spAutoFit/>
          </a:bodyPr>
          <a:lstStyle/>
          <a:p>
            <a:pPr algn="l"/>
            <a:r>
              <a:rPr sz="1000" b="0" i="0">
                <a:solidFill>
                  <a:srgbClr val="1A1A2E"/>
                </a:solidFill>
                <a:latin typeface="Calibri"/>
              </a:rPr>
              <a:t>Legit ~0.9, mimicry ~0.05. Mimicry only bursts on search — its distribution is narrow.</a:t>
            </a:r>
          </a:p>
        </p:txBody>
      </p:sp>
      <p:sp>
        <p:nvSpPr>
          <p:cNvPr id="13" name="TextBox 12"/>
          <p:cNvSpPr txBox="1"/>
          <p:nvPr/>
        </p:nvSpPr>
        <p:spPr>
          <a:xfrm>
            <a:off x="8595360" y="4480560"/>
            <a:ext cx="3291840" cy="274320"/>
          </a:xfrm>
          <a:prstGeom prst="rect">
            <a:avLst/>
          </a:prstGeom>
          <a:noFill/>
        </p:spPr>
        <p:txBody>
          <a:bodyPr wrap="square" lIns="0" tIns="0" rIns="0" bIns="0" anchor="t">
            <a:spAutoFit/>
          </a:bodyPr>
          <a:lstStyle/>
          <a:p>
            <a:pPr algn="l"/>
            <a:r>
              <a:rPr sz="1100" b="1" i="0">
                <a:solidFill>
                  <a:srgbClr val="1E2761"/>
                </a:solidFill>
                <a:latin typeface="Consolas"/>
              </a:rPr>
              <a:t>endpoint_cost_sum</a:t>
            </a:r>
          </a:p>
        </p:txBody>
      </p:sp>
      <p:sp>
        <p:nvSpPr>
          <p:cNvPr id="14" name="TextBox 13"/>
          <p:cNvSpPr txBox="1"/>
          <p:nvPr/>
        </p:nvSpPr>
        <p:spPr>
          <a:xfrm>
            <a:off x="8595360" y="4754880"/>
            <a:ext cx="3291840" cy="274320"/>
          </a:xfrm>
          <a:prstGeom prst="rect">
            <a:avLst/>
          </a:prstGeom>
          <a:noFill/>
        </p:spPr>
        <p:txBody>
          <a:bodyPr wrap="square" lIns="0" tIns="0" rIns="0" bIns="0" anchor="t">
            <a:spAutoFit/>
          </a:bodyPr>
          <a:lstStyle/>
          <a:p>
            <a:pPr algn="l"/>
            <a:r>
              <a:rPr sz="900" b="1" i="0" spc="300">
                <a:solidFill>
                  <a:srgbClr val="02C39A"/>
                </a:solidFill>
                <a:latin typeface="Calibri"/>
              </a:rPr>
              <a:t>SEPARATES</a:t>
            </a:r>
          </a:p>
        </p:txBody>
      </p:sp>
      <p:sp>
        <p:nvSpPr>
          <p:cNvPr id="15" name="TextBox 14"/>
          <p:cNvSpPr txBox="1"/>
          <p:nvPr/>
        </p:nvSpPr>
        <p:spPr>
          <a:xfrm>
            <a:off x="8595360" y="5029200"/>
            <a:ext cx="3291840" cy="502920"/>
          </a:xfrm>
          <a:prstGeom prst="rect">
            <a:avLst/>
          </a:prstGeom>
          <a:noFill/>
        </p:spPr>
        <p:txBody>
          <a:bodyPr wrap="square" lIns="0" tIns="0" rIns="0" bIns="0" anchor="t">
            <a:spAutoFit/>
          </a:bodyPr>
          <a:lstStyle/>
          <a:p>
            <a:pPr algn="l"/>
            <a:r>
              <a:rPr sz="1000" b="0" i="0">
                <a:solidFill>
                  <a:srgbClr val="1A1A2E"/>
                </a:solidFill>
                <a:latin typeface="Calibri"/>
              </a:rPr>
              <a:t>Naive flood high (heavy logins), mimicry mid, legit varied. Cost asymmetry signal.</a:t>
            </a:r>
          </a:p>
        </p:txBody>
      </p:sp>
      <p:sp>
        <p:nvSpPr>
          <p:cNvPr id="16" name="TextBox 15"/>
          <p:cNvSpPr txBox="1"/>
          <p:nvPr/>
        </p:nvSpPr>
        <p:spPr>
          <a:xfrm>
            <a:off x="8595360" y="5623560"/>
            <a:ext cx="3291840" cy="274320"/>
          </a:xfrm>
          <a:prstGeom prst="rect">
            <a:avLst/>
          </a:prstGeom>
          <a:noFill/>
        </p:spPr>
        <p:txBody>
          <a:bodyPr wrap="square" lIns="0" tIns="0" rIns="0" bIns="0" anchor="t">
            <a:spAutoFit/>
          </a:bodyPr>
          <a:lstStyle/>
          <a:p>
            <a:pPr algn="l"/>
            <a:r>
              <a:rPr sz="1100" b="1" i="0">
                <a:solidFill>
                  <a:srgbClr val="1E2761"/>
                </a:solidFill>
                <a:latin typeface="Consolas"/>
              </a:rPr>
              <a:t>ua_entropy</a:t>
            </a:r>
          </a:p>
        </p:txBody>
      </p:sp>
      <p:sp>
        <p:nvSpPr>
          <p:cNvPr id="17" name="TextBox 16"/>
          <p:cNvSpPr txBox="1"/>
          <p:nvPr/>
        </p:nvSpPr>
        <p:spPr>
          <a:xfrm>
            <a:off x="8595360" y="5897880"/>
            <a:ext cx="3291840" cy="274320"/>
          </a:xfrm>
          <a:prstGeom prst="rect">
            <a:avLst/>
          </a:prstGeom>
          <a:noFill/>
        </p:spPr>
        <p:txBody>
          <a:bodyPr wrap="square" lIns="0" tIns="0" rIns="0" bIns="0" anchor="t">
            <a:spAutoFit/>
          </a:bodyPr>
          <a:lstStyle/>
          <a:p>
            <a:pPr algn="l"/>
            <a:r>
              <a:rPr sz="900" b="1" i="0" spc="300">
                <a:solidFill>
                  <a:srgbClr val="8FAEEB"/>
                </a:solidFill>
                <a:latin typeface="Calibri"/>
              </a:rPr>
              <a:t>INVERTED</a:t>
            </a:r>
          </a:p>
        </p:txBody>
      </p:sp>
      <p:sp>
        <p:nvSpPr>
          <p:cNvPr id="18" name="TextBox 17"/>
          <p:cNvSpPr txBox="1"/>
          <p:nvPr/>
        </p:nvSpPr>
        <p:spPr>
          <a:xfrm>
            <a:off x="8595360" y="6172200"/>
            <a:ext cx="3291840" cy="502920"/>
          </a:xfrm>
          <a:prstGeom prst="rect">
            <a:avLst/>
          </a:prstGeom>
          <a:noFill/>
        </p:spPr>
        <p:txBody>
          <a:bodyPr wrap="square" lIns="0" tIns="0" rIns="0" bIns="0" anchor="t">
            <a:spAutoFit/>
          </a:bodyPr>
          <a:lstStyle/>
          <a:p>
            <a:pPr algn="l"/>
            <a:r>
              <a:rPr sz="1000" b="0" i="0">
                <a:solidFill>
                  <a:srgbClr val="1A1A2E"/>
                </a:solidFill>
                <a:latin typeface="Calibri"/>
              </a:rPr>
              <a:t>Higher in mimicry — the attacker DIVERSIFIES UA strings, and that itself is a signal.</a:t>
            </a:r>
          </a:p>
        </p:txBody>
      </p:sp>
      <p:sp>
        <p:nvSpPr>
          <p:cNvPr id="19" name="TextBox 18"/>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Thesis Checkpoint Presentation</a:t>
            </a:r>
          </a:p>
        </p:txBody>
      </p:sp>
      <p:sp>
        <p:nvSpPr>
          <p:cNvPr id="20" name="TextBox 19"/>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17 / 23</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3 · RESULTS · OPERATIONAL</a:t>
            </a:r>
          </a:p>
        </p:txBody>
      </p:sp>
      <p:sp>
        <p:nvSpPr>
          <p:cNvPr id="3" name="TextBox 2"/>
          <p:cNvSpPr txBox="1"/>
          <p:nvPr/>
        </p:nvSpPr>
        <p:spPr>
          <a:xfrm>
            <a:off x="365760" y="548640"/>
            <a:ext cx="11430000" cy="640080"/>
          </a:xfrm>
          <a:prstGeom prst="rect">
            <a:avLst/>
          </a:prstGeom>
          <a:noFill/>
        </p:spPr>
        <p:txBody>
          <a:bodyPr wrap="square" lIns="0" tIns="0" rIns="0" bIns="0" anchor="t">
            <a:spAutoFit/>
          </a:bodyPr>
          <a:lstStyle/>
          <a:p>
            <a:pPr algn="l"/>
            <a:r>
              <a:rPr sz="2800" b="1" i="0">
                <a:solidFill>
                  <a:srgbClr val="1E2761"/>
                </a:solidFill>
                <a:latin typeface="Calibri"/>
              </a:rPr>
              <a:t>Detection Latency and False Positive Rate</a:t>
            </a:r>
          </a:p>
        </p:txBody>
      </p:sp>
      <p:sp>
        <p:nvSpPr>
          <p:cNvPr id="4" name="TextBox 3"/>
          <p:cNvSpPr txBox="1"/>
          <p:nvPr/>
        </p:nvSpPr>
        <p:spPr>
          <a:xfrm>
            <a:off x="365760" y="1188720"/>
            <a:ext cx="11430000" cy="365760"/>
          </a:xfrm>
          <a:prstGeom prst="rect">
            <a:avLst/>
          </a:prstGeom>
          <a:noFill/>
        </p:spPr>
        <p:txBody>
          <a:bodyPr wrap="square" lIns="0" tIns="0" rIns="0" bIns="0" anchor="t">
            <a:spAutoFit/>
          </a:bodyPr>
          <a:lstStyle/>
          <a:p>
            <a:pPr algn="l"/>
            <a:r>
              <a:rPr sz="1400" b="0" i="1">
                <a:solidFill>
                  <a:srgbClr val="64748B"/>
                </a:solidFill>
                <a:latin typeface="Calibri"/>
              </a:rPr>
              <a:t>How fast does the system react, and how often does it bother real users?</a:t>
            </a:r>
          </a:p>
        </p:txBody>
      </p:sp>
      <p:sp>
        <p:nvSpPr>
          <p:cNvPr id="5" name="TextBox 4"/>
          <p:cNvSpPr txBox="1"/>
          <p:nvPr/>
        </p:nvSpPr>
        <p:spPr>
          <a:xfrm>
            <a:off x="457200" y="1691640"/>
            <a:ext cx="5943600" cy="320040"/>
          </a:xfrm>
          <a:prstGeom prst="rect">
            <a:avLst/>
          </a:prstGeom>
          <a:noFill/>
        </p:spPr>
        <p:txBody>
          <a:bodyPr wrap="square" lIns="0" tIns="0" rIns="0" bIns="0" anchor="t">
            <a:spAutoFit/>
          </a:bodyPr>
          <a:lstStyle/>
          <a:p>
            <a:pPr algn="l"/>
            <a:r>
              <a:rPr sz="1300" b="1" i="0">
                <a:solidFill>
                  <a:srgbClr val="1E2761"/>
                </a:solidFill>
                <a:latin typeface="Calibri"/>
              </a:rPr>
              <a:t>Detection summary</a:t>
            </a:r>
          </a:p>
        </p:txBody>
      </p:sp>
      <p:graphicFrame>
        <p:nvGraphicFramePr>
          <p:cNvPr id="6" name="Table 5"/>
          <p:cNvGraphicFramePr>
            <a:graphicFrameLocks noGrp="1"/>
          </p:cNvGraphicFramePr>
          <p:nvPr/>
        </p:nvGraphicFramePr>
        <p:xfrm>
          <a:off x="457200" y="2057400"/>
          <a:ext cx="5943600" cy="2304288"/>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384048">
                <a:tc>
                  <a:txBody>
                    <a:bodyPr/>
                    <a:lstStyle/>
                    <a:p>
                      <a:pPr algn="l"/>
                      <a:r>
                        <a:rPr sz="1100" b="1">
                          <a:solidFill>
                            <a:srgbClr val="FFFFFF"/>
                          </a:solidFill>
                          <a:latin typeface="Calibri"/>
                        </a:rPr>
                        <a:t>Metric</a:t>
                      </a:r>
                    </a:p>
                  </a:txBody>
                  <a:tcPr marL="73152" marR="73152" marT="36576" marB="36576">
                    <a:solidFill>
                      <a:srgbClr val="1E2761"/>
                    </a:solidFill>
                  </a:tcPr>
                </a:tc>
                <a:tc>
                  <a:txBody>
                    <a:bodyPr/>
                    <a:lstStyle/>
                    <a:p>
                      <a:pPr algn="ctr"/>
                      <a:r>
                        <a:rPr sz="1100" b="1">
                          <a:solidFill>
                            <a:srgbClr val="FFFFFF"/>
                          </a:solidFill>
                          <a:latin typeface="Calibri"/>
                        </a:rPr>
                        <a:t>Value</a:t>
                      </a:r>
                    </a:p>
                  </a:txBody>
                  <a:tcPr marL="73152" marR="73152" marT="36576" marB="36576">
                    <a:solidFill>
                      <a:srgbClr val="1E2761"/>
                    </a:solidFill>
                  </a:tcPr>
                </a:tc>
                <a:extLst>
                  <a:ext uri="{0D108BD9-81ED-4DB2-BD59-A6C34878D82A}">
                    <a16:rowId xmlns:a16="http://schemas.microsoft.com/office/drawing/2014/main" val="10000"/>
                  </a:ext>
                </a:extLst>
              </a:tr>
              <a:tr h="384048">
                <a:tc>
                  <a:txBody>
                    <a:bodyPr/>
                    <a:lstStyle/>
                    <a:p>
                      <a:pPr algn="l"/>
                      <a:r>
                        <a:rPr sz="1100" b="0">
                          <a:solidFill>
                            <a:srgbClr val="1A1A2E"/>
                          </a:solidFill>
                          <a:latin typeface="Calibri"/>
                        </a:rPr>
                        <a:t>Median detection latency</a:t>
                      </a:r>
                    </a:p>
                  </a:txBody>
                  <a:tcPr marL="73152" marR="73152" marT="36576" marB="36576"/>
                </a:tc>
                <a:tc>
                  <a:txBody>
                    <a:bodyPr/>
                    <a:lstStyle/>
                    <a:p>
                      <a:pPr algn="ctr"/>
                      <a:r>
                        <a:rPr sz="1100" b="0">
                          <a:solidFill>
                            <a:srgbClr val="1A1A2E"/>
                          </a:solidFill>
                          <a:latin typeface="Calibri"/>
                        </a:rPr>
                        <a:t>0.0 sec (first window)</a:t>
                      </a:r>
                    </a:p>
                  </a:txBody>
                  <a:tcPr marL="73152" marR="73152" marT="36576" marB="36576"/>
                </a:tc>
                <a:extLst>
                  <a:ext uri="{0D108BD9-81ED-4DB2-BD59-A6C34878D82A}">
                    <a16:rowId xmlns:a16="http://schemas.microsoft.com/office/drawing/2014/main" val="10001"/>
                  </a:ext>
                </a:extLst>
              </a:tr>
              <a:tr h="384048">
                <a:tc>
                  <a:txBody>
                    <a:bodyPr/>
                    <a:lstStyle/>
                    <a:p>
                      <a:pPr algn="l"/>
                      <a:r>
                        <a:rPr sz="1100" b="0">
                          <a:solidFill>
                            <a:srgbClr val="1A1A2E"/>
                          </a:solidFill>
                          <a:latin typeface="Calibri"/>
                        </a:rPr>
                        <a:t>Mimicry binary attack recall</a:t>
                      </a:r>
                    </a:p>
                  </a:txBody>
                  <a:tcPr marL="73152" marR="73152" marT="36576" marB="36576"/>
                </a:tc>
                <a:tc>
                  <a:txBody>
                    <a:bodyPr/>
                    <a:lstStyle/>
                    <a:p>
                      <a:pPr algn="ctr"/>
                      <a:r>
                        <a:rPr sz="1100" b="0">
                          <a:solidFill>
                            <a:srgbClr val="1A1A2E"/>
                          </a:solidFill>
                          <a:latin typeface="Calibri"/>
                        </a:rPr>
                        <a:t>96.92%</a:t>
                      </a:r>
                    </a:p>
                  </a:txBody>
                  <a:tcPr marL="73152" marR="73152" marT="36576" marB="36576"/>
                </a:tc>
                <a:extLst>
                  <a:ext uri="{0D108BD9-81ED-4DB2-BD59-A6C34878D82A}">
                    <a16:rowId xmlns:a16="http://schemas.microsoft.com/office/drawing/2014/main" val="10002"/>
                  </a:ext>
                </a:extLst>
              </a:tr>
              <a:tr h="384048">
                <a:tc>
                  <a:txBody>
                    <a:bodyPr/>
                    <a:lstStyle/>
                    <a:p>
                      <a:pPr algn="l"/>
                      <a:r>
                        <a:rPr sz="1100" b="0">
                          <a:solidFill>
                            <a:srgbClr val="1A1A2E"/>
                          </a:solidFill>
                          <a:latin typeface="Calibri"/>
                        </a:rPr>
                        <a:t>In-distribution test accuracy</a:t>
                      </a:r>
                    </a:p>
                  </a:txBody>
                  <a:tcPr marL="73152" marR="73152" marT="36576" marB="36576"/>
                </a:tc>
                <a:tc>
                  <a:txBody>
                    <a:bodyPr/>
                    <a:lstStyle/>
                    <a:p>
                      <a:pPr algn="ctr"/>
                      <a:r>
                        <a:rPr sz="1100" b="0">
                          <a:solidFill>
                            <a:srgbClr val="1A1A2E"/>
                          </a:solidFill>
                          <a:latin typeface="Calibri"/>
                        </a:rPr>
                        <a:t>100%</a:t>
                      </a:r>
                    </a:p>
                  </a:txBody>
                  <a:tcPr marL="73152" marR="73152" marT="36576" marB="36576"/>
                </a:tc>
                <a:extLst>
                  <a:ext uri="{0D108BD9-81ED-4DB2-BD59-A6C34878D82A}">
                    <a16:rowId xmlns:a16="http://schemas.microsoft.com/office/drawing/2014/main" val="10003"/>
                  </a:ext>
                </a:extLst>
              </a:tr>
              <a:tr h="384048">
                <a:tc>
                  <a:txBody>
                    <a:bodyPr/>
                    <a:lstStyle/>
                    <a:p>
                      <a:pPr algn="l"/>
                      <a:r>
                        <a:rPr sz="1100" b="0">
                          <a:solidFill>
                            <a:srgbClr val="1A1A2E"/>
                          </a:solidFill>
                          <a:latin typeface="Calibri"/>
                        </a:rPr>
                        <a:t>Behavioral lift on mimicry (ablation)</a:t>
                      </a:r>
                    </a:p>
                  </a:txBody>
                  <a:tcPr marL="73152" marR="73152" marT="36576" marB="36576"/>
                </a:tc>
                <a:tc>
                  <a:txBody>
                    <a:bodyPr/>
                    <a:lstStyle/>
                    <a:p>
                      <a:pPr algn="ctr"/>
                      <a:r>
                        <a:rPr sz="1100" b="0">
                          <a:solidFill>
                            <a:srgbClr val="1A1A2E"/>
                          </a:solidFill>
                          <a:latin typeface="Calibri"/>
                        </a:rPr>
                        <a:t>+23 percentage points</a:t>
                      </a:r>
                    </a:p>
                  </a:txBody>
                  <a:tcPr marL="73152" marR="73152" marT="36576" marB="36576"/>
                </a:tc>
                <a:extLst>
                  <a:ext uri="{0D108BD9-81ED-4DB2-BD59-A6C34878D82A}">
                    <a16:rowId xmlns:a16="http://schemas.microsoft.com/office/drawing/2014/main" val="10004"/>
                  </a:ext>
                </a:extLst>
              </a:tr>
              <a:tr h="384048">
                <a:tc>
                  <a:txBody>
                    <a:bodyPr/>
                    <a:lstStyle/>
                    <a:p>
                      <a:pPr algn="l"/>
                      <a:r>
                        <a:rPr sz="1100" b="0">
                          <a:solidFill>
                            <a:srgbClr val="1A1A2E"/>
                          </a:solidFill>
                          <a:latin typeface="Calibri"/>
                        </a:rPr>
                        <a:t>S6 slowloris (sparse, rule-based) *</a:t>
                      </a:r>
                    </a:p>
                  </a:txBody>
                  <a:tcPr marL="73152" marR="73152" marT="36576" marB="36576"/>
                </a:tc>
                <a:tc>
                  <a:txBody>
                    <a:bodyPr/>
                    <a:lstStyle/>
                    <a:p>
                      <a:pPr algn="ctr"/>
                      <a:r>
                        <a:rPr sz="1100" b="0">
                          <a:solidFill>
                            <a:srgbClr val="64748B"/>
                          </a:solidFill>
                          <a:latin typeface="Calibri"/>
                        </a:rPr>
                        <a:t>see §5.3</a:t>
                      </a:r>
                    </a:p>
                  </a:txBody>
                  <a:tcPr marL="73152" marR="73152" marT="36576" marB="36576"/>
                </a:tc>
                <a:extLst>
                  <a:ext uri="{0D108BD9-81ED-4DB2-BD59-A6C34878D82A}">
                    <a16:rowId xmlns:a16="http://schemas.microsoft.com/office/drawing/2014/main" val="10005"/>
                  </a:ext>
                </a:extLst>
              </a:tr>
            </a:tbl>
          </a:graphicData>
        </a:graphic>
      </p:graphicFrame>
      <p:sp>
        <p:nvSpPr>
          <p:cNvPr id="7" name="TextBox 6"/>
          <p:cNvSpPr txBox="1"/>
          <p:nvPr/>
        </p:nvSpPr>
        <p:spPr>
          <a:xfrm>
            <a:off x="457200" y="4617720"/>
            <a:ext cx="5943600" cy="274320"/>
          </a:xfrm>
          <a:prstGeom prst="rect">
            <a:avLst/>
          </a:prstGeom>
          <a:noFill/>
        </p:spPr>
        <p:txBody>
          <a:bodyPr wrap="square" lIns="0" tIns="0" rIns="0" bIns="0" anchor="t">
            <a:spAutoFit/>
          </a:bodyPr>
          <a:lstStyle/>
          <a:p>
            <a:pPr algn="l"/>
            <a:r>
              <a:rPr sz="900" b="0" i="1">
                <a:solidFill>
                  <a:srgbClr val="64748B"/>
                </a:solidFill>
                <a:latin typeface="Calibri"/>
              </a:rPr>
              <a:t>* Slow HTTP evaluated by connection-level rule — see Discussion §5.3</a:t>
            </a:r>
          </a:p>
        </p:txBody>
      </p:sp>
      <p:sp>
        <p:nvSpPr>
          <p:cNvPr id="8" name="TextBox 7"/>
          <p:cNvSpPr txBox="1"/>
          <p:nvPr/>
        </p:nvSpPr>
        <p:spPr>
          <a:xfrm>
            <a:off x="6858000" y="1691640"/>
            <a:ext cx="5029200" cy="320040"/>
          </a:xfrm>
          <a:prstGeom prst="rect">
            <a:avLst/>
          </a:prstGeom>
          <a:noFill/>
        </p:spPr>
        <p:txBody>
          <a:bodyPr wrap="square" lIns="0" tIns="0" rIns="0" bIns="0" anchor="t">
            <a:spAutoFit/>
          </a:bodyPr>
          <a:lstStyle/>
          <a:p>
            <a:pPr algn="l"/>
            <a:r>
              <a:rPr sz="1300" b="1" i="0">
                <a:solidFill>
                  <a:srgbClr val="1E2761"/>
                </a:solidFill>
                <a:latin typeface="Calibri"/>
              </a:rPr>
              <a:t>False positives on normal users</a:t>
            </a:r>
          </a:p>
        </p:txBody>
      </p:sp>
      <p:sp>
        <p:nvSpPr>
          <p:cNvPr id="9" name="Rectangle 8"/>
          <p:cNvSpPr/>
          <p:nvPr/>
        </p:nvSpPr>
        <p:spPr>
          <a:xfrm>
            <a:off x="6858000" y="2103120"/>
            <a:ext cx="4846320" cy="7772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0" y="2103120"/>
            <a:ext cx="91440" cy="777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132320" y="2194560"/>
            <a:ext cx="1645920" cy="594360"/>
          </a:xfrm>
          <a:prstGeom prst="rect">
            <a:avLst/>
          </a:prstGeom>
          <a:noFill/>
        </p:spPr>
        <p:txBody>
          <a:bodyPr wrap="square" lIns="0" tIns="0" rIns="0" bIns="0" anchor="t">
            <a:spAutoFit/>
          </a:bodyPr>
          <a:lstStyle/>
          <a:p>
            <a:pPr algn="l"/>
            <a:r>
              <a:rPr sz="3200" b="1" i="0">
                <a:solidFill>
                  <a:srgbClr val="02C39A"/>
                </a:solidFill>
                <a:latin typeface="Calibri"/>
              </a:rPr>
              <a:t>0</a:t>
            </a:r>
          </a:p>
        </p:txBody>
      </p:sp>
      <p:sp>
        <p:nvSpPr>
          <p:cNvPr id="12" name="TextBox 11"/>
          <p:cNvSpPr txBox="1"/>
          <p:nvPr/>
        </p:nvSpPr>
        <p:spPr>
          <a:xfrm>
            <a:off x="8778240" y="2286000"/>
            <a:ext cx="2834640" cy="457200"/>
          </a:xfrm>
          <a:prstGeom prst="rect">
            <a:avLst/>
          </a:prstGeom>
          <a:noFill/>
        </p:spPr>
        <p:txBody>
          <a:bodyPr wrap="square" lIns="0" tIns="0" rIns="0" bIns="0" anchor="ctr">
            <a:spAutoFit/>
          </a:bodyPr>
          <a:lstStyle/>
          <a:p>
            <a:pPr algn="l"/>
            <a:r>
              <a:rPr sz="1100" b="0" i="0">
                <a:solidFill>
                  <a:srgbClr val="1A1A2E"/>
                </a:solidFill>
                <a:latin typeface="Calibri"/>
              </a:rPr>
              <a:t>false-positive windows</a:t>
            </a:r>
          </a:p>
        </p:txBody>
      </p:sp>
      <p:sp>
        <p:nvSpPr>
          <p:cNvPr id="13" name="Rectangle 12"/>
          <p:cNvSpPr/>
          <p:nvPr/>
        </p:nvSpPr>
        <p:spPr>
          <a:xfrm>
            <a:off x="6858000" y="3017520"/>
            <a:ext cx="4846320" cy="7772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858000" y="3017520"/>
            <a:ext cx="91440" cy="777240"/>
          </a:xfrm>
          <a:prstGeom prst="rect">
            <a:avLst/>
          </a:prstGeom>
          <a:solidFill>
            <a:srgbClr val="8FAE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132320" y="3108960"/>
            <a:ext cx="1645920" cy="594360"/>
          </a:xfrm>
          <a:prstGeom prst="rect">
            <a:avLst/>
          </a:prstGeom>
          <a:noFill/>
        </p:spPr>
        <p:txBody>
          <a:bodyPr wrap="square" lIns="0" tIns="0" rIns="0" bIns="0" anchor="t">
            <a:spAutoFit/>
          </a:bodyPr>
          <a:lstStyle/>
          <a:p>
            <a:pPr algn="l"/>
            <a:r>
              <a:rPr sz="3200" b="1" i="0">
                <a:solidFill>
                  <a:srgbClr val="8FAEEB"/>
                </a:solidFill>
                <a:latin typeface="Calibri"/>
              </a:rPr>
              <a:t>∞</a:t>
            </a:r>
          </a:p>
        </p:txBody>
      </p:sp>
      <p:sp>
        <p:nvSpPr>
          <p:cNvPr id="16" name="TextBox 15"/>
          <p:cNvSpPr txBox="1"/>
          <p:nvPr/>
        </p:nvSpPr>
        <p:spPr>
          <a:xfrm>
            <a:off x="8778240" y="3200400"/>
            <a:ext cx="2834640" cy="457200"/>
          </a:xfrm>
          <a:prstGeom prst="rect">
            <a:avLst/>
          </a:prstGeom>
          <a:noFill/>
        </p:spPr>
        <p:txBody>
          <a:bodyPr wrap="square" lIns="0" tIns="0" rIns="0" bIns="0" anchor="ctr">
            <a:spAutoFit/>
          </a:bodyPr>
          <a:lstStyle/>
          <a:p>
            <a:pPr algn="l"/>
            <a:r>
              <a:rPr sz="1100" b="0" i="0">
                <a:solidFill>
                  <a:srgbClr val="1A1A2E"/>
                </a:solidFill>
                <a:latin typeface="Calibri"/>
              </a:rPr>
              <a:t>windows per false alarm</a:t>
            </a:r>
          </a:p>
        </p:txBody>
      </p:sp>
      <p:sp>
        <p:nvSpPr>
          <p:cNvPr id="17" name="Rectangle 16"/>
          <p:cNvSpPr/>
          <p:nvPr/>
        </p:nvSpPr>
        <p:spPr>
          <a:xfrm>
            <a:off x="6858000" y="3931920"/>
            <a:ext cx="4846320" cy="7772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858000" y="3931920"/>
            <a:ext cx="91440" cy="777240"/>
          </a:xfrm>
          <a:prstGeom prst="rect">
            <a:avLst/>
          </a:prstGeom>
          <a:solidFill>
            <a:srgbClr val="018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132320" y="4023359"/>
            <a:ext cx="1645920" cy="594360"/>
          </a:xfrm>
          <a:prstGeom prst="rect">
            <a:avLst/>
          </a:prstGeom>
          <a:noFill/>
        </p:spPr>
        <p:txBody>
          <a:bodyPr wrap="square" lIns="0" tIns="0" rIns="0" bIns="0" anchor="t">
            <a:spAutoFit/>
          </a:bodyPr>
          <a:lstStyle/>
          <a:p>
            <a:pPr algn="l"/>
            <a:r>
              <a:rPr sz="3200" b="1" i="0">
                <a:solidFill>
                  <a:srgbClr val="018F71"/>
                </a:solidFill>
                <a:latin typeface="Calibri"/>
              </a:rPr>
              <a:t>0.000</a:t>
            </a:r>
          </a:p>
        </p:txBody>
      </p:sp>
      <p:sp>
        <p:nvSpPr>
          <p:cNvPr id="20" name="TextBox 19"/>
          <p:cNvSpPr txBox="1"/>
          <p:nvPr/>
        </p:nvSpPr>
        <p:spPr>
          <a:xfrm>
            <a:off x="8778240" y="4114800"/>
            <a:ext cx="2834640" cy="457200"/>
          </a:xfrm>
          <a:prstGeom prst="rect">
            <a:avLst/>
          </a:prstGeom>
          <a:noFill/>
        </p:spPr>
        <p:txBody>
          <a:bodyPr wrap="square" lIns="0" tIns="0" rIns="0" bIns="0" anchor="ctr">
            <a:spAutoFit/>
          </a:bodyPr>
          <a:lstStyle/>
          <a:p>
            <a:pPr algn="l"/>
            <a:r>
              <a:rPr sz="1100" b="0" i="0">
                <a:solidFill>
                  <a:srgbClr val="1A1A2E"/>
                </a:solidFill>
                <a:latin typeface="Calibri"/>
              </a:rPr>
              <a:t>FPR / legit IP-minute</a:t>
            </a:r>
          </a:p>
        </p:txBody>
      </p:sp>
      <p:sp>
        <p:nvSpPr>
          <p:cNvPr id="21" name="Rectangle 20"/>
          <p:cNvSpPr/>
          <p:nvPr/>
        </p:nvSpPr>
        <p:spPr>
          <a:xfrm>
            <a:off x="457200" y="5120640"/>
            <a:ext cx="11247120" cy="12801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57200" y="5120640"/>
            <a:ext cx="137160" cy="128016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5212080"/>
            <a:ext cx="4572000" cy="274320"/>
          </a:xfrm>
          <a:prstGeom prst="rect">
            <a:avLst/>
          </a:prstGeom>
          <a:noFill/>
        </p:spPr>
        <p:txBody>
          <a:bodyPr wrap="square" lIns="0" tIns="0" rIns="0" bIns="0" anchor="t">
            <a:spAutoFit/>
          </a:bodyPr>
          <a:lstStyle/>
          <a:p>
            <a:pPr algn="l"/>
            <a:r>
              <a:rPr sz="1100" b="1" i="0" spc="400">
                <a:solidFill>
                  <a:srgbClr val="02C39A"/>
                </a:solidFill>
                <a:latin typeface="Calibri"/>
              </a:rPr>
              <a:t>OPERATIONAL READING</a:t>
            </a:r>
          </a:p>
        </p:txBody>
      </p:sp>
      <p:sp>
        <p:nvSpPr>
          <p:cNvPr id="24" name="TextBox 23"/>
          <p:cNvSpPr txBox="1"/>
          <p:nvPr/>
        </p:nvSpPr>
        <p:spPr>
          <a:xfrm>
            <a:off x="777240" y="5486400"/>
            <a:ext cx="10789920" cy="914400"/>
          </a:xfrm>
          <a:prstGeom prst="rect">
            <a:avLst/>
          </a:prstGeom>
          <a:noFill/>
        </p:spPr>
        <p:txBody>
          <a:bodyPr wrap="square" lIns="0" tIns="0" rIns="0" bIns="0" anchor="t">
            <a:spAutoFit/>
          </a:bodyPr>
          <a:lstStyle/>
          <a:p>
            <a:pPr algn="l"/>
            <a:r>
              <a:rPr sz="1200" b="0" i="1">
                <a:solidFill>
                  <a:srgbClr val="FFFFFF"/>
                </a:solidFill>
                <a:latin typeface="Calibri"/>
              </a:rPr>
              <a:t>Median detection is in the first 10-second window. Under V3 production-realistic conditions, the model produces zero false positives across all normal-user windows — a clean signal even with stricter (more realistic) legit baseline.</a:t>
            </a:r>
          </a:p>
        </p:txBody>
      </p:sp>
      <p:sp>
        <p:nvSpPr>
          <p:cNvPr id="25" name="TextBox 24"/>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Thesis Checkpoint Presentation</a:t>
            </a:r>
          </a:p>
        </p:txBody>
      </p:sp>
      <p:sp>
        <p:nvSpPr>
          <p:cNvPr id="26" name="TextBox 25"/>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18 / 23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3 · RESULTS · CALIBRATION</a:t>
            </a:r>
          </a:p>
        </p:txBody>
      </p:sp>
      <p:sp>
        <p:nvSpPr>
          <p:cNvPr id="3" name="TextBox 2"/>
          <p:cNvSpPr txBox="1"/>
          <p:nvPr/>
        </p:nvSpPr>
        <p:spPr>
          <a:xfrm>
            <a:off x="365760" y="548640"/>
            <a:ext cx="11430000" cy="640080"/>
          </a:xfrm>
          <a:prstGeom prst="rect">
            <a:avLst/>
          </a:prstGeom>
          <a:noFill/>
        </p:spPr>
        <p:txBody>
          <a:bodyPr wrap="square" lIns="0" tIns="0" rIns="0" bIns="0" anchor="t">
            <a:spAutoFit/>
          </a:bodyPr>
          <a:lstStyle/>
          <a:p>
            <a:pPr algn="l"/>
            <a:r>
              <a:rPr sz="2800" b="1" i="0">
                <a:solidFill>
                  <a:srgbClr val="1E2761"/>
                </a:solidFill>
                <a:latin typeface="Calibri"/>
              </a:rPr>
              <a:t>Calibration Improvement — Synthetic Aligns with NASA</a:t>
            </a:r>
          </a:p>
        </p:txBody>
      </p:sp>
      <p:sp>
        <p:nvSpPr>
          <p:cNvPr id="4" name="TextBox 3"/>
          <p:cNvSpPr txBox="1"/>
          <p:nvPr/>
        </p:nvSpPr>
        <p:spPr>
          <a:xfrm>
            <a:off x="365760" y="1188720"/>
            <a:ext cx="11430000" cy="365760"/>
          </a:xfrm>
          <a:prstGeom prst="rect">
            <a:avLst/>
          </a:prstGeom>
          <a:noFill/>
        </p:spPr>
        <p:txBody>
          <a:bodyPr wrap="square" lIns="0" tIns="0" rIns="0" bIns="0" anchor="t">
            <a:spAutoFit/>
          </a:bodyPr>
          <a:lstStyle/>
          <a:p>
            <a:pPr algn="l"/>
            <a:r>
              <a:rPr sz="1400" b="0" i="1">
                <a:solidFill>
                  <a:srgbClr val="64748B"/>
                </a:solidFill>
                <a:latin typeface="Calibri"/>
              </a:rPr>
              <a:t>After bug fix + 100 VU, IAT KS dropped from 0.994 to 0.321</a:t>
            </a:r>
          </a:p>
        </p:txBody>
      </p:sp>
      <p:pic>
        <p:nvPicPr>
          <p:cNvPr id="5" name="Picture 4" descr="fig7_iat_calibration.png"/>
          <p:cNvPicPr>
            <a:picLocks noChangeAspect="1"/>
          </p:cNvPicPr>
          <p:nvPr/>
        </p:nvPicPr>
        <p:blipFill>
          <a:blip r:embed="rId2"/>
          <a:stretch>
            <a:fillRect/>
          </a:stretch>
        </p:blipFill>
        <p:spPr>
          <a:xfrm>
            <a:off x="457200" y="1691640"/>
            <a:ext cx="5760720" cy="2194560"/>
          </a:xfrm>
          <a:prstGeom prst="rect">
            <a:avLst/>
          </a:prstGeom>
        </p:spPr>
      </p:pic>
      <p:sp>
        <p:nvSpPr>
          <p:cNvPr id="6" name="TextBox 5"/>
          <p:cNvSpPr txBox="1"/>
          <p:nvPr/>
        </p:nvSpPr>
        <p:spPr>
          <a:xfrm>
            <a:off x="457200" y="3931920"/>
            <a:ext cx="5760720" cy="274320"/>
          </a:xfrm>
          <a:prstGeom prst="rect">
            <a:avLst/>
          </a:prstGeom>
          <a:noFill/>
        </p:spPr>
        <p:txBody>
          <a:bodyPr wrap="square" lIns="0" tIns="0" rIns="0" bIns="0" anchor="t">
            <a:spAutoFit/>
          </a:bodyPr>
          <a:lstStyle/>
          <a:p>
            <a:pPr algn="ctr"/>
            <a:r>
              <a:rPr sz="1100" b="0" i="1">
                <a:solidFill>
                  <a:srgbClr val="64748B"/>
                </a:solidFill>
                <a:latin typeface="Calibri"/>
              </a:rPr>
              <a:t>IAT distribution (KS = 0.321) — substantial alignment in 0.1-10s range</a:t>
            </a:r>
          </a:p>
        </p:txBody>
      </p:sp>
      <p:pic>
        <p:nvPicPr>
          <p:cNvPr id="7" name="Picture 6" descr="fig8_zipf_calibration.png"/>
          <p:cNvPicPr>
            <a:picLocks noChangeAspect="1"/>
          </p:cNvPicPr>
          <p:nvPr/>
        </p:nvPicPr>
        <p:blipFill>
          <a:blip r:embed="rId3"/>
          <a:stretch>
            <a:fillRect/>
          </a:stretch>
        </p:blipFill>
        <p:spPr>
          <a:xfrm>
            <a:off x="6400800" y="1691640"/>
            <a:ext cx="5486400" cy="2194560"/>
          </a:xfrm>
          <a:prstGeom prst="rect">
            <a:avLst/>
          </a:prstGeom>
        </p:spPr>
      </p:pic>
      <p:sp>
        <p:nvSpPr>
          <p:cNvPr id="8" name="TextBox 7"/>
          <p:cNvSpPr txBox="1"/>
          <p:nvPr/>
        </p:nvSpPr>
        <p:spPr>
          <a:xfrm>
            <a:off x="6400800" y="3931920"/>
            <a:ext cx="5486400" cy="274320"/>
          </a:xfrm>
          <a:prstGeom prst="rect">
            <a:avLst/>
          </a:prstGeom>
          <a:noFill/>
        </p:spPr>
        <p:txBody>
          <a:bodyPr wrap="square" lIns="0" tIns="0" rIns="0" bIns="0" anchor="t">
            <a:spAutoFit/>
          </a:bodyPr>
          <a:lstStyle/>
          <a:p>
            <a:pPr algn="ctr"/>
            <a:r>
              <a:rPr sz="1100" b="0" i="1">
                <a:solidFill>
                  <a:srgbClr val="64748B"/>
                </a:solidFill>
                <a:latin typeface="Calibri"/>
              </a:rPr>
              <a:t>Endpoint Zipf (α: synthetic 2.20 vs NASA 1.25)</a:t>
            </a:r>
          </a:p>
        </p:txBody>
      </p:sp>
      <p:sp>
        <p:nvSpPr>
          <p:cNvPr id="9" name="Rectangle 8"/>
          <p:cNvSpPr/>
          <p:nvPr/>
        </p:nvSpPr>
        <p:spPr>
          <a:xfrm>
            <a:off x="457200" y="4434840"/>
            <a:ext cx="11247120" cy="19202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4434840"/>
            <a:ext cx="137160" cy="1920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4526280"/>
            <a:ext cx="5486400" cy="320040"/>
          </a:xfrm>
          <a:prstGeom prst="rect">
            <a:avLst/>
          </a:prstGeom>
          <a:noFill/>
        </p:spPr>
        <p:txBody>
          <a:bodyPr wrap="square" lIns="0" tIns="0" rIns="0" bIns="0" anchor="t">
            <a:spAutoFit/>
          </a:bodyPr>
          <a:lstStyle/>
          <a:p>
            <a:pPr algn="l"/>
            <a:r>
              <a:rPr sz="1100" b="1" i="0" spc="400">
                <a:solidFill>
                  <a:srgbClr val="018F71"/>
                </a:solidFill>
                <a:latin typeface="Calibri"/>
              </a:rPr>
              <a:t>WHAT'S PRESERVED, WHAT'S RE-PARAMETERIZED</a:t>
            </a:r>
          </a:p>
        </p:txBody>
      </p:sp>
      <p:sp>
        <p:nvSpPr>
          <p:cNvPr id="12" name="TextBox 11"/>
          <p:cNvSpPr txBox="1"/>
          <p:nvPr/>
        </p:nvSpPr>
        <p:spPr>
          <a:xfrm>
            <a:off x="777240" y="4846320"/>
            <a:ext cx="10789920" cy="1508760"/>
          </a:xfrm>
          <a:prstGeom prst="rect">
            <a:avLst/>
          </a:prstGeom>
          <a:noFill/>
        </p:spPr>
        <p:txBody>
          <a:bodyPr wrap="square" lIns="0" tIns="0" rIns="0" bIns="0" anchor="t">
            <a:spAutoFit/>
          </a:bodyPr>
          <a:lstStyle/>
          <a:p>
            <a:pPr algn="l"/>
            <a:r>
              <a:rPr sz="1150" b="1" i="0">
                <a:solidFill>
                  <a:srgbClr val="1A1A2E"/>
                </a:solidFill>
                <a:latin typeface="Calibri"/>
              </a:rPr>
              <a:t>Synthetic traffic now closely tracks NASA structure.</a:t>
            </a:r>
          </a:p>
          <a:p>
            <a:pPr algn="l"/>
            <a:r>
              <a:rPr sz="1150" b="0" i="0">
                <a:solidFill>
                  <a:srgbClr val="1A1A2E"/>
                </a:solidFill>
                <a:latin typeface="Calibri"/>
              </a:rPr>
              <a:t>After applying log-normal think times and scaling to 100 concurrent users, IAT KS dropped from 0.994 to 0.321 — a substantial alignment improvement.</a:t>
            </a:r>
          </a:p>
          <a:p>
            <a:pPr algn="l"/>
            <a:r>
              <a:rPr sz="1150" b="1" i="0">
                <a:solidFill>
                  <a:srgbClr val="1A1A2E"/>
                </a:solidFill>
                <a:latin typeface="Calibri"/>
              </a:rPr>
              <a:t>Structural properties preserved: </a:t>
            </a:r>
            <a:r>
              <a:rPr sz="1150" b="0" i="0">
                <a:solidFill>
                  <a:srgbClr val="1A1A2E"/>
                </a:solidFill>
                <a:latin typeface="Calibri"/>
              </a:rPr>
              <a:t>log-normal IAT shape, Zipf endpoint popularity, Markov navigation graph.</a:t>
            </a:r>
          </a:p>
          <a:p>
            <a:pPr algn="l"/>
            <a:r>
              <a:rPr sz="1150" b="1" i="0">
                <a:solidFill>
                  <a:srgbClr val="1A1A2E"/>
                </a:solidFill>
                <a:latin typeface="Calibri"/>
              </a:rPr>
              <a:t>Numerical parameters re-parameterized per deployment context: </a:t>
            </a:r>
            <a:r>
              <a:rPr sz="1150" b="0" i="0">
                <a:solidFill>
                  <a:srgbClr val="1A1A2E"/>
                </a:solidFill>
                <a:latin typeface="Calibri"/>
              </a:rPr>
              <a:t>α 2.20 (4 routes) vs NASA 1.25 (hundreds of paths) — expected; structure transfers, context-specific values do not.</a:t>
            </a:r>
          </a:p>
        </p:txBody>
      </p:sp>
      <p:sp>
        <p:nvSpPr>
          <p:cNvPr id="13" name="TextBox 12"/>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Thesis Checkpoint Presentation</a:t>
            </a:r>
          </a:p>
        </p:txBody>
      </p:sp>
      <p:sp>
        <p:nvSpPr>
          <p:cNvPr id="14" name="TextBox 13"/>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19 / 23</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4 · CONTRIBUTIONS &amp; LIMITS</a:t>
            </a:r>
          </a:p>
        </p:txBody>
      </p:sp>
      <p:sp>
        <p:nvSpPr>
          <p:cNvPr id="3" name="TextBox 2"/>
          <p:cNvSpPr txBox="1"/>
          <p:nvPr/>
        </p:nvSpPr>
        <p:spPr>
          <a:xfrm>
            <a:off x="365760" y="548640"/>
            <a:ext cx="11430000" cy="640080"/>
          </a:xfrm>
          <a:prstGeom prst="rect">
            <a:avLst/>
          </a:prstGeom>
          <a:noFill/>
        </p:spPr>
        <p:txBody>
          <a:bodyPr wrap="square" lIns="0" tIns="0" rIns="0" bIns="0" anchor="t">
            <a:spAutoFit/>
          </a:bodyPr>
          <a:lstStyle/>
          <a:p>
            <a:pPr algn="l"/>
            <a:r>
              <a:rPr sz="2800" b="1" i="0">
                <a:solidFill>
                  <a:srgbClr val="1E2761"/>
                </a:solidFill>
                <a:latin typeface="Calibri"/>
              </a:rPr>
              <a:t>Scientific Contributions</a:t>
            </a:r>
          </a:p>
        </p:txBody>
      </p:sp>
      <p:sp>
        <p:nvSpPr>
          <p:cNvPr id="4" name="TextBox 3"/>
          <p:cNvSpPr txBox="1"/>
          <p:nvPr/>
        </p:nvSpPr>
        <p:spPr>
          <a:xfrm>
            <a:off x="365760" y="1188720"/>
            <a:ext cx="11430000" cy="365760"/>
          </a:xfrm>
          <a:prstGeom prst="rect">
            <a:avLst/>
          </a:prstGeom>
          <a:noFill/>
        </p:spPr>
        <p:txBody>
          <a:bodyPr wrap="square" lIns="0" tIns="0" rIns="0" bIns="0" anchor="t">
            <a:spAutoFit/>
          </a:bodyPr>
          <a:lstStyle/>
          <a:p>
            <a:pPr algn="l"/>
            <a:r>
              <a:rPr sz="1400" b="0" i="1">
                <a:solidFill>
                  <a:srgbClr val="64748B"/>
                </a:solidFill>
                <a:latin typeface="Calibri"/>
              </a:rPr>
              <a:t>Three methodological moves that make this thesis stand out</a:t>
            </a:r>
          </a:p>
        </p:txBody>
      </p:sp>
      <p:sp>
        <p:nvSpPr>
          <p:cNvPr id="5" name="Rectangle 4"/>
          <p:cNvSpPr/>
          <p:nvPr/>
        </p:nvSpPr>
        <p:spPr>
          <a:xfrm>
            <a:off x="457200" y="1691640"/>
            <a:ext cx="11247120" cy="15544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691640"/>
            <a:ext cx="1280160" cy="15544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965960"/>
            <a:ext cx="1280160" cy="868680"/>
          </a:xfrm>
          <a:prstGeom prst="rect">
            <a:avLst/>
          </a:prstGeom>
          <a:noFill/>
        </p:spPr>
        <p:txBody>
          <a:bodyPr wrap="square" lIns="0" tIns="0" rIns="0" bIns="0" anchor="t">
            <a:spAutoFit/>
          </a:bodyPr>
          <a:lstStyle/>
          <a:p>
            <a:pPr algn="ctr"/>
            <a:r>
              <a:rPr sz="4800" b="1" i="0">
                <a:solidFill>
                  <a:srgbClr val="FFFFFF"/>
                </a:solidFill>
                <a:latin typeface="Georgia"/>
              </a:rPr>
              <a:t>01</a:t>
            </a:r>
          </a:p>
        </p:txBody>
      </p:sp>
      <p:sp>
        <p:nvSpPr>
          <p:cNvPr id="8" name="TextBox 7"/>
          <p:cNvSpPr txBox="1"/>
          <p:nvPr/>
        </p:nvSpPr>
        <p:spPr>
          <a:xfrm>
            <a:off x="1920240" y="1874520"/>
            <a:ext cx="9601200" cy="365760"/>
          </a:xfrm>
          <a:prstGeom prst="rect">
            <a:avLst/>
          </a:prstGeom>
          <a:noFill/>
        </p:spPr>
        <p:txBody>
          <a:bodyPr wrap="square" lIns="0" tIns="0" rIns="0" bIns="0" anchor="t">
            <a:spAutoFit/>
          </a:bodyPr>
          <a:lstStyle/>
          <a:p>
            <a:pPr algn="l"/>
            <a:r>
              <a:rPr sz="1700" b="1" i="0">
                <a:solidFill>
                  <a:srgbClr val="1E2761"/>
                </a:solidFill>
                <a:latin typeface="Calibri"/>
              </a:rPr>
              <a:t>Multi-Tier Behavioral Feature Pipeline</a:t>
            </a:r>
          </a:p>
        </p:txBody>
      </p:sp>
      <p:sp>
        <p:nvSpPr>
          <p:cNvPr id="9" name="TextBox 8"/>
          <p:cNvSpPr txBox="1"/>
          <p:nvPr/>
        </p:nvSpPr>
        <p:spPr>
          <a:xfrm>
            <a:off x="1920240" y="2286000"/>
            <a:ext cx="9601200" cy="685800"/>
          </a:xfrm>
          <a:prstGeom prst="rect">
            <a:avLst/>
          </a:prstGeom>
          <a:noFill/>
        </p:spPr>
        <p:txBody>
          <a:bodyPr wrap="square" lIns="0" tIns="0" rIns="0" bIns="0" anchor="t">
            <a:spAutoFit/>
          </a:bodyPr>
          <a:lstStyle/>
          <a:p>
            <a:pPr algn="l"/>
            <a:r>
              <a:rPr sz="1150" b="0" i="0">
                <a:solidFill>
                  <a:srgbClr val="1A1A2E"/>
                </a:solidFill>
                <a:latin typeface="Calibri"/>
              </a:rPr>
              <a:t>37 features across four tiers (connection / window / global / baseline-distance). Ablation shows +23pp behavioral lift on mimicry recall over rate-only features.</a:t>
            </a:r>
          </a:p>
        </p:txBody>
      </p:sp>
      <p:sp>
        <p:nvSpPr>
          <p:cNvPr id="10" name="Rounded Rectangle 9"/>
          <p:cNvSpPr/>
          <p:nvPr/>
        </p:nvSpPr>
        <p:spPr>
          <a:xfrm>
            <a:off x="1920240" y="2834639"/>
            <a:ext cx="758952" cy="274320"/>
          </a:xfrm>
          <a:prstGeom prst="round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920240" y="2834639"/>
            <a:ext cx="758952" cy="274320"/>
          </a:xfrm>
          <a:prstGeom prst="rect">
            <a:avLst/>
          </a:prstGeom>
          <a:noFill/>
        </p:spPr>
        <p:txBody>
          <a:bodyPr wrap="square" lIns="0" tIns="0" rIns="0" bIns="0" anchor="ctr">
            <a:spAutoFit/>
          </a:bodyPr>
          <a:lstStyle/>
          <a:p>
            <a:pPr algn="ctr"/>
            <a:r>
              <a:rPr sz="900" b="1" i="0">
                <a:solidFill>
                  <a:srgbClr val="1E2761"/>
                </a:solidFill>
                <a:latin typeface="Consolas"/>
              </a:rPr>
              <a:t>features</a:t>
            </a:r>
          </a:p>
        </p:txBody>
      </p:sp>
      <p:sp>
        <p:nvSpPr>
          <p:cNvPr id="12" name="Rounded Rectangle 11"/>
          <p:cNvSpPr/>
          <p:nvPr/>
        </p:nvSpPr>
        <p:spPr>
          <a:xfrm>
            <a:off x="2770632" y="2834639"/>
            <a:ext cx="1069848" cy="274320"/>
          </a:xfrm>
          <a:prstGeom prst="round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70632" y="2834639"/>
            <a:ext cx="1069848" cy="274320"/>
          </a:xfrm>
          <a:prstGeom prst="rect">
            <a:avLst/>
          </a:prstGeom>
          <a:noFill/>
        </p:spPr>
        <p:txBody>
          <a:bodyPr wrap="square" lIns="0" tIns="0" rIns="0" bIns="0" anchor="ctr">
            <a:spAutoFit/>
          </a:bodyPr>
          <a:lstStyle/>
          <a:p>
            <a:pPr algn="ctr"/>
            <a:r>
              <a:rPr sz="900" b="1" i="0">
                <a:solidFill>
                  <a:srgbClr val="1E2761"/>
                </a:solidFill>
                <a:latin typeface="Consolas"/>
              </a:rPr>
              <a:t>architecture</a:t>
            </a:r>
          </a:p>
        </p:txBody>
      </p:sp>
      <p:sp>
        <p:nvSpPr>
          <p:cNvPr id="14" name="Rectangle 13"/>
          <p:cNvSpPr/>
          <p:nvPr/>
        </p:nvSpPr>
        <p:spPr>
          <a:xfrm>
            <a:off x="457200" y="3383280"/>
            <a:ext cx="11247120" cy="15544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3383280"/>
            <a:ext cx="1280160" cy="15544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3657600"/>
            <a:ext cx="1280160" cy="868680"/>
          </a:xfrm>
          <a:prstGeom prst="rect">
            <a:avLst/>
          </a:prstGeom>
          <a:noFill/>
        </p:spPr>
        <p:txBody>
          <a:bodyPr wrap="square" lIns="0" tIns="0" rIns="0" bIns="0" anchor="t">
            <a:spAutoFit/>
          </a:bodyPr>
          <a:lstStyle/>
          <a:p>
            <a:pPr algn="ctr"/>
            <a:r>
              <a:rPr sz="4800" b="1" i="0">
                <a:solidFill>
                  <a:srgbClr val="FFFFFF"/>
                </a:solidFill>
                <a:latin typeface="Georgia"/>
              </a:rPr>
              <a:t>02</a:t>
            </a:r>
          </a:p>
        </p:txBody>
      </p:sp>
      <p:sp>
        <p:nvSpPr>
          <p:cNvPr id="17" name="TextBox 16"/>
          <p:cNvSpPr txBox="1"/>
          <p:nvPr/>
        </p:nvSpPr>
        <p:spPr>
          <a:xfrm>
            <a:off x="1920240" y="3566160"/>
            <a:ext cx="9601200" cy="365760"/>
          </a:xfrm>
          <a:prstGeom prst="rect">
            <a:avLst/>
          </a:prstGeom>
          <a:noFill/>
        </p:spPr>
        <p:txBody>
          <a:bodyPr wrap="square" lIns="0" tIns="0" rIns="0" bIns="0" anchor="t">
            <a:spAutoFit/>
          </a:bodyPr>
          <a:lstStyle/>
          <a:p>
            <a:pPr algn="l"/>
            <a:r>
              <a:rPr sz="1700" b="1" i="0">
                <a:solidFill>
                  <a:srgbClr val="1E2761"/>
                </a:solidFill>
                <a:latin typeface="Calibri"/>
              </a:rPr>
              <a:t>Mimicry Holdout Protocol</a:t>
            </a:r>
          </a:p>
        </p:txBody>
      </p:sp>
      <p:sp>
        <p:nvSpPr>
          <p:cNvPr id="18" name="TextBox 17"/>
          <p:cNvSpPr txBox="1"/>
          <p:nvPr/>
        </p:nvSpPr>
        <p:spPr>
          <a:xfrm>
            <a:off x="1920240" y="3977640"/>
            <a:ext cx="9601200" cy="685800"/>
          </a:xfrm>
          <a:prstGeom prst="rect">
            <a:avLst/>
          </a:prstGeom>
          <a:noFill/>
        </p:spPr>
        <p:txBody>
          <a:bodyPr wrap="square" lIns="0" tIns="0" rIns="0" bIns="0" anchor="t">
            <a:spAutoFit/>
          </a:bodyPr>
          <a:lstStyle/>
          <a:p>
            <a:pPr algn="l"/>
            <a:r>
              <a:rPr sz="1150" b="0" i="0">
                <a:solidFill>
                  <a:srgbClr val="1A1A2E"/>
                </a:solidFill>
                <a:latin typeface="Calibri"/>
              </a:rPr>
              <a:t>The mimicry attack variant is explicitly excluded from training and validation, evaluated only on holdout. This stricter protocol tests generalization to unseen attacks.</a:t>
            </a:r>
          </a:p>
        </p:txBody>
      </p:sp>
      <p:sp>
        <p:nvSpPr>
          <p:cNvPr id="19" name="Rounded Rectangle 18"/>
          <p:cNvSpPr/>
          <p:nvPr/>
        </p:nvSpPr>
        <p:spPr>
          <a:xfrm>
            <a:off x="1920240" y="4526280"/>
            <a:ext cx="758952" cy="274320"/>
          </a:xfrm>
          <a:prstGeom prst="round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920240" y="4526280"/>
            <a:ext cx="758952" cy="274320"/>
          </a:xfrm>
          <a:prstGeom prst="rect">
            <a:avLst/>
          </a:prstGeom>
          <a:noFill/>
        </p:spPr>
        <p:txBody>
          <a:bodyPr wrap="square" lIns="0" tIns="0" rIns="0" bIns="0" anchor="ctr">
            <a:spAutoFit/>
          </a:bodyPr>
          <a:lstStyle/>
          <a:p>
            <a:pPr algn="ctr"/>
            <a:r>
              <a:rPr sz="900" b="1" i="0">
                <a:solidFill>
                  <a:srgbClr val="1E2761"/>
                </a:solidFill>
                <a:latin typeface="Consolas"/>
              </a:rPr>
              <a:t>protocol</a:t>
            </a:r>
          </a:p>
        </p:txBody>
      </p:sp>
      <p:sp>
        <p:nvSpPr>
          <p:cNvPr id="21" name="Rounded Rectangle 20"/>
          <p:cNvSpPr/>
          <p:nvPr/>
        </p:nvSpPr>
        <p:spPr>
          <a:xfrm>
            <a:off x="2770632" y="4526280"/>
            <a:ext cx="914400" cy="274320"/>
          </a:xfrm>
          <a:prstGeom prst="round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770632" y="4526280"/>
            <a:ext cx="914400" cy="274320"/>
          </a:xfrm>
          <a:prstGeom prst="rect">
            <a:avLst/>
          </a:prstGeom>
          <a:noFill/>
        </p:spPr>
        <p:txBody>
          <a:bodyPr wrap="square" lIns="0" tIns="0" rIns="0" bIns="0" anchor="ctr">
            <a:spAutoFit/>
          </a:bodyPr>
          <a:lstStyle/>
          <a:p>
            <a:pPr algn="ctr"/>
            <a:r>
              <a:rPr sz="900" b="1" i="0">
                <a:solidFill>
                  <a:srgbClr val="1E2761"/>
                </a:solidFill>
                <a:latin typeface="Consolas"/>
              </a:rPr>
              <a:t>evaluation</a:t>
            </a:r>
          </a:p>
        </p:txBody>
      </p:sp>
      <p:sp>
        <p:nvSpPr>
          <p:cNvPr id="23" name="Rectangle 22"/>
          <p:cNvSpPr/>
          <p:nvPr/>
        </p:nvSpPr>
        <p:spPr>
          <a:xfrm>
            <a:off x="457200" y="5074920"/>
            <a:ext cx="11247120" cy="15544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57200" y="5074920"/>
            <a:ext cx="1280160" cy="15544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7200" y="5349240"/>
            <a:ext cx="1280160" cy="868680"/>
          </a:xfrm>
          <a:prstGeom prst="rect">
            <a:avLst/>
          </a:prstGeom>
          <a:noFill/>
        </p:spPr>
        <p:txBody>
          <a:bodyPr wrap="square" lIns="0" tIns="0" rIns="0" bIns="0" anchor="t">
            <a:spAutoFit/>
          </a:bodyPr>
          <a:lstStyle/>
          <a:p>
            <a:pPr algn="ctr"/>
            <a:r>
              <a:rPr sz="4800" b="1" i="0">
                <a:solidFill>
                  <a:srgbClr val="FFFFFF"/>
                </a:solidFill>
                <a:latin typeface="Georgia"/>
              </a:rPr>
              <a:t>03</a:t>
            </a:r>
          </a:p>
        </p:txBody>
      </p:sp>
      <p:sp>
        <p:nvSpPr>
          <p:cNvPr id="26" name="TextBox 25"/>
          <p:cNvSpPr txBox="1"/>
          <p:nvPr/>
        </p:nvSpPr>
        <p:spPr>
          <a:xfrm>
            <a:off x="1920240" y="5257800"/>
            <a:ext cx="9601200" cy="365760"/>
          </a:xfrm>
          <a:prstGeom prst="rect">
            <a:avLst/>
          </a:prstGeom>
          <a:noFill/>
        </p:spPr>
        <p:txBody>
          <a:bodyPr wrap="square" lIns="0" tIns="0" rIns="0" bIns="0" anchor="t">
            <a:spAutoFit/>
          </a:bodyPr>
          <a:lstStyle/>
          <a:p>
            <a:pPr algn="l"/>
            <a:r>
              <a:rPr sz="1700" b="1" i="0">
                <a:solidFill>
                  <a:srgbClr val="1E2761"/>
                </a:solidFill>
                <a:latin typeface="Calibri"/>
              </a:rPr>
              <a:t>Sensitivity-Analyzed Reporting (V1/V2/V3)</a:t>
            </a:r>
          </a:p>
        </p:txBody>
      </p:sp>
      <p:sp>
        <p:nvSpPr>
          <p:cNvPr id="27" name="TextBox 26"/>
          <p:cNvSpPr txBox="1"/>
          <p:nvPr/>
        </p:nvSpPr>
        <p:spPr>
          <a:xfrm>
            <a:off x="1920240" y="5669280"/>
            <a:ext cx="9601200" cy="685800"/>
          </a:xfrm>
          <a:prstGeom prst="rect">
            <a:avLst/>
          </a:prstGeom>
          <a:noFill/>
        </p:spPr>
        <p:txBody>
          <a:bodyPr wrap="square" lIns="0" tIns="0" rIns="0" bIns="0" anchor="t">
            <a:spAutoFit/>
          </a:bodyPr>
          <a:lstStyle/>
          <a:p>
            <a:pPr algn="l"/>
            <a:r>
              <a:rPr sz="1150" b="0" i="0">
                <a:solidFill>
                  <a:srgbClr val="1A1A2E"/>
                </a:solidFill>
                <a:latin typeface="Calibri"/>
              </a:rPr>
              <a:t>Two implementation issues were identified, corrected, and the central finding (behavioral feature contribution on mimicry) was re-verified across three experimental configurations to demonstrate robustness.</a:t>
            </a:r>
          </a:p>
        </p:txBody>
      </p:sp>
      <p:sp>
        <p:nvSpPr>
          <p:cNvPr id="28" name="Rounded Rectangle 27"/>
          <p:cNvSpPr/>
          <p:nvPr/>
        </p:nvSpPr>
        <p:spPr>
          <a:xfrm>
            <a:off x="1920240" y="6217920"/>
            <a:ext cx="914400" cy="274320"/>
          </a:xfrm>
          <a:prstGeom prst="round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920240" y="6217920"/>
            <a:ext cx="914400" cy="274320"/>
          </a:xfrm>
          <a:prstGeom prst="rect">
            <a:avLst/>
          </a:prstGeom>
          <a:noFill/>
        </p:spPr>
        <p:txBody>
          <a:bodyPr wrap="square" lIns="0" tIns="0" rIns="0" bIns="0" anchor="ctr">
            <a:spAutoFit/>
          </a:bodyPr>
          <a:lstStyle/>
          <a:p>
            <a:pPr algn="ctr"/>
            <a:r>
              <a:rPr sz="900" b="1" i="0">
                <a:solidFill>
                  <a:srgbClr val="1E2761"/>
                </a:solidFill>
                <a:latin typeface="Consolas"/>
              </a:rPr>
              <a:t>robustness</a:t>
            </a:r>
          </a:p>
        </p:txBody>
      </p:sp>
      <p:sp>
        <p:nvSpPr>
          <p:cNvPr id="30" name="Rounded Rectangle 29"/>
          <p:cNvSpPr/>
          <p:nvPr/>
        </p:nvSpPr>
        <p:spPr>
          <a:xfrm>
            <a:off x="2926080" y="6217920"/>
            <a:ext cx="1069848" cy="274320"/>
          </a:xfrm>
          <a:prstGeom prst="round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926080" y="6217920"/>
            <a:ext cx="1069848" cy="274320"/>
          </a:xfrm>
          <a:prstGeom prst="rect">
            <a:avLst/>
          </a:prstGeom>
          <a:noFill/>
        </p:spPr>
        <p:txBody>
          <a:bodyPr wrap="square" lIns="0" tIns="0" rIns="0" bIns="0" anchor="ctr">
            <a:spAutoFit/>
          </a:bodyPr>
          <a:lstStyle/>
          <a:p>
            <a:pPr algn="ctr"/>
            <a:r>
              <a:rPr sz="900" b="1" i="0">
                <a:solidFill>
                  <a:srgbClr val="1E2761"/>
                </a:solidFill>
                <a:latin typeface="Consolas"/>
              </a:rPr>
              <a:t>transparency</a:t>
            </a:r>
          </a:p>
        </p:txBody>
      </p:sp>
      <p:sp>
        <p:nvSpPr>
          <p:cNvPr id="32" name="TextBox 31"/>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Thesis Checkpoint Presentation</a:t>
            </a:r>
          </a:p>
        </p:txBody>
      </p:sp>
      <p:sp>
        <p:nvSpPr>
          <p:cNvPr id="33" name="TextBox 32"/>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20 / 23</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4 · CONTRIBUTIONS &amp; LIMITS</a:t>
            </a:r>
          </a:p>
        </p:txBody>
      </p:sp>
      <p:sp>
        <p:nvSpPr>
          <p:cNvPr id="3" name="TextBox 2"/>
          <p:cNvSpPr txBox="1"/>
          <p:nvPr/>
        </p:nvSpPr>
        <p:spPr>
          <a:xfrm>
            <a:off x="365760" y="548640"/>
            <a:ext cx="11430000" cy="640080"/>
          </a:xfrm>
          <a:prstGeom prst="rect">
            <a:avLst/>
          </a:prstGeom>
          <a:noFill/>
        </p:spPr>
        <p:txBody>
          <a:bodyPr wrap="square" lIns="0" tIns="0" rIns="0" bIns="0" anchor="t">
            <a:spAutoFit/>
          </a:bodyPr>
          <a:lstStyle/>
          <a:p>
            <a:pPr algn="l"/>
            <a:r>
              <a:rPr sz="2800" b="1" i="0">
                <a:solidFill>
                  <a:srgbClr val="1E2761"/>
                </a:solidFill>
                <a:latin typeface="Calibri"/>
              </a:rPr>
              <a:t>Limitations — The Honest List</a:t>
            </a:r>
          </a:p>
        </p:txBody>
      </p:sp>
      <p:sp>
        <p:nvSpPr>
          <p:cNvPr id="4" name="TextBox 3"/>
          <p:cNvSpPr txBox="1"/>
          <p:nvPr/>
        </p:nvSpPr>
        <p:spPr>
          <a:xfrm>
            <a:off x="365760" y="1188720"/>
            <a:ext cx="11430000" cy="365760"/>
          </a:xfrm>
          <a:prstGeom prst="rect">
            <a:avLst/>
          </a:prstGeom>
          <a:noFill/>
        </p:spPr>
        <p:txBody>
          <a:bodyPr wrap="square" lIns="0" tIns="0" rIns="0" bIns="0" anchor="t">
            <a:spAutoFit/>
          </a:bodyPr>
          <a:lstStyle/>
          <a:p>
            <a:pPr algn="l"/>
            <a:r>
              <a:rPr sz="1400" b="0" i="1">
                <a:solidFill>
                  <a:srgbClr val="64748B"/>
                </a:solidFill>
                <a:latin typeface="Calibri"/>
              </a:rPr>
              <a:t>Aligned with Discussion §5.6 — a complete inventory</a:t>
            </a:r>
          </a:p>
        </p:txBody>
      </p:sp>
      <p:sp>
        <p:nvSpPr>
          <p:cNvPr id="5" name="Rectangle 4"/>
          <p:cNvSpPr/>
          <p:nvPr/>
        </p:nvSpPr>
        <p:spPr>
          <a:xfrm>
            <a:off x="457200" y="1691640"/>
            <a:ext cx="5623560" cy="10972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691640"/>
            <a:ext cx="777240" cy="1097280"/>
          </a:xfrm>
          <a:prstGeom prst="rect">
            <a:avLst/>
          </a:prstGeom>
          <a:solidFill>
            <a:srgbClr val="8FAE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691640"/>
            <a:ext cx="777240" cy="1097280"/>
          </a:xfrm>
          <a:prstGeom prst="rect">
            <a:avLst/>
          </a:prstGeom>
          <a:noFill/>
        </p:spPr>
        <p:txBody>
          <a:bodyPr wrap="square" lIns="0" tIns="0" rIns="0" bIns="0" anchor="ctr">
            <a:spAutoFit/>
          </a:bodyPr>
          <a:lstStyle/>
          <a:p>
            <a:pPr algn="ctr"/>
            <a:r>
              <a:rPr sz="1000" b="1" i="0" spc="200">
                <a:solidFill>
                  <a:srgbClr val="FFFFFF"/>
                </a:solidFill>
                <a:latin typeface="Calibri"/>
              </a:rPr>
              <a:t>SCOPE</a:t>
            </a:r>
          </a:p>
        </p:txBody>
      </p:sp>
      <p:sp>
        <p:nvSpPr>
          <p:cNvPr id="8" name="TextBox 7"/>
          <p:cNvSpPr txBox="1"/>
          <p:nvPr/>
        </p:nvSpPr>
        <p:spPr>
          <a:xfrm>
            <a:off x="1371600" y="1801368"/>
            <a:ext cx="4617720" cy="320040"/>
          </a:xfrm>
          <a:prstGeom prst="rect">
            <a:avLst/>
          </a:prstGeom>
          <a:noFill/>
        </p:spPr>
        <p:txBody>
          <a:bodyPr wrap="square" lIns="0" tIns="0" rIns="0" bIns="0" anchor="t">
            <a:spAutoFit/>
          </a:bodyPr>
          <a:lstStyle/>
          <a:p>
            <a:pPr algn="l"/>
            <a:r>
              <a:rPr sz="1200" b="1" i="0">
                <a:solidFill>
                  <a:srgbClr val="1E2761"/>
                </a:solidFill>
                <a:latin typeface="Calibri"/>
              </a:rPr>
              <a:t>Single application</a:t>
            </a:r>
          </a:p>
        </p:txBody>
      </p:sp>
      <p:sp>
        <p:nvSpPr>
          <p:cNvPr id="9" name="TextBox 8"/>
          <p:cNvSpPr txBox="1"/>
          <p:nvPr/>
        </p:nvSpPr>
        <p:spPr>
          <a:xfrm>
            <a:off x="1371600" y="2130552"/>
            <a:ext cx="4617720" cy="640080"/>
          </a:xfrm>
          <a:prstGeom prst="rect">
            <a:avLst/>
          </a:prstGeom>
          <a:noFill/>
        </p:spPr>
        <p:txBody>
          <a:bodyPr wrap="square" lIns="0" tIns="0" rIns="0" bIns="0" anchor="t">
            <a:spAutoFit/>
          </a:bodyPr>
          <a:lstStyle/>
          <a:p>
            <a:pPr algn="l"/>
            <a:r>
              <a:rPr sz="1000" b="0" i="0">
                <a:solidFill>
                  <a:srgbClr val="1A1A2E"/>
                </a:solidFill>
                <a:latin typeface="Calibri"/>
              </a:rPr>
              <a:t>All results are from one NestJS API. Endpoint cost profile is application-specific.</a:t>
            </a:r>
          </a:p>
        </p:txBody>
      </p:sp>
      <p:sp>
        <p:nvSpPr>
          <p:cNvPr id="10" name="Rectangle 9"/>
          <p:cNvSpPr/>
          <p:nvPr/>
        </p:nvSpPr>
        <p:spPr>
          <a:xfrm>
            <a:off x="6263640" y="1691640"/>
            <a:ext cx="5623560" cy="10972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63640" y="1691640"/>
            <a:ext cx="777240" cy="1097280"/>
          </a:xfrm>
          <a:prstGeom prst="rect">
            <a:avLst/>
          </a:prstGeom>
          <a:solidFill>
            <a:srgbClr val="8FAE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63640" y="1691640"/>
            <a:ext cx="777240" cy="1097280"/>
          </a:xfrm>
          <a:prstGeom prst="rect">
            <a:avLst/>
          </a:prstGeom>
          <a:noFill/>
        </p:spPr>
        <p:txBody>
          <a:bodyPr wrap="square" lIns="0" tIns="0" rIns="0" bIns="0" anchor="ctr">
            <a:spAutoFit/>
          </a:bodyPr>
          <a:lstStyle/>
          <a:p>
            <a:pPr algn="ctr"/>
            <a:r>
              <a:rPr sz="1000" b="1" i="0" spc="200">
                <a:solidFill>
                  <a:srgbClr val="FFFFFF"/>
                </a:solidFill>
                <a:latin typeface="Calibri"/>
              </a:rPr>
              <a:t>DATA</a:t>
            </a:r>
          </a:p>
        </p:txBody>
      </p:sp>
      <p:sp>
        <p:nvSpPr>
          <p:cNvPr id="13" name="TextBox 12"/>
          <p:cNvSpPr txBox="1"/>
          <p:nvPr/>
        </p:nvSpPr>
        <p:spPr>
          <a:xfrm>
            <a:off x="7178040" y="1801368"/>
            <a:ext cx="4617720" cy="320040"/>
          </a:xfrm>
          <a:prstGeom prst="rect">
            <a:avLst/>
          </a:prstGeom>
          <a:noFill/>
        </p:spPr>
        <p:txBody>
          <a:bodyPr wrap="square" lIns="0" tIns="0" rIns="0" bIns="0" anchor="t">
            <a:spAutoFit/>
          </a:bodyPr>
          <a:lstStyle/>
          <a:p>
            <a:pPr algn="l"/>
            <a:r>
              <a:rPr sz="1200" b="1" i="0">
                <a:solidFill>
                  <a:srgbClr val="1E2761"/>
                </a:solidFill>
                <a:latin typeface="Calibri"/>
              </a:rPr>
              <a:t>Synthetic traffic</a:t>
            </a:r>
          </a:p>
        </p:txBody>
      </p:sp>
      <p:sp>
        <p:nvSpPr>
          <p:cNvPr id="14" name="TextBox 13"/>
          <p:cNvSpPr txBox="1"/>
          <p:nvPr/>
        </p:nvSpPr>
        <p:spPr>
          <a:xfrm>
            <a:off x="7178040" y="2130552"/>
            <a:ext cx="4617720" cy="640080"/>
          </a:xfrm>
          <a:prstGeom prst="rect">
            <a:avLst/>
          </a:prstGeom>
          <a:noFill/>
        </p:spPr>
        <p:txBody>
          <a:bodyPr wrap="square" lIns="0" tIns="0" rIns="0" bIns="0" anchor="t">
            <a:spAutoFit/>
          </a:bodyPr>
          <a:lstStyle/>
          <a:p>
            <a:pPr algn="l"/>
            <a:r>
              <a:rPr sz="1000" b="0" i="0">
                <a:solidFill>
                  <a:srgbClr val="1A1A2E"/>
                </a:solidFill>
                <a:latin typeface="Calibri"/>
              </a:rPr>
              <a:t>Generated by k6 and slowhttptest in a controlled setting. No production trace validation.</a:t>
            </a:r>
          </a:p>
        </p:txBody>
      </p:sp>
      <p:sp>
        <p:nvSpPr>
          <p:cNvPr id="15" name="Rectangle 14"/>
          <p:cNvSpPr/>
          <p:nvPr/>
        </p:nvSpPr>
        <p:spPr>
          <a:xfrm>
            <a:off x="457200" y="2898648"/>
            <a:ext cx="5623560" cy="10972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57200" y="2898648"/>
            <a:ext cx="777240" cy="1097280"/>
          </a:xfrm>
          <a:prstGeom prst="rect">
            <a:avLst/>
          </a:prstGeom>
          <a:solidFill>
            <a:srgbClr val="8FAE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898648"/>
            <a:ext cx="777240" cy="1097280"/>
          </a:xfrm>
          <a:prstGeom prst="rect">
            <a:avLst/>
          </a:prstGeom>
          <a:noFill/>
        </p:spPr>
        <p:txBody>
          <a:bodyPr wrap="square" lIns="0" tIns="0" rIns="0" bIns="0" anchor="ctr">
            <a:spAutoFit/>
          </a:bodyPr>
          <a:lstStyle/>
          <a:p>
            <a:pPr algn="ctr"/>
            <a:r>
              <a:rPr sz="1000" b="1" i="0" spc="200">
                <a:solidFill>
                  <a:srgbClr val="FFFFFF"/>
                </a:solidFill>
                <a:latin typeface="Calibri"/>
              </a:rPr>
              <a:t>ADV.</a:t>
            </a:r>
          </a:p>
        </p:txBody>
      </p:sp>
      <p:sp>
        <p:nvSpPr>
          <p:cNvPr id="18" name="TextBox 17"/>
          <p:cNvSpPr txBox="1"/>
          <p:nvPr/>
        </p:nvSpPr>
        <p:spPr>
          <a:xfrm>
            <a:off x="1371600" y="3008376"/>
            <a:ext cx="4617720" cy="320040"/>
          </a:xfrm>
          <a:prstGeom prst="rect">
            <a:avLst/>
          </a:prstGeom>
          <a:noFill/>
        </p:spPr>
        <p:txBody>
          <a:bodyPr wrap="square" lIns="0" tIns="0" rIns="0" bIns="0" anchor="t">
            <a:spAutoFit/>
          </a:bodyPr>
          <a:lstStyle/>
          <a:p>
            <a:pPr algn="l"/>
            <a:r>
              <a:rPr sz="1200" b="1" i="0">
                <a:solidFill>
                  <a:srgbClr val="1E2761"/>
                </a:solidFill>
                <a:latin typeface="Calibri"/>
              </a:rPr>
              <a:t>No adaptive adversary</a:t>
            </a:r>
          </a:p>
        </p:txBody>
      </p:sp>
      <p:sp>
        <p:nvSpPr>
          <p:cNvPr id="19" name="TextBox 18"/>
          <p:cNvSpPr txBox="1"/>
          <p:nvPr/>
        </p:nvSpPr>
        <p:spPr>
          <a:xfrm>
            <a:off x="1371600" y="3337560"/>
            <a:ext cx="4617720" cy="640080"/>
          </a:xfrm>
          <a:prstGeom prst="rect">
            <a:avLst/>
          </a:prstGeom>
          <a:noFill/>
        </p:spPr>
        <p:txBody>
          <a:bodyPr wrap="square" lIns="0" tIns="0" rIns="0" bIns="0" anchor="t">
            <a:spAutoFit/>
          </a:bodyPr>
          <a:lstStyle/>
          <a:p>
            <a:pPr algn="l"/>
            <a:r>
              <a:rPr sz="1000" b="0" i="0">
                <a:solidFill>
                  <a:srgbClr val="1A1A2E"/>
                </a:solidFill>
                <a:latin typeface="Calibri"/>
              </a:rPr>
              <a:t>Mimicry is static. The attacker does not iteratively optimize against detector feedback.</a:t>
            </a:r>
          </a:p>
        </p:txBody>
      </p:sp>
      <p:sp>
        <p:nvSpPr>
          <p:cNvPr id="20" name="Rectangle 19"/>
          <p:cNvSpPr/>
          <p:nvPr/>
        </p:nvSpPr>
        <p:spPr>
          <a:xfrm>
            <a:off x="6263640" y="2898648"/>
            <a:ext cx="5623560" cy="10972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63640" y="2898648"/>
            <a:ext cx="777240" cy="1097280"/>
          </a:xfrm>
          <a:prstGeom prst="rect">
            <a:avLst/>
          </a:prstGeom>
          <a:solidFill>
            <a:srgbClr val="8FAE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63640" y="2898648"/>
            <a:ext cx="777240" cy="1097280"/>
          </a:xfrm>
          <a:prstGeom prst="rect">
            <a:avLst/>
          </a:prstGeom>
          <a:noFill/>
        </p:spPr>
        <p:txBody>
          <a:bodyPr wrap="square" lIns="0" tIns="0" rIns="0" bIns="0" anchor="ctr">
            <a:spAutoFit/>
          </a:bodyPr>
          <a:lstStyle/>
          <a:p>
            <a:pPr algn="ctr"/>
            <a:r>
              <a:rPr sz="1000" b="1" i="0" spc="200">
                <a:solidFill>
                  <a:srgbClr val="FFFFFF"/>
                </a:solidFill>
                <a:latin typeface="Calibri"/>
              </a:rPr>
              <a:t>SIGNAL</a:t>
            </a:r>
          </a:p>
        </p:txBody>
      </p:sp>
      <p:sp>
        <p:nvSpPr>
          <p:cNvPr id="23" name="TextBox 22"/>
          <p:cNvSpPr txBox="1"/>
          <p:nvPr/>
        </p:nvSpPr>
        <p:spPr>
          <a:xfrm>
            <a:off x="7178040" y="3008376"/>
            <a:ext cx="4617720" cy="320040"/>
          </a:xfrm>
          <a:prstGeom prst="rect">
            <a:avLst/>
          </a:prstGeom>
          <a:noFill/>
        </p:spPr>
        <p:txBody>
          <a:bodyPr wrap="square" lIns="0" tIns="0" rIns="0" bIns="0" anchor="t">
            <a:spAutoFit/>
          </a:bodyPr>
          <a:lstStyle/>
          <a:p>
            <a:pPr algn="l"/>
            <a:r>
              <a:rPr sz="1200" b="1" i="0">
                <a:solidFill>
                  <a:srgbClr val="1E2761"/>
                </a:solidFill>
                <a:latin typeface="Calibri"/>
              </a:rPr>
              <a:t>Slow HTTP is sparse</a:t>
            </a:r>
          </a:p>
        </p:txBody>
      </p:sp>
      <p:sp>
        <p:nvSpPr>
          <p:cNvPr id="24" name="TextBox 23"/>
          <p:cNvSpPr txBox="1"/>
          <p:nvPr/>
        </p:nvSpPr>
        <p:spPr>
          <a:xfrm>
            <a:off x="7178040" y="3337560"/>
            <a:ext cx="4617720" cy="640080"/>
          </a:xfrm>
          <a:prstGeom prst="rect">
            <a:avLst/>
          </a:prstGeom>
          <a:noFill/>
        </p:spPr>
        <p:txBody>
          <a:bodyPr wrap="square" lIns="0" tIns="0" rIns="0" bIns="0" anchor="t">
            <a:spAutoFit/>
          </a:bodyPr>
          <a:lstStyle/>
          <a:p>
            <a:pPr algn="l"/>
            <a:r>
              <a:rPr sz="1000" b="0" i="0">
                <a:solidFill>
                  <a:srgbClr val="1A1A2E"/>
                </a:solidFill>
                <a:latin typeface="Calibri"/>
              </a:rPr>
              <a:t>nginx 60s timeout kills slowloris early; evaluated by rule rather than as a supervised class.</a:t>
            </a:r>
          </a:p>
        </p:txBody>
      </p:sp>
      <p:sp>
        <p:nvSpPr>
          <p:cNvPr id="25" name="Rectangle 24"/>
          <p:cNvSpPr/>
          <p:nvPr/>
        </p:nvSpPr>
        <p:spPr>
          <a:xfrm>
            <a:off x="457200" y="4105656"/>
            <a:ext cx="5623560" cy="10972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57200" y="4105656"/>
            <a:ext cx="777240" cy="1097280"/>
          </a:xfrm>
          <a:prstGeom prst="rect">
            <a:avLst/>
          </a:prstGeom>
          <a:solidFill>
            <a:srgbClr val="8FAE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 y="4105656"/>
            <a:ext cx="777240" cy="1097280"/>
          </a:xfrm>
          <a:prstGeom prst="rect">
            <a:avLst/>
          </a:prstGeom>
          <a:noFill/>
        </p:spPr>
        <p:txBody>
          <a:bodyPr wrap="square" lIns="0" tIns="0" rIns="0" bIns="0" anchor="ctr">
            <a:spAutoFit/>
          </a:bodyPr>
          <a:lstStyle/>
          <a:p>
            <a:pPr algn="ctr"/>
            <a:r>
              <a:rPr sz="1000" b="1" i="0" spc="200">
                <a:solidFill>
                  <a:srgbClr val="FFFFFF"/>
                </a:solidFill>
                <a:latin typeface="Calibri"/>
              </a:rPr>
              <a:t>AUTH</a:t>
            </a:r>
          </a:p>
        </p:txBody>
      </p:sp>
      <p:sp>
        <p:nvSpPr>
          <p:cNvPr id="28" name="TextBox 27"/>
          <p:cNvSpPr txBox="1"/>
          <p:nvPr/>
        </p:nvSpPr>
        <p:spPr>
          <a:xfrm>
            <a:off x="1371600" y="4215384"/>
            <a:ext cx="4617720" cy="320040"/>
          </a:xfrm>
          <a:prstGeom prst="rect">
            <a:avLst/>
          </a:prstGeom>
          <a:noFill/>
        </p:spPr>
        <p:txBody>
          <a:bodyPr wrap="square" lIns="0" tIns="0" rIns="0" bIns="0" anchor="t">
            <a:spAutoFit/>
          </a:bodyPr>
          <a:lstStyle/>
          <a:p>
            <a:pPr algn="l"/>
            <a:r>
              <a:rPr sz="1200" b="1" i="0">
                <a:solidFill>
                  <a:srgbClr val="1E2761"/>
                </a:solidFill>
                <a:latin typeface="Calibri"/>
              </a:rPr>
              <a:t>Auth-layer rate limiting DISABLED</a:t>
            </a:r>
          </a:p>
        </p:txBody>
      </p:sp>
      <p:sp>
        <p:nvSpPr>
          <p:cNvPr id="29" name="TextBox 28"/>
          <p:cNvSpPr txBox="1"/>
          <p:nvPr/>
        </p:nvSpPr>
        <p:spPr>
          <a:xfrm>
            <a:off x="1371600" y="4544568"/>
            <a:ext cx="4617720" cy="640080"/>
          </a:xfrm>
          <a:prstGeom prst="rect">
            <a:avLst/>
          </a:prstGeom>
          <a:noFill/>
        </p:spPr>
        <p:txBody>
          <a:bodyPr wrap="square" lIns="0" tIns="0" rIns="0" bIns="0" anchor="t">
            <a:spAutoFit/>
          </a:bodyPr>
          <a:lstStyle/>
          <a:p>
            <a:pPr algn="l"/>
            <a:r>
              <a:rPr sz="1000" b="0" i="0">
                <a:solidFill>
                  <a:srgbClr val="1A1A2E"/>
                </a:solidFill>
                <a:latin typeface="Calibri"/>
              </a:rPr>
              <a:t>To isolate the behavioral signal, AuthService IP block and account lockout were deliberately turned off.</a:t>
            </a:r>
          </a:p>
        </p:txBody>
      </p:sp>
      <p:sp>
        <p:nvSpPr>
          <p:cNvPr id="30" name="Rectangle 29"/>
          <p:cNvSpPr/>
          <p:nvPr/>
        </p:nvSpPr>
        <p:spPr>
          <a:xfrm>
            <a:off x="6263640" y="4105656"/>
            <a:ext cx="5623560" cy="10972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263640" y="4105656"/>
            <a:ext cx="777240" cy="109728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263640" y="4105656"/>
            <a:ext cx="777240" cy="1097280"/>
          </a:xfrm>
          <a:prstGeom prst="rect">
            <a:avLst/>
          </a:prstGeom>
          <a:noFill/>
        </p:spPr>
        <p:txBody>
          <a:bodyPr wrap="square" lIns="0" tIns="0" rIns="0" bIns="0" anchor="ctr">
            <a:spAutoFit/>
          </a:bodyPr>
          <a:lstStyle/>
          <a:p>
            <a:pPr algn="ctr"/>
            <a:r>
              <a:rPr sz="1000" b="1" i="0" spc="200">
                <a:solidFill>
                  <a:srgbClr val="FFFFFF"/>
                </a:solidFill>
                <a:latin typeface="Calibri"/>
              </a:rPr>
              <a:t>FIXED</a:t>
            </a:r>
          </a:p>
        </p:txBody>
      </p:sp>
      <p:sp>
        <p:nvSpPr>
          <p:cNvPr id="33" name="TextBox 32"/>
          <p:cNvSpPr txBox="1"/>
          <p:nvPr/>
        </p:nvSpPr>
        <p:spPr>
          <a:xfrm>
            <a:off x="7178040" y="4215384"/>
            <a:ext cx="4617720" cy="320040"/>
          </a:xfrm>
          <a:prstGeom prst="rect">
            <a:avLst/>
          </a:prstGeom>
          <a:noFill/>
        </p:spPr>
        <p:txBody>
          <a:bodyPr wrap="square" lIns="0" tIns="0" rIns="0" bIns="0" anchor="t">
            <a:spAutoFit/>
          </a:bodyPr>
          <a:lstStyle/>
          <a:p>
            <a:pPr algn="l"/>
            <a:r>
              <a:rPr sz="1200" b="1" i="0">
                <a:solidFill>
                  <a:srgbClr val="1E2761"/>
                </a:solidFill>
                <a:latin typeface="Calibri"/>
              </a:rPr>
              <a:t>Bug 1: UserService Prisma client</a:t>
            </a:r>
          </a:p>
        </p:txBody>
      </p:sp>
      <p:sp>
        <p:nvSpPr>
          <p:cNvPr id="34" name="TextBox 33"/>
          <p:cNvSpPr txBox="1"/>
          <p:nvPr/>
        </p:nvSpPr>
        <p:spPr>
          <a:xfrm>
            <a:off x="7178040" y="4544568"/>
            <a:ext cx="4617720" cy="640080"/>
          </a:xfrm>
          <a:prstGeom prst="rect">
            <a:avLst/>
          </a:prstGeom>
          <a:noFill/>
        </p:spPr>
        <p:txBody>
          <a:bodyPr wrap="square" lIns="0" tIns="0" rIns="0" bIns="0" anchor="t">
            <a:spAutoFit/>
          </a:bodyPr>
          <a:lstStyle/>
          <a:p>
            <a:pPr algn="l"/>
            <a:r>
              <a:rPr sz="1000" b="0" i="0">
                <a:solidFill>
                  <a:srgbClr val="1A1A2E"/>
                </a:solidFill>
                <a:latin typeface="Calibri"/>
              </a:rPr>
              <a:t>Initially used a separate PrismaClient bypassing query timing. CORRECTED in V2/V3.</a:t>
            </a:r>
          </a:p>
        </p:txBody>
      </p:sp>
      <p:sp>
        <p:nvSpPr>
          <p:cNvPr id="35" name="Rectangle 34"/>
          <p:cNvSpPr/>
          <p:nvPr/>
        </p:nvSpPr>
        <p:spPr>
          <a:xfrm>
            <a:off x="457200" y="5312664"/>
            <a:ext cx="5623560" cy="10972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57200" y="5312664"/>
            <a:ext cx="777240" cy="109728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57200" y="5312664"/>
            <a:ext cx="777240" cy="1097280"/>
          </a:xfrm>
          <a:prstGeom prst="rect">
            <a:avLst/>
          </a:prstGeom>
          <a:noFill/>
        </p:spPr>
        <p:txBody>
          <a:bodyPr wrap="square" lIns="0" tIns="0" rIns="0" bIns="0" anchor="ctr">
            <a:spAutoFit/>
          </a:bodyPr>
          <a:lstStyle/>
          <a:p>
            <a:pPr algn="ctr"/>
            <a:r>
              <a:rPr sz="1000" b="1" i="0" spc="200">
                <a:solidFill>
                  <a:srgbClr val="FFFFFF"/>
                </a:solidFill>
                <a:latin typeface="Calibri"/>
              </a:rPr>
              <a:t>FIXED</a:t>
            </a:r>
          </a:p>
        </p:txBody>
      </p:sp>
      <p:sp>
        <p:nvSpPr>
          <p:cNvPr id="38" name="TextBox 37"/>
          <p:cNvSpPr txBox="1"/>
          <p:nvPr/>
        </p:nvSpPr>
        <p:spPr>
          <a:xfrm>
            <a:off x="1371600" y="5422392"/>
            <a:ext cx="4617720" cy="320040"/>
          </a:xfrm>
          <a:prstGeom prst="rect">
            <a:avLst/>
          </a:prstGeom>
          <a:noFill/>
        </p:spPr>
        <p:txBody>
          <a:bodyPr wrap="square" lIns="0" tIns="0" rIns="0" bIns="0" anchor="t">
            <a:spAutoFit/>
          </a:bodyPr>
          <a:lstStyle/>
          <a:p>
            <a:pPr algn="l"/>
            <a:r>
              <a:rPr sz="1200" b="1" i="0">
                <a:solidFill>
                  <a:srgbClr val="1E2761"/>
                </a:solidFill>
                <a:latin typeface="Calibri"/>
              </a:rPr>
              <a:t>Bug 2: Think-time sleep missing</a:t>
            </a:r>
          </a:p>
        </p:txBody>
      </p:sp>
      <p:sp>
        <p:nvSpPr>
          <p:cNvPr id="39" name="TextBox 38"/>
          <p:cNvSpPr txBox="1"/>
          <p:nvPr/>
        </p:nvSpPr>
        <p:spPr>
          <a:xfrm>
            <a:off x="1371600" y="5751575"/>
            <a:ext cx="4617720" cy="640080"/>
          </a:xfrm>
          <a:prstGeom prst="rect">
            <a:avLst/>
          </a:prstGeom>
          <a:noFill/>
        </p:spPr>
        <p:txBody>
          <a:bodyPr wrap="square" lIns="0" tIns="0" rIns="0" bIns="0" anchor="t">
            <a:spAutoFit/>
          </a:bodyPr>
          <a:lstStyle/>
          <a:p>
            <a:pPr algn="l"/>
            <a:r>
              <a:rPr sz="1000" b="0" i="0">
                <a:solidFill>
                  <a:srgbClr val="1A1A2E"/>
                </a:solidFill>
                <a:latin typeface="Calibri"/>
              </a:rPr>
              <a:t>k6 legit flow computed think times but didn't apply sleep(). CORRECTED in V2/V3.</a:t>
            </a:r>
          </a:p>
        </p:txBody>
      </p:sp>
      <p:sp>
        <p:nvSpPr>
          <p:cNvPr id="40" name="Rectangle 39"/>
          <p:cNvSpPr/>
          <p:nvPr/>
        </p:nvSpPr>
        <p:spPr>
          <a:xfrm>
            <a:off x="6263640" y="5312664"/>
            <a:ext cx="5623560" cy="10972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263640" y="5312664"/>
            <a:ext cx="777240" cy="1097280"/>
          </a:xfrm>
          <a:prstGeom prst="rect">
            <a:avLst/>
          </a:prstGeom>
          <a:solidFill>
            <a:srgbClr val="8FAE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63640" y="5312664"/>
            <a:ext cx="777240" cy="1097280"/>
          </a:xfrm>
          <a:prstGeom prst="rect">
            <a:avLst/>
          </a:prstGeom>
          <a:noFill/>
        </p:spPr>
        <p:txBody>
          <a:bodyPr wrap="square" lIns="0" tIns="0" rIns="0" bIns="0" anchor="ctr">
            <a:spAutoFit/>
          </a:bodyPr>
          <a:lstStyle/>
          <a:p>
            <a:pPr algn="ctr"/>
            <a:r>
              <a:rPr sz="1000" b="1" i="0" spc="200">
                <a:solidFill>
                  <a:srgbClr val="FFFFFF"/>
                </a:solidFill>
                <a:latin typeface="Calibri"/>
              </a:rPr>
              <a:t>EXT.</a:t>
            </a:r>
          </a:p>
        </p:txBody>
      </p:sp>
      <p:sp>
        <p:nvSpPr>
          <p:cNvPr id="43" name="TextBox 42"/>
          <p:cNvSpPr txBox="1"/>
          <p:nvPr/>
        </p:nvSpPr>
        <p:spPr>
          <a:xfrm>
            <a:off x="7178040" y="5422392"/>
            <a:ext cx="4617720" cy="320040"/>
          </a:xfrm>
          <a:prstGeom prst="rect">
            <a:avLst/>
          </a:prstGeom>
          <a:noFill/>
        </p:spPr>
        <p:txBody>
          <a:bodyPr wrap="square" lIns="0" tIns="0" rIns="0" bIns="0" anchor="t">
            <a:spAutoFit/>
          </a:bodyPr>
          <a:lstStyle/>
          <a:p>
            <a:pPr algn="l"/>
            <a:r>
              <a:rPr sz="1200" b="1" i="0">
                <a:solidFill>
                  <a:srgbClr val="1E2761"/>
                </a:solidFill>
                <a:latin typeface="Calibri"/>
              </a:rPr>
              <a:t>External validation is limited</a:t>
            </a:r>
          </a:p>
        </p:txBody>
      </p:sp>
      <p:sp>
        <p:nvSpPr>
          <p:cNvPr id="44" name="TextBox 43"/>
          <p:cNvSpPr txBox="1"/>
          <p:nvPr/>
        </p:nvSpPr>
        <p:spPr>
          <a:xfrm>
            <a:off x="7178040" y="5751575"/>
            <a:ext cx="4617720" cy="640080"/>
          </a:xfrm>
          <a:prstGeom prst="rect">
            <a:avLst/>
          </a:prstGeom>
          <a:noFill/>
        </p:spPr>
        <p:txBody>
          <a:bodyPr wrap="square" lIns="0" tIns="0" rIns="0" bIns="0" anchor="t">
            <a:spAutoFit/>
          </a:bodyPr>
          <a:lstStyle/>
          <a:p>
            <a:pPr algn="l"/>
            <a:r>
              <a:rPr sz="1000" b="0" i="0">
                <a:solidFill>
                  <a:srgbClr val="1A1A2E"/>
                </a:solidFill>
                <a:latin typeface="Calibri"/>
              </a:rPr>
              <a:t>CIC-DDoS2019 sanity check performed but feature space differs from API-layer model.</a:t>
            </a:r>
          </a:p>
        </p:txBody>
      </p:sp>
      <p:sp>
        <p:nvSpPr>
          <p:cNvPr id="45" name="TextBox 44"/>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Thesis Checkpoint Presentation</a:t>
            </a:r>
          </a:p>
        </p:txBody>
      </p:sp>
      <p:sp>
        <p:nvSpPr>
          <p:cNvPr id="46" name="TextBox 45"/>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21 / 23</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4 · CONTRIBUTIONS &amp; LIMITS</a:t>
            </a:r>
          </a:p>
        </p:txBody>
      </p:sp>
      <p:sp>
        <p:nvSpPr>
          <p:cNvPr id="3" name="TextBox 2"/>
          <p:cNvSpPr txBox="1"/>
          <p:nvPr/>
        </p:nvSpPr>
        <p:spPr>
          <a:xfrm>
            <a:off x="365760" y="548640"/>
            <a:ext cx="11430000" cy="640080"/>
          </a:xfrm>
          <a:prstGeom prst="rect">
            <a:avLst/>
          </a:prstGeom>
          <a:noFill/>
        </p:spPr>
        <p:txBody>
          <a:bodyPr wrap="square" lIns="0" tIns="0" rIns="0" bIns="0" anchor="t">
            <a:spAutoFit/>
          </a:bodyPr>
          <a:lstStyle/>
          <a:p>
            <a:pPr algn="l"/>
            <a:r>
              <a:rPr sz="2800" b="1" i="0">
                <a:solidFill>
                  <a:srgbClr val="1E2761"/>
                </a:solidFill>
                <a:latin typeface="Calibri"/>
              </a:rPr>
              <a:t>Future Work</a:t>
            </a:r>
          </a:p>
        </p:txBody>
      </p:sp>
      <p:sp>
        <p:nvSpPr>
          <p:cNvPr id="4" name="TextBox 3"/>
          <p:cNvSpPr txBox="1"/>
          <p:nvPr/>
        </p:nvSpPr>
        <p:spPr>
          <a:xfrm>
            <a:off x="365760" y="1188720"/>
            <a:ext cx="11430000" cy="365760"/>
          </a:xfrm>
          <a:prstGeom prst="rect">
            <a:avLst/>
          </a:prstGeom>
          <a:noFill/>
        </p:spPr>
        <p:txBody>
          <a:bodyPr wrap="square" lIns="0" tIns="0" rIns="0" bIns="0" anchor="t">
            <a:spAutoFit/>
          </a:bodyPr>
          <a:lstStyle/>
          <a:p>
            <a:pPr algn="l"/>
            <a:r>
              <a:rPr sz="1400" b="0" i="1">
                <a:solidFill>
                  <a:srgbClr val="64748B"/>
                </a:solidFill>
                <a:latin typeface="Calibri"/>
              </a:rPr>
              <a:t>Five natural extensions of this thesis</a:t>
            </a:r>
          </a:p>
        </p:txBody>
      </p:sp>
      <p:sp>
        <p:nvSpPr>
          <p:cNvPr id="5" name="Rectangle 4"/>
          <p:cNvSpPr/>
          <p:nvPr/>
        </p:nvSpPr>
        <p:spPr>
          <a:xfrm>
            <a:off x="457200" y="1783080"/>
            <a:ext cx="112471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783080"/>
            <a:ext cx="73152" cy="82296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920240"/>
            <a:ext cx="457200" cy="548640"/>
          </a:xfrm>
          <a:prstGeom prst="rect">
            <a:avLst/>
          </a:prstGeom>
          <a:noFill/>
        </p:spPr>
        <p:txBody>
          <a:bodyPr wrap="square" lIns="0" tIns="0" rIns="0" bIns="0" anchor="t">
            <a:spAutoFit/>
          </a:bodyPr>
          <a:lstStyle/>
          <a:p>
            <a:pPr algn="l"/>
            <a:r>
              <a:rPr sz="2800" b="1" i="0">
                <a:solidFill>
                  <a:srgbClr val="02C39A"/>
                </a:solidFill>
                <a:latin typeface="Calibri"/>
              </a:rPr>
              <a:t>→</a:t>
            </a:r>
          </a:p>
        </p:txBody>
      </p:sp>
      <p:sp>
        <p:nvSpPr>
          <p:cNvPr id="8" name="TextBox 7"/>
          <p:cNvSpPr txBox="1"/>
          <p:nvPr/>
        </p:nvSpPr>
        <p:spPr>
          <a:xfrm>
            <a:off x="1143000" y="1892807"/>
            <a:ext cx="10469880" cy="320040"/>
          </a:xfrm>
          <a:prstGeom prst="rect">
            <a:avLst/>
          </a:prstGeom>
          <a:noFill/>
        </p:spPr>
        <p:txBody>
          <a:bodyPr wrap="square" lIns="0" tIns="0" rIns="0" bIns="0" anchor="t">
            <a:spAutoFit/>
          </a:bodyPr>
          <a:lstStyle/>
          <a:p>
            <a:pPr algn="l"/>
            <a:r>
              <a:rPr sz="1400" b="1" i="0">
                <a:solidFill>
                  <a:srgbClr val="1E2761"/>
                </a:solidFill>
                <a:latin typeface="Calibri"/>
              </a:rPr>
              <a:t>Multi-application validation</a:t>
            </a:r>
          </a:p>
        </p:txBody>
      </p:sp>
      <p:sp>
        <p:nvSpPr>
          <p:cNvPr id="9" name="TextBox 8"/>
          <p:cNvSpPr txBox="1"/>
          <p:nvPr/>
        </p:nvSpPr>
        <p:spPr>
          <a:xfrm>
            <a:off x="1143000" y="2194560"/>
            <a:ext cx="10469880" cy="365760"/>
          </a:xfrm>
          <a:prstGeom prst="rect">
            <a:avLst/>
          </a:prstGeom>
          <a:noFill/>
        </p:spPr>
        <p:txBody>
          <a:bodyPr wrap="square" lIns="0" tIns="0" rIns="0" bIns="0" anchor="t">
            <a:spAutoFit/>
          </a:bodyPr>
          <a:lstStyle/>
          <a:p>
            <a:pPr algn="l"/>
            <a:r>
              <a:rPr sz="1100" b="0" i="0">
                <a:solidFill>
                  <a:srgbClr val="1A1A2E"/>
                </a:solidFill>
                <a:latin typeface="Calibri"/>
              </a:rPr>
              <a:t>Test the same pipeline on 3-5 APIs with different endpoint structures and cost profiles.</a:t>
            </a:r>
          </a:p>
        </p:txBody>
      </p:sp>
      <p:sp>
        <p:nvSpPr>
          <p:cNvPr id="10" name="Rectangle 9"/>
          <p:cNvSpPr/>
          <p:nvPr/>
        </p:nvSpPr>
        <p:spPr>
          <a:xfrm>
            <a:off x="457200" y="2715768"/>
            <a:ext cx="112471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2715768"/>
            <a:ext cx="73152" cy="82296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852927"/>
            <a:ext cx="457200" cy="548640"/>
          </a:xfrm>
          <a:prstGeom prst="rect">
            <a:avLst/>
          </a:prstGeom>
          <a:noFill/>
        </p:spPr>
        <p:txBody>
          <a:bodyPr wrap="square" lIns="0" tIns="0" rIns="0" bIns="0" anchor="t">
            <a:spAutoFit/>
          </a:bodyPr>
          <a:lstStyle/>
          <a:p>
            <a:pPr algn="l"/>
            <a:r>
              <a:rPr sz="2800" b="1" i="0">
                <a:solidFill>
                  <a:srgbClr val="02C39A"/>
                </a:solidFill>
                <a:latin typeface="Calibri"/>
              </a:rPr>
              <a:t>→</a:t>
            </a:r>
          </a:p>
        </p:txBody>
      </p:sp>
      <p:sp>
        <p:nvSpPr>
          <p:cNvPr id="13" name="TextBox 12"/>
          <p:cNvSpPr txBox="1"/>
          <p:nvPr/>
        </p:nvSpPr>
        <p:spPr>
          <a:xfrm>
            <a:off x="1143000" y="2825496"/>
            <a:ext cx="10469880" cy="320040"/>
          </a:xfrm>
          <a:prstGeom prst="rect">
            <a:avLst/>
          </a:prstGeom>
          <a:noFill/>
        </p:spPr>
        <p:txBody>
          <a:bodyPr wrap="square" lIns="0" tIns="0" rIns="0" bIns="0" anchor="t">
            <a:spAutoFit/>
          </a:bodyPr>
          <a:lstStyle/>
          <a:p>
            <a:pPr algn="l"/>
            <a:r>
              <a:rPr sz="1400" b="1" i="0">
                <a:solidFill>
                  <a:srgbClr val="1E2761"/>
                </a:solidFill>
                <a:latin typeface="Calibri"/>
              </a:rPr>
              <a:t>Adaptive adversary</a:t>
            </a:r>
          </a:p>
        </p:txBody>
      </p:sp>
      <p:sp>
        <p:nvSpPr>
          <p:cNvPr id="14" name="TextBox 13"/>
          <p:cNvSpPr txBox="1"/>
          <p:nvPr/>
        </p:nvSpPr>
        <p:spPr>
          <a:xfrm>
            <a:off x="1143000" y="3127248"/>
            <a:ext cx="10469880" cy="365760"/>
          </a:xfrm>
          <a:prstGeom prst="rect">
            <a:avLst/>
          </a:prstGeom>
          <a:noFill/>
        </p:spPr>
        <p:txBody>
          <a:bodyPr wrap="square" lIns="0" tIns="0" rIns="0" bIns="0" anchor="t">
            <a:spAutoFit/>
          </a:bodyPr>
          <a:lstStyle/>
          <a:p>
            <a:pPr algn="l"/>
            <a:r>
              <a:rPr sz="1100" b="0" i="0">
                <a:solidFill>
                  <a:srgbClr val="1A1A2E"/>
                </a:solidFill>
                <a:latin typeface="Calibri"/>
              </a:rPr>
              <a:t>Scenarios where the attacker observes detection feedback and iteratively optimizes endpoint, IP, and timing choices.</a:t>
            </a:r>
          </a:p>
        </p:txBody>
      </p:sp>
      <p:sp>
        <p:nvSpPr>
          <p:cNvPr id="15" name="Rectangle 14"/>
          <p:cNvSpPr/>
          <p:nvPr/>
        </p:nvSpPr>
        <p:spPr>
          <a:xfrm>
            <a:off x="457200" y="3648456"/>
            <a:ext cx="112471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57200" y="3648456"/>
            <a:ext cx="73152" cy="82296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3785616"/>
            <a:ext cx="457200" cy="548640"/>
          </a:xfrm>
          <a:prstGeom prst="rect">
            <a:avLst/>
          </a:prstGeom>
          <a:noFill/>
        </p:spPr>
        <p:txBody>
          <a:bodyPr wrap="square" lIns="0" tIns="0" rIns="0" bIns="0" anchor="t">
            <a:spAutoFit/>
          </a:bodyPr>
          <a:lstStyle/>
          <a:p>
            <a:pPr algn="l"/>
            <a:r>
              <a:rPr sz="2800" b="1" i="0">
                <a:solidFill>
                  <a:srgbClr val="02C39A"/>
                </a:solidFill>
                <a:latin typeface="Calibri"/>
              </a:rPr>
              <a:t>→</a:t>
            </a:r>
          </a:p>
        </p:txBody>
      </p:sp>
      <p:sp>
        <p:nvSpPr>
          <p:cNvPr id="18" name="TextBox 17"/>
          <p:cNvSpPr txBox="1"/>
          <p:nvPr/>
        </p:nvSpPr>
        <p:spPr>
          <a:xfrm>
            <a:off x="1143000" y="3758184"/>
            <a:ext cx="10469880" cy="320040"/>
          </a:xfrm>
          <a:prstGeom prst="rect">
            <a:avLst/>
          </a:prstGeom>
          <a:noFill/>
        </p:spPr>
        <p:txBody>
          <a:bodyPr wrap="square" lIns="0" tIns="0" rIns="0" bIns="0" anchor="t">
            <a:spAutoFit/>
          </a:bodyPr>
          <a:lstStyle/>
          <a:p>
            <a:pPr algn="l"/>
            <a:r>
              <a:rPr sz="1400" b="1" i="0">
                <a:solidFill>
                  <a:srgbClr val="1E2761"/>
                </a:solidFill>
                <a:latin typeface="Calibri"/>
              </a:rPr>
              <a:t>Production trace validation</a:t>
            </a:r>
          </a:p>
        </p:txBody>
      </p:sp>
      <p:sp>
        <p:nvSpPr>
          <p:cNvPr id="19" name="TextBox 18"/>
          <p:cNvSpPr txBox="1"/>
          <p:nvPr/>
        </p:nvSpPr>
        <p:spPr>
          <a:xfrm>
            <a:off x="1143000" y="4059936"/>
            <a:ext cx="10469880" cy="365760"/>
          </a:xfrm>
          <a:prstGeom prst="rect">
            <a:avLst/>
          </a:prstGeom>
          <a:noFill/>
        </p:spPr>
        <p:txBody>
          <a:bodyPr wrap="square" lIns="0" tIns="0" rIns="0" bIns="0" anchor="t">
            <a:spAutoFit/>
          </a:bodyPr>
          <a:lstStyle/>
          <a:p>
            <a:pPr algn="l"/>
            <a:r>
              <a:rPr sz="1100" b="0" i="0">
                <a:solidFill>
                  <a:srgbClr val="1A1A2E"/>
                </a:solidFill>
                <a:latin typeface="Calibri"/>
              </a:rPr>
              <a:t>Run the model on anonymized production API logs; explore synthetic-to-real transfer learning.</a:t>
            </a:r>
          </a:p>
        </p:txBody>
      </p:sp>
      <p:sp>
        <p:nvSpPr>
          <p:cNvPr id="20" name="Rectangle 19"/>
          <p:cNvSpPr/>
          <p:nvPr/>
        </p:nvSpPr>
        <p:spPr>
          <a:xfrm>
            <a:off x="457200" y="4581144"/>
            <a:ext cx="112471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 y="4581144"/>
            <a:ext cx="73152" cy="82296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4718304"/>
            <a:ext cx="457200" cy="548640"/>
          </a:xfrm>
          <a:prstGeom prst="rect">
            <a:avLst/>
          </a:prstGeom>
          <a:noFill/>
        </p:spPr>
        <p:txBody>
          <a:bodyPr wrap="square" lIns="0" tIns="0" rIns="0" bIns="0" anchor="t">
            <a:spAutoFit/>
          </a:bodyPr>
          <a:lstStyle/>
          <a:p>
            <a:pPr algn="l"/>
            <a:r>
              <a:rPr sz="2800" b="1" i="0">
                <a:solidFill>
                  <a:srgbClr val="02C39A"/>
                </a:solidFill>
                <a:latin typeface="Calibri"/>
              </a:rPr>
              <a:t>→</a:t>
            </a:r>
          </a:p>
        </p:txBody>
      </p:sp>
      <p:sp>
        <p:nvSpPr>
          <p:cNvPr id="23" name="TextBox 22"/>
          <p:cNvSpPr txBox="1"/>
          <p:nvPr/>
        </p:nvSpPr>
        <p:spPr>
          <a:xfrm>
            <a:off x="1143000" y="4690872"/>
            <a:ext cx="10469880" cy="320040"/>
          </a:xfrm>
          <a:prstGeom prst="rect">
            <a:avLst/>
          </a:prstGeom>
          <a:noFill/>
        </p:spPr>
        <p:txBody>
          <a:bodyPr wrap="square" lIns="0" tIns="0" rIns="0" bIns="0" anchor="t">
            <a:spAutoFit/>
          </a:bodyPr>
          <a:lstStyle/>
          <a:p>
            <a:pPr algn="l"/>
            <a:r>
              <a:rPr sz="1400" b="1" i="0">
                <a:solidFill>
                  <a:srgbClr val="1E2761"/>
                </a:solidFill>
                <a:latin typeface="Calibri"/>
              </a:rPr>
              <a:t>Protocol-level features</a:t>
            </a:r>
          </a:p>
        </p:txBody>
      </p:sp>
      <p:sp>
        <p:nvSpPr>
          <p:cNvPr id="24" name="TextBox 23"/>
          <p:cNvSpPr txBox="1"/>
          <p:nvPr/>
        </p:nvSpPr>
        <p:spPr>
          <a:xfrm>
            <a:off x="1143000" y="4992624"/>
            <a:ext cx="10469880" cy="365760"/>
          </a:xfrm>
          <a:prstGeom prst="rect">
            <a:avLst/>
          </a:prstGeom>
          <a:noFill/>
        </p:spPr>
        <p:txBody>
          <a:bodyPr wrap="square" lIns="0" tIns="0" rIns="0" bIns="0" anchor="t">
            <a:spAutoFit/>
          </a:bodyPr>
          <a:lstStyle/>
          <a:p>
            <a:pPr algn="l"/>
            <a:r>
              <a:rPr sz="1100" b="0" i="0">
                <a:solidFill>
                  <a:srgbClr val="1A1A2E"/>
                </a:solidFill>
                <a:latin typeface="Calibri"/>
              </a:rPr>
              <a:t>TLS JA3/JA4 fingerprints, HTTP/2 behavior, and browser automation traces (Selenium, Puppeteer).</a:t>
            </a:r>
          </a:p>
        </p:txBody>
      </p:sp>
      <p:sp>
        <p:nvSpPr>
          <p:cNvPr id="25" name="Rectangle 24"/>
          <p:cNvSpPr/>
          <p:nvPr/>
        </p:nvSpPr>
        <p:spPr>
          <a:xfrm>
            <a:off x="457200" y="5513832"/>
            <a:ext cx="112471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57200" y="5513832"/>
            <a:ext cx="73152" cy="82296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0080" y="5650992"/>
            <a:ext cx="457200" cy="548640"/>
          </a:xfrm>
          <a:prstGeom prst="rect">
            <a:avLst/>
          </a:prstGeom>
          <a:noFill/>
        </p:spPr>
        <p:txBody>
          <a:bodyPr wrap="square" lIns="0" tIns="0" rIns="0" bIns="0" anchor="t">
            <a:spAutoFit/>
          </a:bodyPr>
          <a:lstStyle/>
          <a:p>
            <a:pPr algn="l"/>
            <a:r>
              <a:rPr sz="2800" b="1" i="0">
                <a:solidFill>
                  <a:srgbClr val="02C39A"/>
                </a:solidFill>
                <a:latin typeface="Calibri"/>
              </a:rPr>
              <a:t>→</a:t>
            </a:r>
          </a:p>
        </p:txBody>
      </p:sp>
      <p:sp>
        <p:nvSpPr>
          <p:cNvPr id="28" name="TextBox 27"/>
          <p:cNvSpPr txBox="1"/>
          <p:nvPr/>
        </p:nvSpPr>
        <p:spPr>
          <a:xfrm>
            <a:off x="1143000" y="5623560"/>
            <a:ext cx="10469880" cy="320040"/>
          </a:xfrm>
          <a:prstGeom prst="rect">
            <a:avLst/>
          </a:prstGeom>
          <a:noFill/>
        </p:spPr>
        <p:txBody>
          <a:bodyPr wrap="square" lIns="0" tIns="0" rIns="0" bIns="0" anchor="t">
            <a:spAutoFit/>
          </a:bodyPr>
          <a:lstStyle/>
          <a:p>
            <a:pPr algn="l"/>
            <a:r>
              <a:rPr sz="1400" b="1" i="0">
                <a:solidFill>
                  <a:srgbClr val="1E2761"/>
                </a:solidFill>
                <a:latin typeface="Calibri"/>
              </a:rPr>
              <a:t>Richer slow HTTP telemetry</a:t>
            </a:r>
          </a:p>
        </p:txBody>
      </p:sp>
      <p:sp>
        <p:nvSpPr>
          <p:cNvPr id="29" name="TextBox 28"/>
          <p:cNvSpPr txBox="1"/>
          <p:nvPr/>
        </p:nvSpPr>
        <p:spPr>
          <a:xfrm>
            <a:off x="1143000" y="5925312"/>
            <a:ext cx="10469880" cy="365760"/>
          </a:xfrm>
          <a:prstGeom prst="rect">
            <a:avLst/>
          </a:prstGeom>
          <a:noFill/>
        </p:spPr>
        <p:txBody>
          <a:bodyPr wrap="square" lIns="0" tIns="0" rIns="0" bIns="0" anchor="t">
            <a:spAutoFit/>
          </a:bodyPr>
          <a:lstStyle/>
          <a:p>
            <a:pPr algn="l"/>
            <a:r>
              <a:rPr sz="1100" b="0" i="0">
                <a:solidFill>
                  <a:srgbClr val="1A1A2E"/>
                </a:solidFill>
                <a:latin typeface="Calibri"/>
              </a:rPr>
              <a:t>More detailed reverse-proxy and socket-level metrics to model slowloris as a continuous rather than sparse signal.</a:t>
            </a:r>
          </a:p>
        </p:txBody>
      </p:sp>
      <p:sp>
        <p:nvSpPr>
          <p:cNvPr id="30" name="TextBox 29"/>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Thesis Checkpoint Presentation</a:t>
            </a:r>
          </a:p>
        </p:txBody>
      </p:sp>
      <p:sp>
        <p:nvSpPr>
          <p:cNvPr id="31" name="TextBox 30"/>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22 / 23</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Rectangle 1"/>
          <p:cNvSpPr/>
          <p:nvPr/>
        </p:nvSpPr>
        <p:spPr>
          <a:xfrm>
            <a:off x="0" y="0"/>
            <a:ext cx="228600" cy="685800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548640"/>
            <a:ext cx="4572000" cy="365760"/>
          </a:xfrm>
          <a:prstGeom prst="rect">
            <a:avLst/>
          </a:prstGeom>
          <a:noFill/>
        </p:spPr>
        <p:txBody>
          <a:bodyPr wrap="square" lIns="0" tIns="0" rIns="0" bIns="0" anchor="t">
            <a:spAutoFit/>
          </a:bodyPr>
          <a:lstStyle/>
          <a:p>
            <a:pPr algn="l"/>
            <a:r>
              <a:rPr sz="1200" b="1" i="0" spc="600">
                <a:solidFill>
                  <a:srgbClr val="02C39A"/>
                </a:solidFill>
                <a:latin typeface="Calibri"/>
              </a:rPr>
              <a:t>CLOSING</a:t>
            </a:r>
          </a:p>
        </p:txBody>
      </p:sp>
      <p:sp>
        <p:nvSpPr>
          <p:cNvPr id="4" name="TextBox 3"/>
          <p:cNvSpPr txBox="1"/>
          <p:nvPr/>
        </p:nvSpPr>
        <p:spPr>
          <a:xfrm>
            <a:off x="457200" y="960120"/>
            <a:ext cx="11430000" cy="731520"/>
          </a:xfrm>
          <a:prstGeom prst="rect">
            <a:avLst/>
          </a:prstGeom>
          <a:noFill/>
        </p:spPr>
        <p:txBody>
          <a:bodyPr wrap="square" lIns="0" tIns="0" rIns="0" bIns="0" anchor="t">
            <a:spAutoFit/>
          </a:bodyPr>
          <a:lstStyle/>
          <a:p>
            <a:pPr algn="l"/>
            <a:r>
              <a:rPr sz="3600" b="1" i="0">
                <a:solidFill>
                  <a:srgbClr val="FFFFFF"/>
                </a:solidFill>
                <a:latin typeface="Calibri"/>
              </a:rPr>
              <a:t>Summary and Verdict</a:t>
            </a:r>
          </a:p>
        </p:txBody>
      </p:sp>
      <p:sp>
        <p:nvSpPr>
          <p:cNvPr id="5" name="Rectangle 4"/>
          <p:cNvSpPr/>
          <p:nvPr/>
        </p:nvSpPr>
        <p:spPr>
          <a:xfrm>
            <a:off x="548640" y="2011680"/>
            <a:ext cx="11064240" cy="1828800"/>
          </a:xfrm>
          <a:prstGeom prst="rect">
            <a:avLst/>
          </a:prstGeom>
          <a:solidFill>
            <a:srgbClr val="131A47"/>
          </a:solidFill>
          <a:ln w="25400">
            <a:solidFill>
              <a:srgbClr val="02C3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240280"/>
            <a:ext cx="731520" cy="1371600"/>
          </a:xfrm>
          <a:prstGeom prst="rect">
            <a:avLst/>
          </a:prstGeom>
          <a:noFill/>
        </p:spPr>
        <p:txBody>
          <a:bodyPr wrap="square" lIns="0" tIns="0" rIns="0" bIns="0" anchor="ctr">
            <a:spAutoFit/>
          </a:bodyPr>
          <a:lstStyle/>
          <a:p>
            <a:pPr algn="l"/>
            <a:r>
              <a:rPr sz="6000" b="1" i="0">
                <a:solidFill>
                  <a:srgbClr val="02C39A"/>
                </a:solidFill>
                <a:latin typeface="Calibri"/>
              </a:rPr>
              <a:t>✓</a:t>
            </a:r>
          </a:p>
        </p:txBody>
      </p:sp>
      <p:sp>
        <p:nvSpPr>
          <p:cNvPr id="7" name="TextBox 6"/>
          <p:cNvSpPr txBox="1"/>
          <p:nvPr/>
        </p:nvSpPr>
        <p:spPr>
          <a:xfrm>
            <a:off x="1737360" y="2194560"/>
            <a:ext cx="9784080" cy="731520"/>
          </a:xfrm>
          <a:prstGeom prst="rect">
            <a:avLst/>
          </a:prstGeom>
          <a:noFill/>
        </p:spPr>
        <p:txBody>
          <a:bodyPr wrap="square" lIns="0" tIns="0" rIns="0" bIns="0" anchor="ctr">
            <a:spAutoFit/>
          </a:bodyPr>
          <a:lstStyle/>
          <a:p>
            <a:pPr algn="l"/>
            <a:r>
              <a:rPr sz="1800" b="1" i="0">
                <a:solidFill>
                  <a:srgbClr val="FFFFFF"/>
                </a:solidFill>
                <a:latin typeface="Calibri"/>
              </a:rPr>
              <a:t>Behavior-based API-layer detection is robust to surface mimicry under production-realistic conditions.</a:t>
            </a:r>
          </a:p>
        </p:txBody>
      </p:sp>
      <p:sp>
        <p:nvSpPr>
          <p:cNvPr id="8" name="TextBox 7"/>
          <p:cNvSpPr txBox="1"/>
          <p:nvPr/>
        </p:nvSpPr>
        <p:spPr>
          <a:xfrm>
            <a:off x="1737360" y="2971800"/>
            <a:ext cx="9784080" cy="640080"/>
          </a:xfrm>
          <a:prstGeom prst="rect">
            <a:avLst/>
          </a:prstGeom>
          <a:noFill/>
        </p:spPr>
        <p:txBody>
          <a:bodyPr wrap="square" lIns="0" tIns="0" rIns="0" bIns="0" anchor="ctr">
            <a:spAutoFit/>
          </a:bodyPr>
          <a:lstStyle/>
          <a:p>
            <a:pPr algn="l"/>
            <a:r>
              <a:rPr sz="1300" b="0" i="1">
                <a:solidFill>
                  <a:srgbClr val="CADCFC"/>
                </a:solidFill>
                <a:latin typeface="Calibri"/>
              </a:rPr>
              <a:t>Mimicry holdout 96.38% · FPR = 0 · Behavioral lift +23pp over rate-only · UA-only 13% (no shortcut)</a:t>
            </a:r>
          </a:p>
        </p:txBody>
      </p:sp>
      <p:sp>
        <p:nvSpPr>
          <p:cNvPr id="9" name="TextBox 8"/>
          <p:cNvSpPr txBox="1"/>
          <p:nvPr/>
        </p:nvSpPr>
        <p:spPr>
          <a:xfrm>
            <a:off x="640080" y="4160520"/>
            <a:ext cx="457200" cy="457200"/>
          </a:xfrm>
          <a:prstGeom prst="rect">
            <a:avLst/>
          </a:prstGeom>
          <a:noFill/>
        </p:spPr>
        <p:txBody>
          <a:bodyPr wrap="square" lIns="0" tIns="0" rIns="0" bIns="0" anchor="t">
            <a:spAutoFit/>
          </a:bodyPr>
          <a:lstStyle/>
          <a:p>
            <a:pPr algn="l"/>
            <a:r>
              <a:rPr sz="1600" b="1" i="0">
                <a:solidFill>
                  <a:srgbClr val="02C39A"/>
                </a:solidFill>
                <a:latin typeface="Georgia"/>
              </a:rPr>
              <a:t>01</a:t>
            </a:r>
          </a:p>
        </p:txBody>
      </p:sp>
      <p:sp>
        <p:nvSpPr>
          <p:cNvPr id="10" name="TextBox 9"/>
          <p:cNvSpPr txBox="1"/>
          <p:nvPr/>
        </p:nvSpPr>
        <p:spPr>
          <a:xfrm>
            <a:off x="1143000" y="4160520"/>
            <a:ext cx="10515600" cy="548640"/>
          </a:xfrm>
          <a:prstGeom prst="rect">
            <a:avLst/>
          </a:prstGeom>
          <a:noFill/>
        </p:spPr>
        <p:txBody>
          <a:bodyPr wrap="square" lIns="0" tIns="0" rIns="0" bIns="0" anchor="t">
            <a:spAutoFit/>
          </a:bodyPr>
          <a:lstStyle/>
          <a:p>
            <a:pPr algn="l"/>
            <a:r>
              <a:rPr sz="1300" b="0" i="0">
                <a:solidFill>
                  <a:srgbClr val="CADCFC"/>
                </a:solidFill>
                <a:latin typeface="Calibri"/>
              </a:rPr>
              <a:t>The mimicry holdout protocol is the methodological core — the model generalizes to an unseen attack at 96.4% recall.</a:t>
            </a:r>
          </a:p>
        </p:txBody>
      </p:sp>
      <p:sp>
        <p:nvSpPr>
          <p:cNvPr id="11" name="TextBox 10"/>
          <p:cNvSpPr txBox="1"/>
          <p:nvPr/>
        </p:nvSpPr>
        <p:spPr>
          <a:xfrm>
            <a:off x="640080" y="4800600"/>
            <a:ext cx="457200" cy="457200"/>
          </a:xfrm>
          <a:prstGeom prst="rect">
            <a:avLst/>
          </a:prstGeom>
          <a:noFill/>
        </p:spPr>
        <p:txBody>
          <a:bodyPr wrap="square" lIns="0" tIns="0" rIns="0" bIns="0" anchor="t">
            <a:spAutoFit/>
          </a:bodyPr>
          <a:lstStyle/>
          <a:p>
            <a:pPr algn="l"/>
            <a:r>
              <a:rPr sz="1600" b="1" i="0">
                <a:solidFill>
                  <a:srgbClr val="02C39A"/>
                </a:solidFill>
                <a:latin typeface="Georgia"/>
              </a:rPr>
              <a:t>02</a:t>
            </a:r>
          </a:p>
        </p:txBody>
      </p:sp>
      <p:sp>
        <p:nvSpPr>
          <p:cNvPr id="12" name="TextBox 11"/>
          <p:cNvSpPr txBox="1"/>
          <p:nvPr/>
        </p:nvSpPr>
        <p:spPr>
          <a:xfrm>
            <a:off x="1143000" y="4800600"/>
            <a:ext cx="10515600" cy="548640"/>
          </a:xfrm>
          <a:prstGeom prst="rect">
            <a:avLst/>
          </a:prstGeom>
          <a:noFill/>
        </p:spPr>
        <p:txBody>
          <a:bodyPr wrap="square" lIns="0" tIns="0" rIns="0" bIns="0" anchor="t">
            <a:spAutoFit/>
          </a:bodyPr>
          <a:lstStyle/>
          <a:p>
            <a:pPr algn="l"/>
            <a:r>
              <a:rPr sz="1300" b="0" i="0">
                <a:solidFill>
                  <a:srgbClr val="CADCFC"/>
                </a:solidFill>
                <a:latin typeface="Calibri"/>
              </a:rPr>
              <a:t>Ablation rules out shortcut-learning — rate-only mimicry recall is 73%, behavioral features add +23 percentage points.</a:t>
            </a:r>
          </a:p>
        </p:txBody>
      </p:sp>
      <p:sp>
        <p:nvSpPr>
          <p:cNvPr id="13" name="TextBox 12"/>
          <p:cNvSpPr txBox="1"/>
          <p:nvPr/>
        </p:nvSpPr>
        <p:spPr>
          <a:xfrm>
            <a:off x="640080" y="5440679"/>
            <a:ext cx="457200" cy="457200"/>
          </a:xfrm>
          <a:prstGeom prst="rect">
            <a:avLst/>
          </a:prstGeom>
          <a:noFill/>
        </p:spPr>
        <p:txBody>
          <a:bodyPr wrap="square" lIns="0" tIns="0" rIns="0" bIns="0" anchor="t">
            <a:spAutoFit/>
          </a:bodyPr>
          <a:lstStyle/>
          <a:p>
            <a:pPr algn="l"/>
            <a:r>
              <a:rPr sz="1600" b="1" i="0">
                <a:solidFill>
                  <a:srgbClr val="02C39A"/>
                </a:solidFill>
                <a:latin typeface="Georgia"/>
              </a:rPr>
              <a:t>03</a:t>
            </a:r>
          </a:p>
        </p:txBody>
      </p:sp>
      <p:sp>
        <p:nvSpPr>
          <p:cNvPr id="14" name="TextBox 13"/>
          <p:cNvSpPr txBox="1"/>
          <p:nvPr/>
        </p:nvSpPr>
        <p:spPr>
          <a:xfrm>
            <a:off x="1143000" y="5440679"/>
            <a:ext cx="10515600" cy="548640"/>
          </a:xfrm>
          <a:prstGeom prst="rect">
            <a:avLst/>
          </a:prstGeom>
          <a:noFill/>
        </p:spPr>
        <p:txBody>
          <a:bodyPr wrap="square" lIns="0" tIns="0" rIns="0" bIns="0" anchor="t">
            <a:spAutoFit/>
          </a:bodyPr>
          <a:lstStyle/>
          <a:p>
            <a:pPr algn="l"/>
            <a:r>
              <a:rPr sz="1300" b="0" i="0">
                <a:solidFill>
                  <a:srgbClr val="CADCFC"/>
                </a:solidFill>
                <a:latin typeface="Calibri"/>
              </a:rPr>
              <a:t>Implementation issues were identified, corrected, and the central finding re-verified across three configurations (sensitivity analysis).</a:t>
            </a:r>
          </a:p>
        </p:txBody>
      </p:sp>
      <p:sp>
        <p:nvSpPr>
          <p:cNvPr id="15" name="TextBox 14"/>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23 /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8970</TotalTime>
  <Words>3252</Words>
  <Application>Microsoft Macintosh PowerPoint</Application>
  <PresentationFormat>Özel</PresentationFormat>
  <Paragraphs>453</Paragraphs>
  <Slides>23</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23</vt:i4>
      </vt:variant>
    </vt:vector>
  </HeadingPairs>
  <TitlesOfParts>
    <vt:vector size="28" baseType="lpstr">
      <vt:lpstr>Arial</vt:lpstr>
      <vt:lpstr>Calibri</vt:lpstr>
      <vt:lpstr>Consolas</vt:lpstr>
      <vt:lpstr>Georgia</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Beyza Yavuz</cp:lastModifiedBy>
  <cp:revision>4</cp:revision>
  <dcterms:created xsi:type="dcterms:W3CDTF">2013-01-27T09:14:16Z</dcterms:created>
  <dcterms:modified xsi:type="dcterms:W3CDTF">2026-05-26T20:10:21Z</dcterms:modified>
  <cp:category/>
</cp:coreProperties>
</file>