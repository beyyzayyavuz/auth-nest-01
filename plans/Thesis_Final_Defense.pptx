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61838"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2760"/>
    <a:srgbClr val="0A6C56"/>
    <a:srgbClr val="00B791"/>
    <a:srgbClr val="82A6D4"/>
    <a:srgbClr val="2BCA9B"/>
    <a:srgbClr val="F79B8C"/>
    <a:srgbClr val="649EA4"/>
    <a:srgbClr val="E7786A"/>
    <a:srgbClr val="FF8475"/>
    <a:srgbClr val="DB6C5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Orta Stil 2 - Vurgu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20"/>
    <p:restoredTop sz="94660"/>
  </p:normalViewPr>
  <p:slideViewPr>
    <p:cSldViewPr snapToGrid="0" snapToObjects="1">
      <p:cViewPr>
        <p:scale>
          <a:sx n="99" d="100"/>
          <a:sy n="99" d="100"/>
        </p:scale>
        <p:origin x="1136" y="5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al__ma_Sayfas_.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Proposed (RF)</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1"/>
          <c:dLbls>
            <c:dLbl>
              <c:idx val="0"/>
              <c:layout>
                <c:manualLayout>
                  <c:x val="2.2222222222222222E-3"/>
                  <c:y val="1.421041119860013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631-C146-92BD-2C30BC829366}"/>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tr-T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http_flood</c:v>
                </c:pt>
                <c:pt idx="1">
                  <c:v>normal_user</c:v>
                </c:pt>
                <c:pt idx="2">
                  <c:v>low_rate_bot</c:v>
                </c:pt>
              </c:strCache>
            </c:strRef>
          </c:cat>
          <c:val>
            <c:numRef>
              <c:f>Sheet1!$B$2:$B$4</c:f>
              <c:numCache>
                <c:formatCode>General</c:formatCode>
                <c:ptCount val="3"/>
                <c:pt idx="0">
                  <c:v>0.96379999999999999</c:v>
                </c:pt>
                <c:pt idx="1">
                  <c:v>3.0800000000000001E-2</c:v>
                </c:pt>
                <c:pt idx="2">
                  <c:v>5.4000000000000003E-3</c:v>
                </c:pt>
              </c:numCache>
            </c:numRef>
          </c:val>
          <c:extLst>
            <c:ext xmlns:c16="http://schemas.microsoft.com/office/drawing/2014/chart" uri="{C3380CC4-5D6E-409C-BE32-E72D297353CC}">
              <c16:uniqueId val="{00000000-C631-C146-92BD-2C30BC829366}"/>
            </c:ext>
          </c:extLst>
        </c:ser>
        <c:ser>
          <c:idx val="1"/>
          <c:order val="1"/>
          <c:tx>
            <c:strRef>
              <c:f>Sheet1!$C$1</c:f>
              <c:strCache>
                <c:ptCount val="1"/>
                <c:pt idx="0">
                  <c:v>ISO+RF (alternative)</c:v>
                </c:pt>
              </c:strCache>
            </c:strRef>
          </c:tx>
          <c:spPr>
            <a:pattFill prst="narHorz">
              <a:fgClr>
                <a:schemeClr val="accent2"/>
              </a:fgClr>
              <a:bgClr>
                <a:schemeClr val="accent2">
                  <a:lumMod val="20000"/>
                  <a:lumOff val="80000"/>
                </a:schemeClr>
              </a:bgClr>
            </a:pattFill>
            <a:ln>
              <a:noFill/>
            </a:ln>
            <a:effectLst>
              <a:innerShdw blurRad="114300">
                <a:schemeClr val="accent2"/>
              </a:innerShdw>
            </a:effectLst>
          </c:spPr>
          <c:invertIfNegative val="1"/>
          <c:dLbls>
            <c:dLbl>
              <c:idx val="0"/>
              <c:layout>
                <c:manualLayout>
                  <c:x val="2.2222222222222222E-3"/>
                  <c:y val="-9.068241469816272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631-C146-92BD-2C30BC829366}"/>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tr-T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http_flood</c:v>
                </c:pt>
                <c:pt idx="1">
                  <c:v>normal_user</c:v>
                </c:pt>
                <c:pt idx="2">
                  <c:v>low_rate_bot</c:v>
                </c:pt>
              </c:strCache>
            </c:strRef>
          </c:cat>
          <c:val>
            <c:numRef>
              <c:f>Sheet1!$C$2:$C$4</c:f>
              <c:numCache>
                <c:formatCode>General</c:formatCode>
                <c:ptCount val="3"/>
                <c:pt idx="0">
                  <c:v>0.8891</c:v>
                </c:pt>
                <c:pt idx="1">
                  <c:v>0.1055</c:v>
                </c:pt>
                <c:pt idx="2">
                  <c:v>5.4000000000000003E-3</c:v>
                </c:pt>
              </c:numCache>
            </c:numRef>
          </c:val>
          <c:extLst>
            <c:ext xmlns:c16="http://schemas.microsoft.com/office/drawing/2014/chart" uri="{C3380CC4-5D6E-409C-BE32-E72D297353CC}">
              <c16:uniqueId val="{00000001-C631-C146-92BD-2C30BC829366}"/>
            </c:ext>
          </c:extLst>
        </c:ser>
        <c:dLbls>
          <c:dLblPos val="inEnd"/>
          <c:showLegendKey val="0"/>
          <c:showVal val="1"/>
          <c:showCatName val="0"/>
          <c:showSerName val="0"/>
          <c:showPercent val="0"/>
          <c:showBubbleSize val="0"/>
        </c:dLbls>
        <c:gapWidth val="164"/>
        <c:overlap val="-22"/>
        <c:axId val="-2068027336"/>
        <c:axId val="-2113994440"/>
      </c:barChart>
      <c:catAx>
        <c:axId val="-2068027336"/>
        <c:scaling>
          <c:orientation val="minMax"/>
        </c:scaling>
        <c:delete val="0"/>
        <c:axPos val="b"/>
        <c:numFmt formatCode="General" sourceLinked="0"/>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tr-TR"/>
          </a:p>
        </c:txPr>
        <c:crossAx val="-2113994440"/>
        <c:crosses val="autoZero"/>
        <c:auto val="1"/>
        <c:lblAlgn val="ctr"/>
        <c:lblOffset val="100"/>
        <c:noMultiLvlLbl val="0"/>
      </c:catAx>
      <c:valAx>
        <c:axId val="-211399444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tr-TR"/>
          </a:p>
        </c:txPr>
        <c:crossAx val="-206802733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tr-TR"/>
        </a:p>
      </c:txPr>
    </c:legend>
    <c:plotVisOnly val="1"/>
    <c:dispBlanksAs val="gap"/>
    <c:showDLblsOverMax val="1"/>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1197"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6ABDC2-2E5E-4A44-894D-5995171E93DF}" type="datetimeFigureOut">
              <a:rPr lang="tr-TR" smtClean="0"/>
              <a:t>21.05.2026</a:t>
            </a:fld>
            <a:endParaRPr lang="tr-TR"/>
          </a:p>
        </p:txBody>
      </p:sp>
      <p:sp>
        <p:nvSpPr>
          <p:cNvPr id="4" name="Slayt Resmi Yer Tutucusu 3"/>
          <p:cNvSpPr>
            <a:spLocks noGrp="1" noRot="1" noChangeAspect="1"/>
          </p:cNvSpPr>
          <p:nvPr>
            <p:ph type="sldImg" idx="2"/>
          </p:nvPr>
        </p:nvSpPr>
        <p:spPr>
          <a:xfrm>
            <a:off x="692150" y="1143000"/>
            <a:ext cx="54737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A06939-385C-7546-B6F1-2953B3031855}" type="slidenum">
              <a:rPr lang="tr-TR" smtClean="0"/>
              <a:t>‹#›</a:t>
            </a:fld>
            <a:endParaRPr lang="tr-TR"/>
          </a:p>
        </p:txBody>
      </p:sp>
    </p:spTree>
    <p:extLst>
      <p:ext uri="{BB962C8B-B14F-4D97-AF65-F5344CB8AC3E}">
        <p14:creationId xmlns:p14="http://schemas.microsoft.com/office/powerpoint/2010/main" val="1322358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12A06939-385C-7546-B6F1-2953B3031855}" type="slidenum">
              <a:rPr lang="tr-TR" smtClean="0"/>
              <a:t>1</a:t>
            </a:fld>
            <a:endParaRPr lang="tr-TR"/>
          </a:p>
        </p:txBody>
      </p:sp>
    </p:spTree>
    <p:extLst>
      <p:ext uri="{BB962C8B-B14F-4D97-AF65-F5344CB8AC3E}">
        <p14:creationId xmlns:p14="http://schemas.microsoft.com/office/powerpoint/2010/main" val="3902793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12A06939-385C-7546-B6F1-2953B3031855}" type="slidenum">
              <a:rPr lang="tr-TR" smtClean="0"/>
              <a:t>13</a:t>
            </a:fld>
            <a:endParaRPr lang="tr-TR"/>
          </a:p>
        </p:txBody>
      </p:sp>
    </p:spTree>
    <p:extLst>
      <p:ext uri="{BB962C8B-B14F-4D97-AF65-F5344CB8AC3E}">
        <p14:creationId xmlns:p14="http://schemas.microsoft.com/office/powerpoint/2010/main" val="12659990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13" name="Rectangle 1">
            <a:extLst>
              <a:ext uri="{FF2B5EF4-FFF2-40B4-BE49-F238E27FC236}">
                <a16:creationId xmlns:a16="http://schemas.microsoft.com/office/drawing/2014/main" id="{01A7C8D8-4E52-F8C3-0A7B-84929289D1DA}"/>
              </a:ext>
            </a:extLst>
          </p:cNvPr>
          <p:cNvSpPr/>
          <p:nvPr/>
        </p:nvSpPr>
        <p:spPr>
          <a:xfrm>
            <a:off x="71527" y="0"/>
            <a:ext cx="12292786" cy="6858000"/>
          </a:xfrm>
          <a:prstGeom prst="rect">
            <a:avLst/>
          </a:prstGeom>
          <a:solidFill>
            <a:srgbClr val="1E2760"/>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solidFill>
                <a:schemeClr val="accent1">
                  <a:lumMod val="40000"/>
                  <a:lumOff val="60000"/>
                </a:schemeClr>
              </a:solidFill>
            </a:endParaRPr>
          </a:p>
        </p:txBody>
      </p:sp>
      <p:sp>
        <p:nvSpPr>
          <p:cNvPr id="2" name="Rectangle 1"/>
          <p:cNvSpPr/>
          <p:nvPr/>
        </p:nvSpPr>
        <p:spPr>
          <a:xfrm>
            <a:off x="0" y="0"/>
            <a:ext cx="228600" cy="6858000"/>
          </a:xfrm>
          <a:prstGeom prst="rect">
            <a:avLst/>
          </a:prstGeom>
          <a:solidFill>
            <a:srgbClr val="F37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0"/>
            <a:ext cx="10972800" cy="365760"/>
          </a:xfrm>
          <a:prstGeom prst="rect">
            <a:avLst/>
          </a:prstGeom>
          <a:noFill/>
        </p:spPr>
        <p:txBody>
          <a:bodyPr wrap="square" lIns="0" tIns="0" rIns="0" bIns="0" anchor="t">
            <a:spAutoFit/>
          </a:bodyPr>
          <a:lstStyle/>
          <a:p>
            <a:pPr algn="l"/>
            <a:r>
              <a:rPr sz="1200" b="1" i="0" spc="600" dirty="0">
                <a:solidFill>
                  <a:srgbClr val="8FAEEB"/>
                </a:solidFill>
                <a:latin typeface="Calibri"/>
              </a:rPr>
              <a:t>GRADUATION THESIS — FINAL DEFENSE</a:t>
            </a:r>
          </a:p>
        </p:txBody>
      </p:sp>
      <p:sp>
        <p:nvSpPr>
          <p:cNvPr id="4" name="TextBox 3"/>
          <p:cNvSpPr txBox="1"/>
          <p:nvPr/>
        </p:nvSpPr>
        <p:spPr>
          <a:xfrm>
            <a:off x="731520" y="1920240"/>
            <a:ext cx="10972800" cy="1645920"/>
          </a:xfrm>
          <a:prstGeom prst="rect">
            <a:avLst/>
          </a:prstGeom>
          <a:noFill/>
        </p:spPr>
        <p:txBody>
          <a:bodyPr wrap="square" lIns="0" tIns="0" rIns="0" bIns="0" anchor="t">
            <a:spAutoFit/>
          </a:bodyPr>
          <a:lstStyle/>
          <a:p>
            <a:pPr algn="l"/>
            <a:r>
              <a:rPr sz="4400" b="1" i="0" dirty="0">
                <a:solidFill>
                  <a:srgbClr val="FFFFFF"/>
                </a:solidFill>
                <a:latin typeface="Calibri"/>
              </a:rPr>
              <a:t>Behavioral DDoS Detection</a:t>
            </a:r>
          </a:p>
          <a:p>
            <a:pPr algn="l"/>
            <a:r>
              <a:rPr sz="4400" b="1" i="0" dirty="0">
                <a:solidFill>
                  <a:srgbClr val="FFFFFF"/>
                </a:solidFill>
                <a:latin typeface="Calibri"/>
              </a:rPr>
              <a:t>at the API Layer</a:t>
            </a:r>
          </a:p>
        </p:txBody>
      </p:sp>
      <p:sp>
        <p:nvSpPr>
          <p:cNvPr id="5" name="TextBox 4"/>
          <p:cNvSpPr txBox="1"/>
          <p:nvPr/>
        </p:nvSpPr>
        <p:spPr>
          <a:xfrm>
            <a:off x="731520" y="3703320"/>
            <a:ext cx="10972800" cy="457200"/>
          </a:xfrm>
          <a:prstGeom prst="rect">
            <a:avLst/>
          </a:prstGeom>
          <a:noFill/>
        </p:spPr>
        <p:txBody>
          <a:bodyPr wrap="square" lIns="0" tIns="0" rIns="0" bIns="0" anchor="t">
            <a:spAutoFit/>
          </a:bodyPr>
          <a:lstStyle/>
          <a:p>
            <a:pPr algn="l"/>
            <a:r>
              <a:rPr sz="2000" b="0" i="1">
                <a:solidFill>
                  <a:srgbClr val="CADCFC"/>
                </a:solidFill>
                <a:latin typeface="Calibri"/>
              </a:rPr>
              <a:t>Robustness of Behavioral Features under Mimicry Attacks</a:t>
            </a:r>
          </a:p>
        </p:txBody>
      </p:sp>
      <p:sp>
        <p:nvSpPr>
          <p:cNvPr id="6" name="TextBox 5"/>
          <p:cNvSpPr txBox="1"/>
          <p:nvPr/>
        </p:nvSpPr>
        <p:spPr>
          <a:xfrm>
            <a:off x="731520" y="4570765"/>
            <a:ext cx="7315200" cy="915635"/>
          </a:xfrm>
          <a:prstGeom prst="rect">
            <a:avLst/>
          </a:prstGeom>
          <a:noFill/>
        </p:spPr>
        <p:txBody>
          <a:bodyPr wrap="square" lIns="0" tIns="0" rIns="0" bIns="0" anchor="t">
            <a:spAutoFit/>
          </a:bodyPr>
          <a:lstStyle/>
          <a:p>
            <a:pPr algn="l">
              <a:lnSpc>
                <a:spcPct val="150000"/>
              </a:lnSpc>
            </a:pPr>
            <a:r>
              <a:rPr sz="1800" b="1" i="0" dirty="0">
                <a:solidFill>
                  <a:srgbClr val="FFFFFF"/>
                </a:solidFill>
                <a:latin typeface="Calibri"/>
              </a:rPr>
              <a:t>Beyza Yavuz</a:t>
            </a:r>
            <a:br>
              <a:rPr lang="tr-TR" sz="1800" b="1" i="0" dirty="0">
                <a:solidFill>
                  <a:srgbClr val="FFFFFF"/>
                </a:solidFill>
                <a:latin typeface="Calibri"/>
              </a:rPr>
            </a:br>
            <a:r>
              <a:rPr lang="tr-TR" sz="1300" i="0" dirty="0">
                <a:solidFill>
                  <a:srgbClr val="FFFFFF"/>
                </a:solidFill>
                <a:latin typeface="Calibri"/>
              </a:rPr>
              <a:t>Advisor: </a:t>
            </a:r>
            <a:r>
              <a:rPr lang="tr-TR" sz="1300" i="0" dirty="0" err="1">
                <a:solidFill>
                  <a:srgbClr val="FFFFFF"/>
                </a:solidFill>
                <a:latin typeface="Calibri"/>
              </a:rPr>
              <a:t>Kristin</a:t>
            </a:r>
            <a:r>
              <a:rPr lang="tr-TR" sz="1300" i="0" dirty="0">
                <a:solidFill>
                  <a:srgbClr val="FFFFFF"/>
                </a:solidFill>
                <a:latin typeface="Calibri"/>
              </a:rPr>
              <a:t> Hocam</a:t>
            </a:r>
            <a:endParaRPr sz="1300" i="0" dirty="0">
              <a:solidFill>
                <a:srgbClr val="FFFFFF"/>
              </a:solidFill>
              <a:latin typeface="Calibri"/>
            </a:endParaRPr>
          </a:p>
          <a:p>
            <a:pPr algn="l"/>
            <a:r>
              <a:rPr lang="tr-TR" sz="1300" b="0" i="0" dirty="0">
                <a:solidFill>
                  <a:srgbClr val="CADCFC"/>
                </a:solidFill>
                <a:latin typeface="Calibri"/>
              </a:rPr>
              <a:t>Software</a:t>
            </a:r>
            <a:r>
              <a:rPr sz="1300" b="0" i="0" dirty="0">
                <a:solidFill>
                  <a:srgbClr val="CADCFC"/>
                </a:solidFill>
                <a:latin typeface="Calibri"/>
              </a:rPr>
              <a:t> Engineering · Graduation Thesis · 2026</a:t>
            </a:r>
          </a:p>
        </p:txBody>
      </p:sp>
      <p:sp>
        <p:nvSpPr>
          <p:cNvPr id="7" name="TextBox 6"/>
          <p:cNvSpPr txBox="1"/>
          <p:nvPr/>
        </p:nvSpPr>
        <p:spPr>
          <a:xfrm>
            <a:off x="8686800" y="6217920"/>
            <a:ext cx="3200400" cy="138499"/>
          </a:xfrm>
          <a:prstGeom prst="rect">
            <a:avLst/>
          </a:prstGeom>
          <a:noFill/>
          <a:ln>
            <a:noFill/>
          </a:ln>
        </p:spPr>
        <p:txBody>
          <a:bodyPr wrap="square" lIns="0" tIns="0" rIns="0" bIns="0" anchor="t">
            <a:spAutoFit/>
          </a:bodyPr>
          <a:lstStyle/>
          <a:p>
            <a:pPr algn="r"/>
            <a:r>
              <a:rPr sz="900" b="1" i="0" spc="400" dirty="0">
                <a:solidFill>
                  <a:srgbClr val="F37866"/>
                </a:solidFill>
                <a:latin typeface="Calibri"/>
              </a:rPr>
              <a:t>FINAL THESIS DEFENSE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0 · OVERVIEW</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What This Thesis Accomplished</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dirty="0">
                <a:solidFill>
                  <a:srgbClr val="64748B"/>
                </a:solidFill>
                <a:latin typeface="Calibri"/>
              </a:rPr>
              <a:t>End-to-end behavioral DDoS detection pipeline with strict generalization testing</a:t>
            </a:r>
          </a:p>
        </p:txBody>
      </p:sp>
      <p:sp>
        <p:nvSpPr>
          <p:cNvPr id="5" name="Rectangle 4"/>
          <p:cNvSpPr/>
          <p:nvPr/>
        </p:nvSpPr>
        <p:spPr>
          <a:xfrm>
            <a:off x="457200" y="1691640"/>
            <a:ext cx="3657600" cy="4297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691640"/>
            <a:ext cx="3657600" cy="45720"/>
          </a:xfrm>
          <a:prstGeom prst="rect">
            <a:avLst/>
          </a:prstGeom>
          <a:solidFill>
            <a:srgbClr val="30409F">
              <a:alpha val="76471"/>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965960"/>
            <a:ext cx="3108960" cy="411480"/>
          </a:xfrm>
          <a:prstGeom prst="rect">
            <a:avLst/>
          </a:prstGeom>
          <a:noFill/>
        </p:spPr>
        <p:txBody>
          <a:bodyPr wrap="square" lIns="0" tIns="0" rIns="0" bIns="0" anchor="t">
            <a:spAutoFit/>
          </a:bodyPr>
          <a:lstStyle/>
          <a:p>
            <a:pPr algn="l"/>
            <a:r>
              <a:rPr sz="1300" b="1" i="0" spc="300" dirty="0">
                <a:solidFill>
                  <a:srgbClr val="1E2761"/>
                </a:solidFill>
                <a:latin typeface="Calibri"/>
              </a:rPr>
              <a:t>INFRASTRUCTURE &amp; TRAFFIC</a:t>
            </a:r>
          </a:p>
        </p:txBody>
      </p:sp>
      <p:sp>
        <p:nvSpPr>
          <p:cNvPr id="8" name="TextBox 7"/>
          <p:cNvSpPr txBox="1"/>
          <p:nvPr/>
        </p:nvSpPr>
        <p:spPr>
          <a:xfrm>
            <a:off x="731520" y="2560320"/>
            <a:ext cx="3108960" cy="3246120"/>
          </a:xfrm>
          <a:prstGeom prst="rect">
            <a:avLst/>
          </a:prstGeom>
          <a:noFill/>
        </p:spPr>
        <p:txBody>
          <a:bodyPr wrap="square">
            <a:spAutoFit/>
          </a:bodyPr>
          <a:lstStyle/>
          <a:p>
            <a:pPr>
              <a:lnSpc>
                <a:spcPct val="115000"/>
              </a:lnSpc>
              <a:spcAft>
                <a:spcPts val="600"/>
              </a:spcAft>
            </a:pPr>
            <a:r>
              <a:rPr sz="1100" b="1" dirty="0">
                <a:solidFill>
                  <a:srgbClr val="1E2761"/>
                </a:solidFill>
                <a:latin typeface="Calibri"/>
              </a:rPr>
              <a:t>▪  </a:t>
            </a:r>
            <a:r>
              <a:rPr sz="1100" dirty="0" err="1">
                <a:solidFill>
                  <a:srgbClr val="1A1A2E"/>
                </a:solidFill>
                <a:latin typeface="Calibri"/>
              </a:rPr>
              <a:t>NestJS</a:t>
            </a:r>
            <a:r>
              <a:rPr sz="1100" dirty="0">
                <a:solidFill>
                  <a:srgbClr val="1A1A2E"/>
                </a:solidFill>
                <a:latin typeface="Calibri"/>
              </a:rPr>
              <a:t> + nginx + PostgreSQL data pipeline</a:t>
            </a:r>
          </a:p>
          <a:p>
            <a:pPr>
              <a:lnSpc>
                <a:spcPct val="115000"/>
              </a:lnSpc>
              <a:spcAft>
                <a:spcPts val="600"/>
              </a:spcAft>
            </a:pPr>
            <a:r>
              <a:rPr sz="1100" b="1" dirty="0">
                <a:solidFill>
                  <a:srgbClr val="1E2761"/>
                </a:solidFill>
                <a:latin typeface="Calibri"/>
              </a:rPr>
              <a:t>▪  </a:t>
            </a:r>
            <a:r>
              <a:rPr sz="1100" dirty="0">
                <a:solidFill>
                  <a:srgbClr val="1A1A2E"/>
                </a:solidFill>
                <a:latin typeface="Calibri"/>
              </a:rPr>
              <a:t>Per-request backend cost capture via </a:t>
            </a:r>
            <a:r>
              <a:rPr sz="1100" dirty="0" err="1">
                <a:solidFill>
                  <a:srgbClr val="1A1A2E"/>
                </a:solidFill>
                <a:latin typeface="Calibri"/>
              </a:rPr>
              <a:t>AsyncLocalStorage</a:t>
            </a:r>
            <a:endParaRPr sz="1100" dirty="0">
              <a:solidFill>
                <a:srgbClr val="1A1A2E"/>
              </a:solidFill>
              <a:latin typeface="Calibri"/>
            </a:endParaRPr>
          </a:p>
          <a:p>
            <a:pPr>
              <a:lnSpc>
                <a:spcPct val="115000"/>
              </a:lnSpc>
              <a:spcAft>
                <a:spcPts val="600"/>
              </a:spcAft>
            </a:pPr>
            <a:r>
              <a:rPr sz="1100" b="1" dirty="0">
                <a:solidFill>
                  <a:srgbClr val="1E2761"/>
                </a:solidFill>
                <a:latin typeface="Calibri"/>
              </a:rPr>
              <a:t>▪  </a:t>
            </a:r>
            <a:r>
              <a:rPr sz="1100" dirty="0">
                <a:solidFill>
                  <a:srgbClr val="1A1A2E"/>
                </a:solidFill>
                <a:latin typeface="Calibri"/>
              </a:rPr>
              <a:t>Parallel telemetry: nginx access log + Prisma </a:t>
            </a:r>
            <a:r>
              <a:rPr sz="1100" dirty="0" err="1">
                <a:solidFill>
                  <a:srgbClr val="1A1A2E"/>
                </a:solidFill>
                <a:latin typeface="Calibri"/>
              </a:rPr>
              <a:t>RequestLog</a:t>
            </a:r>
            <a:endParaRPr sz="1100" dirty="0">
              <a:solidFill>
                <a:srgbClr val="1A1A2E"/>
              </a:solidFill>
              <a:latin typeface="Calibri"/>
            </a:endParaRPr>
          </a:p>
          <a:p>
            <a:pPr>
              <a:lnSpc>
                <a:spcPct val="115000"/>
              </a:lnSpc>
              <a:spcAft>
                <a:spcPts val="600"/>
              </a:spcAft>
            </a:pPr>
            <a:r>
              <a:rPr sz="1100" b="1" dirty="0">
                <a:solidFill>
                  <a:srgbClr val="1E2761"/>
                </a:solidFill>
                <a:latin typeface="Calibri"/>
              </a:rPr>
              <a:t>▪  </a:t>
            </a:r>
            <a:r>
              <a:rPr sz="1100" dirty="0">
                <a:solidFill>
                  <a:srgbClr val="1A1A2E"/>
                </a:solidFill>
                <a:latin typeface="Calibri"/>
              </a:rPr>
              <a:t>Six k6 scenarios: legit, flood, low-rate, credential, mimicry, </a:t>
            </a:r>
            <a:r>
              <a:rPr sz="1100" dirty="0" err="1">
                <a:solidFill>
                  <a:srgbClr val="1A1A2E"/>
                </a:solidFill>
                <a:latin typeface="Calibri"/>
              </a:rPr>
              <a:t>slowloris</a:t>
            </a:r>
            <a:endParaRPr sz="1100" dirty="0">
              <a:solidFill>
                <a:srgbClr val="1A1A2E"/>
              </a:solidFill>
              <a:latin typeface="Calibri"/>
            </a:endParaRPr>
          </a:p>
        </p:txBody>
      </p:sp>
      <p:sp>
        <p:nvSpPr>
          <p:cNvPr id="9" name="Rectangle 8"/>
          <p:cNvSpPr/>
          <p:nvPr/>
        </p:nvSpPr>
        <p:spPr>
          <a:xfrm>
            <a:off x="4343400" y="1691640"/>
            <a:ext cx="3657600" cy="4297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3400" y="1691640"/>
            <a:ext cx="3657600" cy="45720"/>
          </a:xfrm>
          <a:prstGeom prst="rect">
            <a:avLst/>
          </a:prstGeom>
          <a:solidFill>
            <a:srgbClr val="E46C0A">
              <a:alpha val="7803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17720" y="1965960"/>
            <a:ext cx="3108960" cy="200055"/>
          </a:xfrm>
          <a:prstGeom prst="rect">
            <a:avLst/>
          </a:prstGeom>
          <a:noFill/>
        </p:spPr>
        <p:txBody>
          <a:bodyPr wrap="square" lIns="0" tIns="0" rIns="0" bIns="0" anchor="t">
            <a:spAutoFit/>
          </a:bodyPr>
          <a:lstStyle/>
          <a:p>
            <a:pPr algn="l"/>
            <a:r>
              <a:rPr sz="1300" b="1" i="0" spc="300" dirty="0">
                <a:solidFill>
                  <a:srgbClr val="E46C0A"/>
                </a:solidFill>
                <a:latin typeface="Calibri"/>
              </a:rPr>
              <a:t>FEATURES &amp; MODEL</a:t>
            </a:r>
          </a:p>
        </p:txBody>
      </p:sp>
      <p:sp>
        <p:nvSpPr>
          <p:cNvPr id="12" name="TextBox 11"/>
          <p:cNvSpPr txBox="1"/>
          <p:nvPr/>
        </p:nvSpPr>
        <p:spPr>
          <a:xfrm>
            <a:off x="4617720" y="2560320"/>
            <a:ext cx="3108960" cy="3246120"/>
          </a:xfrm>
          <a:prstGeom prst="rect">
            <a:avLst/>
          </a:prstGeom>
          <a:noFill/>
        </p:spPr>
        <p:txBody>
          <a:bodyPr wrap="square">
            <a:spAutoFit/>
          </a:bodyPr>
          <a:lstStyle/>
          <a:p>
            <a:pPr>
              <a:lnSpc>
                <a:spcPct val="115000"/>
              </a:lnSpc>
              <a:spcAft>
                <a:spcPts val="600"/>
              </a:spcAft>
            </a:pPr>
            <a:r>
              <a:rPr sz="1100" b="1" dirty="0">
                <a:solidFill>
                  <a:srgbClr val="2B3A8C"/>
                </a:solidFill>
                <a:latin typeface="Calibri"/>
              </a:rPr>
              <a:t>▪  </a:t>
            </a:r>
            <a:r>
              <a:rPr sz="1100" dirty="0">
                <a:solidFill>
                  <a:srgbClr val="1A1A2E"/>
                </a:solidFill>
                <a:latin typeface="Calibri"/>
              </a:rPr>
              <a:t>Multi-tier feature pipeline: 37 features across 4 tiers</a:t>
            </a:r>
          </a:p>
          <a:p>
            <a:pPr>
              <a:lnSpc>
                <a:spcPct val="115000"/>
              </a:lnSpc>
              <a:spcAft>
                <a:spcPts val="600"/>
              </a:spcAft>
            </a:pPr>
            <a:r>
              <a:rPr sz="1100" b="1" dirty="0">
                <a:solidFill>
                  <a:srgbClr val="2B3A8C"/>
                </a:solidFill>
                <a:latin typeface="Calibri"/>
              </a:rPr>
              <a:t>▪  </a:t>
            </a:r>
            <a:r>
              <a:rPr sz="1100" dirty="0">
                <a:solidFill>
                  <a:srgbClr val="1A1A2E"/>
                </a:solidFill>
                <a:latin typeface="Calibri"/>
              </a:rPr>
              <a:t>Endpoint cost profile, Markov log-likelihood, IAT KS distance</a:t>
            </a:r>
          </a:p>
          <a:p>
            <a:pPr>
              <a:lnSpc>
                <a:spcPct val="115000"/>
              </a:lnSpc>
              <a:spcAft>
                <a:spcPts val="600"/>
              </a:spcAft>
            </a:pPr>
            <a:r>
              <a:rPr sz="1100" b="1" dirty="0">
                <a:solidFill>
                  <a:srgbClr val="2B3A8C"/>
                </a:solidFill>
                <a:latin typeface="Calibri"/>
              </a:rPr>
              <a:t>▪  </a:t>
            </a:r>
            <a:r>
              <a:rPr sz="1100" dirty="0">
                <a:solidFill>
                  <a:srgbClr val="1A1A2E"/>
                </a:solidFill>
                <a:latin typeface="Calibri"/>
              </a:rPr>
              <a:t>Random Forest (proposed) + ISO+RF (semi-supervised alternative)</a:t>
            </a:r>
          </a:p>
          <a:p>
            <a:pPr>
              <a:lnSpc>
                <a:spcPct val="115000"/>
              </a:lnSpc>
              <a:spcAft>
                <a:spcPts val="600"/>
              </a:spcAft>
            </a:pPr>
            <a:r>
              <a:rPr sz="1100" b="1" dirty="0">
                <a:solidFill>
                  <a:srgbClr val="2B3A8C"/>
                </a:solidFill>
                <a:latin typeface="Calibri"/>
              </a:rPr>
              <a:t>▪  </a:t>
            </a:r>
            <a:r>
              <a:rPr sz="1100" dirty="0">
                <a:solidFill>
                  <a:srgbClr val="1A1A2E"/>
                </a:solidFill>
                <a:latin typeface="Calibri"/>
              </a:rPr>
              <a:t>Strict mimicry-holdout protocol — never seen during training</a:t>
            </a:r>
          </a:p>
        </p:txBody>
      </p:sp>
      <p:sp>
        <p:nvSpPr>
          <p:cNvPr id="13" name="Rectangle 12"/>
          <p:cNvSpPr/>
          <p:nvPr/>
        </p:nvSpPr>
        <p:spPr>
          <a:xfrm>
            <a:off x="8229600" y="1691640"/>
            <a:ext cx="3657600" cy="4297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29600" y="1691640"/>
            <a:ext cx="3657600" cy="45720"/>
          </a:xfrm>
          <a:prstGeom prst="rect">
            <a:avLst/>
          </a:prstGeom>
          <a:solidFill>
            <a:srgbClr val="00B791">
              <a:alpha val="82745"/>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0" y="1965960"/>
            <a:ext cx="3108960" cy="200055"/>
          </a:xfrm>
          <a:prstGeom prst="rect">
            <a:avLst/>
          </a:prstGeom>
          <a:noFill/>
        </p:spPr>
        <p:txBody>
          <a:bodyPr wrap="square" lIns="0" tIns="0" rIns="0" bIns="0" anchor="t">
            <a:spAutoFit/>
          </a:bodyPr>
          <a:lstStyle/>
          <a:p>
            <a:pPr algn="l"/>
            <a:r>
              <a:rPr sz="1300" b="1" i="0" spc="300" dirty="0">
                <a:solidFill>
                  <a:srgbClr val="00B791"/>
                </a:solidFill>
                <a:latin typeface="Calibri"/>
              </a:rPr>
              <a:t>EVALUATION &amp; VALIDATION</a:t>
            </a:r>
          </a:p>
        </p:txBody>
      </p:sp>
      <p:sp>
        <p:nvSpPr>
          <p:cNvPr id="16" name="TextBox 15"/>
          <p:cNvSpPr txBox="1"/>
          <p:nvPr/>
        </p:nvSpPr>
        <p:spPr>
          <a:xfrm>
            <a:off x="8503920" y="2560320"/>
            <a:ext cx="3108960" cy="3246120"/>
          </a:xfrm>
          <a:prstGeom prst="rect">
            <a:avLst/>
          </a:prstGeom>
          <a:noFill/>
        </p:spPr>
        <p:txBody>
          <a:bodyPr wrap="square">
            <a:spAutoFit/>
          </a:bodyPr>
          <a:lstStyle/>
          <a:p>
            <a:pPr>
              <a:lnSpc>
                <a:spcPct val="115000"/>
              </a:lnSpc>
              <a:spcAft>
                <a:spcPts val="600"/>
              </a:spcAft>
            </a:pPr>
            <a:r>
              <a:rPr sz="1100" b="1" dirty="0">
                <a:solidFill>
                  <a:srgbClr val="018F71"/>
                </a:solidFill>
                <a:latin typeface="Calibri"/>
              </a:rPr>
              <a:t>▪  </a:t>
            </a:r>
            <a:r>
              <a:rPr sz="1100" dirty="0">
                <a:solidFill>
                  <a:srgbClr val="1A1A2E"/>
                </a:solidFill>
                <a:latin typeface="Calibri"/>
              </a:rPr>
              <a:t>In-distribution: 100% accuracy, 100% macro-F1</a:t>
            </a:r>
          </a:p>
          <a:p>
            <a:pPr>
              <a:lnSpc>
                <a:spcPct val="115000"/>
              </a:lnSpc>
              <a:spcAft>
                <a:spcPts val="600"/>
              </a:spcAft>
            </a:pPr>
            <a:r>
              <a:rPr sz="1100" b="1" dirty="0">
                <a:solidFill>
                  <a:srgbClr val="018F71"/>
                </a:solidFill>
                <a:latin typeface="Calibri"/>
              </a:rPr>
              <a:t>▪  </a:t>
            </a:r>
            <a:r>
              <a:rPr sz="1100" dirty="0">
                <a:solidFill>
                  <a:srgbClr val="1A1A2E"/>
                </a:solidFill>
                <a:latin typeface="Calibri"/>
              </a:rPr>
              <a:t>5-fold CV: 99.94% ± 0.05% (stability confirmed)</a:t>
            </a:r>
          </a:p>
          <a:p>
            <a:pPr>
              <a:lnSpc>
                <a:spcPct val="115000"/>
              </a:lnSpc>
              <a:spcAft>
                <a:spcPts val="600"/>
              </a:spcAft>
            </a:pPr>
            <a:r>
              <a:rPr sz="1100" b="1" dirty="0">
                <a:solidFill>
                  <a:srgbClr val="018F71"/>
                </a:solidFill>
                <a:latin typeface="Calibri"/>
              </a:rPr>
              <a:t>▪  </a:t>
            </a:r>
            <a:r>
              <a:rPr sz="1100" dirty="0">
                <a:solidFill>
                  <a:srgbClr val="1A1A2E"/>
                </a:solidFill>
                <a:latin typeface="Calibri"/>
              </a:rPr>
              <a:t>Mimicry holdout: 96.38% recall as attack (unseen variant)</a:t>
            </a:r>
          </a:p>
          <a:p>
            <a:pPr>
              <a:lnSpc>
                <a:spcPct val="115000"/>
              </a:lnSpc>
              <a:spcAft>
                <a:spcPts val="600"/>
              </a:spcAft>
            </a:pPr>
            <a:r>
              <a:rPr sz="1100" b="1" dirty="0">
                <a:solidFill>
                  <a:srgbClr val="018F71"/>
                </a:solidFill>
                <a:latin typeface="Calibri"/>
              </a:rPr>
              <a:t>▪  </a:t>
            </a:r>
            <a:r>
              <a:rPr sz="1100" dirty="0">
                <a:solidFill>
                  <a:srgbClr val="1A1A2E"/>
                </a:solidFill>
                <a:latin typeface="Calibri"/>
              </a:rPr>
              <a:t>Behavioral lift: +23pp over rate-only ablation</a:t>
            </a:r>
          </a:p>
        </p:txBody>
      </p:sp>
      <p:sp>
        <p:nvSpPr>
          <p:cNvPr id="17" name="TextBox 16"/>
          <p:cNvSpPr txBox="1"/>
          <p:nvPr/>
        </p:nvSpPr>
        <p:spPr>
          <a:xfrm>
            <a:off x="457200" y="6126480"/>
            <a:ext cx="11247120" cy="365760"/>
          </a:xfrm>
          <a:prstGeom prst="rect">
            <a:avLst/>
          </a:prstGeom>
          <a:noFill/>
        </p:spPr>
        <p:txBody>
          <a:bodyPr wrap="square" lIns="0" tIns="0" rIns="0" bIns="0" anchor="t">
            <a:spAutoFit/>
          </a:bodyPr>
          <a:lstStyle/>
          <a:p>
            <a:pPr algn="l"/>
            <a:r>
              <a:rPr sz="1100" b="0" i="1">
                <a:solidFill>
                  <a:srgbClr val="64748B"/>
                </a:solidFill>
                <a:latin typeface="Calibri"/>
              </a:rPr>
              <a:t>This defense walks through the research question, methodology, results across three configurations, and limitations.</a:t>
            </a:r>
          </a:p>
        </p:txBody>
      </p:sp>
      <p:sp>
        <p:nvSpPr>
          <p:cNvPr id="18" name="TextBox 17"/>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Graduation Thesis · Final Defense</a:t>
            </a:r>
          </a:p>
        </p:txBody>
      </p:sp>
      <p:sp>
        <p:nvSpPr>
          <p:cNvPr id="19" name="TextBox 18"/>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2 / 23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1 · RESEARCH QUESTION</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The Question in One Sentence</a:t>
            </a:r>
          </a:p>
        </p:txBody>
      </p:sp>
      <p:sp>
        <p:nvSpPr>
          <p:cNvPr id="4" name="Rectangle 3"/>
          <p:cNvSpPr/>
          <p:nvPr/>
        </p:nvSpPr>
        <p:spPr>
          <a:xfrm>
            <a:off x="731520" y="1828800"/>
            <a:ext cx="10698480" cy="2194560"/>
          </a:xfrm>
          <a:prstGeom prst="rect">
            <a:avLst/>
          </a:prstGeom>
          <a:solidFill>
            <a:schemeClr val="bg1"/>
          </a:solidFill>
          <a:ln>
            <a:solidFill>
              <a:srgbClr val="E2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Rectangle 4"/>
          <p:cNvSpPr/>
          <p:nvPr/>
        </p:nvSpPr>
        <p:spPr>
          <a:xfrm>
            <a:off x="731520" y="1828800"/>
            <a:ext cx="137160" cy="2194560"/>
          </a:xfrm>
          <a:prstGeom prst="rect">
            <a:avLst/>
          </a:prstGeom>
          <a:solidFill>
            <a:srgbClr val="F37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783080"/>
            <a:ext cx="731520" cy="731520"/>
          </a:xfrm>
          <a:prstGeom prst="rect">
            <a:avLst/>
          </a:prstGeom>
          <a:noFill/>
        </p:spPr>
        <p:txBody>
          <a:bodyPr wrap="square" lIns="0" tIns="0" rIns="0" bIns="0" anchor="t">
            <a:spAutoFit/>
          </a:bodyPr>
          <a:lstStyle/>
          <a:p>
            <a:pPr algn="l"/>
            <a:r>
              <a:rPr sz="6000" b="1" i="0">
                <a:solidFill>
                  <a:srgbClr val="8FAEEB"/>
                </a:solidFill>
                <a:latin typeface="Georgia"/>
              </a:rPr>
              <a:t>"</a:t>
            </a:r>
          </a:p>
        </p:txBody>
      </p:sp>
      <p:sp>
        <p:nvSpPr>
          <p:cNvPr id="7" name="TextBox 6"/>
          <p:cNvSpPr txBox="1"/>
          <p:nvPr/>
        </p:nvSpPr>
        <p:spPr>
          <a:xfrm>
            <a:off x="1463040" y="2557194"/>
            <a:ext cx="9784080" cy="646331"/>
          </a:xfrm>
          <a:prstGeom prst="rect">
            <a:avLst/>
          </a:prstGeom>
          <a:noFill/>
        </p:spPr>
        <p:txBody>
          <a:bodyPr wrap="square" lIns="0" tIns="0" rIns="0" bIns="0" anchor="ctr">
            <a:spAutoFit/>
          </a:bodyPr>
          <a:lstStyle/>
          <a:p>
            <a:pPr algn="l"/>
            <a:r>
              <a:rPr sz="2100" b="0" i="1" dirty="0">
                <a:solidFill>
                  <a:srgbClr val="1E2760"/>
                </a:solidFill>
                <a:latin typeface="Calibri"/>
              </a:rPr>
              <a:t>If an attacker mimics surface features — User-Agent, IP, even request rate — of a real user,</a:t>
            </a:r>
          </a:p>
          <a:p>
            <a:pPr algn="l"/>
            <a:r>
              <a:rPr sz="2100" b="0" i="1" dirty="0">
                <a:solidFill>
                  <a:srgbClr val="1E2760"/>
                </a:solidFill>
                <a:latin typeface="Calibri"/>
              </a:rPr>
              <a:t>can a behavior-based detector still tell them apart?</a:t>
            </a:r>
          </a:p>
        </p:txBody>
      </p:sp>
      <p:sp>
        <p:nvSpPr>
          <p:cNvPr id="8" name="Rectangle 7"/>
          <p:cNvSpPr/>
          <p:nvPr/>
        </p:nvSpPr>
        <p:spPr>
          <a:xfrm>
            <a:off x="731520" y="4480560"/>
            <a:ext cx="3566160" cy="1645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4663440"/>
            <a:ext cx="548640" cy="640080"/>
          </a:xfrm>
          <a:prstGeom prst="rect">
            <a:avLst/>
          </a:prstGeom>
          <a:noFill/>
        </p:spPr>
        <p:txBody>
          <a:bodyPr wrap="square" lIns="0" tIns="0" rIns="0" bIns="0" anchor="t">
            <a:spAutoFit/>
          </a:bodyPr>
          <a:lstStyle/>
          <a:p>
            <a:pPr algn="l"/>
            <a:r>
              <a:rPr sz="4000" b="1" i="0" dirty="0">
                <a:solidFill>
                  <a:srgbClr val="F37866"/>
                </a:solidFill>
                <a:latin typeface="Georgia"/>
              </a:rPr>
              <a:t>1</a:t>
            </a:r>
          </a:p>
        </p:txBody>
      </p:sp>
      <p:sp>
        <p:nvSpPr>
          <p:cNvPr id="10" name="TextBox 9"/>
          <p:cNvSpPr txBox="1"/>
          <p:nvPr/>
        </p:nvSpPr>
        <p:spPr>
          <a:xfrm>
            <a:off x="1600200" y="4800600"/>
            <a:ext cx="2514600" cy="1188720"/>
          </a:xfrm>
          <a:prstGeom prst="rect">
            <a:avLst/>
          </a:prstGeom>
          <a:noFill/>
        </p:spPr>
        <p:txBody>
          <a:bodyPr wrap="square" lIns="0" tIns="0" rIns="0" bIns="0" anchor="t">
            <a:spAutoFit/>
          </a:bodyPr>
          <a:lstStyle/>
          <a:p>
            <a:pPr algn="l"/>
            <a:r>
              <a:rPr sz="1200" b="0" i="0">
                <a:solidFill>
                  <a:srgbClr val="1A1A2E"/>
                </a:solidFill>
                <a:latin typeface="Calibri"/>
              </a:rPr>
              <a:t>Are classical rate-based defenses enough against distributed attacks?</a:t>
            </a:r>
          </a:p>
        </p:txBody>
      </p:sp>
      <p:sp>
        <p:nvSpPr>
          <p:cNvPr id="11" name="Rectangle 10"/>
          <p:cNvSpPr/>
          <p:nvPr/>
        </p:nvSpPr>
        <p:spPr>
          <a:xfrm>
            <a:off x="4434840" y="4480560"/>
            <a:ext cx="3566160" cy="1645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4663440"/>
            <a:ext cx="548640" cy="640080"/>
          </a:xfrm>
          <a:prstGeom prst="rect">
            <a:avLst/>
          </a:prstGeom>
          <a:noFill/>
        </p:spPr>
        <p:txBody>
          <a:bodyPr wrap="square" lIns="0" tIns="0" rIns="0" bIns="0" anchor="t">
            <a:spAutoFit/>
          </a:bodyPr>
          <a:lstStyle/>
          <a:p>
            <a:pPr algn="l"/>
            <a:r>
              <a:rPr sz="4000" b="1" i="0" dirty="0">
                <a:solidFill>
                  <a:srgbClr val="F37866"/>
                </a:solidFill>
                <a:latin typeface="Georgia"/>
              </a:rPr>
              <a:t>2</a:t>
            </a:r>
          </a:p>
        </p:txBody>
      </p:sp>
      <p:sp>
        <p:nvSpPr>
          <p:cNvPr id="13" name="TextBox 12"/>
          <p:cNvSpPr txBox="1"/>
          <p:nvPr/>
        </p:nvSpPr>
        <p:spPr>
          <a:xfrm>
            <a:off x="5303520" y="4800600"/>
            <a:ext cx="2514600" cy="1188720"/>
          </a:xfrm>
          <a:prstGeom prst="rect">
            <a:avLst/>
          </a:prstGeom>
          <a:noFill/>
        </p:spPr>
        <p:txBody>
          <a:bodyPr wrap="square" lIns="0" tIns="0" rIns="0" bIns="0" anchor="t">
            <a:spAutoFit/>
          </a:bodyPr>
          <a:lstStyle/>
          <a:p>
            <a:pPr algn="l"/>
            <a:r>
              <a:rPr sz="1200" b="0" i="0">
                <a:solidFill>
                  <a:srgbClr val="1A1A2E"/>
                </a:solidFill>
                <a:latin typeface="Calibri"/>
              </a:rPr>
              <a:t>How discriminative are behavioral features like endpoint cost asymmetry?</a:t>
            </a:r>
          </a:p>
        </p:txBody>
      </p:sp>
      <p:sp>
        <p:nvSpPr>
          <p:cNvPr id="14" name="Rectangle 13"/>
          <p:cNvSpPr/>
          <p:nvPr/>
        </p:nvSpPr>
        <p:spPr>
          <a:xfrm>
            <a:off x="8138160" y="4480560"/>
            <a:ext cx="3566160" cy="1645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66760" y="4663440"/>
            <a:ext cx="548640" cy="640080"/>
          </a:xfrm>
          <a:prstGeom prst="rect">
            <a:avLst/>
          </a:prstGeom>
          <a:noFill/>
        </p:spPr>
        <p:txBody>
          <a:bodyPr wrap="square" lIns="0" tIns="0" rIns="0" bIns="0" anchor="t">
            <a:spAutoFit/>
          </a:bodyPr>
          <a:lstStyle/>
          <a:p>
            <a:pPr algn="l"/>
            <a:r>
              <a:rPr sz="4000" b="1" i="0" dirty="0">
                <a:solidFill>
                  <a:srgbClr val="F37866"/>
                </a:solidFill>
                <a:latin typeface="Georgia"/>
              </a:rPr>
              <a:t>3</a:t>
            </a:r>
          </a:p>
        </p:txBody>
      </p:sp>
      <p:sp>
        <p:nvSpPr>
          <p:cNvPr id="16" name="TextBox 15"/>
          <p:cNvSpPr txBox="1"/>
          <p:nvPr/>
        </p:nvSpPr>
        <p:spPr>
          <a:xfrm>
            <a:off x="9006840" y="4800600"/>
            <a:ext cx="2514600" cy="1188720"/>
          </a:xfrm>
          <a:prstGeom prst="rect">
            <a:avLst/>
          </a:prstGeom>
          <a:noFill/>
        </p:spPr>
        <p:txBody>
          <a:bodyPr wrap="square" lIns="0" tIns="0" rIns="0" bIns="0" anchor="t">
            <a:spAutoFit/>
          </a:bodyPr>
          <a:lstStyle/>
          <a:p>
            <a:pPr algn="l"/>
            <a:r>
              <a:rPr sz="1200" b="0" i="0">
                <a:solidFill>
                  <a:srgbClr val="1A1A2E"/>
                </a:solidFill>
                <a:latin typeface="Calibri"/>
              </a:rPr>
              <a:t>Can a model that never saw mimicry in training still flag it as an attack?</a:t>
            </a:r>
          </a:p>
        </p:txBody>
      </p:sp>
      <p:sp>
        <p:nvSpPr>
          <p:cNvPr id="17" name="TextBox 16"/>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Graduation Thesis · Final Defense</a:t>
            </a:r>
          </a:p>
        </p:txBody>
      </p:sp>
      <p:sp>
        <p:nvSpPr>
          <p:cNvPr id="18" name="TextBox 17"/>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3 / 23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1 · RESEARCH QUESTION</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Why is This Question Hard?</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dirty="0">
                <a:solidFill>
                  <a:srgbClr val="64748B"/>
                </a:solidFill>
                <a:latin typeface="Calibri"/>
              </a:rPr>
              <a:t>Modern API attacks are no longer "one IP, very high rate"</a:t>
            </a:r>
          </a:p>
        </p:txBody>
      </p:sp>
      <p:sp>
        <p:nvSpPr>
          <p:cNvPr id="5" name="Rectangle 4"/>
          <p:cNvSpPr/>
          <p:nvPr/>
        </p:nvSpPr>
        <p:spPr>
          <a:xfrm>
            <a:off x="457200" y="1691640"/>
            <a:ext cx="548640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67144" y="1993391"/>
            <a:ext cx="4206240" cy="457200"/>
          </a:xfrm>
          <a:prstGeom prst="rect">
            <a:avLst/>
          </a:prstGeom>
          <a:noFill/>
        </p:spPr>
        <p:txBody>
          <a:bodyPr wrap="square" lIns="0" tIns="0" rIns="0" bIns="0" anchor="t">
            <a:spAutoFit/>
          </a:bodyPr>
          <a:lstStyle/>
          <a:p>
            <a:pPr algn="l"/>
            <a:r>
              <a:rPr sz="1600" b="1" i="0" dirty="0">
                <a:solidFill>
                  <a:srgbClr val="1E2761"/>
                </a:solidFill>
                <a:latin typeface="Calibri"/>
              </a:rPr>
              <a:t>Distributed Traffic</a:t>
            </a:r>
          </a:p>
        </p:txBody>
      </p:sp>
      <p:sp>
        <p:nvSpPr>
          <p:cNvPr id="9" name="TextBox 8"/>
          <p:cNvSpPr txBox="1"/>
          <p:nvPr/>
        </p:nvSpPr>
        <p:spPr>
          <a:xfrm>
            <a:off x="1167144" y="2480912"/>
            <a:ext cx="4206240" cy="646331"/>
          </a:xfrm>
          <a:prstGeom prst="rect">
            <a:avLst/>
          </a:prstGeom>
          <a:noFill/>
        </p:spPr>
        <p:txBody>
          <a:bodyPr wrap="square" lIns="0" tIns="0" rIns="0" bIns="0" anchor="t">
            <a:spAutoFit/>
          </a:bodyPr>
          <a:lstStyle/>
          <a:p>
            <a:pPr algn="l"/>
            <a:r>
              <a:rPr sz="1400" b="0" i="0" dirty="0">
                <a:solidFill>
                  <a:srgbClr val="1A1A2E"/>
                </a:solidFill>
                <a:latin typeface="Calibri"/>
              </a:rPr>
              <a:t>Akamai and Cloudflare reports: a typical L7 attack spans hundreds to thousands of source IPs. Per-IP rate thresholds offer little resistance.</a:t>
            </a:r>
          </a:p>
        </p:txBody>
      </p:sp>
      <p:sp>
        <p:nvSpPr>
          <p:cNvPr id="10" name="Rectangle 9"/>
          <p:cNvSpPr/>
          <p:nvPr/>
        </p:nvSpPr>
        <p:spPr>
          <a:xfrm>
            <a:off x="6186638" y="1691640"/>
            <a:ext cx="548640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132320" y="1995120"/>
            <a:ext cx="4206240" cy="457200"/>
          </a:xfrm>
          <a:prstGeom prst="rect">
            <a:avLst/>
          </a:prstGeom>
          <a:noFill/>
        </p:spPr>
        <p:txBody>
          <a:bodyPr wrap="square" lIns="0" tIns="0" rIns="0" bIns="0" anchor="t">
            <a:spAutoFit/>
          </a:bodyPr>
          <a:lstStyle/>
          <a:p>
            <a:pPr algn="l"/>
            <a:r>
              <a:rPr sz="1600" b="1" i="0" dirty="0">
                <a:solidFill>
                  <a:srgbClr val="1E2761"/>
                </a:solidFill>
                <a:latin typeface="Calibri"/>
              </a:rPr>
              <a:t>Surface Mimicry</a:t>
            </a:r>
          </a:p>
        </p:txBody>
      </p:sp>
      <p:sp>
        <p:nvSpPr>
          <p:cNvPr id="14" name="TextBox 13"/>
          <p:cNvSpPr txBox="1"/>
          <p:nvPr/>
        </p:nvSpPr>
        <p:spPr>
          <a:xfrm>
            <a:off x="7132320" y="2450591"/>
            <a:ext cx="4206240" cy="646331"/>
          </a:xfrm>
          <a:prstGeom prst="rect">
            <a:avLst/>
          </a:prstGeom>
          <a:noFill/>
        </p:spPr>
        <p:txBody>
          <a:bodyPr wrap="square" lIns="0" tIns="0" rIns="0" bIns="0" anchor="t">
            <a:spAutoFit/>
          </a:bodyPr>
          <a:lstStyle/>
          <a:p>
            <a:pPr algn="l"/>
            <a:r>
              <a:rPr sz="1400" b="0" i="0" dirty="0">
                <a:solidFill>
                  <a:srgbClr val="1A1A2E"/>
                </a:solidFill>
                <a:latin typeface="Calibri"/>
              </a:rPr>
              <a:t>Attackers rotate User-Agent strings across Chrome, Safari, iPhone, etc., and vary Accept-Language and Accept-Encoding to look legitimate.</a:t>
            </a:r>
          </a:p>
        </p:txBody>
      </p:sp>
      <p:sp>
        <p:nvSpPr>
          <p:cNvPr id="15" name="Rectangle 14"/>
          <p:cNvSpPr/>
          <p:nvPr/>
        </p:nvSpPr>
        <p:spPr>
          <a:xfrm>
            <a:off x="457200" y="4023360"/>
            <a:ext cx="548640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67144" y="4379978"/>
            <a:ext cx="4206240" cy="457200"/>
          </a:xfrm>
          <a:prstGeom prst="rect">
            <a:avLst/>
          </a:prstGeom>
          <a:noFill/>
        </p:spPr>
        <p:txBody>
          <a:bodyPr wrap="square" lIns="0" tIns="0" rIns="0" bIns="0" anchor="t">
            <a:spAutoFit/>
          </a:bodyPr>
          <a:lstStyle/>
          <a:p>
            <a:pPr algn="l"/>
            <a:r>
              <a:rPr sz="1600" b="1" i="0" dirty="0">
                <a:solidFill>
                  <a:srgbClr val="1E2761"/>
                </a:solidFill>
                <a:latin typeface="Calibri"/>
              </a:rPr>
              <a:t>Asymmetric Cost</a:t>
            </a:r>
          </a:p>
        </p:txBody>
      </p:sp>
      <p:sp>
        <p:nvSpPr>
          <p:cNvPr id="19" name="TextBox 18"/>
          <p:cNvSpPr txBox="1"/>
          <p:nvPr/>
        </p:nvSpPr>
        <p:spPr>
          <a:xfrm>
            <a:off x="1167144" y="4837178"/>
            <a:ext cx="4206240" cy="646331"/>
          </a:xfrm>
          <a:prstGeom prst="rect">
            <a:avLst/>
          </a:prstGeom>
          <a:noFill/>
        </p:spPr>
        <p:txBody>
          <a:bodyPr wrap="square" lIns="0" tIns="0" rIns="0" bIns="0" anchor="t">
            <a:spAutoFit/>
          </a:bodyPr>
          <a:lstStyle/>
          <a:p>
            <a:pPr algn="l"/>
            <a:r>
              <a:rPr sz="1400" b="0" i="0" dirty="0">
                <a:solidFill>
                  <a:srgbClr val="1A1A2E"/>
                </a:solidFill>
                <a:latin typeface="Calibri"/>
              </a:rPr>
              <a:t>An /auth/login call costs roughly 200× more than a /user/profile call because of </a:t>
            </a:r>
            <a:r>
              <a:rPr sz="1400" b="0" i="0" dirty="0" err="1">
                <a:solidFill>
                  <a:srgbClr val="1A1A2E"/>
                </a:solidFill>
                <a:latin typeface="Calibri"/>
              </a:rPr>
              <a:t>bcrypt</a:t>
            </a:r>
            <a:r>
              <a:rPr sz="1400" b="0" i="0" dirty="0">
                <a:solidFill>
                  <a:srgbClr val="1A1A2E"/>
                </a:solidFill>
                <a:latin typeface="Calibri"/>
              </a:rPr>
              <a:t>. Counting requests alone misses which endpoints cost what.</a:t>
            </a:r>
          </a:p>
        </p:txBody>
      </p:sp>
      <p:sp>
        <p:nvSpPr>
          <p:cNvPr id="20" name="Rectangle 19"/>
          <p:cNvSpPr/>
          <p:nvPr/>
        </p:nvSpPr>
        <p:spPr>
          <a:xfrm>
            <a:off x="6217758" y="4007481"/>
            <a:ext cx="548640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69480" y="4379978"/>
            <a:ext cx="4206240" cy="457200"/>
          </a:xfrm>
          <a:prstGeom prst="rect">
            <a:avLst/>
          </a:prstGeom>
          <a:noFill/>
        </p:spPr>
        <p:txBody>
          <a:bodyPr wrap="square" lIns="0" tIns="0" rIns="0" bIns="0" anchor="t">
            <a:spAutoFit/>
          </a:bodyPr>
          <a:lstStyle/>
          <a:p>
            <a:pPr algn="l"/>
            <a:r>
              <a:rPr sz="1600" b="1" i="0" dirty="0">
                <a:solidFill>
                  <a:srgbClr val="1E2761"/>
                </a:solidFill>
                <a:latin typeface="Calibri"/>
              </a:rPr>
              <a:t>Testing on Unseen Attacks</a:t>
            </a:r>
          </a:p>
        </p:txBody>
      </p:sp>
      <p:sp>
        <p:nvSpPr>
          <p:cNvPr id="24" name="TextBox 23"/>
          <p:cNvSpPr txBox="1"/>
          <p:nvPr/>
        </p:nvSpPr>
        <p:spPr>
          <a:xfrm>
            <a:off x="6969480" y="4844779"/>
            <a:ext cx="4206240" cy="646331"/>
          </a:xfrm>
          <a:prstGeom prst="rect">
            <a:avLst/>
          </a:prstGeom>
          <a:noFill/>
        </p:spPr>
        <p:txBody>
          <a:bodyPr wrap="square" lIns="0" tIns="0" rIns="0" bIns="0" anchor="t">
            <a:spAutoFit/>
          </a:bodyPr>
          <a:lstStyle/>
          <a:p>
            <a:pPr algn="l"/>
            <a:r>
              <a:rPr sz="1400" b="0" i="0" dirty="0">
                <a:solidFill>
                  <a:srgbClr val="1A1A2E"/>
                </a:solidFill>
                <a:latin typeface="Calibri"/>
              </a:rPr>
              <a:t>If a model has seen every attack type during training, it generalizes poorly. The real test is whether it catches a variant it never saw.</a:t>
            </a:r>
          </a:p>
        </p:txBody>
      </p:sp>
      <p:sp>
        <p:nvSpPr>
          <p:cNvPr id="25" name="TextBox 24"/>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Graduation Thesis · Final Defense</a:t>
            </a:r>
          </a:p>
        </p:txBody>
      </p:sp>
      <p:sp>
        <p:nvSpPr>
          <p:cNvPr id="28" name="Rectangle 12">
            <a:extLst>
              <a:ext uri="{FF2B5EF4-FFF2-40B4-BE49-F238E27FC236}">
                <a16:creationId xmlns:a16="http://schemas.microsoft.com/office/drawing/2014/main" id="{E96AE9B0-B336-3421-8E03-79FE57A82210}"/>
              </a:ext>
            </a:extLst>
          </p:cNvPr>
          <p:cNvSpPr/>
          <p:nvPr/>
        </p:nvSpPr>
        <p:spPr>
          <a:xfrm>
            <a:off x="457200" y="1700783"/>
            <a:ext cx="192586" cy="2139697"/>
          </a:xfrm>
          <a:prstGeom prst="rect">
            <a:avLst/>
          </a:prstGeom>
          <a:solidFill>
            <a:srgbClr val="002060">
              <a:alpha val="87059"/>
            </a:srgbClr>
          </a:solidFill>
          <a:ln>
            <a:solidFill>
              <a:srgbClr val="1E27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4 / 23</a:t>
            </a:r>
          </a:p>
        </p:txBody>
      </p:sp>
      <p:sp>
        <p:nvSpPr>
          <p:cNvPr id="29" name="Rectangle 12">
            <a:extLst>
              <a:ext uri="{FF2B5EF4-FFF2-40B4-BE49-F238E27FC236}">
                <a16:creationId xmlns:a16="http://schemas.microsoft.com/office/drawing/2014/main" id="{EAFB3345-0381-5AD0-DC86-1332233825AB}"/>
              </a:ext>
            </a:extLst>
          </p:cNvPr>
          <p:cNvSpPr/>
          <p:nvPr/>
        </p:nvSpPr>
        <p:spPr>
          <a:xfrm>
            <a:off x="649786" y="1700783"/>
            <a:ext cx="5293814" cy="45719"/>
          </a:xfrm>
          <a:prstGeom prst="rect">
            <a:avLst/>
          </a:prstGeom>
          <a:solidFill>
            <a:srgbClr val="002060">
              <a:alpha val="87059"/>
            </a:srgbClr>
          </a:solidFill>
          <a:ln>
            <a:solidFill>
              <a:srgbClr val="1E27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12">
            <a:extLst>
              <a:ext uri="{FF2B5EF4-FFF2-40B4-BE49-F238E27FC236}">
                <a16:creationId xmlns:a16="http://schemas.microsoft.com/office/drawing/2014/main" id="{E1DCBF5C-049C-ECE4-A42C-AE286203D377}"/>
              </a:ext>
            </a:extLst>
          </p:cNvPr>
          <p:cNvSpPr/>
          <p:nvPr/>
        </p:nvSpPr>
        <p:spPr>
          <a:xfrm>
            <a:off x="6204564" y="1691640"/>
            <a:ext cx="165697" cy="2139697"/>
          </a:xfrm>
          <a:prstGeom prst="rect">
            <a:avLst/>
          </a:prstGeom>
          <a:solidFill>
            <a:srgbClr val="002060">
              <a:alpha val="87059"/>
            </a:srgbClr>
          </a:solidFill>
          <a:ln>
            <a:solidFill>
              <a:srgbClr val="1E27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12">
            <a:extLst>
              <a:ext uri="{FF2B5EF4-FFF2-40B4-BE49-F238E27FC236}">
                <a16:creationId xmlns:a16="http://schemas.microsoft.com/office/drawing/2014/main" id="{8B562EE1-FC74-6BC3-0584-2E5F5BA3A856}"/>
              </a:ext>
            </a:extLst>
          </p:cNvPr>
          <p:cNvSpPr/>
          <p:nvPr/>
        </p:nvSpPr>
        <p:spPr>
          <a:xfrm>
            <a:off x="6370261" y="1700783"/>
            <a:ext cx="5293814" cy="45719"/>
          </a:xfrm>
          <a:prstGeom prst="rect">
            <a:avLst/>
          </a:prstGeom>
          <a:solidFill>
            <a:srgbClr val="002060">
              <a:alpha val="87059"/>
            </a:srgbClr>
          </a:solidFill>
          <a:ln>
            <a:solidFill>
              <a:srgbClr val="1E27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12">
            <a:extLst>
              <a:ext uri="{FF2B5EF4-FFF2-40B4-BE49-F238E27FC236}">
                <a16:creationId xmlns:a16="http://schemas.microsoft.com/office/drawing/2014/main" id="{6D6D1D44-4D99-5D52-D0C0-54C71098CEB6}"/>
              </a:ext>
            </a:extLst>
          </p:cNvPr>
          <p:cNvSpPr/>
          <p:nvPr/>
        </p:nvSpPr>
        <p:spPr>
          <a:xfrm>
            <a:off x="468306" y="4032503"/>
            <a:ext cx="181480" cy="2139697"/>
          </a:xfrm>
          <a:prstGeom prst="rect">
            <a:avLst/>
          </a:prstGeom>
          <a:solidFill>
            <a:srgbClr val="002060">
              <a:alpha val="87059"/>
            </a:srgbClr>
          </a:solidFill>
          <a:ln>
            <a:solidFill>
              <a:srgbClr val="1E27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12">
            <a:extLst>
              <a:ext uri="{FF2B5EF4-FFF2-40B4-BE49-F238E27FC236}">
                <a16:creationId xmlns:a16="http://schemas.microsoft.com/office/drawing/2014/main" id="{1BC9BB3B-CEA3-F66A-8EBE-2AFEEDB12550}"/>
              </a:ext>
            </a:extLst>
          </p:cNvPr>
          <p:cNvSpPr/>
          <p:nvPr/>
        </p:nvSpPr>
        <p:spPr>
          <a:xfrm>
            <a:off x="649786" y="4032503"/>
            <a:ext cx="5288261" cy="45719"/>
          </a:xfrm>
          <a:prstGeom prst="rect">
            <a:avLst/>
          </a:prstGeom>
          <a:solidFill>
            <a:srgbClr val="002060">
              <a:alpha val="87059"/>
            </a:srgbClr>
          </a:solidFill>
          <a:ln>
            <a:solidFill>
              <a:srgbClr val="1E27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12">
            <a:extLst>
              <a:ext uri="{FF2B5EF4-FFF2-40B4-BE49-F238E27FC236}">
                <a16:creationId xmlns:a16="http://schemas.microsoft.com/office/drawing/2014/main" id="{9F1CFA92-0BC7-002B-4A19-637ED1B17B2D}"/>
              </a:ext>
            </a:extLst>
          </p:cNvPr>
          <p:cNvSpPr/>
          <p:nvPr/>
        </p:nvSpPr>
        <p:spPr>
          <a:xfrm>
            <a:off x="6217758" y="4016624"/>
            <a:ext cx="161466" cy="2139697"/>
          </a:xfrm>
          <a:prstGeom prst="rect">
            <a:avLst/>
          </a:prstGeom>
          <a:solidFill>
            <a:srgbClr val="002060">
              <a:alpha val="87059"/>
            </a:srgbClr>
          </a:solidFill>
          <a:ln>
            <a:solidFill>
              <a:srgbClr val="1E27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12">
            <a:extLst>
              <a:ext uri="{FF2B5EF4-FFF2-40B4-BE49-F238E27FC236}">
                <a16:creationId xmlns:a16="http://schemas.microsoft.com/office/drawing/2014/main" id="{B075D0E9-844A-A6D0-EBF5-BE5EFCA2D3D2}"/>
              </a:ext>
            </a:extLst>
          </p:cNvPr>
          <p:cNvSpPr/>
          <p:nvPr/>
        </p:nvSpPr>
        <p:spPr>
          <a:xfrm>
            <a:off x="6370261" y="4016379"/>
            <a:ext cx="5333897" cy="45719"/>
          </a:xfrm>
          <a:prstGeom prst="rect">
            <a:avLst/>
          </a:prstGeom>
          <a:solidFill>
            <a:srgbClr val="002060">
              <a:alpha val="87059"/>
            </a:srgbClr>
          </a:solidFill>
          <a:ln>
            <a:solidFill>
              <a:srgbClr val="1E27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2 · METHODOLOGY</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System Architecture</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A single data path from traffic generation to model</a:t>
            </a:r>
          </a:p>
        </p:txBody>
      </p:sp>
      <p:sp>
        <p:nvSpPr>
          <p:cNvPr id="5" name="Rectangle 4"/>
          <p:cNvSpPr/>
          <p:nvPr/>
        </p:nvSpPr>
        <p:spPr>
          <a:xfrm>
            <a:off x="457200" y="1920240"/>
            <a:ext cx="1783080" cy="1371600"/>
          </a:xfrm>
          <a:prstGeom prst="rect">
            <a:avLst/>
          </a:prstGeom>
          <a:solidFill>
            <a:srgbClr val="F96167">
              <a:alpha val="8431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37866"/>
              </a:solidFill>
            </a:endParaRPr>
          </a:p>
        </p:txBody>
      </p:sp>
      <p:sp>
        <p:nvSpPr>
          <p:cNvPr id="6" name="TextBox 5"/>
          <p:cNvSpPr txBox="1"/>
          <p:nvPr/>
        </p:nvSpPr>
        <p:spPr>
          <a:xfrm>
            <a:off x="548640" y="2103120"/>
            <a:ext cx="1600200" cy="411480"/>
          </a:xfrm>
          <a:prstGeom prst="rect">
            <a:avLst/>
          </a:prstGeom>
          <a:noFill/>
        </p:spPr>
        <p:txBody>
          <a:bodyPr wrap="square" lIns="0" tIns="0" rIns="0" bIns="0" anchor="t">
            <a:spAutoFit/>
          </a:bodyPr>
          <a:lstStyle/>
          <a:p>
            <a:pPr algn="ctr"/>
            <a:r>
              <a:rPr sz="1300" b="1" i="0" spc="200">
                <a:solidFill>
                  <a:srgbClr val="FFFFFF"/>
                </a:solidFill>
                <a:latin typeface="Calibri"/>
              </a:rPr>
              <a:t>TRAFFIC</a:t>
            </a:r>
          </a:p>
        </p:txBody>
      </p:sp>
      <p:sp>
        <p:nvSpPr>
          <p:cNvPr id="7" name="TextBox 6"/>
          <p:cNvSpPr txBox="1"/>
          <p:nvPr/>
        </p:nvSpPr>
        <p:spPr>
          <a:xfrm>
            <a:off x="548640" y="2560320"/>
            <a:ext cx="1600200" cy="640080"/>
          </a:xfrm>
          <a:prstGeom prst="rect">
            <a:avLst/>
          </a:prstGeom>
          <a:noFill/>
        </p:spPr>
        <p:txBody>
          <a:bodyPr wrap="square" lIns="0" tIns="0" rIns="0" bIns="0" anchor="t">
            <a:spAutoFit/>
          </a:bodyPr>
          <a:lstStyle/>
          <a:p>
            <a:pPr algn="ctr"/>
            <a:r>
              <a:rPr sz="1000" b="0" i="0">
                <a:solidFill>
                  <a:srgbClr val="FFFFFF"/>
                </a:solidFill>
                <a:latin typeface="Calibri"/>
              </a:rPr>
              <a:t>k6 + slowhttptest
6 scenarios</a:t>
            </a:r>
          </a:p>
        </p:txBody>
      </p:sp>
      <p:sp>
        <p:nvSpPr>
          <p:cNvPr id="8" name="Right Triangle 7"/>
          <p:cNvSpPr/>
          <p:nvPr/>
        </p:nvSpPr>
        <p:spPr>
          <a:xfrm rot="5400000">
            <a:off x="2249424" y="2532888"/>
            <a:ext cx="137160" cy="146304"/>
          </a:xfrm>
          <a:prstGeom prst="rtTriangl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404872" y="1920240"/>
            <a:ext cx="1783080" cy="1371600"/>
          </a:xfrm>
          <a:prstGeom prst="rect">
            <a:avLst/>
          </a:prstGeom>
          <a:solidFill>
            <a:srgbClr val="2B3A8C">
              <a:alpha val="76078"/>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96312" y="2103120"/>
            <a:ext cx="1600200" cy="411480"/>
          </a:xfrm>
          <a:prstGeom prst="rect">
            <a:avLst/>
          </a:prstGeom>
          <a:noFill/>
        </p:spPr>
        <p:txBody>
          <a:bodyPr wrap="square" lIns="0" tIns="0" rIns="0" bIns="0" anchor="t">
            <a:spAutoFit/>
          </a:bodyPr>
          <a:lstStyle/>
          <a:p>
            <a:pPr algn="ctr"/>
            <a:r>
              <a:rPr sz="1300" b="1" i="0" spc="200">
                <a:solidFill>
                  <a:srgbClr val="FFFFFF"/>
                </a:solidFill>
                <a:latin typeface="Calibri"/>
              </a:rPr>
              <a:t>REVERSE PROXY</a:t>
            </a:r>
          </a:p>
        </p:txBody>
      </p:sp>
      <p:sp>
        <p:nvSpPr>
          <p:cNvPr id="11" name="TextBox 10"/>
          <p:cNvSpPr txBox="1"/>
          <p:nvPr/>
        </p:nvSpPr>
        <p:spPr>
          <a:xfrm>
            <a:off x="2496312" y="2560320"/>
            <a:ext cx="1600200" cy="640080"/>
          </a:xfrm>
          <a:prstGeom prst="rect">
            <a:avLst/>
          </a:prstGeom>
          <a:noFill/>
        </p:spPr>
        <p:txBody>
          <a:bodyPr wrap="square" lIns="0" tIns="0" rIns="0" bIns="0" anchor="t">
            <a:spAutoFit/>
          </a:bodyPr>
          <a:lstStyle/>
          <a:p>
            <a:pPr algn="ctr"/>
            <a:r>
              <a:rPr sz="1000" b="0" i="0" dirty="0">
                <a:solidFill>
                  <a:srgbClr val="FFFFFF"/>
                </a:solidFill>
                <a:latin typeface="Calibri"/>
              </a:rPr>
              <a:t>nginx 1.27
JSON access log</a:t>
            </a:r>
          </a:p>
        </p:txBody>
      </p:sp>
      <p:sp>
        <p:nvSpPr>
          <p:cNvPr id="12" name="Right Triangle 11"/>
          <p:cNvSpPr/>
          <p:nvPr/>
        </p:nvSpPr>
        <p:spPr>
          <a:xfrm rot="5400000">
            <a:off x="4197096" y="2532888"/>
            <a:ext cx="137160" cy="146304"/>
          </a:xfrm>
          <a:prstGeom prst="rtTriangl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2544" y="1920240"/>
            <a:ext cx="1783080" cy="1371600"/>
          </a:xfrm>
          <a:prstGeom prst="rect">
            <a:avLst/>
          </a:prstGeom>
          <a:solidFill>
            <a:srgbClr val="1E2761">
              <a:alpha val="50196"/>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43983" y="2103120"/>
            <a:ext cx="1600200" cy="411480"/>
          </a:xfrm>
          <a:prstGeom prst="rect">
            <a:avLst/>
          </a:prstGeom>
          <a:noFill/>
        </p:spPr>
        <p:txBody>
          <a:bodyPr wrap="square" lIns="0" tIns="0" rIns="0" bIns="0" anchor="t">
            <a:spAutoFit/>
          </a:bodyPr>
          <a:lstStyle/>
          <a:p>
            <a:pPr algn="ctr"/>
            <a:r>
              <a:rPr sz="1300" b="1" i="0" spc="200">
                <a:solidFill>
                  <a:srgbClr val="FFFFFF"/>
                </a:solidFill>
                <a:latin typeface="Calibri"/>
              </a:rPr>
              <a:t>APPLICATION</a:t>
            </a:r>
          </a:p>
        </p:txBody>
      </p:sp>
      <p:sp>
        <p:nvSpPr>
          <p:cNvPr id="15" name="TextBox 14"/>
          <p:cNvSpPr txBox="1"/>
          <p:nvPr/>
        </p:nvSpPr>
        <p:spPr>
          <a:xfrm>
            <a:off x="4443983" y="2560320"/>
            <a:ext cx="1600200" cy="640080"/>
          </a:xfrm>
          <a:prstGeom prst="rect">
            <a:avLst/>
          </a:prstGeom>
          <a:noFill/>
        </p:spPr>
        <p:txBody>
          <a:bodyPr wrap="square" lIns="0" tIns="0" rIns="0" bIns="0" anchor="t">
            <a:spAutoFit/>
          </a:bodyPr>
          <a:lstStyle/>
          <a:p>
            <a:pPr algn="ctr"/>
            <a:r>
              <a:rPr sz="1000" b="0" i="0">
                <a:solidFill>
                  <a:srgbClr val="FFFFFF"/>
                </a:solidFill>
                <a:latin typeface="Calibri"/>
              </a:rPr>
              <a:t>NestJS 11
Middleware + Interceptor</a:t>
            </a:r>
          </a:p>
        </p:txBody>
      </p:sp>
      <p:sp>
        <p:nvSpPr>
          <p:cNvPr id="16" name="Right Triangle 15"/>
          <p:cNvSpPr/>
          <p:nvPr/>
        </p:nvSpPr>
        <p:spPr>
          <a:xfrm rot="5400000">
            <a:off x="6144768" y="2532888"/>
            <a:ext cx="137160" cy="146304"/>
          </a:xfrm>
          <a:prstGeom prst="rtTriangl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300216" y="1920240"/>
            <a:ext cx="1783080" cy="137160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91655" y="2103120"/>
            <a:ext cx="1600200" cy="411480"/>
          </a:xfrm>
          <a:prstGeom prst="rect">
            <a:avLst/>
          </a:prstGeom>
          <a:noFill/>
        </p:spPr>
        <p:txBody>
          <a:bodyPr wrap="square" lIns="0" tIns="0" rIns="0" bIns="0" anchor="t">
            <a:spAutoFit/>
          </a:bodyPr>
          <a:lstStyle/>
          <a:p>
            <a:pPr algn="ctr"/>
            <a:r>
              <a:rPr sz="1300" b="1" i="0" spc="200">
                <a:solidFill>
                  <a:srgbClr val="FFFFFF"/>
                </a:solidFill>
                <a:latin typeface="Calibri"/>
              </a:rPr>
              <a:t>STORAGE</a:t>
            </a:r>
          </a:p>
        </p:txBody>
      </p:sp>
      <p:sp>
        <p:nvSpPr>
          <p:cNvPr id="19" name="TextBox 18"/>
          <p:cNvSpPr txBox="1"/>
          <p:nvPr/>
        </p:nvSpPr>
        <p:spPr>
          <a:xfrm>
            <a:off x="6391655" y="2560320"/>
            <a:ext cx="1600200" cy="640080"/>
          </a:xfrm>
          <a:prstGeom prst="rect">
            <a:avLst/>
          </a:prstGeom>
          <a:noFill/>
        </p:spPr>
        <p:txBody>
          <a:bodyPr wrap="square" lIns="0" tIns="0" rIns="0" bIns="0" anchor="t">
            <a:spAutoFit/>
          </a:bodyPr>
          <a:lstStyle/>
          <a:p>
            <a:pPr algn="ctr"/>
            <a:r>
              <a:rPr sz="1000" b="0" i="0">
                <a:solidFill>
                  <a:srgbClr val="FFFFFF"/>
                </a:solidFill>
                <a:latin typeface="Calibri"/>
              </a:rPr>
              <a:t>PostgreSQL 16
RequestLog + Connection</a:t>
            </a:r>
          </a:p>
        </p:txBody>
      </p:sp>
      <p:sp>
        <p:nvSpPr>
          <p:cNvPr id="20" name="Right Triangle 19"/>
          <p:cNvSpPr/>
          <p:nvPr/>
        </p:nvSpPr>
        <p:spPr>
          <a:xfrm rot="5400000">
            <a:off x="8092440" y="2532888"/>
            <a:ext cx="137160" cy="146304"/>
          </a:xfrm>
          <a:prstGeom prst="rtTriangl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247888" y="1920240"/>
            <a:ext cx="1783080" cy="1371600"/>
          </a:xfrm>
          <a:prstGeom prst="rect">
            <a:avLst/>
          </a:prstGeom>
          <a:solidFill>
            <a:srgbClr val="E46C0A">
              <a:alpha val="77255"/>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39327" y="2103120"/>
            <a:ext cx="1600200" cy="411480"/>
          </a:xfrm>
          <a:prstGeom prst="rect">
            <a:avLst/>
          </a:prstGeom>
          <a:noFill/>
        </p:spPr>
        <p:txBody>
          <a:bodyPr wrap="square" lIns="0" tIns="0" rIns="0" bIns="0" anchor="t">
            <a:spAutoFit/>
          </a:bodyPr>
          <a:lstStyle/>
          <a:p>
            <a:pPr algn="ctr"/>
            <a:r>
              <a:rPr sz="1300" b="1" i="0" spc="200">
                <a:solidFill>
                  <a:srgbClr val="FFFFFF"/>
                </a:solidFill>
                <a:latin typeface="Calibri"/>
              </a:rPr>
              <a:t>FEATURES</a:t>
            </a:r>
          </a:p>
        </p:txBody>
      </p:sp>
      <p:sp>
        <p:nvSpPr>
          <p:cNvPr id="23" name="TextBox 22"/>
          <p:cNvSpPr txBox="1"/>
          <p:nvPr/>
        </p:nvSpPr>
        <p:spPr>
          <a:xfrm>
            <a:off x="8339327" y="2560320"/>
            <a:ext cx="1600200" cy="640080"/>
          </a:xfrm>
          <a:prstGeom prst="rect">
            <a:avLst/>
          </a:prstGeom>
          <a:noFill/>
        </p:spPr>
        <p:txBody>
          <a:bodyPr wrap="square" lIns="0" tIns="0" rIns="0" bIns="0" anchor="t">
            <a:spAutoFit/>
          </a:bodyPr>
          <a:lstStyle/>
          <a:p>
            <a:pPr algn="ctr"/>
            <a:r>
              <a:rPr sz="1000" b="0" i="0">
                <a:solidFill>
                  <a:srgbClr val="FFFFFF"/>
                </a:solidFill>
                <a:latin typeface="Calibri"/>
              </a:rPr>
              <a:t>Tier 1-4 pipeline
37 features</a:t>
            </a:r>
          </a:p>
        </p:txBody>
      </p:sp>
      <p:sp>
        <p:nvSpPr>
          <p:cNvPr id="24" name="Right Triangle 23"/>
          <p:cNvSpPr/>
          <p:nvPr/>
        </p:nvSpPr>
        <p:spPr>
          <a:xfrm rot="5400000">
            <a:off x="10040111" y="2532888"/>
            <a:ext cx="137160" cy="146304"/>
          </a:xfrm>
          <a:prstGeom prst="rtTriangl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195559" y="1920240"/>
            <a:ext cx="1783080" cy="1371600"/>
          </a:xfrm>
          <a:prstGeom prst="rect">
            <a:avLst/>
          </a:prstGeom>
          <a:solidFill>
            <a:srgbClr val="02C39A">
              <a:alpha val="7803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286999" y="2103120"/>
            <a:ext cx="1600200" cy="411480"/>
          </a:xfrm>
          <a:prstGeom prst="rect">
            <a:avLst/>
          </a:prstGeom>
          <a:noFill/>
        </p:spPr>
        <p:txBody>
          <a:bodyPr wrap="square" lIns="0" tIns="0" rIns="0" bIns="0" anchor="t">
            <a:spAutoFit/>
          </a:bodyPr>
          <a:lstStyle/>
          <a:p>
            <a:pPr algn="ctr"/>
            <a:r>
              <a:rPr sz="1300" b="1" i="0" spc="200">
                <a:solidFill>
                  <a:srgbClr val="FFFFFF"/>
                </a:solidFill>
                <a:latin typeface="Calibri"/>
              </a:rPr>
              <a:t>MODEL</a:t>
            </a:r>
          </a:p>
        </p:txBody>
      </p:sp>
      <p:sp>
        <p:nvSpPr>
          <p:cNvPr id="27" name="TextBox 26"/>
          <p:cNvSpPr txBox="1"/>
          <p:nvPr/>
        </p:nvSpPr>
        <p:spPr>
          <a:xfrm>
            <a:off x="10286999" y="2560320"/>
            <a:ext cx="1600200" cy="640080"/>
          </a:xfrm>
          <a:prstGeom prst="rect">
            <a:avLst/>
          </a:prstGeom>
          <a:noFill/>
        </p:spPr>
        <p:txBody>
          <a:bodyPr wrap="square" lIns="0" tIns="0" rIns="0" bIns="0" anchor="t">
            <a:spAutoFit/>
          </a:bodyPr>
          <a:lstStyle/>
          <a:p>
            <a:pPr algn="ctr"/>
            <a:r>
              <a:rPr sz="1000" b="0" i="0">
                <a:solidFill>
                  <a:srgbClr val="FFFFFF"/>
                </a:solidFill>
                <a:latin typeface="Calibri"/>
              </a:rPr>
              <a:t>Random Forest
(+ISO+RF alt.)</a:t>
            </a:r>
          </a:p>
        </p:txBody>
      </p:sp>
      <p:sp>
        <p:nvSpPr>
          <p:cNvPr id="28" name="TextBox 27"/>
          <p:cNvSpPr txBox="1"/>
          <p:nvPr/>
        </p:nvSpPr>
        <p:spPr>
          <a:xfrm>
            <a:off x="457200" y="3657600"/>
            <a:ext cx="5486400" cy="365760"/>
          </a:xfrm>
          <a:prstGeom prst="rect">
            <a:avLst/>
          </a:prstGeom>
          <a:noFill/>
        </p:spPr>
        <p:txBody>
          <a:bodyPr wrap="square" lIns="0" tIns="0" rIns="0" bIns="0" anchor="t">
            <a:spAutoFit/>
          </a:bodyPr>
          <a:lstStyle/>
          <a:p>
            <a:pPr algn="l"/>
            <a:r>
              <a:rPr sz="1400" b="1" i="0">
                <a:solidFill>
                  <a:srgbClr val="1E2761"/>
                </a:solidFill>
                <a:latin typeface="Calibri"/>
              </a:rPr>
              <a:t>Data Collection Details</a:t>
            </a:r>
          </a:p>
        </p:txBody>
      </p:sp>
      <p:sp>
        <p:nvSpPr>
          <p:cNvPr id="29" name="TextBox 28"/>
          <p:cNvSpPr txBox="1"/>
          <p:nvPr/>
        </p:nvSpPr>
        <p:spPr>
          <a:xfrm>
            <a:off x="457200" y="4023360"/>
            <a:ext cx="5486400" cy="2194560"/>
          </a:xfrm>
          <a:prstGeom prst="rect">
            <a:avLst/>
          </a:prstGeom>
          <a:noFill/>
        </p:spPr>
        <p:txBody>
          <a:bodyPr wrap="square" lIns="0" tIns="0" rIns="0" bIns="0" anchor="t">
            <a:spAutoFit/>
          </a:bodyPr>
          <a:lstStyle/>
          <a:p>
            <a:pPr algn="l"/>
            <a:r>
              <a:rPr sz="1100" b="1" i="0">
                <a:solidFill>
                  <a:srgbClr val="1A1A2E"/>
                </a:solidFill>
                <a:latin typeface="Calibri"/>
              </a:rPr>
              <a:t>nginx access log → </a:t>
            </a:r>
            <a:r>
              <a:rPr sz="1100" b="0" i="0">
                <a:solidFill>
                  <a:srgbClr val="1A1A2E"/>
                </a:solidFill>
                <a:latin typeface="Calibri"/>
              </a:rPr>
              <a:t>per request: connection_id, request_time, status, upstream timing</a:t>
            </a:r>
          </a:p>
          <a:p>
            <a:pPr algn="l"/>
            <a:r>
              <a:rPr sz="1100" b="1" i="0">
                <a:solidFill>
                  <a:srgbClr val="1A1A2E"/>
                </a:solidFill>
                <a:latin typeface="Calibri"/>
              </a:rPr>
              <a:t>NestJS middleware → </a:t>
            </a:r>
            <a:r>
              <a:rPr sz="1100" b="0" i="0">
                <a:solidFill>
                  <a:srgbClr val="1A1A2E"/>
                </a:solidFill>
                <a:latin typeface="Calibri"/>
              </a:rPr>
              <a:t>AsyncLocalStorage isolates per-request metrics: dbQueryCount, dbTotalTimeMs, cpuTimeMs</a:t>
            </a:r>
          </a:p>
          <a:p>
            <a:pPr algn="l"/>
            <a:r>
              <a:rPr sz="1100" b="1" i="0">
                <a:solidFill>
                  <a:srgbClr val="1A1A2E"/>
                </a:solidFill>
                <a:latin typeface="Calibri"/>
              </a:rPr>
              <a:t>Connection enrichment → </a:t>
            </a:r>
            <a:r>
              <a:rPr sz="1100" b="0" i="0">
                <a:solidFill>
                  <a:srgbClr val="1A1A2E"/>
                </a:solidFill>
                <a:latin typeface="Calibri"/>
              </a:rPr>
              <a:t>nginx 408 timeout entries get joined into the Connection table — slowloris becomes visible</a:t>
            </a:r>
          </a:p>
        </p:txBody>
      </p:sp>
      <p:sp>
        <p:nvSpPr>
          <p:cNvPr id="30" name="TextBox 29"/>
          <p:cNvSpPr txBox="1"/>
          <p:nvPr/>
        </p:nvSpPr>
        <p:spPr>
          <a:xfrm>
            <a:off x="6217920" y="3657600"/>
            <a:ext cx="5486400" cy="365760"/>
          </a:xfrm>
          <a:prstGeom prst="rect">
            <a:avLst/>
          </a:prstGeom>
          <a:noFill/>
        </p:spPr>
        <p:txBody>
          <a:bodyPr wrap="square" lIns="0" tIns="0" rIns="0" bIns="0" anchor="t">
            <a:spAutoFit/>
          </a:bodyPr>
          <a:lstStyle/>
          <a:p>
            <a:pPr algn="l"/>
            <a:r>
              <a:rPr sz="1400" b="1" i="0">
                <a:solidFill>
                  <a:srgbClr val="1E2761"/>
                </a:solidFill>
                <a:latin typeface="Calibri"/>
              </a:rPr>
              <a:t>Windowing &amp; Labeling</a:t>
            </a:r>
          </a:p>
        </p:txBody>
      </p:sp>
      <p:sp>
        <p:nvSpPr>
          <p:cNvPr id="31" name="TextBox 30"/>
          <p:cNvSpPr txBox="1"/>
          <p:nvPr/>
        </p:nvSpPr>
        <p:spPr>
          <a:xfrm>
            <a:off x="6217920" y="4023360"/>
            <a:ext cx="5486400" cy="2194560"/>
          </a:xfrm>
          <a:prstGeom prst="rect">
            <a:avLst/>
          </a:prstGeom>
          <a:noFill/>
        </p:spPr>
        <p:txBody>
          <a:bodyPr wrap="square" lIns="0" tIns="0" rIns="0" bIns="0" anchor="t">
            <a:spAutoFit/>
          </a:bodyPr>
          <a:lstStyle/>
          <a:p>
            <a:pPr algn="l"/>
            <a:r>
              <a:rPr sz="1100" b="1" i="0" dirty="0">
                <a:solidFill>
                  <a:srgbClr val="1A1A2E"/>
                </a:solidFill>
                <a:latin typeface="Calibri"/>
              </a:rPr>
              <a:t>Window size: </a:t>
            </a:r>
            <a:r>
              <a:rPr sz="1100" b="0" i="0" dirty="0">
                <a:solidFill>
                  <a:srgbClr val="1A1A2E"/>
                </a:solidFill>
                <a:latin typeface="Calibri"/>
              </a:rPr>
              <a:t>10 seconds, aggregated by IP and /24 subnet</a:t>
            </a:r>
          </a:p>
          <a:p>
            <a:pPr algn="l"/>
            <a:r>
              <a:rPr sz="1100" b="1" i="0" dirty="0">
                <a:solidFill>
                  <a:srgbClr val="1A1A2E"/>
                </a:solidFill>
                <a:latin typeface="Calibri"/>
              </a:rPr>
              <a:t>Label: </a:t>
            </a:r>
            <a:r>
              <a:rPr sz="1100" b="0" i="0" dirty="0">
                <a:solidFill>
                  <a:srgbClr val="1A1A2E"/>
                </a:solidFill>
                <a:latin typeface="Calibri"/>
              </a:rPr>
              <a:t>majority traffic label per window</a:t>
            </a:r>
          </a:p>
          <a:p>
            <a:pPr algn="l"/>
            <a:r>
              <a:rPr sz="1100" b="1" i="0" dirty="0">
                <a:solidFill>
                  <a:srgbClr val="1A1A2E"/>
                </a:solidFill>
                <a:latin typeface="Calibri"/>
              </a:rPr>
              <a:t>Leakage protection: </a:t>
            </a:r>
            <a:r>
              <a:rPr sz="1100" b="0" i="0" dirty="0" err="1">
                <a:solidFill>
                  <a:srgbClr val="1A1A2E"/>
                </a:solidFill>
                <a:latin typeface="Calibri"/>
              </a:rPr>
              <a:t>scenario_id</a:t>
            </a:r>
            <a:r>
              <a:rPr sz="1100" b="0" i="0" dirty="0">
                <a:solidFill>
                  <a:srgbClr val="1A1A2E"/>
                </a:solidFill>
                <a:latin typeface="Calibri"/>
              </a:rPr>
              <a:t>, label, </a:t>
            </a:r>
            <a:r>
              <a:rPr sz="1100" b="0" i="0" dirty="0" err="1">
                <a:solidFill>
                  <a:srgbClr val="1A1A2E"/>
                </a:solidFill>
                <a:latin typeface="Calibri"/>
              </a:rPr>
              <a:t>window_start</a:t>
            </a:r>
            <a:r>
              <a:rPr sz="1100" b="0" i="0" dirty="0">
                <a:solidFill>
                  <a:srgbClr val="1A1A2E"/>
                </a:solidFill>
                <a:latin typeface="Calibri"/>
              </a:rPr>
              <a:t> removed before training</a:t>
            </a:r>
          </a:p>
        </p:txBody>
      </p:sp>
      <p:sp>
        <p:nvSpPr>
          <p:cNvPr id="32" name="TextBox 31"/>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Graduation Thesis · Final Defense</a:t>
            </a:r>
          </a:p>
        </p:txBody>
      </p:sp>
      <p:sp>
        <p:nvSpPr>
          <p:cNvPr id="33" name="TextBox 32"/>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5 / 23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2 · METHODOLOGY</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Six Traffic Scenarios</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dirty="0">
                <a:solidFill>
                  <a:srgbClr val="64748B"/>
                </a:solidFill>
                <a:latin typeface="Calibri"/>
              </a:rPr>
              <a:t>Scenario 5 is special: the model only meets it during the exam</a:t>
            </a:r>
          </a:p>
        </p:txBody>
      </p:sp>
      <p:sp>
        <p:nvSpPr>
          <p:cNvPr id="5" name="Rectangle 4"/>
          <p:cNvSpPr/>
          <p:nvPr/>
        </p:nvSpPr>
        <p:spPr>
          <a:xfrm>
            <a:off x="457200" y="1691640"/>
            <a:ext cx="5623560" cy="731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691640"/>
            <a:ext cx="640080" cy="7315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691640"/>
            <a:ext cx="640080" cy="731520"/>
          </a:xfrm>
          <a:prstGeom prst="rect">
            <a:avLst/>
          </a:prstGeom>
          <a:solidFill>
            <a:srgbClr val="00B791">
              <a:alpha val="67059"/>
            </a:srgbClr>
          </a:solidFill>
        </p:spPr>
        <p:txBody>
          <a:bodyPr wrap="square" lIns="0" tIns="0" rIns="0" bIns="0" anchor="ctr">
            <a:spAutoFit/>
          </a:bodyPr>
          <a:lstStyle/>
          <a:p>
            <a:pPr algn="ctr"/>
            <a:r>
              <a:rPr sz="1800" b="1" i="0">
                <a:solidFill>
                  <a:srgbClr val="FFFFFF"/>
                </a:solidFill>
                <a:latin typeface="Calibri"/>
              </a:rPr>
              <a:t>S1</a:t>
            </a:r>
          </a:p>
        </p:txBody>
      </p:sp>
      <p:sp>
        <p:nvSpPr>
          <p:cNvPr id="8" name="TextBox 7"/>
          <p:cNvSpPr txBox="1"/>
          <p:nvPr/>
        </p:nvSpPr>
        <p:spPr>
          <a:xfrm>
            <a:off x="1234440" y="1764792"/>
            <a:ext cx="4754880" cy="274320"/>
          </a:xfrm>
          <a:prstGeom prst="rect">
            <a:avLst/>
          </a:prstGeom>
          <a:noFill/>
        </p:spPr>
        <p:txBody>
          <a:bodyPr wrap="square" lIns="0" tIns="0" rIns="0" bIns="0" anchor="t">
            <a:spAutoFit/>
          </a:bodyPr>
          <a:lstStyle/>
          <a:p>
            <a:pPr algn="l"/>
            <a:r>
              <a:rPr sz="1300" b="1" i="0">
                <a:solidFill>
                  <a:srgbClr val="1A1A2E"/>
                </a:solidFill>
                <a:latin typeface="Calibri"/>
              </a:rPr>
              <a:t>Legitimate</a:t>
            </a:r>
            <a:r>
              <a:rPr sz="1100" b="0" i="0">
                <a:solidFill>
                  <a:srgbClr val="64748B"/>
                </a:solidFill>
                <a:latin typeface="Calibri"/>
              </a:rPr>
              <a:t>  ·  </a:t>
            </a:r>
            <a:r>
              <a:rPr sz="1000" b="0" i="1">
                <a:solidFill>
                  <a:srgbClr val="64748B"/>
                </a:solidFill>
                <a:latin typeface="Calibri"/>
              </a:rPr>
              <a:t>Train · Test</a:t>
            </a:r>
          </a:p>
        </p:txBody>
      </p:sp>
      <p:sp>
        <p:nvSpPr>
          <p:cNvPr id="9" name="TextBox 8"/>
          <p:cNvSpPr txBox="1"/>
          <p:nvPr/>
        </p:nvSpPr>
        <p:spPr>
          <a:xfrm>
            <a:off x="1234440" y="2039112"/>
            <a:ext cx="4754880" cy="365760"/>
          </a:xfrm>
          <a:prstGeom prst="rect">
            <a:avLst/>
          </a:prstGeom>
          <a:noFill/>
        </p:spPr>
        <p:txBody>
          <a:bodyPr wrap="square" lIns="0" tIns="0" rIns="0" bIns="0" anchor="t">
            <a:spAutoFit/>
          </a:bodyPr>
          <a:lstStyle/>
          <a:p>
            <a:pPr algn="l"/>
            <a:r>
              <a:rPr sz="1000" b="0" i="0">
                <a:solidFill>
                  <a:srgbClr val="64748B"/>
                </a:solidFill>
                <a:latin typeface="Calibri"/>
              </a:rPr>
              <a:t>Markov navigation, log-normal think time, Zipf search terms, 100 concurrent users</a:t>
            </a:r>
          </a:p>
        </p:txBody>
      </p:sp>
      <p:sp>
        <p:nvSpPr>
          <p:cNvPr id="10" name="Rectangle 9"/>
          <p:cNvSpPr/>
          <p:nvPr/>
        </p:nvSpPr>
        <p:spPr>
          <a:xfrm>
            <a:off x="6263640" y="1691640"/>
            <a:ext cx="5623560" cy="731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63640" y="1691640"/>
            <a:ext cx="640080" cy="7315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63640" y="1691640"/>
            <a:ext cx="640080" cy="731520"/>
          </a:xfrm>
          <a:prstGeom prst="rect">
            <a:avLst/>
          </a:prstGeom>
          <a:solidFill>
            <a:srgbClr val="EE0018">
              <a:alpha val="25490"/>
            </a:srgbClr>
          </a:solidFill>
        </p:spPr>
        <p:txBody>
          <a:bodyPr wrap="square" lIns="0" tIns="0" rIns="0" bIns="0" anchor="ctr">
            <a:spAutoFit/>
          </a:bodyPr>
          <a:lstStyle/>
          <a:p>
            <a:pPr algn="ctr"/>
            <a:r>
              <a:rPr sz="1800" b="1" i="0">
                <a:solidFill>
                  <a:srgbClr val="FFFFFF"/>
                </a:solidFill>
                <a:latin typeface="Calibri"/>
              </a:rPr>
              <a:t>S2</a:t>
            </a:r>
          </a:p>
        </p:txBody>
      </p:sp>
      <p:sp>
        <p:nvSpPr>
          <p:cNvPr id="13" name="TextBox 12"/>
          <p:cNvSpPr txBox="1"/>
          <p:nvPr/>
        </p:nvSpPr>
        <p:spPr>
          <a:xfrm>
            <a:off x="7040880" y="1764792"/>
            <a:ext cx="4754880" cy="274320"/>
          </a:xfrm>
          <a:prstGeom prst="rect">
            <a:avLst/>
          </a:prstGeom>
          <a:noFill/>
        </p:spPr>
        <p:txBody>
          <a:bodyPr wrap="square" lIns="0" tIns="0" rIns="0" bIns="0" anchor="t">
            <a:spAutoFit/>
          </a:bodyPr>
          <a:lstStyle/>
          <a:p>
            <a:pPr algn="l"/>
            <a:r>
              <a:rPr sz="1300" b="1" i="0">
                <a:solidFill>
                  <a:srgbClr val="1A1A2E"/>
                </a:solidFill>
                <a:latin typeface="Calibri"/>
              </a:rPr>
              <a:t>HTTP Flood</a:t>
            </a:r>
            <a:r>
              <a:rPr sz="1100" b="0" i="0">
                <a:solidFill>
                  <a:srgbClr val="64748B"/>
                </a:solidFill>
                <a:latin typeface="Calibri"/>
              </a:rPr>
              <a:t>  ·  </a:t>
            </a:r>
            <a:r>
              <a:rPr sz="1000" b="0" i="1">
                <a:solidFill>
                  <a:srgbClr val="64748B"/>
                </a:solidFill>
                <a:latin typeface="Calibri"/>
              </a:rPr>
              <a:t>Train · Test</a:t>
            </a:r>
          </a:p>
        </p:txBody>
      </p:sp>
      <p:sp>
        <p:nvSpPr>
          <p:cNvPr id="14" name="TextBox 13"/>
          <p:cNvSpPr txBox="1"/>
          <p:nvPr/>
        </p:nvSpPr>
        <p:spPr>
          <a:xfrm>
            <a:off x="7040880" y="2039112"/>
            <a:ext cx="4754880" cy="365760"/>
          </a:xfrm>
          <a:prstGeom prst="rect">
            <a:avLst/>
          </a:prstGeom>
          <a:noFill/>
        </p:spPr>
        <p:txBody>
          <a:bodyPr wrap="square" lIns="0" tIns="0" rIns="0" bIns="0" anchor="t">
            <a:spAutoFit/>
          </a:bodyPr>
          <a:lstStyle/>
          <a:p>
            <a:pPr algn="l"/>
            <a:r>
              <a:rPr sz="1000" b="0" i="0">
                <a:solidFill>
                  <a:srgbClr val="64748B"/>
                </a:solidFill>
                <a:latin typeface="Calibri"/>
              </a:rPr>
              <a:t>Distributed high-rate requests, naive attacker UA pool</a:t>
            </a:r>
          </a:p>
        </p:txBody>
      </p:sp>
      <p:sp>
        <p:nvSpPr>
          <p:cNvPr id="15" name="Rectangle 14"/>
          <p:cNvSpPr/>
          <p:nvPr/>
        </p:nvSpPr>
        <p:spPr>
          <a:xfrm>
            <a:off x="457200" y="2514600"/>
            <a:ext cx="5623560" cy="731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2514600"/>
            <a:ext cx="640080" cy="7315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514600"/>
            <a:ext cx="640080" cy="731520"/>
          </a:xfrm>
          <a:prstGeom prst="rect">
            <a:avLst/>
          </a:prstGeom>
          <a:solidFill>
            <a:srgbClr val="F37866"/>
          </a:solidFill>
        </p:spPr>
        <p:txBody>
          <a:bodyPr wrap="square" lIns="0" tIns="0" rIns="0" bIns="0" anchor="ctr">
            <a:spAutoFit/>
          </a:bodyPr>
          <a:lstStyle/>
          <a:p>
            <a:pPr algn="ctr"/>
            <a:r>
              <a:rPr sz="1800" b="1" i="0" dirty="0">
                <a:solidFill>
                  <a:srgbClr val="FFFFFF"/>
                </a:solidFill>
                <a:latin typeface="Calibri"/>
              </a:rPr>
              <a:t>S3</a:t>
            </a:r>
          </a:p>
        </p:txBody>
      </p:sp>
      <p:sp>
        <p:nvSpPr>
          <p:cNvPr id="18" name="TextBox 17"/>
          <p:cNvSpPr txBox="1"/>
          <p:nvPr/>
        </p:nvSpPr>
        <p:spPr>
          <a:xfrm>
            <a:off x="1234440" y="2587752"/>
            <a:ext cx="4754880" cy="274320"/>
          </a:xfrm>
          <a:prstGeom prst="rect">
            <a:avLst/>
          </a:prstGeom>
          <a:noFill/>
        </p:spPr>
        <p:txBody>
          <a:bodyPr wrap="square" lIns="0" tIns="0" rIns="0" bIns="0" anchor="t">
            <a:spAutoFit/>
          </a:bodyPr>
          <a:lstStyle/>
          <a:p>
            <a:pPr algn="l"/>
            <a:r>
              <a:rPr sz="1300" b="1" i="0">
                <a:solidFill>
                  <a:srgbClr val="1A1A2E"/>
                </a:solidFill>
                <a:latin typeface="Calibri"/>
              </a:rPr>
              <a:t>Low-Rate Bot</a:t>
            </a:r>
            <a:r>
              <a:rPr sz="1100" b="0" i="0">
                <a:solidFill>
                  <a:srgbClr val="64748B"/>
                </a:solidFill>
                <a:latin typeface="Calibri"/>
              </a:rPr>
              <a:t>  ·  </a:t>
            </a:r>
            <a:r>
              <a:rPr sz="1000" b="0" i="1">
                <a:solidFill>
                  <a:srgbClr val="64748B"/>
                </a:solidFill>
                <a:latin typeface="Calibri"/>
              </a:rPr>
              <a:t>Train · Test</a:t>
            </a:r>
          </a:p>
        </p:txBody>
      </p:sp>
      <p:sp>
        <p:nvSpPr>
          <p:cNvPr id="19" name="TextBox 18"/>
          <p:cNvSpPr txBox="1"/>
          <p:nvPr/>
        </p:nvSpPr>
        <p:spPr>
          <a:xfrm>
            <a:off x="1234440" y="2862072"/>
            <a:ext cx="4754880" cy="365760"/>
          </a:xfrm>
          <a:prstGeom prst="rect">
            <a:avLst/>
          </a:prstGeom>
          <a:noFill/>
        </p:spPr>
        <p:txBody>
          <a:bodyPr wrap="square" lIns="0" tIns="0" rIns="0" bIns="0" anchor="t">
            <a:spAutoFit/>
          </a:bodyPr>
          <a:lstStyle/>
          <a:p>
            <a:pPr algn="l"/>
            <a:r>
              <a:rPr sz="1000" b="0" i="0">
                <a:solidFill>
                  <a:srgbClr val="64748B"/>
                </a:solidFill>
                <a:latin typeface="Calibri"/>
              </a:rPr>
              <a:t>Persistent low-rate scraping, stays under rate thresholds</a:t>
            </a:r>
          </a:p>
        </p:txBody>
      </p:sp>
      <p:sp>
        <p:nvSpPr>
          <p:cNvPr id="20" name="Rectangle 19"/>
          <p:cNvSpPr/>
          <p:nvPr/>
        </p:nvSpPr>
        <p:spPr>
          <a:xfrm>
            <a:off x="6263640" y="2514600"/>
            <a:ext cx="5623560" cy="731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2514600"/>
            <a:ext cx="640080" cy="7315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63640" y="2514600"/>
            <a:ext cx="640080" cy="731520"/>
          </a:xfrm>
          <a:prstGeom prst="rect">
            <a:avLst/>
          </a:prstGeom>
          <a:solidFill>
            <a:srgbClr val="FF6046">
              <a:alpha val="76863"/>
            </a:srgbClr>
          </a:solidFill>
        </p:spPr>
        <p:txBody>
          <a:bodyPr wrap="square" lIns="0" tIns="0" rIns="0" bIns="0" anchor="ctr">
            <a:spAutoFit/>
          </a:bodyPr>
          <a:lstStyle/>
          <a:p>
            <a:pPr algn="ctr"/>
            <a:r>
              <a:rPr sz="1800" b="1" i="0">
                <a:solidFill>
                  <a:srgbClr val="FFFFFF"/>
                </a:solidFill>
                <a:latin typeface="Calibri"/>
              </a:rPr>
              <a:t>S4</a:t>
            </a:r>
          </a:p>
        </p:txBody>
      </p:sp>
      <p:sp>
        <p:nvSpPr>
          <p:cNvPr id="23" name="TextBox 22"/>
          <p:cNvSpPr txBox="1"/>
          <p:nvPr/>
        </p:nvSpPr>
        <p:spPr>
          <a:xfrm>
            <a:off x="7040880" y="2587752"/>
            <a:ext cx="4754880" cy="274320"/>
          </a:xfrm>
          <a:prstGeom prst="rect">
            <a:avLst/>
          </a:prstGeom>
          <a:noFill/>
        </p:spPr>
        <p:txBody>
          <a:bodyPr wrap="square" lIns="0" tIns="0" rIns="0" bIns="0" anchor="t">
            <a:spAutoFit/>
          </a:bodyPr>
          <a:lstStyle/>
          <a:p>
            <a:pPr algn="l"/>
            <a:r>
              <a:rPr sz="1300" b="1" i="0">
                <a:solidFill>
                  <a:srgbClr val="1A1A2E"/>
                </a:solidFill>
                <a:latin typeface="Calibri"/>
              </a:rPr>
              <a:t>Credential Stuffing</a:t>
            </a:r>
            <a:r>
              <a:rPr sz="1100" b="0" i="0">
                <a:solidFill>
                  <a:srgbClr val="64748B"/>
                </a:solidFill>
                <a:latin typeface="Calibri"/>
              </a:rPr>
              <a:t>  ·  </a:t>
            </a:r>
            <a:r>
              <a:rPr sz="1000" b="0" i="1">
                <a:solidFill>
                  <a:srgbClr val="64748B"/>
                </a:solidFill>
                <a:latin typeface="Calibri"/>
              </a:rPr>
              <a:t>Train · Test</a:t>
            </a:r>
          </a:p>
        </p:txBody>
      </p:sp>
      <p:sp>
        <p:nvSpPr>
          <p:cNvPr id="24" name="TextBox 23"/>
          <p:cNvSpPr txBox="1"/>
          <p:nvPr/>
        </p:nvSpPr>
        <p:spPr>
          <a:xfrm>
            <a:off x="7040880" y="2862072"/>
            <a:ext cx="4754880" cy="365760"/>
          </a:xfrm>
          <a:prstGeom prst="rect">
            <a:avLst/>
          </a:prstGeom>
          <a:noFill/>
        </p:spPr>
        <p:txBody>
          <a:bodyPr wrap="square" lIns="0" tIns="0" rIns="0" bIns="0" anchor="t">
            <a:spAutoFit/>
          </a:bodyPr>
          <a:lstStyle/>
          <a:p>
            <a:pPr algn="l"/>
            <a:r>
              <a:rPr sz="1000" b="0" i="0">
                <a:solidFill>
                  <a:srgbClr val="64748B"/>
                </a:solidFill>
                <a:latin typeface="Calibri"/>
              </a:rPr>
              <a:t>Random email/password login attempts; produces 401 signal</a:t>
            </a:r>
          </a:p>
        </p:txBody>
      </p:sp>
      <p:sp>
        <p:nvSpPr>
          <p:cNvPr id="25" name="Rectangle 24"/>
          <p:cNvSpPr/>
          <p:nvPr/>
        </p:nvSpPr>
        <p:spPr>
          <a:xfrm>
            <a:off x="457200" y="3337560"/>
            <a:ext cx="5623560" cy="731520"/>
          </a:xfrm>
          <a:prstGeom prst="rect">
            <a:avLst/>
          </a:prstGeom>
          <a:solidFill>
            <a:srgbClr val="FFFFFF"/>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 y="3337560"/>
            <a:ext cx="640080" cy="7315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3337560"/>
            <a:ext cx="640080" cy="731520"/>
          </a:xfrm>
          <a:prstGeom prst="rect">
            <a:avLst/>
          </a:prstGeom>
          <a:solidFill>
            <a:srgbClr val="1E2761"/>
          </a:solidFill>
          <a:ln>
            <a:solidFill>
              <a:srgbClr val="3545B8"/>
            </a:solidFill>
          </a:ln>
        </p:spPr>
        <p:txBody>
          <a:bodyPr wrap="square" lIns="0" tIns="0" rIns="0" bIns="0" anchor="ctr">
            <a:spAutoFit/>
          </a:bodyPr>
          <a:lstStyle/>
          <a:p>
            <a:pPr algn="ctr"/>
            <a:r>
              <a:rPr sz="1800" b="1" i="0">
                <a:solidFill>
                  <a:srgbClr val="FFFFFF"/>
                </a:solidFill>
                <a:latin typeface="Calibri"/>
              </a:rPr>
              <a:t>S5</a:t>
            </a:r>
          </a:p>
        </p:txBody>
      </p:sp>
      <p:sp>
        <p:nvSpPr>
          <p:cNvPr id="28" name="TextBox 27"/>
          <p:cNvSpPr txBox="1"/>
          <p:nvPr/>
        </p:nvSpPr>
        <p:spPr>
          <a:xfrm>
            <a:off x="1234440" y="3410712"/>
            <a:ext cx="4754880" cy="274320"/>
          </a:xfrm>
          <a:prstGeom prst="rect">
            <a:avLst/>
          </a:prstGeom>
          <a:noFill/>
        </p:spPr>
        <p:txBody>
          <a:bodyPr wrap="square" lIns="0" tIns="0" rIns="0" bIns="0" anchor="t">
            <a:spAutoFit/>
          </a:bodyPr>
          <a:lstStyle/>
          <a:p>
            <a:pPr algn="l"/>
            <a:r>
              <a:rPr sz="1300" b="1" i="0">
                <a:solidFill>
                  <a:srgbClr val="1A1A2E"/>
                </a:solidFill>
                <a:latin typeface="Calibri"/>
              </a:rPr>
              <a:t>Mimicry Flood</a:t>
            </a:r>
            <a:r>
              <a:rPr sz="1100" b="0" i="0">
                <a:solidFill>
                  <a:srgbClr val="64748B"/>
                </a:solidFill>
                <a:latin typeface="Calibri"/>
              </a:rPr>
              <a:t>  ·  </a:t>
            </a:r>
            <a:r>
              <a:rPr sz="1000" b="1" i="1">
                <a:solidFill>
                  <a:srgbClr val="F96167"/>
                </a:solidFill>
                <a:latin typeface="Calibri"/>
              </a:rPr>
              <a:t>★ TEST ONLY</a:t>
            </a:r>
          </a:p>
        </p:txBody>
      </p:sp>
      <p:sp>
        <p:nvSpPr>
          <p:cNvPr id="29" name="TextBox 28"/>
          <p:cNvSpPr txBox="1"/>
          <p:nvPr/>
        </p:nvSpPr>
        <p:spPr>
          <a:xfrm>
            <a:off x="1234440" y="3685032"/>
            <a:ext cx="4754880" cy="365760"/>
          </a:xfrm>
          <a:prstGeom prst="rect">
            <a:avLst/>
          </a:prstGeom>
          <a:noFill/>
        </p:spPr>
        <p:txBody>
          <a:bodyPr wrap="square" lIns="0" tIns="0" rIns="0" bIns="0" anchor="t">
            <a:spAutoFit/>
          </a:bodyPr>
          <a:lstStyle/>
          <a:p>
            <a:pPr algn="l"/>
            <a:r>
              <a:rPr sz="1000" b="0" i="0">
                <a:solidFill>
                  <a:srgbClr val="64748B"/>
                </a:solidFill>
                <a:latin typeface="Calibri"/>
              </a:rPr>
              <a:t>UA + IP from legit pool, token reuse, flood-level burst</a:t>
            </a:r>
          </a:p>
        </p:txBody>
      </p:sp>
      <p:sp>
        <p:nvSpPr>
          <p:cNvPr id="30" name="Rectangle 29"/>
          <p:cNvSpPr/>
          <p:nvPr/>
        </p:nvSpPr>
        <p:spPr>
          <a:xfrm>
            <a:off x="6263640" y="3337560"/>
            <a:ext cx="5623560" cy="731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63640" y="3337560"/>
            <a:ext cx="640080" cy="731520"/>
          </a:xfrm>
          <a:prstGeom prst="rect">
            <a:avLst/>
          </a:prstGeom>
          <a:solidFill>
            <a:srgbClr val="C94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63640" y="3337560"/>
            <a:ext cx="640080" cy="731520"/>
          </a:xfrm>
          <a:prstGeom prst="rect">
            <a:avLst/>
          </a:prstGeom>
          <a:solidFill>
            <a:srgbClr val="FF6247">
              <a:alpha val="91373"/>
            </a:srgbClr>
          </a:solidFill>
        </p:spPr>
        <p:txBody>
          <a:bodyPr wrap="square" lIns="0" tIns="0" rIns="0" bIns="0" anchor="ctr">
            <a:spAutoFit/>
          </a:bodyPr>
          <a:lstStyle/>
          <a:p>
            <a:pPr algn="ctr"/>
            <a:r>
              <a:rPr sz="1800" b="1" i="0">
                <a:solidFill>
                  <a:srgbClr val="FFFFFF"/>
                </a:solidFill>
                <a:latin typeface="Calibri"/>
              </a:rPr>
              <a:t>S6</a:t>
            </a:r>
          </a:p>
        </p:txBody>
      </p:sp>
      <p:sp>
        <p:nvSpPr>
          <p:cNvPr id="33" name="TextBox 32"/>
          <p:cNvSpPr txBox="1"/>
          <p:nvPr/>
        </p:nvSpPr>
        <p:spPr>
          <a:xfrm>
            <a:off x="7040880" y="3410712"/>
            <a:ext cx="4754880" cy="274320"/>
          </a:xfrm>
          <a:prstGeom prst="rect">
            <a:avLst/>
          </a:prstGeom>
          <a:noFill/>
        </p:spPr>
        <p:txBody>
          <a:bodyPr wrap="square" lIns="0" tIns="0" rIns="0" bIns="0" anchor="t">
            <a:spAutoFit/>
          </a:bodyPr>
          <a:lstStyle/>
          <a:p>
            <a:pPr algn="l"/>
            <a:r>
              <a:rPr sz="1300" b="1" i="0">
                <a:solidFill>
                  <a:srgbClr val="1A1A2E"/>
                </a:solidFill>
                <a:latin typeface="Calibri"/>
              </a:rPr>
              <a:t>Slow HTTP</a:t>
            </a:r>
            <a:r>
              <a:rPr sz="1100" b="0" i="0">
                <a:solidFill>
                  <a:srgbClr val="64748B"/>
                </a:solidFill>
                <a:latin typeface="Calibri"/>
              </a:rPr>
              <a:t>  ·  </a:t>
            </a:r>
            <a:r>
              <a:rPr sz="1000" b="0" i="1">
                <a:solidFill>
                  <a:srgbClr val="64748B"/>
                </a:solidFill>
                <a:latin typeface="Calibri"/>
              </a:rPr>
              <a:t>Connection rule</a:t>
            </a:r>
          </a:p>
        </p:txBody>
      </p:sp>
      <p:sp>
        <p:nvSpPr>
          <p:cNvPr id="34" name="TextBox 33"/>
          <p:cNvSpPr txBox="1"/>
          <p:nvPr/>
        </p:nvSpPr>
        <p:spPr>
          <a:xfrm>
            <a:off x="7040880" y="3685032"/>
            <a:ext cx="4754880" cy="365760"/>
          </a:xfrm>
          <a:prstGeom prst="rect">
            <a:avLst/>
          </a:prstGeom>
          <a:noFill/>
        </p:spPr>
        <p:txBody>
          <a:bodyPr wrap="square" lIns="0" tIns="0" rIns="0" bIns="0" anchor="t">
            <a:spAutoFit/>
          </a:bodyPr>
          <a:lstStyle/>
          <a:p>
            <a:pPr algn="l"/>
            <a:r>
              <a:rPr sz="1000" b="0" i="0" dirty="0" err="1">
                <a:solidFill>
                  <a:srgbClr val="64748B"/>
                </a:solidFill>
                <a:latin typeface="Calibri"/>
              </a:rPr>
              <a:t>Slowloris</a:t>
            </a:r>
            <a:r>
              <a:rPr sz="1000" b="0" i="0" dirty="0">
                <a:solidFill>
                  <a:srgbClr val="64748B"/>
                </a:solidFill>
                <a:latin typeface="Calibri"/>
              </a:rPr>
              <a:t>; nginx closes at 60s; sparse 408 signal</a:t>
            </a:r>
          </a:p>
        </p:txBody>
      </p:sp>
      <p:sp>
        <p:nvSpPr>
          <p:cNvPr id="35" name="Rectangle 34"/>
          <p:cNvSpPr/>
          <p:nvPr/>
        </p:nvSpPr>
        <p:spPr>
          <a:xfrm>
            <a:off x="457200" y="5120640"/>
            <a:ext cx="11247120" cy="1188720"/>
          </a:xfrm>
          <a:prstGeom prst="rect">
            <a:avLst/>
          </a:prstGeom>
          <a:solidFill>
            <a:schemeClr val="bg1"/>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57200" y="5120640"/>
            <a:ext cx="137160" cy="1188720"/>
          </a:xfrm>
          <a:prstGeom prst="rect">
            <a:avLst/>
          </a:prstGeom>
          <a:solidFill>
            <a:srgbClr val="F37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77240" y="5212080"/>
            <a:ext cx="4572000" cy="274320"/>
          </a:xfrm>
          <a:prstGeom prst="rect">
            <a:avLst/>
          </a:prstGeom>
          <a:noFill/>
        </p:spPr>
        <p:txBody>
          <a:bodyPr wrap="square" lIns="0" tIns="0" rIns="0" bIns="0" anchor="t">
            <a:spAutoFit/>
          </a:bodyPr>
          <a:lstStyle/>
          <a:p>
            <a:pPr algn="l"/>
            <a:r>
              <a:rPr sz="1100" b="1" i="0" spc="400" dirty="0">
                <a:solidFill>
                  <a:srgbClr val="8FAEEB"/>
                </a:solidFill>
                <a:latin typeface="Calibri"/>
              </a:rPr>
              <a:t>KEY DESIGN DECISION</a:t>
            </a:r>
          </a:p>
        </p:txBody>
      </p:sp>
      <p:sp>
        <p:nvSpPr>
          <p:cNvPr id="38" name="TextBox 37"/>
          <p:cNvSpPr txBox="1"/>
          <p:nvPr/>
        </p:nvSpPr>
        <p:spPr>
          <a:xfrm>
            <a:off x="777240" y="5532120"/>
            <a:ext cx="10698480" cy="400110"/>
          </a:xfrm>
          <a:prstGeom prst="rect">
            <a:avLst/>
          </a:prstGeom>
          <a:noFill/>
        </p:spPr>
        <p:txBody>
          <a:bodyPr wrap="square" lIns="0" tIns="0" rIns="0" bIns="0" anchor="t">
            <a:spAutoFit/>
          </a:bodyPr>
          <a:lstStyle/>
          <a:p>
            <a:pPr algn="l"/>
            <a:r>
              <a:rPr sz="1300" b="0" i="1" dirty="0">
                <a:solidFill>
                  <a:srgbClr val="1E2760"/>
                </a:solidFill>
                <a:latin typeface="Calibri"/>
              </a:rPr>
              <a:t>S5 </a:t>
            </a:r>
            <a:r>
              <a:rPr sz="1300" b="0" i="1" dirty="0" err="1">
                <a:solidFill>
                  <a:srgbClr val="1E2760"/>
                </a:solidFill>
                <a:latin typeface="Calibri"/>
              </a:rPr>
              <a:t>mimicry_flood</a:t>
            </a:r>
            <a:r>
              <a:rPr sz="1300" b="0" i="1" dirty="0">
                <a:solidFill>
                  <a:srgbClr val="1E2760"/>
                </a:solidFill>
                <a:latin typeface="Calibri"/>
              </a:rPr>
              <a:t> is excluded from training and validation. It is used only as a holdout test. This measures whether the model can generalize to an attack it has never seen.</a:t>
            </a:r>
          </a:p>
        </p:txBody>
      </p:sp>
      <p:sp>
        <p:nvSpPr>
          <p:cNvPr id="39" name="TextBox 38"/>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Graduation Thesis · Final Defense</a:t>
            </a:r>
          </a:p>
        </p:txBody>
      </p:sp>
      <p:sp>
        <p:nvSpPr>
          <p:cNvPr id="40" name="TextBox 39"/>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6 / 23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2 · METHODOLOGY</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Anatomy of the Mimicry Attack</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Surface looks legit, behavior is flood — this asymmetry is the thesis question</a:t>
            </a:r>
          </a:p>
        </p:txBody>
      </p:sp>
      <p:sp>
        <p:nvSpPr>
          <p:cNvPr id="5" name="Rectangle 4"/>
          <p:cNvSpPr/>
          <p:nvPr/>
        </p:nvSpPr>
        <p:spPr>
          <a:xfrm>
            <a:off x="457200" y="1691640"/>
            <a:ext cx="5623560" cy="3840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691640"/>
            <a:ext cx="5623560" cy="502920"/>
          </a:xfrm>
          <a:prstGeom prst="rect">
            <a:avLst/>
          </a:prstGeom>
          <a:solidFill>
            <a:srgbClr val="F37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5074920" cy="411480"/>
          </a:xfrm>
          <a:prstGeom prst="rect">
            <a:avLst/>
          </a:prstGeom>
          <a:noFill/>
        </p:spPr>
        <p:txBody>
          <a:bodyPr wrap="square" lIns="0" tIns="0" rIns="0" bIns="0" anchor="ctr">
            <a:spAutoFit/>
          </a:bodyPr>
          <a:lstStyle/>
          <a:p>
            <a:pPr algn="l"/>
            <a:r>
              <a:rPr sz="1500" b="1" i="0" spc="200">
                <a:solidFill>
                  <a:srgbClr val="FFFFFF"/>
                </a:solidFill>
                <a:latin typeface="Calibri"/>
              </a:rPr>
              <a:t>Naive HTTP Flood</a:t>
            </a:r>
          </a:p>
        </p:txBody>
      </p:sp>
      <p:sp>
        <p:nvSpPr>
          <p:cNvPr id="8" name="TextBox 7"/>
          <p:cNvSpPr txBox="1"/>
          <p:nvPr/>
        </p:nvSpPr>
        <p:spPr>
          <a:xfrm>
            <a:off x="731520" y="2377440"/>
            <a:ext cx="1463040" cy="153888"/>
          </a:xfrm>
          <a:prstGeom prst="rect">
            <a:avLst/>
          </a:prstGeom>
          <a:noFill/>
        </p:spPr>
        <p:txBody>
          <a:bodyPr wrap="square" lIns="0" tIns="0" rIns="0" bIns="0" anchor="t">
            <a:spAutoFit/>
          </a:bodyPr>
          <a:lstStyle/>
          <a:p>
            <a:pPr algn="l"/>
            <a:r>
              <a:rPr sz="1000" b="1" i="0" spc="200" dirty="0">
                <a:solidFill>
                  <a:srgbClr val="F37866"/>
                </a:solidFill>
                <a:latin typeface="Calibri"/>
              </a:rPr>
              <a:t>User-Agent</a:t>
            </a:r>
          </a:p>
        </p:txBody>
      </p:sp>
      <p:sp>
        <p:nvSpPr>
          <p:cNvPr id="9" name="TextBox 8"/>
          <p:cNvSpPr txBox="1"/>
          <p:nvPr/>
        </p:nvSpPr>
        <p:spPr>
          <a:xfrm>
            <a:off x="2286000" y="2377440"/>
            <a:ext cx="3611880" cy="548640"/>
          </a:xfrm>
          <a:prstGeom prst="rect">
            <a:avLst/>
          </a:prstGeom>
          <a:noFill/>
        </p:spPr>
        <p:txBody>
          <a:bodyPr wrap="square" lIns="0" tIns="0" rIns="0" bIns="0" anchor="t">
            <a:spAutoFit/>
          </a:bodyPr>
          <a:lstStyle/>
          <a:p>
            <a:pPr algn="l"/>
            <a:r>
              <a:rPr sz="1100" b="0" i="0">
                <a:solidFill>
                  <a:srgbClr val="1A1A2E"/>
                </a:solidFill>
                <a:latin typeface="Calibri"/>
              </a:rPr>
              <a:t>curl/8.7.1, python-requests, Go-http-client</a:t>
            </a:r>
          </a:p>
        </p:txBody>
      </p:sp>
      <p:sp>
        <p:nvSpPr>
          <p:cNvPr id="10" name="TextBox 9"/>
          <p:cNvSpPr txBox="1"/>
          <p:nvPr/>
        </p:nvSpPr>
        <p:spPr>
          <a:xfrm>
            <a:off x="731520" y="2971800"/>
            <a:ext cx="1463040" cy="153888"/>
          </a:xfrm>
          <a:prstGeom prst="rect">
            <a:avLst/>
          </a:prstGeom>
          <a:noFill/>
        </p:spPr>
        <p:txBody>
          <a:bodyPr wrap="square" lIns="0" tIns="0" rIns="0" bIns="0" anchor="t">
            <a:spAutoFit/>
          </a:bodyPr>
          <a:lstStyle/>
          <a:p>
            <a:pPr algn="l"/>
            <a:r>
              <a:rPr sz="1000" b="1" i="0" spc="200" dirty="0">
                <a:solidFill>
                  <a:srgbClr val="F37866"/>
                </a:solidFill>
                <a:latin typeface="Calibri"/>
              </a:rPr>
              <a:t>IP Pool</a:t>
            </a:r>
          </a:p>
        </p:txBody>
      </p:sp>
      <p:sp>
        <p:nvSpPr>
          <p:cNvPr id="11" name="TextBox 10"/>
          <p:cNvSpPr txBox="1"/>
          <p:nvPr/>
        </p:nvSpPr>
        <p:spPr>
          <a:xfrm>
            <a:off x="2286000" y="2971800"/>
            <a:ext cx="3611880" cy="548640"/>
          </a:xfrm>
          <a:prstGeom prst="rect">
            <a:avLst/>
          </a:prstGeom>
          <a:noFill/>
        </p:spPr>
        <p:txBody>
          <a:bodyPr wrap="square" lIns="0" tIns="0" rIns="0" bIns="0" anchor="t">
            <a:spAutoFit/>
          </a:bodyPr>
          <a:lstStyle/>
          <a:p>
            <a:pPr algn="l"/>
            <a:r>
              <a:rPr sz="1100" b="0" i="0">
                <a:solidFill>
                  <a:srgbClr val="1A1A2E"/>
                </a:solidFill>
                <a:latin typeface="Calibri"/>
              </a:rPr>
              <a:t>Attacker-only pool with minimal legit overlap</a:t>
            </a:r>
          </a:p>
        </p:txBody>
      </p:sp>
      <p:sp>
        <p:nvSpPr>
          <p:cNvPr id="12" name="TextBox 11"/>
          <p:cNvSpPr txBox="1"/>
          <p:nvPr/>
        </p:nvSpPr>
        <p:spPr>
          <a:xfrm>
            <a:off x="731520" y="3566160"/>
            <a:ext cx="1463040" cy="153888"/>
          </a:xfrm>
          <a:prstGeom prst="rect">
            <a:avLst/>
          </a:prstGeom>
          <a:noFill/>
        </p:spPr>
        <p:txBody>
          <a:bodyPr wrap="square" lIns="0" tIns="0" rIns="0" bIns="0" anchor="t">
            <a:spAutoFit/>
          </a:bodyPr>
          <a:lstStyle/>
          <a:p>
            <a:pPr algn="l"/>
            <a:r>
              <a:rPr sz="1000" b="1" i="0" spc="200" dirty="0">
                <a:solidFill>
                  <a:srgbClr val="F37866"/>
                </a:solidFill>
                <a:latin typeface="Calibri"/>
              </a:rPr>
              <a:t>Login</a:t>
            </a:r>
          </a:p>
        </p:txBody>
      </p:sp>
      <p:sp>
        <p:nvSpPr>
          <p:cNvPr id="13" name="TextBox 12"/>
          <p:cNvSpPr txBox="1"/>
          <p:nvPr/>
        </p:nvSpPr>
        <p:spPr>
          <a:xfrm>
            <a:off x="2286000" y="3566160"/>
            <a:ext cx="3611880" cy="548640"/>
          </a:xfrm>
          <a:prstGeom prst="rect">
            <a:avLst/>
          </a:prstGeom>
          <a:noFill/>
        </p:spPr>
        <p:txBody>
          <a:bodyPr wrap="square" lIns="0" tIns="0" rIns="0" bIns="0" anchor="t">
            <a:spAutoFit/>
          </a:bodyPr>
          <a:lstStyle/>
          <a:p>
            <a:pPr algn="l"/>
            <a:r>
              <a:rPr sz="1100" b="0" i="0">
                <a:solidFill>
                  <a:srgbClr val="1A1A2E"/>
                </a:solidFill>
                <a:latin typeface="Calibri"/>
              </a:rPr>
              <a:t>Re-login every request, no token reuse</a:t>
            </a:r>
          </a:p>
        </p:txBody>
      </p:sp>
      <p:sp>
        <p:nvSpPr>
          <p:cNvPr id="14" name="TextBox 13"/>
          <p:cNvSpPr txBox="1"/>
          <p:nvPr/>
        </p:nvSpPr>
        <p:spPr>
          <a:xfrm>
            <a:off x="731520" y="4160520"/>
            <a:ext cx="1463040" cy="153888"/>
          </a:xfrm>
          <a:prstGeom prst="rect">
            <a:avLst/>
          </a:prstGeom>
          <a:noFill/>
        </p:spPr>
        <p:txBody>
          <a:bodyPr wrap="square" lIns="0" tIns="0" rIns="0" bIns="0" anchor="t">
            <a:spAutoFit/>
          </a:bodyPr>
          <a:lstStyle/>
          <a:p>
            <a:pPr algn="l"/>
            <a:r>
              <a:rPr sz="1000" b="1" i="0" spc="200" dirty="0">
                <a:solidFill>
                  <a:srgbClr val="F37866"/>
                </a:solidFill>
                <a:latin typeface="Calibri"/>
              </a:rPr>
              <a:t>Cadence</a:t>
            </a:r>
          </a:p>
        </p:txBody>
      </p:sp>
      <p:sp>
        <p:nvSpPr>
          <p:cNvPr id="15" name="TextBox 14"/>
          <p:cNvSpPr txBox="1"/>
          <p:nvPr/>
        </p:nvSpPr>
        <p:spPr>
          <a:xfrm>
            <a:off x="2286000" y="4160520"/>
            <a:ext cx="3611880" cy="548640"/>
          </a:xfrm>
          <a:prstGeom prst="rect">
            <a:avLst/>
          </a:prstGeom>
          <a:noFill/>
        </p:spPr>
        <p:txBody>
          <a:bodyPr wrap="square" lIns="0" tIns="0" rIns="0" bIns="0" anchor="t">
            <a:spAutoFit/>
          </a:bodyPr>
          <a:lstStyle/>
          <a:p>
            <a:pPr algn="l"/>
            <a:r>
              <a:rPr sz="1100" b="0" i="0">
                <a:solidFill>
                  <a:srgbClr val="1A1A2E"/>
                </a:solidFill>
                <a:latin typeface="Calibri"/>
              </a:rPr>
              <a:t>Burst of 2-5 requests, 10-50ms apart</a:t>
            </a:r>
          </a:p>
        </p:txBody>
      </p:sp>
      <p:sp>
        <p:nvSpPr>
          <p:cNvPr id="16" name="TextBox 15"/>
          <p:cNvSpPr txBox="1"/>
          <p:nvPr/>
        </p:nvSpPr>
        <p:spPr>
          <a:xfrm>
            <a:off x="731520" y="4754880"/>
            <a:ext cx="1463040" cy="153888"/>
          </a:xfrm>
          <a:prstGeom prst="rect">
            <a:avLst/>
          </a:prstGeom>
          <a:noFill/>
        </p:spPr>
        <p:txBody>
          <a:bodyPr wrap="square" lIns="0" tIns="0" rIns="0" bIns="0" anchor="t">
            <a:spAutoFit/>
          </a:bodyPr>
          <a:lstStyle/>
          <a:p>
            <a:pPr algn="l"/>
            <a:r>
              <a:rPr sz="1000" b="1" i="0" spc="200" dirty="0">
                <a:solidFill>
                  <a:srgbClr val="F37866"/>
                </a:solidFill>
                <a:latin typeface="Calibri"/>
              </a:rPr>
              <a:t>Signature</a:t>
            </a:r>
          </a:p>
        </p:txBody>
      </p:sp>
      <p:sp>
        <p:nvSpPr>
          <p:cNvPr id="17" name="TextBox 16"/>
          <p:cNvSpPr txBox="1"/>
          <p:nvPr/>
        </p:nvSpPr>
        <p:spPr>
          <a:xfrm>
            <a:off x="2286000" y="4754880"/>
            <a:ext cx="3611880" cy="548640"/>
          </a:xfrm>
          <a:prstGeom prst="rect">
            <a:avLst/>
          </a:prstGeom>
          <a:noFill/>
        </p:spPr>
        <p:txBody>
          <a:bodyPr wrap="square" lIns="0" tIns="0" rIns="0" bIns="0" anchor="t">
            <a:spAutoFit/>
          </a:bodyPr>
          <a:lstStyle/>
          <a:p>
            <a:pPr algn="l"/>
            <a:r>
              <a:rPr sz="1100" b="0" i="0">
                <a:solidFill>
                  <a:srgbClr val="1A1A2E"/>
                </a:solidFill>
                <a:latin typeface="Calibri"/>
              </a:rPr>
              <a:t>High rate + tool UA + distinct IP cluster</a:t>
            </a:r>
          </a:p>
        </p:txBody>
      </p:sp>
      <p:sp>
        <p:nvSpPr>
          <p:cNvPr id="18" name="Rectangle 17"/>
          <p:cNvSpPr/>
          <p:nvPr/>
        </p:nvSpPr>
        <p:spPr>
          <a:xfrm>
            <a:off x="6263640" y="1691640"/>
            <a:ext cx="5623560" cy="3840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63640" y="1691640"/>
            <a:ext cx="5623560"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60" y="1737360"/>
            <a:ext cx="5074920" cy="411480"/>
          </a:xfrm>
          <a:prstGeom prst="rect">
            <a:avLst/>
          </a:prstGeom>
          <a:noFill/>
        </p:spPr>
        <p:txBody>
          <a:bodyPr wrap="square" lIns="0" tIns="0" rIns="0" bIns="0" anchor="ctr">
            <a:spAutoFit/>
          </a:bodyPr>
          <a:lstStyle/>
          <a:p>
            <a:pPr algn="l"/>
            <a:r>
              <a:rPr sz="1500" b="1" i="0" spc="200">
                <a:solidFill>
                  <a:srgbClr val="FFFFFF"/>
                </a:solidFill>
                <a:latin typeface="Calibri"/>
              </a:rPr>
              <a:t>Mimicry Flood</a:t>
            </a:r>
          </a:p>
        </p:txBody>
      </p:sp>
      <p:sp>
        <p:nvSpPr>
          <p:cNvPr id="21" name="TextBox 20"/>
          <p:cNvSpPr txBox="1"/>
          <p:nvPr/>
        </p:nvSpPr>
        <p:spPr>
          <a:xfrm>
            <a:off x="6537960" y="2377440"/>
            <a:ext cx="1463040" cy="502920"/>
          </a:xfrm>
          <a:prstGeom prst="rect">
            <a:avLst/>
          </a:prstGeom>
          <a:noFill/>
        </p:spPr>
        <p:txBody>
          <a:bodyPr wrap="square" lIns="0" tIns="0" rIns="0" bIns="0" anchor="t">
            <a:spAutoFit/>
          </a:bodyPr>
          <a:lstStyle/>
          <a:p>
            <a:pPr algn="l"/>
            <a:r>
              <a:rPr sz="1000" b="1" i="0" spc="200">
                <a:solidFill>
                  <a:srgbClr val="1E2761"/>
                </a:solidFill>
                <a:latin typeface="Calibri"/>
              </a:rPr>
              <a:t>User-Agent</a:t>
            </a:r>
          </a:p>
        </p:txBody>
      </p:sp>
      <p:sp>
        <p:nvSpPr>
          <p:cNvPr id="22" name="TextBox 21"/>
          <p:cNvSpPr txBox="1"/>
          <p:nvPr/>
        </p:nvSpPr>
        <p:spPr>
          <a:xfrm>
            <a:off x="8092440" y="2377440"/>
            <a:ext cx="3611880" cy="548640"/>
          </a:xfrm>
          <a:prstGeom prst="rect">
            <a:avLst/>
          </a:prstGeom>
          <a:noFill/>
        </p:spPr>
        <p:txBody>
          <a:bodyPr wrap="square" lIns="0" tIns="0" rIns="0" bIns="0" anchor="t">
            <a:spAutoFit/>
          </a:bodyPr>
          <a:lstStyle/>
          <a:p>
            <a:pPr algn="l"/>
            <a:r>
              <a:rPr sz="1100" b="0" i="0">
                <a:solidFill>
                  <a:srgbClr val="1A1A2E"/>
                </a:solidFill>
                <a:latin typeface="Calibri"/>
              </a:rPr>
              <a:t>Chrome/Safari/Firefox/iPhone — same pool as legit</a:t>
            </a:r>
          </a:p>
        </p:txBody>
      </p:sp>
      <p:sp>
        <p:nvSpPr>
          <p:cNvPr id="23" name="TextBox 22"/>
          <p:cNvSpPr txBox="1"/>
          <p:nvPr/>
        </p:nvSpPr>
        <p:spPr>
          <a:xfrm>
            <a:off x="6537960" y="2971800"/>
            <a:ext cx="1463040" cy="502920"/>
          </a:xfrm>
          <a:prstGeom prst="rect">
            <a:avLst/>
          </a:prstGeom>
          <a:noFill/>
        </p:spPr>
        <p:txBody>
          <a:bodyPr wrap="square" lIns="0" tIns="0" rIns="0" bIns="0" anchor="t">
            <a:spAutoFit/>
          </a:bodyPr>
          <a:lstStyle/>
          <a:p>
            <a:pPr algn="l"/>
            <a:r>
              <a:rPr sz="1000" b="1" i="0" spc="200">
                <a:solidFill>
                  <a:srgbClr val="1E2761"/>
                </a:solidFill>
                <a:latin typeface="Calibri"/>
              </a:rPr>
              <a:t>IP Pool</a:t>
            </a:r>
          </a:p>
        </p:txBody>
      </p:sp>
      <p:sp>
        <p:nvSpPr>
          <p:cNvPr id="24" name="TextBox 23"/>
          <p:cNvSpPr txBox="1"/>
          <p:nvPr/>
        </p:nvSpPr>
        <p:spPr>
          <a:xfrm>
            <a:off x="8092440" y="2971800"/>
            <a:ext cx="3611880" cy="548640"/>
          </a:xfrm>
          <a:prstGeom prst="rect">
            <a:avLst/>
          </a:prstGeom>
          <a:noFill/>
        </p:spPr>
        <p:txBody>
          <a:bodyPr wrap="square" lIns="0" tIns="0" rIns="0" bIns="0" anchor="t">
            <a:spAutoFit/>
          </a:bodyPr>
          <a:lstStyle/>
          <a:p>
            <a:pPr algn="l"/>
            <a:r>
              <a:rPr sz="1100" b="0" i="0">
                <a:solidFill>
                  <a:srgbClr val="1A1A2E"/>
                </a:solidFill>
                <a:latin typeface="Calibri"/>
              </a:rPr>
              <a:t>15 IPs taken from legit pool + 5 new — overlap-heavy</a:t>
            </a:r>
          </a:p>
        </p:txBody>
      </p:sp>
      <p:sp>
        <p:nvSpPr>
          <p:cNvPr id="25" name="TextBox 24"/>
          <p:cNvSpPr txBox="1"/>
          <p:nvPr/>
        </p:nvSpPr>
        <p:spPr>
          <a:xfrm>
            <a:off x="6537960" y="3566160"/>
            <a:ext cx="1463040" cy="502920"/>
          </a:xfrm>
          <a:prstGeom prst="rect">
            <a:avLst/>
          </a:prstGeom>
          <a:noFill/>
        </p:spPr>
        <p:txBody>
          <a:bodyPr wrap="square" lIns="0" tIns="0" rIns="0" bIns="0" anchor="t">
            <a:spAutoFit/>
          </a:bodyPr>
          <a:lstStyle/>
          <a:p>
            <a:pPr algn="l"/>
            <a:r>
              <a:rPr sz="1000" b="1" i="0" spc="200">
                <a:solidFill>
                  <a:srgbClr val="1E2761"/>
                </a:solidFill>
                <a:latin typeface="Calibri"/>
              </a:rPr>
              <a:t>Login</a:t>
            </a:r>
          </a:p>
        </p:txBody>
      </p:sp>
      <p:sp>
        <p:nvSpPr>
          <p:cNvPr id="26" name="TextBox 25"/>
          <p:cNvSpPr txBox="1"/>
          <p:nvPr/>
        </p:nvSpPr>
        <p:spPr>
          <a:xfrm>
            <a:off x="8092440" y="3566160"/>
            <a:ext cx="3611880" cy="548640"/>
          </a:xfrm>
          <a:prstGeom prst="rect">
            <a:avLst/>
          </a:prstGeom>
          <a:noFill/>
        </p:spPr>
        <p:txBody>
          <a:bodyPr wrap="square" lIns="0" tIns="0" rIns="0" bIns="0" anchor="t">
            <a:spAutoFit/>
          </a:bodyPr>
          <a:lstStyle/>
          <a:p>
            <a:pPr algn="l"/>
            <a:r>
              <a:rPr sz="1100" b="0" i="0">
                <a:solidFill>
                  <a:srgbClr val="1A1A2E"/>
                </a:solidFill>
                <a:latin typeface="Calibri"/>
              </a:rPr>
              <a:t>Token reuse, re-login every 50 iterations — sticky session</a:t>
            </a:r>
          </a:p>
        </p:txBody>
      </p:sp>
      <p:sp>
        <p:nvSpPr>
          <p:cNvPr id="27" name="TextBox 26"/>
          <p:cNvSpPr txBox="1"/>
          <p:nvPr/>
        </p:nvSpPr>
        <p:spPr>
          <a:xfrm>
            <a:off x="6537960" y="4160520"/>
            <a:ext cx="1463040" cy="502920"/>
          </a:xfrm>
          <a:prstGeom prst="rect">
            <a:avLst/>
          </a:prstGeom>
          <a:noFill/>
        </p:spPr>
        <p:txBody>
          <a:bodyPr wrap="square" lIns="0" tIns="0" rIns="0" bIns="0" anchor="t">
            <a:spAutoFit/>
          </a:bodyPr>
          <a:lstStyle/>
          <a:p>
            <a:pPr algn="l"/>
            <a:r>
              <a:rPr sz="1000" b="1" i="0" spc="200">
                <a:solidFill>
                  <a:srgbClr val="1E2761"/>
                </a:solidFill>
                <a:latin typeface="Calibri"/>
              </a:rPr>
              <a:t>Cadence</a:t>
            </a:r>
          </a:p>
        </p:txBody>
      </p:sp>
      <p:sp>
        <p:nvSpPr>
          <p:cNvPr id="28" name="TextBox 27"/>
          <p:cNvSpPr txBox="1"/>
          <p:nvPr/>
        </p:nvSpPr>
        <p:spPr>
          <a:xfrm>
            <a:off x="8092440" y="4160520"/>
            <a:ext cx="3611880" cy="548640"/>
          </a:xfrm>
          <a:prstGeom prst="rect">
            <a:avLst/>
          </a:prstGeom>
          <a:noFill/>
        </p:spPr>
        <p:txBody>
          <a:bodyPr wrap="square" lIns="0" tIns="0" rIns="0" bIns="0" anchor="t">
            <a:spAutoFit/>
          </a:bodyPr>
          <a:lstStyle/>
          <a:p>
            <a:pPr algn="l"/>
            <a:r>
              <a:rPr sz="1100" b="0" i="0">
                <a:solidFill>
                  <a:srgbClr val="1A1A2E"/>
                </a:solidFill>
                <a:latin typeface="Calibri"/>
              </a:rPr>
              <a:t>Same burst pattern but inside legit-like sessions</a:t>
            </a:r>
          </a:p>
        </p:txBody>
      </p:sp>
      <p:sp>
        <p:nvSpPr>
          <p:cNvPr id="29" name="TextBox 28"/>
          <p:cNvSpPr txBox="1"/>
          <p:nvPr/>
        </p:nvSpPr>
        <p:spPr>
          <a:xfrm>
            <a:off x="6537960" y="4754880"/>
            <a:ext cx="1463040" cy="502920"/>
          </a:xfrm>
          <a:prstGeom prst="rect">
            <a:avLst/>
          </a:prstGeom>
          <a:noFill/>
        </p:spPr>
        <p:txBody>
          <a:bodyPr wrap="square" lIns="0" tIns="0" rIns="0" bIns="0" anchor="t">
            <a:spAutoFit/>
          </a:bodyPr>
          <a:lstStyle/>
          <a:p>
            <a:pPr algn="l"/>
            <a:r>
              <a:rPr sz="1000" b="1" i="0" spc="200">
                <a:solidFill>
                  <a:srgbClr val="1E2761"/>
                </a:solidFill>
                <a:latin typeface="Calibri"/>
              </a:rPr>
              <a:t>Signature</a:t>
            </a:r>
          </a:p>
        </p:txBody>
      </p:sp>
      <p:sp>
        <p:nvSpPr>
          <p:cNvPr id="30" name="TextBox 29"/>
          <p:cNvSpPr txBox="1"/>
          <p:nvPr/>
        </p:nvSpPr>
        <p:spPr>
          <a:xfrm>
            <a:off x="8092440" y="4754880"/>
            <a:ext cx="3611880" cy="548640"/>
          </a:xfrm>
          <a:prstGeom prst="rect">
            <a:avLst/>
          </a:prstGeom>
          <a:noFill/>
        </p:spPr>
        <p:txBody>
          <a:bodyPr wrap="square" lIns="0" tIns="0" rIns="0" bIns="0" anchor="t">
            <a:spAutoFit/>
          </a:bodyPr>
          <a:lstStyle/>
          <a:p>
            <a:pPr algn="l"/>
            <a:r>
              <a:rPr sz="1100" b="0" i="0">
                <a:solidFill>
                  <a:srgbClr val="1A1A2E"/>
                </a:solidFill>
                <a:latin typeface="Calibri"/>
              </a:rPr>
              <a:t>Surface looks legit, but total rate and endpoint focus remain</a:t>
            </a:r>
          </a:p>
        </p:txBody>
      </p:sp>
      <p:sp>
        <p:nvSpPr>
          <p:cNvPr id="31" name="Rectangle 30"/>
          <p:cNvSpPr/>
          <p:nvPr/>
        </p:nvSpPr>
        <p:spPr>
          <a:xfrm>
            <a:off x="457200" y="5715000"/>
            <a:ext cx="11247120" cy="64008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5760720"/>
            <a:ext cx="10972800" cy="548640"/>
          </a:xfrm>
          <a:prstGeom prst="rect">
            <a:avLst/>
          </a:prstGeom>
          <a:noFill/>
        </p:spPr>
        <p:txBody>
          <a:bodyPr wrap="square" lIns="0" tIns="0" rIns="0" bIns="0" anchor="ctr">
            <a:spAutoFit/>
          </a:bodyPr>
          <a:lstStyle/>
          <a:p>
            <a:pPr algn="l"/>
            <a:r>
              <a:rPr sz="1200" b="1" i="1">
                <a:solidFill>
                  <a:srgbClr val="1E2761"/>
                </a:solidFill>
                <a:latin typeface="Calibri"/>
              </a:rPr>
              <a:t>Takeaway: the attacker can imitate the surface, but the endpoint distribution, the backend cost asymmetry, and the session pattern are harder to fake. That gap is the signal we expect the model to catch.</a:t>
            </a:r>
          </a:p>
        </p:txBody>
      </p:sp>
      <p:sp>
        <p:nvSpPr>
          <p:cNvPr id="33" name="TextBox 32"/>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Graduation Thesis · Final Defense</a:t>
            </a:r>
          </a:p>
        </p:txBody>
      </p:sp>
      <p:sp>
        <p:nvSpPr>
          <p:cNvPr id="34" name="TextBox 33"/>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7 / 23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2 · METHODOLOGY</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Four-Tier Feature Engineering</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Each tier looks at a different context — together they produce 37 features</a:t>
            </a:r>
          </a:p>
        </p:txBody>
      </p:sp>
      <p:sp>
        <p:nvSpPr>
          <p:cNvPr id="5" name="Rectangle 4"/>
          <p:cNvSpPr/>
          <p:nvPr/>
        </p:nvSpPr>
        <p:spPr>
          <a:xfrm>
            <a:off x="457200" y="1691640"/>
            <a:ext cx="5623560" cy="2194560"/>
          </a:xfrm>
          <a:prstGeom prst="rect">
            <a:avLst/>
          </a:prstGeom>
          <a:solidFill>
            <a:srgbClr val="FFFFFF"/>
          </a:solidFill>
          <a:ln w="12700">
            <a:solidFill>
              <a:srgbClr val="E2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p:cNvSpPr txBox="1"/>
          <p:nvPr/>
        </p:nvSpPr>
        <p:spPr>
          <a:xfrm>
            <a:off x="1554480" y="1920240"/>
            <a:ext cx="4343400" cy="230832"/>
          </a:xfrm>
          <a:prstGeom prst="rect">
            <a:avLst/>
          </a:prstGeom>
          <a:noFill/>
        </p:spPr>
        <p:txBody>
          <a:bodyPr wrap="square" lIns="0" tIns="0" rIns="0" bIns="0" anchor="t">
            <a:spAutoFit/>
          </a:bodyPr>
          <a:lstStyle/>
          <a:p>
            <a:pPr algn="l"/>
            <a:r>
              <a:rPr sz="1500" b="1" i="0" dirty="0">
                <a:solidFill>
                  <a:srgbClr val="F37866"/>
                </a:solidFill>
                <a:latin typeface="Calibri"/>
              </a:rPr>
              <a:t>Connection-level</a:t>
            </a:r>
          </a:p>
        </p:txBody>
      </p:sp>
      <p:sp>
        <p:nvSpPr>
          <p:cNvPr id="10" name="TextBox 9"/>
          <p:cNvSpPr txBox="1"/>
          <p:nvPr/>
        </p:nvSpPr>
        <p:spPr>
          <a:xfrm>
            <a:off x="1554480" y="2331720"/>
            <a:ext cx="4343400" cy="594360"/>
          </a:xfrm>
          <a:prstGeom prst="rect">
            <a:avLst/>
          </a:prstGeom>
          <a:noFill/>
        </p:spPr>
        <p:txBody>
          <a:bodyPr wrap="square" lIns="0" tIns="0" rIns="0" bIns="0" anchor="t">
            <a:spAutoFit/>
          </a:bodyPr>
          <a:lstStyle/>
          <a:p>
            <a:pPr algn="l"/>
            <a:r>
              <a:rPr sz="1100" b="0" i="0" dirty="0">
                <a:solidFill>
                  <a:srgbClr val="1A1A2E"/>
                </a:solidFill>
                <a:latin typeface="Calibri"/>
              </a:rPr>
              <a:t>Per-TCP connection: duration, request count, keepalive, partial/timeout flags</a:t>
            </a:r>
          </a:p>
        </p:txBody>
      </p:sp>
      <p:sp>
        <p:nvSpPr>
          <p:cNvPr id="11" name="TextBox 10"/>
          <p:cNvSpPr txBox="1"/>
          <p:nvPr/>
        </p:nvSpPr>
        <p:spPr>
          <a:xfrm>
            <a:off x="1554480" y="3291840"/>
            <a:ext cx="4343400" cy="502920"/>
          </a:xfrm>
          <a:prstGeom prst="rect">
            <a:avLst/>
          </a:prstGeom>
          <a:noFill/>
        </p:spPr>
        <p:txBody>
          <a:bodyPr wrap="square" lIns="0" tIns="0" rIns="0" bIns="0" anchor="t">
            <a:spAutoFit/>
          </a:bodyPr>
          <a:lstStyle/>
          <a:p>
            <a:pPr algn="l"/>
            <a:r>
              <a:rPr sz="950" b="0" i="0">
                <a:solidFill>
                  <a:srgbClr val="64748B"/>
                </a:solidFill>
                <a:latin typeface="Consolas"/>
              </a:rPr>
              <a:t>durationMs · requestCount · partialRequestCount · timeoutRequestCount</a:t>
            </a:r>
          </a:p>
        </p:txBody>
      </p:sp>
      <p:sp>
        <p:nvSpPr>
          <p:cNvPr id="12" name="Rectangle 11"/>
          <p:cNvSpPr/>
          <p:nvPr/>
        </p:nvSpPr>
        <p:spPr>
          <a:xfrm>
            <a:off x="6263640" y="1691640"/>
            <a:ext cx="5623560"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691640"/>
            <a:ext cx="914400" cy="2194560"/>
          </a:xfrm>
          <a:prstGeom prst="rect">
            <a:avLst/>
          </a:prstGeom>
          <a:solidFill>
            <a:schemeClr val="bg1">
              <a:alpha val="87059"/>
            </a:schemeClr>
          </a:solidFill>
          <a:ln>
            <a:solidFill>
              <a:srgbClr val="E2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3640" y="1783746"/>
            <a:ext cx="914400" cy="492443"/>
          </a:xfrm>
          <a:prstGeom prst="rect">
            <a:avLst/>
          </a:prstGeom>
          <a:noFill/>
        </p:spPr>
        <p:txBody>
          <a:bodyPr wrap="square" lIns="0" tIns="0" rIns="0" bIns="0" anchor="t">
            <a:spAutoFit/>
          </a:bodyPr>
          <a:lstStyle/>
          <a:p>
            <a:pPr algn="ctr"/>
            <a:r>
              <a:rPr sz="3200" b="1" i="0" dirty="0">
                <a:solidFill>
                  <a:srgbClr val="5262C9"/>
                </a:solidFill>
                <a:latin typeface="Georgia"/>
              </a:rPr>
              <a:t>02</a:t>
            </a:r>
          </a:p>
        </p:txBody>
      </p:sp>
      <p:sp>
        <p:nvSpPr>
          <p:cNvPr id="15" name="TextBox 14"/>
          <p:cNvSpPr txBox="1"/>
          <p:nvPr/>
        </p:nvSpPr>
        <p:spPr>
          <a:xfrm>
            <a:off x="6263640" y="2321239"/>
            <a:ext cx="914400" cy="138499"/>
          </a:xfrm>
          <a:prstGeom prst="rect">
            <a:avLst/>
          </a:prstGeom>
          <a:noFill/>
        </p:spPr>
        <p:txBody>
          <a:bodyPr wrap="square" lIns="0" tIns="0" rIns="0" bIns="0" anchor="t">
            <a:spAutoFit/>
          </a:bodyPr>
          <a:lstStyle/>
          <a:p>
            <a:pPr algn="ctr"/>
            <a:r>
              <a:rPr sz="900" b="1" i="0" spc="300" dirty="0">
                <a:solidFill>
                  <a:srgbClr val="5262C9"/>
                </a:solidFill>
                <a:latin typeface="Calibri"/>
              </a:rPr>
              <a:t>TIER</a:t>
            </a:r>
          </a:p>
        </p:txBody>
      </p:sp>
      <p:sp>
        <p:nvSpPr>
          <p:cNvPr id="16" name="TextBox 15"/>
          <p:cNvSpPr txBox="1"/>
          <p:nvPr/>
        </p:nvSpPr>
        <p:spPr>
          <a:xfrm>
            <a:off x="7360920" y="1920240"/>
            <a:ext cx="4343400" cy="230832"/>
          </a:xfrm>
          <a:prstGeom prst="rect">
            <a:avLst/>
          </a:prstGeom>
          <a:noFill/>
        </p:spPr>
        <p:txBody>
          <a:bodyPr wrap="square" lIns="0" tIns="0" rIns="0" bIns="0" anchor="t">
            <a:spAutoFit/>
          </a:bodyPr>
          <a:lstStyle/>
          <a:p>
            <a:pPr algn="l"/>
            <a:r>
              <a:rPr sz="1500" b="1" i="0" dirty="0">
                <a:solidFill>
                  <a:srgbClr val="5261C9"/>
                </a:solidFill>
                <a:latin typeface="Calibri"/>
              </a:rPr>
              <a:t>Window-level (10s)</a:t>
            </a:r>
          </a:p>
        </p:txBody>
      </p:sp>
      <p:sp>
        <p:nvSpPr>
          <p:cNvPr id="17" name="TextBox 16"/>
          <p:cNvSpPr txBox="1"/>
          <p:nvPr/>
        </p:nvSpPr>
        <p:spPr>
          <a:xfrm>
            <a:off x="7360920" y="2331720"/>
            <a:ext cx="4343400" cy="594360"/>
          </a:xfrm>
          <a:prstGeom prst="rect">
            <a:avLst/>
          </a:prstGeom>
          <a:noFill/>
        </p:spPr>
        <p:txBody>
          <a:bodyPr wrap="square" lIns="0" tIns="0" rIns="0" bIns="0" anchor="t">
            <a:spAutoFit/>
          </a:bodyPr>
          <a:lstStyle/>
          <a:p>
            <a:pPr algn="l"/>
            <a:r>
              <a:rPr sz="1100" b="0" i="0">
                <a:solidFill>
                  <a:srgbClr val="1A1A2E"/>
                </a:solidFill>
                <a:latin typeface="Calibri"/>
              </a:rPr>
              <a:t>10-second traffic summaries per source IP and /24 subnet</a:t>
            </a:r>
          </a:p>
        </p:txBody>
      </p:sp>
      <p:sp>
        <p:nvSpPr>
          <p:cNvPr id="18" name="TextBox 17"/>
          <p:cNvSpPr txBox="1"/>
          <p:nvPr/>
        </p:nvSpPr>
        <p:spPr>
          <a:xfrm>
            <a:off x="7360920" y="3291840"/>
            <a:ext cx="4343400" cy="502920"/>
          </a:xfrm>
          <a:prstGeom prst="rect">
            <a:avLst/>
          </a:prstGeom>
          <a:noFill/>
        </p:spPr>
        <p:txBody>
          <a:bodyPr wrap="square" lIns="0" tIns="0" rIns="0" bIns="0" anchor="t">
            <a:spAutoFit/>
          </a:bodyPr>
          <a:lstStyle/>
          <a:p>
            <a:pPr algn="l"/>
            <a:r>
              <a:rPr sz="950" b="0" i="0">
                <a:solidFill>
                  <a:srgbClr val="64748B"/>
                </a:solidFill>
                <a:latin typeface="Consolas"/>
              </a:rPr>
              <a:t>req_rate · iat_cv · endpoint_entropy · endpoint_cost_mean · login_present_ratio · status_4xx_ratio</a:t>
            </a:r>
          </a:p>
        </p:txBody>
      </p:sp>
      <p:sp>
        <p:nvSpPr>
          <p:cNvPr id="19" name="Rectangle 18"/>
          <p:cNvSpPr/>
          <p:nvPr/>
        </p:nvSpPr>
        <p:spPr>
          <a:xfrm>
            <a:off x="457200" y="4050791"/>
            <a:ext cx="5623560"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57200" y="4050791"/>
            <a:ext cx="914400" cy="2194560"/>
          </a:xfrm>
          <a:prstGeom prst="rect">
            <a:avLst/>
          </a:prstGeom>
          <a:solidFill>
            <a:schemeClr val="bg1"/>
          </a:solidFill>
          <a:ln>
            <a:solidFill>
              <a:srgbClr val="E2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4160520"/>
            <a:ext cx="914400" cy="492443"/>
          </a:xfrm>
          <a:prstGeom prst="rect">
            <a:avLst/>
          </a:prstGeom>
          <a:noFill/>
        </p:spPr>
        <p:txBody>
          <a:bodyPr wrap="square" lIns="0" tIns="0" rIns="0" bIns="0" anchor="t">
            <a:spAutoFit/>
          </a:bodyPr>
          <a:lstStyle/>
          <a:p>
            <a:pPr algn="ctr"/>
            <a:r>
              <a:rPr sz="3200" b="1" i="0" dirty="0">
                <a:solidFill>
                  <a:srgbClr val="5A8AC7"/>
                </a:solidFill>
                <a:latin typeface="Georgia"/>
              </a:rPr>
              <a:t>03</a:t>
            </a:r>
          </a:p>
        </p:txBody>
      </p:sp>
      <p:sp>
        <p:nvSpPr>
          <p:cNvPr id="22" name="TextBox 21"/>
          <p:cNvSpPr txBox="1"/>
          <p:nvPr/>
        </p:nvSpPr>
        <p:spPr>
          <a:xfrm>
            <a:off x="457200" y="4735926"/>
            <a:ext cx="914400" cy="138499"/>
          </a:xfrm>
          <a:prstGeom prst="rect">
            <a:avLst/>
          </a:prstGeom>
          <a:noFill/>
        </p:spPr>
        <p:txBody>
          <a:bodyPr wrap="square" lIns="0" tIns="0" rIns="0" bIns="0" anchor="t">
            <a:spAutoFit/>
          </a:bodyPr>
          <a:lstStyle/>
          <a:p>
            <a:pPr algn="ctr"/>
            <a:r>
              <a:rPr sz="900" b="1" i="0" spc="300" dirty="0">
                <a:solidFill>
                  <a:srgbClr val="5A8AC7"/>
                </a:solidFill>
                <a:latin typeface="Calibri"/>
              </a:rPr>
              <a:t>TIER</a:t>
            </a:r>
          </a:p>
        </p:txBody>
      </p:sp>
      <p:sp>
        <p:nvSpPr>
          <p:cNvPr id="23" name="TextBox 22"/>
          <p:cNvSpPr txBox="1"/>
          <p:nvPr/>
        </p:nvSpPr>
        <p:spPr>
          <a:xfrm>
            <a:off x="1554480" y="4279392"/>
            <a:ext cx="4343400" cy="230832"/>
          </a:xfrm>
          <a:prstGeom prst="rect">
            <a:avLst/>
          </a:prstGeom>
          <a:noFill/>
        </p:spPr>
        <p:txBody>
          <a:bodyPr wrap="square" lIns="0" tIns="0" rIns="0" bIns="0" anchor="t">
            <a:spAutoFit/>
          </a:bodyPr>
          <a:lstStyle/>
          <a:p>
            <a:pPr algn="l"/>
            <a:r>
              <a:rPr sz="1500" b="1" i="0" dirty="0">
                <a:solidFill>
                  <a:srgbClr val="5A8AC7"/>
                </a:solidFill>
                <a:latin typeface="Calibri"/>
              </a:rPr>
              <a:t>Global (system-wide)</a:t>
            </a:r>
          </a:p>
        </p:txBody>
      </p:sp>
      <p:sp>
        <p:nvSpPr>
          <p:cNvPr id="24" name="TextBox 23"/>
          <p:cNvSpPr txBox="1"/>
          <p:nvPr/>
        </p:nvSpPr>
        <p:spPr>
          <a:xfrm>
            <a:off x="1554480" y="4690872"/>
            <a:ext cx="4343400" cy="594360"/>
          </a:xfrm>
          <a:prstGeom prst="rect">
            <a:avLst/>
          </a:prstGeom>
          <a:noFill/>
        </p:spPr>
        <p:txBody>
          <a:bodyPr wrap="square" lIns="0" tIns="0" rIns="0" bIns="0" anchor="t">
            <a:spAutoFit/>
          </a:bodyPr>
          <a:lstStyle/>
          <a:p>
            <a:pPr algn="l"/>
            <a:r>
              <a:rPr sz="1100" b="0" i="0" dirty="0">
                <a:solidFill>
                  <a:srgbClr val="1A1A2E"/>
                </a:solidFill>
                <a:latin typeface="Calibri"/>
              </a:rPr>
              <a:t>What happens system-wide in that 10-second window — the spread signature</a:t>
            </a:r>
          </a:p>
        </p:txBody>
      </p:sp>
      <p:sp>
        <p:nvSpPr>
          <p:cNvPr id="25" name="TextBox 24"/>
          <p:cNvSpPr txBox="1"/>
          <p:nvPr/>
        </p:nvSpPr>
        <p:spPr>
          <a:xfrm>
            <a:off x="1554480" y="5650992"/>
            <a:ext cx="4343400" cy="502920"/>
          </a:xfrm>
          <a:prstGeom prst="rect">
            <a:avLst/>
          </a:prstGeom>
          <a:noFill/>
        </p:spPr>
        <p:txBody>
          <a:bodyPr wrap="square" lIns="0" tIns="0" rIns="0" bIns="0" anchor="t">
            <a:spAutoFit/>
          </a:bodyPr>
          <a:lstStyle/>
          <a:p>
            <a:pPr algn="l"/>
            <a:r>
              <a:rPr sz="950" b="0" i="0">
                <a:solidFill>
                  <a:srgbClr val="64748B"/>
                </a:solidFill>
                <a:latin typeface="Consolas"/>
              </a:rPr>
              <a:t>global_unique_ip · global_unique_subnet · global_req_rate · global_new_src_ratio</a:t>
            </a:r>
          </a:p>
        </p:txBody>
      </p:sp>
      <p:sp>
        <p:nvSpPr>
          <p:cNvPr id="26" name="Rectangle 25"/>
          <p:cNvSpPr/>
          <p:nvPr/>
        </p:nvSpPr>
        <p:spPr>
          <a:xfrm>
            <a:off x="6263640" y="4050791"/>
            <a:ext cx="5623560"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63640" y="4050791"/>
            <a:ext cx="914400" cy="2194560"/>
          </a:xfrm>
          <a:prstGeom prst="rect">
            <a:avLst/>
          </a:prstGeom>
          <a:solidFill>
            <a:schemeClr val="bg1">
              <a:alpha val="83922"/>
            </a:schemeClr>
          </a:solidFill>
          <a:ln>
            <a:solidFill>
              <a:srgbClr val="E2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63640" y="4140227"/>
            <a:ext cx="914400" cy="492443"/>
          </a:xfrm>
          <a:prstGeom prst="rect">
            <a:avLst/>
          </a:prstGeom>
          <a:noFill/>
        </p:spPr>
        <p:txBody>
          <a:bodyPr wrap="square" lIns="0" tIns="0" rIns="0" bIns="0" anchor="t">
            <a:spAutoFit/>
          </a:bodyPr>
          <a:lstStyle/>
          <a:p>
            <a:pPr algn="ctr"/>
            <a:r>
              <a:rPr sz="3200" b="1" i="0" dirty="0">
                <a:solidFill>
                  <a:srgbClr val="2AAF94"/>
                </a:solidFill>
                <a:latin typeface="Georgia"/>
              </a:rPr>
              <a:t>04</a:t>
            </a:r>
          </a:p>
        </p:txBody>
      </p:sp>
      <p:sp>
        <p:nvSpPr>
          <p:cNvPr id="29" name="TextBox 28"/>
          <p:cNvSpPr txBox="1"/>
          <p:nvPr/>
        </p:nvSpPr>
        <p:spPr>
          <a:xfrm>
            <a:off x="6263640" y="4709725"/>
            <a:ext cx="914400" cy="138499"/>
          </a:xfrm>
          <a:prstGeom prst="rect">
            <a:avLst/>
          </a:prstGeom>
          <a:noFill/>
        </p:spPr>
        <p:txBody>
          <a:bodyPr wrap="square" lIns="0" tIns="0" rIns="0" bIns="0" anchor="t">
            <a:spAutoFit/>
          </a:bodyPr>
          <a:lstStyle/>
          <a:p>
            <a:pPr algn="ctr"/>
            <a:r>
              <a:rPr sz="900" b="1" i="0" spc="300" dirty="0">
                <a:solidFill>
                  <a:srgbClr val="2AAF94"/>
                </a:solidFill>
                <a:latin typeface="Calibri"/>
              </a:rPr>
              <a:t>TIER</a:t>
            </a:r>
          </a:p>
        </p:txBody>
      </p:sp>
      <p:sp>
        <p:nvSpPr>
          <p:cNvPr id="30" name="TextBox 29"/>
          <p:cNvSpPr txBox="1"/>
          <p:nvPr/>
        </p:nvSpPr>
        <p:spPr>
          <a:xfrm>
            <a:off x="7360920" y="4279392"/>
            <a:ext cx="4343400" cy="365760"/>
          </a:xfrm>
          <a:prstGeom prst="rect">
            <a:avLst/>
          </a:prstGeom>
          <a:noFill/>
        </p:spPr>
        <p:txBody>
          <a:bodyPr wrap="square" lIns="0" tIns="0" rIns="0" bIns="0" anchor="t">
            <a:spAutoFit/>
          </a:bodyPr>
          <a:lstStyle/>
          <a:p>
            <a:pPr algn="l"/>
            <a:r>
              <a:rPr sz="1500" b="1" i="0">
                <a:solidFill>
                  <a:srgbClr val="018F71"/>
                </a:solidFill>
                <a:latin typeface="Calibri"/>
              </a:rPr>
              <a:t>Baseline Distance</a:t>
            </a:r>
          </a:p>
        </p:txBody>
      </p:sp>
      <p:sp>
        <p:nvSpPr>
          <p:cNvPr id="31" name="TextBox 30"/>
          <p:cNvSpPr txBox="1"/>
          <p:nvPr/>
        </p:nvSpPr>
        <p:spPr>
          <a:xfrm>
            <a:off x="7360920" y="4690872"/>
            <a:ext cx="4343400" cy="594360"/>
          </a:xfrm>
          <a:prstGeom prst="rect">
            <a:avLst/>
          </a:prstGeom>
          <a:noFill/>
        </p:spPr>
        <p:txBody>
          <a:bodyPr wrap="square" lIns="0" tIns="0" rIns="0" bIns="0" anchor="t">
            <a:spAutoFit/>
          </a:bodyPr>
          <a:lstStyle/>
          <a:p>
            <a:pPr algn="l"/>
            <a:r>
              <a:rPr sz="1100" b="0" i="0">
                <a:solidFill>
                  <a:srgbClr val="1A1A2E"/>
                </a:solidFill>
                <a:latin typeface="Calibri"/>
              </a:rPr>
              <a:t>Distance from a historical reference (NASA traces) — Markov + IAT KS</a:t>
            </a:r>
          </a:p>
        </p:txBody>
      </p:sp>
      <p:sp>
        <p:nvSpPr>
          <p:cNvPr id="32" name="TextBox 31"/>
          <p:cNvSpPr txBox="1"/>
          <p:nvPr/>
        </p:nvSpPr>
        <p:spPr>
          <a:xfrm>
            <a:off x="7360920" y="5650992"/>
            <a:ext cx="4343400" cy="502920"/>
          </a:xfrm>
          <a:prstGeom prst="rect">
            <a:avLst/>
          </a:prstGeom>
          <a:noFill/>
        </p:spPr>
        <p:txBody>
          <a:bodyPr wrap="square" lIns="0" tIns="0" rIns="0" bIns="0" anchor="t">
            <a:spAutoFit/>
          </a:bodyPr>
          <a:lstStyle/>
          <a:p>
            <a:pPr algn="l"/>
            <a:r>
              <a:rPr sz="950" b="0" i="0">
                <a:solidFill>
                  <a:srgbClr val="64748B"/>
                </a:solidFill>
                <a:latin typeface="Consolas"/>
              </a:rPr>
              <a:t>markov_log_likelihood · iat_ks_distance</a:t>
            </a:r>
          </a:p>
        </p:txBody>
      </p:sp>
      <p:sp>
        <p:nvSpPr>
          <p:cNvPr id="33" name="TextBox 32"/>
          <p:cNvSpPr txBox="1"/>
          <p:nvPr/>
        </p:nvSpPr>
        <p:spPr>
          <a:xfrm>
            <a:off x="457200" y="6263640"/>
            <a:ext cx="11247120" cy="274320"/>
          </a:xfrm>
          <a:prstGeom prst="rect">
            <a:avLst/>
          </a:prstGeom>
          <a:noFill/>
        </p:spPr>
        <p:txBody>
          <a:bodyPr wrap="square" lIns="0" tIns="0" rIns="0" bIns="0" anchor="t">
            <a:spAutoFit/>
          </a:bodyPr>
          <a:lstStyle/>
          <a:p>
            <a:pPr algn="ctr"/>
            <a:r>
              <a:rPr sz="1100" b="0" i="1">
                <a:solidFill>
                  <a:srgbClr val="64748B"/>
                </a:solidFill>
                <a:latin typeface="Calibri"/>
              </a:rPr>
              <a:t>37 numerical features in total · separate rows for IP and /24 subnet aggregations · NaN values filled with 0</a:t>
            </a:r>
          </a:p>
        </p:txBody>
      </p:sp>
      <p:sp>
        <p:nvSpPr>
          <p:cNvPr id="34" name="TextBox 33"/>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Graduation Thesis · Final Defense</a:t>
            </a:r>
          </a:p>
        </p:txBody>
      </p:sp>
      <p:sp>
        <p:nvSpPr>
          <p:cNvPr id="36" name="Rectangle 12">
            <a:extLst>
              <a:ext uri="{FF2B5EF4-FFF2-40B4-BE49-F238E27FC236}">
                <a16:creationId xmlns:a16="http://schemas.microsoft.com/office/drawing/2014/main" id="{301CF9F1-E3B3-828F-0289-029E55D4570E}"/>
              </a:ext>
            </a:extLst>
          </p:cNvPr>
          <p:cNvSpPr/>
          <p:nvPr/>
        </p:nvSpPr>
        <p:spPr>
          <a:xfrm>
            <a:off x="457200" y="1691640"/>
            <a:ext cx="914400" cy="2194560"/>
          </a:xfrm>
          <a:prstGeom prst="rect">
            <a:avLst/>
          </a:prstGeom>
          <a:solidFill>
            <a:schemeClr val="bg1">
              <a:alpha val="87059"/>
            </a:schemeClr>
          </a:solidFill>
          <a:ln>
            <a:solidFill>
              <a:srgbClr val="E2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8 / 23</a:t>
            </a:r>
          </a:p>
        </p:txBody>
      </p:sp>
      <p:sp>
        <p:nvSpPr>
          <p:cNvPr id="7" name="TextBox 6"/>
          <p:cNvSpPr txBox="1"/>
          <p:nvPr/>
        </p:nvSpPr>
        <p:spPr>
          <a:xfrm>
            <a:off x="430437" y="1789764"/>
            <a:ext cx="914400" cy="492443"/>
          </a:xfrm>
          <a:prstGeom prst="rect">
            <a:avLst/>
          </a:prstGeom>
          <a:noFill/>
        </p:spPr>
        <p:txBody>
          <a:bodyPr wrap="square" lIns="0" tIns="0" rIns="0" bIns="0" anchor="t">
            <a:spAutoFit/>
          </a:bodyPr>
          <a:lstStyle/>
          <a:p>
            <a:pPr algn="ctr"/>
            <a:r>
              <a:rPr sz="3200" b="1" i="0" dirty="0">
                <a:solidFill>
                  <a:srgbClr val="F37866"/>
                </a:solidFill>
                <a:latin typeface="Georgia"/>
              </a:rPr>
              <a:t>01</a:t>
            </a:r>
          </a:p>
        </p:txBody>
      </p:sp>
      <p:sp>
        <p:nvSpPr>
          <p:cNvPr id="8" name="TextBox 7"/>
          <p:cNvSpPr txBox="1"/>
          <p:nvPr/>
        </p:nvSpPr>
        <p:spPr>
          <a:xfrm>
            <a:off x="457200" y="2321238"/>
            <a:ext cx="914400" cy="138499"/>
          </a:xfrm>
          <a:prstGeom prst="rect">
            <a:avLst/>
          </a:prstGeom>
          <a:noFill/>
        </p:spPr>
        <p:txBody>
          <a:bodyPr wrap="square" lIns="0" tIns="0" rIns="0" bIns="0" anchor="t">
            <a:spAutoFit/>
          </a:bodyPr>
          <a:lstStyle/>
          <a:p>
            <a:pPr algn="ctr"/>
            <a:r>
              <a:rPr sz="900" b="1" i="0" spc="300" dirty="0">
                <a:solidFill>
                  <a:srgbClr val="F37866"/>
                </a:solidFill>
                <a:latin typeface="Calibri"/>
              </a:rPr>
              <a:t>TIER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2 · METHODOLOGY</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Proposed Approach: Multi-Tier Features + Random Forest</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Standard supervised classifier; semi-supervised stacking tested as alternative</a:t>
            </a:r>
          </a:p>
        </p:txBody>
      </p:sp>
      <p:sp>
        <p:nvSpPr>
          <p:cNvPr id="5" name="Rectangle 4"/>
          <p:cNvSpPr/>
          <p:nvPr/>
        </p:nvSpPr>
        <p:spPr>
          <a:xfrm>
            <a:off x="457200" y="1828800"/>
            <a:ext cx="530352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828800"/>
            <a:ext cx="5303520" cy="45720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874519"/>
            <a:ext cx="4937760" cy="365760"/>
          </a:xfrm>
          <a:prstGeom prst="rect">
            <a:avLst/>
          </a:prstGeom>
          <a:noFill/>
        </p:spPr>
        <p:txBody>
          <a:bodyPr wrap="square" lIns="0" tIns="0" rIns="0" bIns="0" anchor="ctr">
            <a:spAutoFit/>
          </a:bodyPr>
          <a:lstStyle/>
          <a:p>
            <a:pPr algn="l"/>
            <a:r>
              <a:rPr sz="1300" b="1" i="0" spc="200">
                <a:solidFill>
                  <a:srgbClr val="FFFFFF"/>
                </a:solidFill>
                <a:latin typeface="Calibri"/>
              </a:rPr>
              <a:t>PROPOSED · Random Forest</a:t>
            </a:r>
          </a:p>
        </p:txBody>
      </p:sp>
      <p:sp>
        <p:nvSpPr>
          <p:cNvPr id="8" name="TextBox 7"/>
          <p:cNvSpPr txBox="1"/>
          <p:nvPr/>
        </p:nvSpPr>
        <p:spPr>
          <a:xfrm>
            <a:off x="640080" y="2423160"/>
            <a:ext cx="4937760" cy="320040"/>
          </a:xfrm>
          <a:prstGeom prst="rect">
            <a:avLst/>
          </a:prstGeom>
          <a:noFill/>
        </p:spPr>
        <p:txBody>
          <a:bodyPr wrap="square" lIns="0" tIns="0" rIns="0" bIns="0" anchor="t">
            <a:spAutoFit/>
          </a:bodyPr>
          <a:lstStyle/>
          <a:p>
            <a:pPr algn="l"/>
            <a:r>
              <a:rPr sz="1100" b="0" i="1">
                <a:solidFill>
                  <a:srgbClr val="64748B"/>
                </a:solidFill>
                <a:latin typeface="Calibri"/>
              </a:rPr>
              <a:t>Supervised · 4-class multiclass on 37-feature pipeline</a:t>
            </a:r>
          </a:p>
        </p:txBody>
      </p:sp>
      <p:sp>
        <p:nvSpPr>
          <p:cNvPr id="9" name="TextBox 8"/>
          <p:cNvSpPr txBox="1"/>
          <p:nvPr/>
        </p:nvSpPr>
        <p:spPr>
          <a:xfrm>
            <a:off x="640080" y="2880360"/>
            <a:ext cx="4937760" cy="2926080"/>
          </a:xfrm>
          <a:prstGeom prst="rect">
            <a:avLst/>
          </a:prstGeom>
          <a:noFill/>
        </p:spPr>
        <p:txBody>
          <a:bodyPr wrap="square" lIns="0" tIns="0" rIns="0" bIns="0" anchor="t">
            <a:spAutoFit/>
          </a:bodyPr>
          <a:lstStyle/>
          <a:p>
            <a:pPr algn="l"/>
            <a:r>
              <a:rPr sz="1200" b="1" i="0">
                <a:solidFill>
                  <a:srgbClr val="1A1A2E"/>
                </a:solidFill>
                <a:latin typeface="Calibri"/>
              </a:rPr>
              <a:t>Input: </a:t>
            </a:r>
            <a:r>
              <a:rPr sz="1200" b="0" i="0">
                <a:solidFill>
                  <a:srgbClr val="1A1A2E"/>
                </a:solidFill>
                <a:latin typeface="Calibri"/>
              </a:rPr>
              <a:t>37 features from the 4-tier pipeline.</a:t>
            </a:r>
          </a:p>
          <a:p>
            <a:pPr algn="l"/>
            <a:r>
              <a:rPr sz="1200" b="1" i="0">
                <a:solidFill>
                  <a:srgbClr val="1A1A2E"/>
                </a:solidFill>
                <a:latin typeface="Calibri"/>
              </a:rPr>
              <a:t>Classes: </a:t>
            </a:r>
            <a:r>
              <a:rPr sz="1200" b="0" i="0">
                <a:solidFill>
                  <a:srgbClr val="1A1A2E"/>
                </a:solidFill>
                <a:latin typeface="Calibri"/>
              </a:rPr>
              <a:t>normal_user · http_flood · low_rate_bot · credential_stuffing</a:t>
            </a:r>
          </a:p>
          <a:p>
            <a:pPr algn="l"/>
            <a:r>
              <a:rPr sz="1200" b="1" i="0">
                <a:solidFill>
                  <a:srgbClr val="1A1A2E"/>
                </a:solidFill>
                <a:latin typeface="Calibri"/>
              </a:rPr>
              <a:t>Setup: </a:t>
            </a:r>
            <a:r>
              <a:rPr sz="1200" b="0" i="0">
                <a:solidFill>
                  <a:srgbClr val="1A1A2E"/>
                </a:solidFill>
                <a:latin typeface="Calibri"/>
              </a:rPr>
              <a:t>200 trees, balanced_subsample class weighting.</a:t>
            </a:r>
          </a:p>
          <a:p>
            <a:pPr algn="l"/>
            <a:r>
              <a:rPr sz="1200" b="1" i="0">
                <a:solidFill>
                  <a:srgbClr val="018F71"/>
                </a:solidFill>
                <a:latin typeface="Calibri"/>
              </a:rPr>
              <a:t>Why RF: </a:t>
            </a:r>
            <a:r>
              <a:rPr sz="1200" b="0" i="1">
                <a:solidFill>
                  <a:srgbClr val="1A1A2E"/>
                </a:solidFill>
                <a:latin typeface="Calibri"/>
              </a:rPr>
              <a:t>The thesis contribution is the feature pipeline, not a novel classifier. RF is a strong, well-understood baseline that lets the features speak.</a:t>
            </a:r>
          </a:p>
        </p:txBody>
      </p:sp>
      <p:sp>
        <p:nvSpPr>
          <p:cNvPr id="10" name="Rectangle 9"/>
          <p:cNvSpPr/>
          <p:nvPr/>
        </p:nvSpPr>
        <p:spPr>
          <a:xfrm>
            <a:off x="6400800" y="1828800"/>
            <a:ext cx="530352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0" y="1828800"/>
            <a:ext cx="5303520" cy="45720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0" y="1874519"/>
            <a:ext cx="4937760" cy="365760"/>
          </a:xfrm>
          <a:prstGeom prst="rect">
            <a:avLst/>
          </a:prstGeom>
          <a:noFill/>
        </p:spPr>
        <p:txBody>
          <a:bodyPr wrap="square" lIns="0" tIns="0" rIns="0" bIns="0" anchor="ctr">
            <a:spAutoFit/>
          </a:bodyPr>
          <a:lstStyle/>
          <a:p>
            <a:pPr algn="l"/>
            <a:r>
              <a:rPr sz="1300" b="1" i="0" spc="200">
                <a:solidFill>
                  <a:srgbClr val="FFFFFF"/>
                </a:solidFill>
                <a:latin typeface="Calibri"/>
              </a:rPr>
              <a:t>ALTERNATIVE · ISO + RF Stacked</a:t>
            </a:r>
          </a:p>
        </p:txBody>
      </p:sp>
      <p:sp>
        <p:nvSpPr>
          <p:cNvPr id="13" name="TextBox 12"/>
          <p:cNvSpPr txBox="1"/>
          <p:nvPr/>
        </p:nvSpPr>
        <p:spPr>
          <a:xfrm>
            <a:off x="6583680" y="2423160"/>
            <a:ext cx="4937760" cy="320040"/>
          </a:xfrm>
          <a:prstGeom prst="rect">
            <a:avLst/>
          </a:prstGeom>
          <a:noFill/>
        </p:spPr>
        <p:txBody>
          <a:bodyPr wrap="square" lIns="0" tIns="0" rIns="0" bIns="0" anchor="t">
            <a:spAutoFit/>
          </a:bodyPr>
          <a:lstStyle/>
          <a:p>
            <a:pPr algn="l"/>
            <a:r>
              <a:rPr sz="1100" b="0" i="1">
                <a:solidFill>
                  <a:srgbClr val="64748B"/>
                </a:solidFill>
                <a:latin typeface="Calibri"/>
              </a:rPr>
              <a:t>Semi-supervised extension · Reported for comparison</a:t>
            </a:r>
          </a:p>
        </p:txBody>
      </p:sp>
      <p:sp>
        <p:nvSpPr>
          <p:cNvPr id="14" name="TextBox 13"/>
          <p:cNvSpPr txBox="1"/>
          <p:nvPr/>
        </p:nvSpPr>
        <p:spPr>
          <a:xfrm>
            <a:off x="6583680" y="2880360"/>
            <a:ext cx="4937760" cy="923330"/>
          </a:xfrm>
          <a:prstGeom prst="rect">
            <a:avLst/>
          </a:prstGeom>
          <a:noFill/>
        </p:spPr>
        <p:txBody>
          <a:bodyPr wrap="square" lIns="0" tIns="0" rIns="0" bIns="0" anchor="t">
            <a:spAutoFit/>
          </a:bodyPr>
          <a:lstStyle/>
          <a:p>
            <a:pPr algn="l"/>
            <a:r>
              <a:rPr sz="1200" b="1" i="0" dirty="0">
                <a:solidFill>
                  <a:srgbClr val="1A1A2E"/>
                </a:solidFill>
                <a:latin typeface="Calibri"/>
              </a:rPr>
              <a:t>Layer A: </a:t>
            </a:r>
            <a:r>
              <a:rPr sz="1200" b="0" i="0" dirty="0">
                <a:solidFill>
                  <a:srgbClr val="1A1A2E"/>
                </a:solidFill>
                <a:latin typeface="Calibri"/>
              </a:rPr>
              <a:t>Isolation Forest trained only on </a:t>
            </a:r>
            <a:r>
              <a:rPr sz="1200" b="0" i="0" dirty="0" err="1">
                <a:solidFill>
                  <a:srgbClr val="1A1A2E"/>
                </a:solidFill>
                <a:latin typeface="Calibri"/>
              </a:rPr>
              <a:t>normal_user</a:t>
            </a:r>
            <a:r>
              <a:rPr sz="1200" b="0" i="0" dirty="0">
                <a:solidFill>
                  <a:srgbClr val="1A1A2E"/>
                </a:solidFill>
                <a:latin typeface="Calibri"/>
              </a:rPr>
              <a:t> produces </a:t>
            </a:r>
            <a:r>
              <a:rPr sz="1200" b="0" i="0" dirty="0" err="1">
                <a:solidFill>
                  <a:srgbClr val="1A1A2E"/>
                </a:solidFill>
                <a:latin typeface="Calibri"/>
              </a:rPr>
              <a:t>anomaly_score</a:t>
            </a:r>
            <a:r>
              <a:rPr sz="1200" b="0" i="0" dirty="0">
                <a:solidFill>
                  <a:srgbClr val="1A1A2E"/>
                </a:solidFill>
                <a:latin typeface="Calibri"/>
              </a:rPr>
              <a:t>.</a:t>
            </a:r>
          </a:p>
          <a:p>
            <a:pPr algn="l"/>
            <a:r>
              <a:rPr sz="1200" b="1" i="0" dirty="0">
                <a:solidFill>
                  <a:srgbClr val="1A1A2E"/>
                </a:solidFill>
                <a:latin typeface="Calibri"/>
              </a:rPr>
              <a:t>Layer B: </a:t>
            </a:r>
            <a:r>
              <a:rPr sz="1200" b="0" i="0" dirty="0">
                <a:solidFill>
                  <a:srgbClr val="1A1A2E"/>
                </a:solidFill>
                <a:latin typeface="Calibri"/>
              </a:rPr>
              <a:t>Random Forest with original 37 features + </a:t>
            </a:r>
            <a:r>
              <a:rPr sz="1200" b="0" i="0" dirty="0" err="1">
                <a:solidFill>
                  <a:srgbClr val="1A1A2E"/>
                </a:solidFill>
                <a:latin typeface="Calibri"/>
              </a:rPr>
              <a:t>anomaly_score</a:t>
            </a:r>
            <a:r>
              <a:rPr sz="1200" b="0" i="0" dirty="0">
                <a:solidFill>
                  <a:srgbClr val="1A1A2E"/>
                </a:solidFill>
                <a:latin typeface="Calibri"/>
              </a:rPr>
              <a:t>.</a:t>
            </a:r>
          </a:p>
          <a:p>
            <a:pPr algn="l"/>
            <a:r>
              <a:rPr sz="1200" b="1" i="0" dirty="0">
                <a:solidFill>
                  <a:srgbClr val="FF6046"/>
                </a:solidFill>
                <a:latin typeface="Calibri"/>
              </a:rPr>
              <a:t>Finding: </a:t>
            </a:r>
            <a:r>
              <a:rPr sz="1200" b="0" i="1" dirty="0">
                <a:solidFill>
                  <a:srgbClr val="1A1A2E"/>
                </a:solidFill>
                <a:latin typeface="Calibri"/>
              </a:rPr>
              <a:t>Under production-realistic conditions, ISO+RF gives 88.9% mimicry recall vs 96.4% from supervised RF. The unsupervised layer becomes redundant when supervised signal is sufficient.</a:t>
            </a:r>
          </a:p>
        </p:txBody>
      </p:sp>
      <p:sp>
        <p:nvSpPr>
          <p:cNvPr id="15" name="TextBox 14"/>
          <p:cNvSpPr txBox="1"/>
          <p:nvPr/>
        </p:nvSpPr>
        <p:spPr>
          <a:xfrm>
            <a:off x="457200" y="6126480"/>
            <a:ext cx="11247120" cy="411480"/>
          </a:xfrm>
          <a:prstGeom prst="rect">
            <a:avLst/>
          </a:prstGeom>
          <a:noFill/>
        </p:spPr>
        <p:txBody>
          <a:bodyPr wrap="square" lIns="0" tIns="0" rIns="0" bIns="0" anchor="t">
            <a:spAutoFit/>
          </a:bodyPr>
          <a:lstStyle/>
          <a:p>
            <a:pPr algn="ctr"/>
            <a:r>
              <a:rPr sz="1100" b="0" i="1">
                <a:solidFill>
                  <a:srgbClr val="64748B"/>
                </a:solidFill>
                <a:latin typeface="Calibri"/>
              </a:rPr>
              <a:t>Evaluation: Proposed RF compared against rate-threshold, EWMA/CUSUM, default RF baselines, plus ISO+RF alternative.</a:t>
            </a:r>
          </a:p>
        </p:txBody>
      </p:sp>
      <p:sp>
        <p:nvSpPr>
          <p:cNvPr id="16" name="TextBox 15"/>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Graduation Thesis · Final Defense</a:t>
            </a:r>
          </a:p>
        </p:txBody>
      </p:sp>
      <p:sp>
        <p:nvSpPr>
          <p:cNvPr id="17" name="TextBox 16"/>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9 / 23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2 · METHODOLOGY</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Evaluation Protocol</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dirty="0">
                <a:solidFill>
                  <a:srgbClr val="64748B"/>
                </a:solidFill>
                <a:latin typeface="Calibri"/>
              </a:rPr>
              <a:t>Four independent checks: in-distribution, stability, holdout, and leakage</a:t>
            </a:r>
          </a:p>
        </p:txBody>
      </p:sp>
      <p:sp>
        <p:nvSpPr>
          <p:cNvPr id="5" name="Rectangle 4"/>
          <p:cNvSpPr/>
          <p:nvPr/>
        </p:nvSpPr>
        <p:spPr>
          <a:xfrm>
            <a:off x="548640" y="1682164"/>
            <a:ext cx="11247120"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691640"/>
            <a:ext cx="602166" cy="1051560"/>
          </a:xfrm>
          <a:prstGeom prst="rect">
            <a:avLst/>
          </a:prstGeom>
          <a:solidFill>
            <a:srgbClr val="82A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46803" y="2048869"/>
            <a:ext cx="822960" cy="307777"/>
          </a:xfrm>
          <a:prstGeom prst="rect">
            <a:avLst/>
          </a:prstGeom>
          <a:noFill/>
        </p:spPr>
        <p:txBody>
          <a:bodyPr wrap="square" lIns="0" tIns="0" rIns="0" bIns="0" anchor="t">
            <a:spAutoFit/>
          </a:bodyPr>
          <a:lstStyle/>
          <a:p>
            <a:pPr algn="ctr"/>
            <a:r>
              <a:rPr lang="tr-TR" sz="2000" b="1" i="0" dirty="0">
                <a:solidFill>
                  <a:schemeClr val="bg1"/>
                </a:solidFill>
                <a:latin typeface="Georgia"/>
              </a:rPr>
              <a:t>A</a:t>
            </a:r>
          </a:p>
        </p:txBody>
      </p:sp>
      <p:sp>
        <p:nvSpPr>
          <p:cNvPr id="8" name="TextBox 7"/>
          <p:cNvSpPr txBox="1"/>
          <p:nvPr/>
        </p:nvSpPr>
        <p:spPr>
          <a:xfrm>
            <a:off x="1352643" y="1783080"/>
            <a:ext cx="10058400" cy="215444"/>
          </a:xfrm>
          <a:prstGeom prst="rect">
            <a:avLst/>
          </a:prstGeom>
          <a:noFill/>
        </p:spPr>
        <p:txBody>
          <a:bodyPr wrap="square" lIns="0" tIns="0" rIns="0" bIns="0" anchor="t">
            <a:spAutoFit/>
          </a:bodyPr>
          <a:lstStyle/>
          <a:p>
            <a:pPr algn="l"/>
            <a:r>
              <a:rPr sz="1400" b="1" i="0" dirty="0">
                <a:solidFill>
                  <a:srgbClr val="6F98CE"/>
                </a:solidFill>
                <a:latin typeface="Calibri"/>
              </a:rPr>
              <a:t>In-Distribution Test</a:t>
            </a:r>
          </a:p>
        </p:txBody>
      </p:sp>
      <p:sp>
        <p:nvSpPr>
          <p:cNvPr id="9" name="TextBox 8"/>
          <p:cNvSpPr txBox="1"/>
          <p:nvPr/>
        </p:nvSpPr>
        <p:spPr>
          <a:xfrm>
            <a:off x="1352643" y="2103120"/>
            <a:ext cx="10058400" cy="274320"/>
          </a:xfrm>
          <a:prstGeom prst="rect">
            <a:avLst/>
          </a:prstGeom>
          <a:noFill/>
        </p:spPr>
        <p:txBody>
          <a:bodyPr wrap="square" lIns="0" tIns="0" rIns="0" bIns="0" anchor="t">
            <a:spAutoFit/>
          </a:bodyPr>
          <a:lstStyle/>
          <a:p>
            <a:pPr algn="l"/>
            <a:r>
              <a:rPr sz="1000" b="1" i="0" dirty="0">
                <a:solidFill>
                  <a:srgbClr val="64748B"/>
                </a:solidFill>
                <a:latin typeface="Calibri"/>
              </a:rPr>
              <a:t>What: </a:t>
            </a:r>
            <a:r>
              <a:rPr sz="1050" b="0" i="0" dirty="0">
                <a:solidFill>
                  <a:srgbClr val="1A1A2E"/>
                </a:solidFill>
                <a:latin typeface="Calibri"/>
              </a:rPr>
              <a:t>Stratified train/</a:t>
            </a:r>
            <a:r>
              <a:rPr sz="1050" b="0" i="0" dirty="0" err="1">
                <a:solidFill>
                  <a:srgbClr val="1A1A2E"/>
                </a:solidFill>
                <a:latin typeface="Calibri"/>
              </a:rPr>
              <a:t>val</a:t>
            </a:r>
            <a:r>
              <a:rPr sz="1050" b="0" i="0" dirty="0">
                <a:solidFill>
                  <a:srgbClr val="1A1A2E"/>
                </a:solidFill>
                <a:latin typeface="Calibri"/>
              </a:rPr>
              <a:t>/test split on the four known classes</a:t>
            </a:r>
          </a:p>
        </p:txBody>
      </p:sp>
      <p:sp>
        <p:nvSpPr>
          <p:cNvPr id="10" name="TextBox 9"/>
          <p:cNvSpPr txBox="1"/>
          <p:nvPr/>
        </p:nvSpPr>
        <p:spPr>
          <a:xfrm>
            <a:off x="1352643" y="2370862"/>
            <a:ext cx="10058400" cy="274320"/>
          </a:xfrm>
          <a:prstGeom prst="rect">
            <a:avLst/>
          </a:prstGeom>
          <a:noFill/>
        </p:spPr>
        <p:txBody>
          <a:bodyPr wrap="square" lIns="0" tIns="0" rIns="0" bIns="0" anchor="t">
            <a:spAutoFit/>
          </a:bodyPr>
          <a:lstStyle/>
          <a:p>
            <a:pPr algn="l"/>
            <a:r>
              <a:rPr sz="1000" b="1" i="0" dirty="0">
                <a:solidFill>
                  <a:srgbClr val="64748B"/>
                </a:solidFill>
                <a:latin typeface="Calibri"/>
              </a:rPr>
              <a:t>Metrics: </a:t>
            </a:r>
            <a:r>
              <a:rPr sz="1000" b="0" i="1" dirty="0">
                <a:solidFill>
                  <a:srgbClr val="1A1A2E"/>
                </a:solidFill>
                <a:latin typeface="Calibri"/>
              </a:rPr>
              <a:t>Accuracy · Macro-F1 · PR-AUC · Confusion Matrix</a:t>
            </a:r>
          </a:p>
        </p:txBody>
      </p:sp>
      <p:sp>
        <p:nvSpPr>
          <p:cNvPr id="11" name="Rectangle 10"/>
          <p:cNvSpPr/>
          <p:nvPr/>
        </p:nvSpPr>
        <p:spPr>
          <a:xfrm>
            <a:off x="457200" y="2834640"/>
            <a:ext cx="11247120"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2834640"/>
            <a:ext cx="602166" cy="1051560"/>
          </a:xfrm>
          <a:prstGeom prst="rect">
            <a:avLst/>
          </a:prstGeom>
          <a:solidFill>
            <a:srgbClr val="649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9315" y="3201793"/>
            <a:ext cx="822960" cy="307777"/>
          </a:xfrm>
          <a:prstGeom prst="rect">
            <a:avLst/>
          </a:prstGeom>
          <a:noFill/>
        </p:spPr>
        <p:txBody>
          <a:bodyPr wrap="square" lIns="0" tIns="0" rIns="0" bIns="0" anchor="t">
            <a:spAutoFit/>
          </a:bodyPr>
          <a:lstStyle/>
          <a:p>
            <a:pPr algn="ctr"/>
            <a:r>
              <a:rPr sz="2000" b="1" i="0" dirty="0">
                <a:solidFill>
                  <a:srgbClr val="FFFFFF"/>
                </a:solidFill>
                <a:latin typeface="Georgia"/>
              </a:rPr>
              <a:t>B</a:t>
            </a:r>
          </a:p>
        </p:txBody>
      </p:sp>
      <p:sp>
        <p:nvSpPr>
          <p:cNvPr id="14" name="TextBox 13"/>
          <p:cNvSpPr txBox="1"/>
          <p:nvPr/>
        </p:nvSpPr>
        <p:spPr>
          <a:xfrm>
            <a:off x="1352643" y="2925410"/>
            <a:ext cx="10058400" cy="215444"/>
          </a:xfrm>
          <a:prstGeom prst="rect">
            <a:avLst/>
          </a:prstGeom>
          <a:noFill/>
        </p:spPr>
        <p:txBody>
          <a:bodyPr wrap="square" lIns="0" tIns="0" rIns="0" bIns="0" anchor="t">
            <a:spAutoFit/>
          </a:bodyPr>
          <a:lstStyle/>
          <a:p>
            <a:pPr algn="l"/>
            <a:r>
              <a:rPr sz="1400" b="1" i="0" dirty="0">
                <a:solidFill>
                  <a:srgbClr val="616BA5"/>
                </a:solidFill>
                <a:latin typeface="Calibri"/>
              </a:rPr>
              <a:t>5-Fold Cross-Validation (Stability)</a:t>
            </a:r>
          </a:p>
        </p:txBody>
      </p:sp>
      <p:sp>
        <p:nvSpPr>
          <p:cNvPr id="15" name="TextBox 14"/>
          <p:cNvSpPr txBox="1"/>
          <p:nvPr/>
        </p:nvSpPr>
        <p:spPr>
          <a:xfrm>
            <a:off x="1352643" y="3255264"/>
            <a:ext cx="10058400" cy="274320"/>
          </a:xfrm>
          <a:prstGeom prst="rect">
            <a:avLst/>
          </a:prstGeom>
          <a:noFill/>
        </p:spPr>
        <p:txBody>
          <a:bodyPr wrap="square" lIns="0" tIns="0" rIns="0" bIns="0" anchor="t">
            <a:spAutoFit/>
          </a:bodyPr>
          <a:lstStyle/>
          <a:p>
            <a:pPr algn="l"/>
            <a:r>
              <a:rPr sz="1000" b="1" i="0" dirty="0">
                <a:solidFill>
                  <a:srgbClr val="64748B"/>
                </a:solidFill>
                <a:latin typeface="Calibri"/>
              </a:rPr>
              <a:t>What: </a:t>
            </a:r>
            <a:r>
              <a:rPr sz="1050" b="0" i="0" dirty="0">
                <a:solidFill>
                  <a:srgbClr val="1A1A2E"/>
                </a:solidFill>
                <a:latin typeface="Calibri"/>
              </a:rPr>
              <a:t>5-fold stratified CV on combined in-distribution pool (n=9,638)</a:t>
            </a:r>
          </a:p>
        </p:txBody>
      </p:sp>
      <p:sp>
        <p:nvSpPr>
          <p:cNvPr id="16" name="TextBox 15"/>
          <p:cNvSpPr txBox="1"/>
          <p:nvPr/>
        </p:nvSpPr>
        <p:spPr>
          <a:xfrm>
            <a:off x="1352643" y="3500814"/>
            <a:ext cx="10058400" cy="274320"/>
          </a:xfrm>
          <a:prstGeom prst="rect">
            <a:avLst/>
          </a:prstGeom>
          <a:noFill/>
        </p:spPr>
        <p:txBody>
          <a:bodyPr wrap="square" lIns="0" tIns="0" rIns="0" bIns="0" anchor="t">
            <a:spAutoFit/>
          </a:bodyPr>
          <a:lstStyle/>
          <a:p>
            <a:pPr algn="l"/>
            <a:r>
              <a:rPr sz="1000" b="1" i="0" dirty="0">
                <a:solidFill>
                  <a:srgbClr val="64748B"/>
                </a:solidFill>
                <a:latin typeface="Calibri"/>
              </a:rPr>
              <a:t>Metrics: </a:t>
            </a:r>
            <a:r>
              <a:rPr sz="1000" b="0" i="1" dirty="0">
                <a:solidFill>
                  <a:srgbClr val="1A1A2E"/>
                </a:solidFill>
                <a:latin typeface="Calibri"/>
              </a:rPr>
              <a:t>Mean ± std of accuracy and F1 scores across folds</a:t>
            </a:r>
          </a:p>
        </p:txBody>
      </p:sp>
      <p:sp>
        <p:nvSpPr>
          <p:cNvPr id="17" name="Rectangle 16"/>
          <p:cNvSpPr/>
          <p:nvPr/>
        </p:nvSpPr>
        <p:spPr>
          <a:xfrm>
            <a:off x="457200" y="3977639"/>
            <a:ext cx="11247120"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3977639"/>
            <a:ext cx="602166" cy="1051560"/>
          </a:xfrm>
          <a:prstGeom prst="rect">
            <a:avLst/>
          </a:prstGeom>
          <a:solidFill>
            <a:srgbClr val="F79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9315" y="4347466"/>
            <a:ext cx="822960" cy="307777"/>
          </a:xfrm>
          <a:prstGeom prst="rect">
            <a:avLst/>
          </a:prstGeom>
          <a:noFill/>
        </p:spPr>
        <p:txBody>
          <a:bodyPr wrap="square" lIns="0" tIns="0" rIns="0" bIns="0" anchor="t">
            <a:spAutoFit/>
          </a:bodyPr>
          <a:lstStyle/>
          <a:p>
            <a:pPr algn="ctr"/>
            <a:r>
              <a:rPr sz="2000" b="1" i="0" dirty="0">
                <a:solidFill>
                  <a:srgbClr val="FFFFFF"/>
                </a:solidFill>
                <a:latin typeface="Georgia"/>
              </a:rPr>
              <a:t>C</a:t>
            </a:r>
          </a:p>
        </p:txBody>
      </p:sp>
      <p:sp>
        <p:nvSpPr>
          <p:cNvPr id="20" name="TextBox 19"/>
          <p:cNvSpPr txBox="1"/>
          <p:nvPr/>
        </p:nvSpPr>
        <p:spPr>
          <a:xfrm>
            <a:off x="1352643" y="4075658"/>
            <a:ext cx="10058400" cy="215444"/>
          </a:xfrm>
          <a:prstGeom prst="rect">
            <a:avLst/>
          </a:prstGeom>
          <a:noFill/>
        </p:spPr>
        <p:txBody>
          <a:bodyPr wrap="square" lIns="0" tIns="0" rIns="0" bIns="0" anchor="t">
            <a:spAutoFit/>
          </a:bodyPr>
          <a:lstStyle/>
          <a:p>
            <a:pPr algn="l"/>
            <a:r>
              <a:rPr sz="1400" b="1" i="0" dirty="0">
                <a:solidFill>
                  <a:srgbClr val="F37866"/>
                </a:solidFill>
                <a:latin typeface="Calibri"/>
              </a:rPr>
              <a:t>★ Mimicry Holdout</a:t>
            </a:r>
          </a:p>
        </p:txBody>
      </p:sp>
      <p:sp>
        <p:nvSpPr>
          <p:cNvPr id="21" name="TextBox 20"/>
          <p:cNvSpPr txBox="1"/>
          <p:nvPr/>
        </p:nvSpPr>
        <p:spPr>
          <a:xfrm>
            <a:off x="1352643" y="4393583"/>
            <a:ext cx="10058400" cy="274320"/>
          </a:xfrm>
          <a:prstGeom prst="rect">
            <a:avLst/>
          </a:prstGeom>
          <a:noFill/>
        </p:spPr>
        <p:txBody>
          <a:bodyPr wrap="square" lIns="0" tIns="0" rIns="0" bIns="0" anchor="t">
            <a:spAutoFit/>
          </a:bodyPr>
          <a:lstStyle/>
          <a:p>
            <a:pPr algn="l"/>
            <a:r>
              <a:rPr sz="1000" b="1" i="0" dirty="0">
                <a:solidFill>
                  <a:srgbClr val="64748B"/>
                </a:solidFill>
                <a:latin typeface="Calibri"/>
              </a:rPr>
              <a:t>What: </a:t>
            </a:r>
            <a:r>
              <a:rPr sz="1050" b="0" i="0" dirty="0">
                <a:solidFill>
                  <a:srgbClr val="1A1A2E"/>
                </a:solidFill>
                <a:latin typeface="Calibri"/>
              </a:rPr>
              <a:t>S5 excluded from training; model only meets it during testing</a:t>
            </a:r>
          </a:p>
        </p:txBody>
      </p:sp>
      <p:sp>
        <p:nvSpPr>
          <p:cNvPr id="22" name="TextBox 21"/>
          <p:cNvSpPr txBox="1"/>
          <p:nvPr/>
        </p:nvSpPr>
        <p:spPr>
          <a:xfrm>
            <a:off x="1352643" y="4658424"/>
            <a:ext cx="10058400" cy="274320"/>
          </a:xfrm>
          <a:prstGeom prst="rect">
            <a:avLst/>
          </a:prstGeom>
          <a:noFill/>
        </p:spPr>
        <p:txBody>
          <a:bodyPr wrap="square" lIns="0" tIns="0" rIns="0" bIns="0" anchor="t">
            <a:spAutoFit/>
          </a:bodyPr>
          <a:lstStyle/>
          <a:p>
            <a:pPr algn="l"/>
            <a:r>
              <a:rPr sz="1000" b="1" i="0" dirty="0">
                <a:solidFill>
                  <a:srgbClr val="64748B"/>
                </a:solidFill>
                <a:latin typeface="Calibri"/>
              </a:rPr>
              <a:t>Metrics: </a:t>
            </a:r>
            <a:r>
              <a:rPr sz="1000" b="0" i="1" dirty="0" err="1">
                <a:solidFill>
                  <a:srgbClr val="1A1A2E"/>
                </a:solidFill>
                <a:latin typeface="Calibri"/>
              </a:rPr>
              <a:t>recall_as_flood</a:t>
            </a:r>
            <a:r>
              <a:rPr sz="1000" b="0" i="1" dirty="0">
                <a:solidFill>
                  <a:srgbClr val="1A1A2E"/>
                </a:solidFill>
                <a:latin typeface="Calibri"/>
              </a:rPr>
              <a:t> · </a:t>
            </a:r>
            <a:r>
              <a:rPr sz="1000" b="0" i="1" dirty="0" err="1">
                <a:solidFill>
                  <a:srgbClr val="1A1A2E"/>
                </a:solidFill>
                <a:latin typeface="Calibri"/>
              </a:rPr>
              <a:t>evasion_rate</a:t>
            </a:r>
            <a:r>
              <a:rPr sz="1000" b="0" i="1" dirty="0">
                <a:solidFill>
                  <a:srgbClr val="1A1A2E"/>
                </a:solidFill>
                <a:latin typeface="Calibri"/>
              </a:rPr>
              <a:t> · </a:t>
            </a:r>
            <a:r>
              <a:rPr sz="1000" b="0" i="1" dirty="0" err="1">
                <a:solidFill>
                  <a:srgbClr val="1A1A2E"/>
                </a:solidFill>
                <a:latin typeface="Calibri"/>
              </a:rPr>
              <a:t>binary_attack_recall</a:t>
            </a:r>
            <a:endParaRPr sz="1000" b="0" i="1" dirty="0">
              <a:solidFill>
                <a:srgbClr val="1A1A2E"/>
              </a:solidFill>
              <a:latin typeface="Calibri"/>
            </a:endParaRPr>
          </a:p>
        </p:txBody>
      </p:sp>
      <p:sp>
        <p:nvSpPr>
          <p:cNvPr id="23" name="Rectangle 22"/>
          <p:cNvSpPr/>
          <p:nvPr/>
        </p:nvSpPr>
        <p:spPr>
          <a:xfrm>
            <a:off x="457200" y="5120640"/>
            <a:ext cx="11247120"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7200" y="5120640"/>
            <a:ext cx="602166" cy="1051560"/>
          </a:xfrm>
          <a:prstGeom prst="rect">
            <a:avLst/>
          </a:prstGeom>
          <a:solidFill>
            <a:srgbClr val="2BCA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39315" y="5461140"/>
            <a:ext cx="822960" cy="307777"/>
          </a:xfrm>
          <a:prstGeom prst="rect">
            <a:avLst/>
          </a:prstGeom>
          <a:noFill/>
        </p:spPr>
        <p:txBody>
          <a:bodyPr wrap="square" lIns="0" tIns="0" rIns="0" bIns="0" anchor="t">
            <a:spAutoFit/>
          </a:bodyPr>
          <a:lstStyle/>
          <a:p>
            <a:pPr algn="ctr"/>
            <a:r>
              <a:rPr sz="2000" b="1" i="0" dirty="0">
                <a:solidFill>
                  <a:srgbClr val="FFFFFF"/>
                </a:solidFill>
                <a:latin typeface="Georgia"/>
              </a:rPr>
              <a:t>D</a:t>
            </a:r>
          </a:p>
        </p:txBody>
      </p:sp>
      <p:sp>
        <p:nvSpPr>
          <p:cNvPr id="26" name="TextBox 25"/>
          <p:cNvSpPr txBox="1"/>
          <p:nvPr/>
        </p:nvSpPr>
        <p:spPr>
          <a:xfrm>
            <a:off x="1352643" y="5218658"/>
            <a:ext cx="10058400" cy="215444"/>
          </a:xfrm>
          <a:prstGeom prst="rect">
            <a:avLst/>
          </a:prstGeom>
          <a:noFill/>
        </p:spPr>
        <p:txBody>
          <a:bodyPr wrap="square" lIns="0" tIns="0" rIns="0" bIns="0" anchor="t">
            <a:spAutoFit/>
          </a:bodyPr>
          <a:lstStyle/>
          <a:p>
            <a:pPr algn="l"/>
            <a:r>
              <a:rPr sz="1400" b="1" i="0" dirty="0">
                <a:solidFill>
                  <a:srgbClr val="5B8AC7"/>
                </a:solidFill>
                <a:latin typeface="Calibri"/>
              </a:rPr>
              <a:t>Leakage &amp; Ablation Checks</a:t>
            </a:r>
          </a:p>
        </p:txBody>
      </p:sp>
      <p:sp>
        <p:nvSpPr>
          <p:cNvPr id="27" name="TextBox 26"/>
          <p:cNvSpPr txBox="1"/>
          <p:nvPr/>
        </p:nvSpPr>
        <p:spPr>
          <a:xfrm>
            <a:off x="1352643" y="5541264"/>
            <a:ext cx="10058400" cy="274320"/>
          </a:xfrm>
          <a:prstGeom prst="rect">
            <a:avLst/>
          </a:prstGeom>
          <a:noFill/>
        </p:spPr>
        <p:txBody>
          <a:bodyPr wrap="square" lIns="0" tIns="0" rIns="0" bIns="0" anchor="t">
            <a:spAutoFit/>
          </a:bodyPr>
          <a:lstStyle/>
          <a:p>
            <a:pPr algn="l"/>
            <a:r>
              <a:rPr sz="1000" b="1" i="0" dirty="0">
                <a:solidFill>
                  <a:srgbClr val="64748B"/>
                </a:solidFill>
                <a:latin typeface="Calibri"/>
              </a:rPr>
              <a:t>What: </a:t>
            </a:r>
            <a:r>
              <a:rPr sz="1050" b="0" i="0" dirty="0">
                <a:solidFill>
                  <a:srgbClr val="1A1A2E"/>
                </a:solidFill>
                <a:latin typeface="Calibri"/>
              </a:rPr>
              <a:t>Random-label permutation + 12 feature-group ablations</a:t>
            </a:r>
          </a:p>
        </p:txBody>
      </p:sp>
      <p:sp>
        <p:nvSpPr>
          <p:cNvPr id="28" name="TextBox 27"/>
          <p:cNvSpPr txBox="1"/>
          <p:nvPr/>
        </p:nvSpPr>
        <p:spPr>
          <a:xfrm>
            <a:off x="1352643" y="5799862"/>
            <a:ext cx="10058400" cy="274320"/>
          </a:xfrm>
          <a:prstGeom prst="rect">
            <a:avLst/>
          </a:prstGeom>
          <a:noFill/>
        </p:spPr>
        <p:txBody>
          <a:bodyPr wrap="square" lIns="0" tIns="0" rIns="0" bIns="0" anchor="t">
            <a:spAutoFit/>
          </a:bodyPr>
          <a:lstStyle/>
          <a:p>
            <a:pPr algn="l"/>
            <a:r>
              <a:rPr sz="1000" b="1" i="0" dirty="0">
                <a:solidFill>
                  <a:srgbClr val="64748B"/>
                </a:solidFill>
                <a:latin typeface="Calibri"/>
              </a:rPr>
              <a:t>Metrics: </a:t>
            </a:r>
            <a:r>
              <a:rPr sz="1000" b="0" i="1" dirty="0" err="1">
                <a:solidFill>
                  <a:srgbClr val="1A1A2E"/>
                </a:solidFill>
                <a:latin typeface="Calibri"/>
              </a:rPr>
              <a:t>Δ</a:t>
            </a:r>
            <a:r>
              <a:rPr sz="1000" b="0" i="1" dirty="0">
                <a:solidFill>
                  <a:srgbClr val="1A1A2E"/>
                </a:solidFill>
                <a:latin typeface="Calibri"/>
              </a:rPr>
              <a:t> accuracy (real vs permuted) · per-group mimicry recall</a:t>
            </a:r>
          </a:p>
        </p:txBody>
      </p:sp>
      <p:sp>
        <p:nvSpPr>
          <p:cNvPr id="29" name="TextBox 28"/>
          <p:cNvSpPr txBox="1"/>
          <p:nvPr/>
        </p:nvSpPr>
        <p:spPr>
          <a:xfrm>
            <a:off x="457200" y="6309360"/>
            <a:ext cx="11247120" cy="274320"/>
          </a:xfrm>
          <a:prstGeom prst="rect">
            <a:avLst/>
          </a:prstGeom>
          <a:noFill/>
        </p:spPr>
        <p:txBody>
          <a:bodyPr wrap="square" lIns="0" tIns="0" rIns="0" bIns="0" anchor="t">
            <a:spAutoFit/>
          </a:bodyPr>
          <a:lstStyle/>
          <a:p>
            <a:pPr algn="ctr"/>
            <a:r>
              <a:rPr sz="1100" b="0" i="1">
                <a:solidFill>
                  <a:srgbClr val="64748B"/>
                </a:solidFill>
                <a:latin typeface="Calibri"/>
              </a:rPr>
              <a:t>Four independent checks. When all four point the same way, the central claim becomes defensible.</a:t>
            </a:r>
          </a:p>
        </p:txBody>
      </p:sp>
      <p:sp>
        <p:nvSpPr>
          <p:cNvPr id="30" name="TextBox 29"/>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Graduation Thesis · Final Defense</a:t>
            </a:r>
          </a:p>
        </p:txBody>
      </p:sp>
      <p:sp>
        <p:nvSpPr>
          <p:cNvPr id="31" name="TextBox 30"/>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10 / 23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3 · RESULTS</a:t>
            </a:r>
          </a:p>
        </p:txBody>
      </p:sp>
      <mc:AlternateContent xmlns:mc="http://schemas.openxmlformats.org/markup-compatibility/2006">
        <mc:Choice xmlns:a14="http://schemas.microsoft.com/office/drawing/2010/main" Requires="a14">
          <p:sp>
            <p:nvSpPr>
              <p:cNvPr id="3" name="TextBox 2"/>
              <p:cNvSpPr txBox="1"/>
              <p:nvPr/>
            </p:nvSpPr>
            <p:spPr>
              <a:xfrm>
                <a:off x="365760" y="548640"/>
                <a:ext cx="11430000" cy="430887"/>
              </a:xfrm>
              <a:prstGeom prst="rect">
                <a:avLst/>
              </a:prstGeom>
              <a:noFill/>
            </p:spPr>
            <p:txBody>
              <a:bodyPr wrap="square" lIns="0" tIns="0" rIns="0" bIns="0" anchor="t">
                <a:spAutoFit/>
              </a:bodyPr>
              <a:lstStyle/>
              <a:p>
                <a:pPr algn="l"/>
                <a:r>
                  <a:rPr lang="tr-TR" sz="2800" b="1" i="0" dirty="0">
                    <a:solidFill>
                      <a:srgbClr val="1E2760"/>
                    </a:solidFill>
                    <a:latin typeface="Calibri"/>
                  </a:rPr>
                  <a:t>A </a:t>
                </a:r>
                <a14:m>
                  <m:oMath xmlns:m="http://schemas.openxmlformats.org/officeDocument/2006/math">
                    <m:r>
                      <a:rPr lang="tr-TR" sz="2800" b="1" i="1" smtClean="0">
                        <a:solidFill>
                          <a:srgbClr val="1E2760"/>
                        </a:solidFill>
                        <a:latin typeface="Cambria Math" panose="02040503050406030204" pitchFamily="18" charset="0"/>
                      </a:rPr>
                      <m:t>⋅</m:t>
                    </m:r>
                  </m:oMath>
                </a14:m>
                <a:r>
                  <a:rPr lang="tr-TR" sz="2800" b="1" i="0" dirty="0">
                    <a:solidFill>
                      <a:srgbClr val="1E2760"/>
                    </a:solidFill>
                    <a:latin typeface="Calibri"/>
                  </a:rPr>
                  <a:t> </a:t>
                </a:r>
                <a:r>
                  <a:rPr sz="2800" b="1" i="0" dirty="0">
                    <a:solidFill>
                      <a:srgbClr val="002060"/>
                    </a:solidFill>
                    <a:latin typeface="Calibri"/>
                  </a:rPr>
                  <a:t>In-Distribution Performance</a:t>
                </a:r>
              </a:p>
            </p:txBody>
          </p:sp>
        </mc:Choice>
        <mc:Fallback>
          <p:sp>
            <p:nvSpPr>
              <p:cNvPr id="3" name="TextBox 2"/>
              <p:cNvSpPr txBox="1">
                <a:spLocks noRot="1" noChangeAspect="1" noMove="1" noResize="1" noEditPoints="1" noAdjustHandles="1" noChangeArrowheads="1" noChangeShapeType="1" noTextEdit="1"/>
              </p:cNvSpPr>
              <p:nvPr/>
            </p:nvSpPr>
            <p:spPr>
              <a:xfrm>
                <a:off x="365760" y="548640"/>
                <a:ext cx="11430000" cy="430887"/>
              </a:xfrm>
              <a:prstGeom prst="rect">
                <a:avLst/>
              </a:prstGeom>
              <a:blipFill>
                <a:blip r:embed="rId2"/>
                <a:stretch>
                  <a:fillRect l="-1887" t="-25714" b="-45714"/>
                </a:stretch>
              </a:blipFill>
            </p:spPr>
            <p:txBody>
              <a:bodyPr/>
              <a:lstStyle/>
              <a:p>
                <a:r>
                  <a:rPr lang="tr-TR">
                    <a:noFill/>
                  </a:rPr>
                  <a:t> </a:t>
                </a:r>
              </a:p>
            </p:txBody>
          </p:sp>
        </mc:Fallback>
      </mc:AlternateContent>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dirty="0">
                <a:solidFill>
                  <a:srgbClr val="64748B"/>
                </a:solidFill>
                <a:latin typeface="Calibri"/>
              </a:rPr>
              <a:t>On the four known classes, the model is perfect</a:t>
            </a:r>
          </a:p>
        </p:txBody>
      </p:sp>
      <p:sp>
        <p:nvSpPr>
          <p:cNvPr id="5" name="Rectangle 4"/>
          <p:cNvSpPr/>
          <p:nvPr/>
        </p:nvSpPr>
        <p:spPr>
          <a:xfrm>
            <a:off x="457200" y="1691640"/>
            <a:ext cx="3657600" cy="13716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691640"/>
            <a:ext cx="91440" cy="1371600"/>
          </a:xfrm>
          <a:prstGeom prst="rect">
            <a:avLst/>
          </a:prstGeom>
          <a:solidFill>
            <a:srgbClr val="5A75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828800"/>
            <a:ext cx="3291840" cy="677108"/>
          </a:xfrm>
          <a:prstGeom prst="rect">
            <a:avLst/>
          </a:prstGeom>
          <a:noFill/>
        </p:spPr>
        <p:txBody>
          <a:bodyPr wrap="square" lIns="0" tIns="0" rIns="0" bIns="0" anchor="t">
            <a:spAutoFit/>
          </a:bodyPr>
          <a:lstStyle/>
          <a:p>
            <a:pPr algn="l"/>
            <a:r>
              <a:rPr sz="4400" b="1" i="0" dirty="0">
                <a:solidFill>
                  <a:srgbClr val="5A7596"/>
                </a:solidFill>
                <a:latin typeface="Calibri"/>
              </a:rPr>
              <a:t>100%</a:t>
            </a:r>
          </a:p>
        </p:txBody>
      </p:sp>
      <p:sp>
        <p:nvSpPr>
          <p:cNvPr id="8" name="TextBox 7"/>
          <p:cNvSpPr txBox="1"/>
          <p:nvPr/>
        </p:nvSpPr>
        <p:spPr>
          <a:xfrm>
            <a:off x="731520" y="2651760"/>
            <a:ext cx="3291840" cy="320040"/>
          </a:xfrm>
          <a:prstGeom prst="rect">
            <a:avLst/>
          </a:prstGeom>
          <a:noFill/>
        </p:spPr>
        <p:txBody>
          <a:bodyPr wrap="square" lIns="0" tIns="0" rIns="0" bIns="0" anchor="t">
            <a:spAutoFit/>
          </a:bodyPr>
          <a:lstStyle/>
          <a:p>
            <a:pPr algn="l"/>
            <a:r>
              <a:rPr sz="1000" b="1" i="0" spc="300">
                <a:solidFill>
                  <a:srgbClr val="64748B"/>
                </a:solidFill>
                <a:latin typeface="Calibri"/>
              </a:rPr>
              <a:t>TEST ACCURACY</a:t>
            </a:r>
          </a:p>
        </p:txBody>
      </p:sp>
      <p:sp>
        <p:nvSpPr>
          <p:cNvPr id="9" name="Rectangle 8"/>
          <p:cNvSpPr/>
          <p:nvPr/>
        </p:nvSpPr>
        <p:spPr>
          <a:xfrm>
            <a:off x="4251960" y="1691640"/>
            <a:ext cx="3657600" cy="13716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251960" y="1691640"/>
            <a:ext cx="91440" cy="1371600"/>
          </a:xfrm>
          <a:prstGeom prst="rect">
            <a:avLst/>
          </a:prstGeom>
          <a:solidFill>
            <a:schemeClr val="tx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26280" y="1828800"/>
            <a:ext cx="3291840" cy="677108"/>
          </a:xfrm>
          <a:prstGeom prst="rect">
            <a:avLst/>
          </a:prstGeom>
          <a:noFill/>
        </p:spPr>
        <p:txBody>
          <a:bodyPr wrap="square" lIns="0" tIns="0" rIns="0" bIns="0" anchor="t">
            <a:spAutoFit/>
          </a:bodyPr>
          <a:lstStyle/>
          <a:p>
            <a:pPr algn="l"/>
            <a:r>
              <a:rPr sz="4400" b="1" i="0" dirty="0">
                <a:solidFill>
                  <a:srgbClr val="82A6D4"/>
                </a:solidFill>
                <a:latin typeface="Calibri"/>
              </a:rPr>
              <a:t>100%</a:t>
            </a:r>
          </a:p>
        </p:txBody>
      </p:sp>
      <p:sp>
        <p:nvSpPr>
          <p:cNvPr id="12" name="TextBox 11"/>
          <p:cNvSpPr txBox="1"/>
          <p:nvPr/>
        </p:nvSpPr>
        <p:spPr>
          <a:xfrm>
            <a:off x="4526280" y="2651760"/>
            <a:ext cx="3291840" cy="320040"/>
          </a:xfrm>
          <a:prstGeom prst="rect">
            <a:avLst/>
          </a:prstGeom>
          <a:noFill/>
        </p:spPr>
        <p:txBody>
          <a:bodyPr wrap="square" lIns="0" tIns="0" rIns="0" bIns="0" anchor="t">
            <a:spAutoFit/>
          </a:bodyPr>
          <a:lstStyle/>
          <a:p>
            <a:pPr algn="l"/>
            <a:r>
              <a:rPr sz="1000" b="1" i="0" spc="300">
                <a:solidFill>
                  <a:srgbClr val="64748B"/>
                </a:solidFill>
                <a:latin typeface="Calibri"/>
              </a:rPr>
              <a:t>MACRO-F1</a:t>
            </a:r>
          </a:p>
        </p:txBody>
      </p:sp>
      <p:sp>
        <p:nvSpPr>
          <p:cNvPr id="13" name="Rectangle 12"/>
          <p:cNvSpPr/>
          <p:nvPr/>
        </p:nvSpPr>
        <p:spPr>
          <a:xfrm>
            <a:off x="8046720" y="1691640"/>
            <a:ext cx="3657600" cy="13716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00B791"/>
              </a:solidFill>
            </a:endParaRPr>
          </a:p>
        </p:txBody>
      </p:sp>
      <p:sp>
        <p:nvSpPr>
          <p:cNvPr id="14" name="Rectangle 13"/>
          <p:cNvSpPr/>
          <p:nvPr/>
        </p:nvSpPr>
        <p:spPr>
          <a:xfrm>
            <a:off x="8046720" y="1691640"/>
            <a:ext cx="91440" cy="1371600"/>
          </a:xfrm>
          <a:prstGeom prst="rect">
            <a:avLst/>
          </a:prstGeom>
          <a:solidFill>
            <a:srgbClr val="95C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00B791"/>
              </a:solidFill>
            </a:endParaRPr>
          </a:p>
        </p:txBody>
      </p:sp>
      <p:sp>
        <p:nvSpPr>
          <p:cNvPr id="15" name="TextBox 14"/>
          <p:cNvSpPr txBox="1"/>
          <p:nvPr/>
        </p:nvSpPr>
        <p:spPr>
          <a:xfrm>
            <a:off x="8321040" y="1828800"/>
            <a:ext cx="3291840" cy="677108"/>
          </a:xfrm>
          <a:prstGeom prst="rect">
            <a:avLst/>
          </a:prstGeom>
          <a:noFill/>
        </p:spPr>
        <p:txBody>
          <a:bodyPr wrap="square" lIns="0" tIns="0" rIns="0" bIns="0" anchor="t">
            <a:spAutoFit/>
          </a:bodyPr>
          <a:lstStyle/>
          <a:p>
            <a:pPr algn="l"/>
            <a:r>
              <a:rPr sz="4400" b="1" i="0" dirty="0">
                <a:solidFill>
                  <a:srgbClr val="95C2F9"/>
                </a:solidFill>
                <a:latin typeface="Calibri"/>
              </a:rPr>
              <a:t>100%</a:t>
            </a:r>
          </a:p>
        </p:txBody>
      </p:sp>
      <p:sp>
        <p:nvSpPr>
          <p:cNvPr id="16" name="TextBox 15"/>
          <p:cNvSpPr txBox="1"/>
          <p:nvPr/>
        </p:nvSpPr>
        <p:spPr>
          <a:xfrm>
            <a:off x="8321040" y="2651760"/>
            <a:ext cx="3291840" cy="320040"/>
          </a:xfrm>
          <a:prstGeom prst="rect">
            <a:avLst/>
          </a:prstGeom>
          <a:noFill/>
        </p:spPr>
        <p:txBody>
          <a:bodyPr wrap="square" lIns="0" tIns="0" rIns="0" bIns="0" anchor="t">
            <a:spAutoFit/>
          </a:bodyPr>
          <a:lstStyle/>
          <a:p>
            <a:pPr algn="l"/>
            <a:r>
              <a:rPr sz="1000" b="1" i="0" spc="300">
                <a:solidFill>
                  <a:srgbClr val="64748B"/>
                </a:solidFill>
                <a:latin typeface="Calibri"/>
              </a:rPr>
              <a:t>MEAN PR-AUC</a:t>
            </a:r>
          </a:p>
        </p:txBody>
      </p:sp>
      <p:sp>
        <p:nvSpPr>
          <p:cNvPr id="17" name="TextBox 16"/>
          <p:cNvSpPr txBox="1"/>
          <p:nvPr/>
        </p:nvSpPr>
        <p:spPr>
          <a:xfrm>
            <a:off x="457200" y="3291840"/>
            <a:ext cx="11247120" cy="365760"/>
          </a:xfrm>
          <a:prstGeom prst="rect">
            <a:avLst/>
          </a:prstGeom>
          <a:noFill/>
        </p:spPr>
        <p:txBody>
          <a:bodyPr wrap="square" lIns="0" tIns="0" rIns="0" bIns="0" anchor="t">
            <a:spAutoFit/>
          </a:bodyPr>
          <a:lstStyle/>
          <a:p>
            <a:pPr algn="l"/>
            <a:r>
              <a:rPr sz="1400" b="1" i="0">
                <a:solidFill>
                  <a:srgbClr val="1E2761"/>
                </a:solidFill>
                <a:latin typeface="Calibri"/>
              </a:rPr>
              <a:t>Per-class performance (Proposed Random Forest · Test set, n=1446)</a:t>
            </a:r>
          </a:p>
        </p:txBody>
      </p:sp>
      <p:graphicFrame>
        <p:nvGraphicFramePr>
          <p:cNvPr id="18" name="Table 17"/>
          <p:cNvGraphicFramePr>
            <a:graphicFrameLocks noGrp="1"/>
          </p:cNvGraphicFramePr>
          <p:nvPr>
            <p:extLst>
              <p:ext uri="{D42A27DB-BD31-4B8C-83A1-F6EECF244321}">
                <p14:modId xmlns:p14="http://schemas.microsoft.com/office/powerpoint/2010/main" val="1285114964"/>
              </p:ext>
            </p:extLst>
          </p:nvPr>
        </p:nvGraphicFramePr>
        <p:xfrm>
          <a:off x="457200" y="3703320"/>
          <a:ext cx="9991217" cy="182880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55777">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365760">
                <a:tc>
                  <a:txBody>
                    <a:bodyPr/>
                    <a:lstStyle/>
                    <a:p>
                      <a:pPr algn="l"/>
                      <a:r>
                        <a:rPr sz="1200" b="1" dirty="0">
                          <a:solidFill>
                            <a:srgbClr val="FFFFFF"/>
                          </a:solidFill>
                          <a:latin typeface="Calibri"/>
                        </a:rPr>
                        <a:t>Class</a:t>
                      </a:r>
                    </a:p>
                  </a:txBody>
                  <a:tcPr marL="73152" marR="73152" marT="36576" marB="36576">
                    <a:solidFill>
                      <a:srgbClr val="1E2761"/>
                    </a:solidFill>
                  </a:tcPr>
                </a:tc>
                <a:tc>
                  <a:txBody>
                    <a:bodyPr/>
                    <a:lstStyle/>
                    <a:p>
                      <a:pPr algn="ctr"/>
                      <a:r>
                        <a:rPr sz="1200" b="1" dirty="0">
                          <a:solidFill>
                            <a:srgbClr val="FFFFFF"/>
                          </a:solidFill>
                          <a:latin typeface="Calibri"/>
                        </a:rPr>
                        <a:t>Precision</a:t>
                      </a:r>
                    </a:p>
                  </a:txBody>
                  <a:tcPr marL="73152" marR="73152" marT="36576" marB="36576">
                    <a:solidFill>
                      <a:srgbClr val="1E2761"/>
                    </a:solidFill>
                  </a:tcPr>
                </a:tc>
                <a:tc>
                  <a:txBody>
                    <a:bodyPr/>
                    <a:lstStyle/>
                    <a:p>
                      <a:pPr algn="ctr"/>
                      <a:r>
                        <a:rPr sz="1200" b="1">
                          <a:solidFill>
                            <a:srgbClr val="FFFFFF"/>
                          </a:solidFill>
                          <a:latin typeface="Calibri"/>
                        </a:rPr>
                        <a:t>Recall</a:t>
                      </a:r>
                    </a:p>
                  </a:txBody>
                  <a:tcPr marL="73152" marR="73152" marT="36576" marB="36576">
                    <a:solidFill>
                      <a:srgbClr val="1E2761"/>
                    </a:solidFill>
                  </a:tcPr>
                </a:tc>
                <a:tc>
                  <a:txBody>
                    <a:bodyPr/>
                    <a:lstStyle/>
                    <a:p>
                      <a:pPr algn="ctr"/>
                      <a:r>
                        <a:rPr sz="1200" b="1">
                          <a:solidFill>
                            <a:srgbClr val="FFFFFF"/>
                          </a:solidFill>
                          <a:latin typeface="Calibri"/>
                        </a:rPr>
                        <a:t>F1-score</a:t>
                      </a:r>
                    </a:p>
                  </a:txBody>
                  <a:tcPr marL="73152" marR="73152" marT="36576" marB="36576">
                    <a:solidFill>
                      <a:srgbClr val="1E2761"/>
                    </a:solidFill>
                  </a:tcPr>
                </a:tc>
                <a:tc>
                  <a:txBody>
                    <a:bodyPr/>
                    <a:lstStyle/>
                    <a:p>
                      <a:pPr algn="ctr"/>
                      <a:r>
                        <a:rPr sz="1200" b="1">
                          <a:solidFill>
                            <a:srgbClr val="FFFFFF"/>
                          </a:solidFill>
                          <a:latin typeface="Calibri"/>
                        </a:rPr>
                        <a:t>Support</a:t>
                      </a:r>
                    </a:p>
                  </a:txBody>
                  <a:tcPr marL="73152" marR="73152" marT="36576" marB="36576">
                    <a:solidFill>
                      <a:srgbClr val="1E2761"/>
                    </a:solidFill>
                  </a:tcPr>
                </a:tc>
                <a:extLst>
                  <a:ext uri="{0D108BD9-81ED-4DB2-BD59-A6C34878D82A}">
                    <a16:rowId xmlns:a16="http://schemas.microsoft.com/office/drawing/2014/main" val="10000"/>
                  </a:ext>
                </a:extLst>
              </a:tr>
              <a:tr h="365760">
                <a:tc>
                  <a:txBody>
                    <a:bodyPr/>
                    <a:lstStyle/>
                    <a:p>
                      <a:pPr algn="l"/>
                      <a:r>
                        <a:rPr sz="1200" b="0">
                          <a:solidFill>
                            <a:srgbClr val="1A1A2E"/>
                          </a:solidFill>
                          <a:latin typeface="Calibri"/>
                        </a:rPr>
                        <a:t>credential_stuffing</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396</a:t>
                      </a:r>
                    </a:p>
                  </a:txBody>
                  <a:tcPr marL="73152" marR="73152" marT="36576" marB="36576"/>
                </a:tc>
                <a:extLst>
                  <a:ext uri="{0D108BD9-81ED-4DB2-BD59-A6C34878D82A}">
                    <a16:rowId xmlns:a16="http://schemas.microsoft.com/office/drawing/2014/main" val="10001"/>
                  </a:ext>
                </a:extLst>
              </a:tr>
              <a:tr h="365760">
                <a:tc>
                  <a:txBody>
                    <a:bodyPr/>
                    <a:lstStyle/>
                    <a:p>
                      <a:pPr algn="l"/>
                      <a:r>
                        <a:rPr sz="1200" b="0">
                          <a:solidFill>
                            <a:srgbClr val="1A1A2E"/>
                          </a:solidFill>
                          <a:latin typeface="Calibri"/>
                        </a:rPr>
                        <a:t>http_flood</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332</a:t>
                      </a:r>
                    </a:p>
                  </a:txBody>
                  <a:tcPr marL="73152" marR="73152" marT="36576" marB="36576"/>
                </a:tc>
                <a:extLst>
                  <a:ext uri="{0D108BD9-81ED-4DB2-BD59-A6C34878D82A}">
                    <a16:rowId xmlns:a16="http://schemas.microsoft.com/office/drawing/2014/main" val="10002"/>
                  </a:ext>
                </a:extLst>
              </a:tr>
              <a:tr h="365760">
                <a:tc>
                  <a:txBody>
                    <a:bodyPr/>
                    <a:lstStyle/>
                    <a:p>
                      <a:pPr algn="l"/>
                      <a:r>
                        <a:rPr sz="1200" b="0">
                          <a:solidFill>
                            <a:srgbClr val="1A1A2E"/>
                          </a:solidFill>
                          <a:latin typeface="Calibri"/>
                        </a:rPr>
                        <a:t>low_rate_bot</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145</a:t>
                      </a:r>
                    </a:p>
                  </a:txBody>
                  <a:tcPr marL="73152" marR="73152" marT="36576" marB="36576"/>
                </a:tc>
                <a:extLst>
                  <a:ext uri="{0D108BD9-81ED-4DB2-BD59-A6C34878D82A}">
                    <a16:rowId xmlns:a16="http://schemas.microsoft.com/office/drawing/2014/main" val="10003"/>
                  </a:ext>
                </a:extLst>
              </a:tr>
              <a:tr h="365760">
                <a:tc>
                  <a:txBody>
                    <a:bodyPr/>
                    <a:lstStyle/>
                    <a:p>
                      <a:pPr algn="l"/>
                      <a:r>
                        <a:rPr sz="1200" b="0">
                          <a:solidFill>
                            <a:srgbClr val="1A1A2E"/>
                          </a:solidFill>
                          <a:latin typeface="Calibri"/>
                        </a:rPr>
                        <a:t>normal_user</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a:solidFill>
                            <a:srgbClr val="1A1A2E"/>
                          </a:solidFill>
                          <a:latin typeface="Calibri"/>
                        </a:rPr>
                        <a:t>1.0000</a:t>
                      </a:r>
                    </a:p>
                  </a:txBody>
                  <a:tcPr marL="73152" marR="73152" marT="36576" marB="36576"/>
                </a:tc>
                <a:tc>
                  <a:txBody>
                    <a:bodyPr/>
                    <a:lstStyle/>
                    <a:p>
                      <a:pPr algn="ctr"/>
                      <a:r>
                        <a:rPr sz="1200" b="0" dirty="0">
                          <a:solidFill>
                            <a:srgbClr val="1A1A2E"/>
                          </a:solidFill>
                          <a:latin typeface="Calibri"/>
                        </a:rPr>
                        <a:t>573</a:t>
                      </a:r>
                    </a:p>
                  </a:txBody>
                  <a:tcPr marL="73152" marR="73152" marT="36576" marB="36576"/>
                </a:tc>
                <a:extLst>
                  <a:ext uri="{0D108BD9-81ED-4DB2-BD59-A6C34878D82A}">
                    <a16:rowId xmlns:a16="http://schemas.microsoft.com/office/drawing/2014/main" val="10004"/>
                  </a:ext>
                </a:extLst>
              </a:tr>
            </a:tbl>
          </a:graphicData>
        </a:graphic>
      </p:graphicFrame>
      <p:sp>
        <p:nvSpPr>
          <p:cNvPr id="19" name="Rectangle 18"/>
          <p:cNvSpPr/>
          <p:nvPr/>
        </p:nvSpPr>
        <p:spPr>
          <a:xfrm>
            <a:off x="457200" y="5852160"/>
            <a:ext cx="11247120" cy="64008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5852160"/>
            <a:ext cx="10972800" cy="640080"/>
          </a:xfrm>
          <a:prstGeom prst="rect">
            <a:avLst/>
          </a:prstGeom>
          <a:noFill/>
        </p:spPr>
        <p:txBody>
          <a:bodyPr wrap="square" lIns="0" tIns="0" rIns="0" bIns="0" anchor="ctr">
            <a:spAutoFit/>
          </a:bodyPr>
          <a:lstStyle/>
          <a:p>
            <a:pPr algn="l"/>
            <a:r>
              <a:rPr sz="1200" b="1" i="0">
                <a:solidFill>
                  <a:srgbClr val="1E2761"/>
                </a:solidFill>
                <a:latin typeface="Calibri"/>
              </a:rPr>
              <a:t>Reading: </a:t>
            </a:r>
            <a:r>
              <a:rPr sz="1200" b="0" i="1">
                <a:solidFill>
                  <a:srgbClr val="1A1A2E"/>
                </a:solidFill>
                <a:latin typeface="Calibri"/>
              </a:rPr>
              <a:t>zero misclassifications across 1,446 test windows. Verified by 5-fold CV (next slide) and permutation sanity (real 99.8% vs permuted 33%).</a:t>
            </a:r>
          </a:p>
        </p:txBody>
      </p:sp>
      <p:sp>
        <p:nvSpPr>
          <p:cNvPr id="21" name="TextBox 20"/>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Graduation Thesis · Final Defense</a:t>
            </a:r>
          </a:p>
        </p:txBody>
      </p:sp>
      <p:sp>
        <p:nvSpPr>
          <p:cNvPr id="22" name="TextBox 21"/>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11 / 23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3 · RESULTS · STABILITY</a:t>
            </a:r>
          </a:p>
        </p:txBody>
      </p:sp>
      <mc:AlternateContent xmlns:mc="http://schemas.openxmlformats.org/markup-compatibility/2006">
        <mc:Choice xmlns:a14="http://schemas.microsoft.com/office/drawing/2010/main" Requires="a14">
          <p:sp>
            <p:nvSpPr>
              <p:cNvPr id="3" name="TextBox 2"/>
              <p:cNvSpPr txBox="1"/>
              <p:nvPr/>
            </p:nvSpPr>
            <p:spPr>
              <a:xfrm>
                <a:off x="365760" y="548640"/>
                <a:ext cx="11430000" cy="430887"/>
              </a:xfrm>
              <a:prstGeom prst="rect">
                <a:avLst/>
              </a:prstGeom>
              <a:noFill/>
            </p:spPr>
            <p:txBody>
              <a:bodyPr wrap="square" lIns="0" tIns="0" rIns="0" bIns="0" anchor="t">
                <a:spAutoFit/>
              </a:bodyPr>
              <a:lstStyle/>
              <a:p>
                <a:pPr algn="l"/>
                <a:r>
                  <a:rPr lang="tr-TR" sz="2800" b="1" i="0" dirty="0">
                    <a:solidFill>
                      <a:srgbClr val="1E2760"/>
                    </a:solidFill>
                    <a:latin typeface="Calibri"/>
                  </a:rPr>
                  <a:t>B </a:t>
                </a:r>
                <a14:m>
                  <m:oMath xmlns:m="http://schemas.openxmlformats.org/officeDocument/2006/math">
                    <m:r>
                      <a:rPr lang="tr-TR" sz="2800" b="1" i="1" smtClean="0">
                        <a:solidFill>
                          <a:srgbClr val="1E2760"/>
                        </a:solidFill>
                        <a:latin typeface="Cambria Math" panose="02040503050406030204" pitchFamily="18" charset="0"/>
                      </a:rPr>
                      <m:t>⋅</m:t>
                    </m:r>
                  </m:oMath>
                </a14:m>
                <a:r>
                  <a:rPr lang="tr-TR" sz="2800" b="1" i="0" dirty="0">
                    <a:solidFill>
                      <a:srgbClr val="1E2760"/>
                    </a:solidFill>
                    <a:latin typeface="Calibri"/>
                  </a:rPr>
                  <a:t> Cross-Validation Stability Check</a:t>
                </a:r>
              </a:p>
            </p:txBody>
          </p:sp>
        </mc:Choice>
        <mc:Fallback>
          <p:sp>
            <p:nvSpPr>
              <p:cNvPr id="3" name="TextBox 2"/>
              <p:cNvSpPr txBox="1">
                <a:spLocks noRot="1" noChangeAspect="1" noMove="1" noResize="1" noEditPoints="1" noAdjustHandles="1" noChangeArrowheads="1" noChangeShapeType="1" noTextEdit="1"/>
              </p:cNvSpPr>
              <p:nvPr/>
            </p:nvSpPr>
            <p:spPr>
              <a:xfrm>
                <a:off x="365760" y="548640"/>
                <a:ext cx="11430000" cy="430887"/>
              </a:xfrm>
              <a:prstGeom prst="rect">
                <a:avLst/>
              </a:prstGeom>
              <a:blipFill>
                <a:blip r:embed="rId2"/>
                <a:stretch>
                  <a:fillRect l="-1887" t="-25714" b="-45714"/>
                </a:stretch>
              </a:blipFill>
            </p:spPr>
            <p:txBody>
              <a:bodyPr/>
              <a:lstStyle/>
              <a:p>
                <a:r>
                  <a:rPr lang="tr-TR">
                    <a:noFill/>
                  </a:rPr>
                  <a:t> </a:t>
                </a:r>
              </a:p>
            </p:txBody>
          </p:sp>
        </mc:Fallback>
      </mc:AlternateContent>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5-fold stratified CV confirms the single-split result is not an artifact</a:t>
            </a:r>
          </a:p>
        </p:txBody>
      </p:sp>
      <p:pic>
        <p:nvPicPr>
          <p:cNvPr id="5" name="Picture 4" descr="fig11_cross_validation.png"/>
          <p:cNvPicPr>
            <a:picLocks noChangeAspect="1"/>
          </p:cNvPicPr>
          <p:nvPr/>
        </p:nvPicPr>
        <p:blipFill>
          <a:blip r:embed="rId3"/>
          <a:stretch>
            <a:fillRect/>
          </a:stretch>
        </p:blipFill>
        <p:spPr>
          <a:xfrm>
            <a:off x="457200" y="1691640"/>
            <a:ext cx="7315200" cy="3657600"/>
          </a:xfrm>
          <a:prstGeom prst="rect">
            <a:avLst/>
          </a:prstGeom>
        </p:spPr>
      </p:pic>
      <p:sp>
        <p:nvSpPr>
          <p:cNvPr id="6" name="Rectangle 5"/>
          <p:cNvSpPr/>
          <p:nvPr/>
        </p:nvSpPr>
        <p:spPr>
          <a:xfrm>
            <a:off x="8092440" y="1783080"/>
            <a:ext cx="365760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092440" y="1783080"/>
            <a:ext cx="91440" cy="1097280"/>
          </a:xfrm>
          <a:prstGeom prst="rect">
            <a:avLst/>
          </a:prstGeom>
          <a:solidFill>
            <a:srgbClr val="125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321040" y="1874519"/>
            <a:ext cx="3383280" cy="461665"/>
          </a:xfrm>
          <a:prstGeom prst="rect">
            <a:avLst/>
          </a:prstGeom>
          <a:noFill/>
        </p:spPr>
        <p:txBody>
          <a:bodyPr wrap="square" lIns="0" tIns="0" rIns="0" bIns="0" anchor="t">
            <a:spAutoFit/>
          </a:bodyPr>
          <a:lstStyle/>
          <a:p>
            <a:pPr algn="l"/>
            <a:r>
              <a:rPr sz="3000" b="1" i="0" dirty="0">
                <a:solidFill>
                  <a:srgbClr val="12565C"/>
                </a:solidFill>
                <a:latin typeface="Calibri"/>
              </a:rPr>
              <a:t>99.94%</a:t>
            </a:r>
          </a:p>
        </p:txBody>
      </p:sp>
      <p:sp>
        <p:nvSpPr>
          <p:cNvPr id="9" name="TextBox 8"/>
          <p:cNvSpPr txBox="1"/>
          <p:nvPr/>
        </p:nvSpPr>
        <p:spPr>
          <a:xfrm>
            <a:off x="8321040" y="2286000"/>
            <a:ext cx="3383280" cy="215444"/>
          </a:xfrm>
          <a:prstGeom prst="rect">
            <a:avLst/>
          </a:prstGeom>
          <a:noFill/>
        </p:spPr>
        <p:txBody>
          <a:bodyPr wrap="square" lIns="0" tIns="0" rIns="0" bIns="0" anchor="t">
            <a:spAutoFit/>
          </a:bodyPr>
          <a:lstStyle/>
          <a:p>
            <a:pPr algn="l"/>
            <a:r>
              <a:rPr sz="1400" b="1" i="1" dirty="0">
                <a:solidFill>
                  <a:srgbClr val="F37866"/>
                </a:solidFill>
                <a:latin typeface="Calibri"/>
              </a:rPr>
              <a:t>± 0.05%</a:t>
            </a:r>
          </a:p>
        </p:txBody>
      </p:sp>
      <p:sp>
        <p:nvSpPr>
          <p:cNvPr id="10" name="TextBox 9"/>
          <p:cNvSpPr txBox="1"/>
          <p:nvPr/>
        </p:nvSpPr>
        <p:spPr>
          <a:xfrm>
            <a:off x="8321040" y="2560320"/>
            <a:ext cx="3383280" cy="274320"/>
          </a:xfrm>
          <a:prstGeom prst="rect">
            <a:avLst/>
          </a:prstGeom>
          <a:noFill/>
        </p:spPr>
        <p:txBody>
          <a:bodyPr wrap="square" lIns="0" tIns="0" rIns="0" bIns="0" anchor="t">
            <a:spAutoFit/>
          </a:bodyPr>
          <a:lstStyle/>
          <a:p>
            <a:pPr algn="l"/>
            <a:r>
              <a:rPr sz="1100" b="1" i="0" spc="300">
                <a:solidFill>
                  <a:srgbClr val="64748B"/>
                </a:solidFill>
                <a:latin typeface="Calibri"/>
              </a:rPr>
              <a:t>Accuracy</a:t>
            </a:r>
          </a:p>
        </p:txBody>
      </p:sp>
      <p:sp>
        <p:nvSpPr>
          <p:cNvPr id="11" name="Rectangle 10"/>
          <p:cNvSpPr/>
          <p:nvPr/>
        </p:nvSpPr>
        <p:spPr>
          <a:xfrm>
            <a:off x="8092440" y="3017520"/>
            <a:ext cx="365760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092440" y="3017520"/>
            <a:ext cx="91440" cy="1097280"/>
          </a:xfrm>
          <a:prstGeom prst="rect">
            <a:avLst/>
          </a:prstGeom>
          <a:solidFill>
            <a:srgbClr val="10565C">
              <a:alpha val="76078"/>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21040" y="3108960"/>
            <a:ext cx="3383280" cy="461665"/>
          </a:xfrm>
          <a:prstGeom prst="rect">
            <a:avLst/>
          </a:prstGeom>
          <a:noFill/>
        </p:spPr>
        <p:txBody>
          <a:bodyPr wrap="square" lIns="0" tIns="0" rIns="0" bIns="0" anchor="t">
            <a:spAutoFit/>
          </a:bodyPr>
          <a:lstStyle/>
          <a:p>
            <a:pPr algn="l"/>
            <a:r>
              <a:rPr sz="3000" b="1" i="0" dirty="0">
                <a:solidFill>
                  <a:srgbClr val="487E83"/>
                </a:solidFill>
                <a:latin typeface="Calibri"/>
              </a:rPr>
              <a:t>99.92%</a:t>
            </a:r>
          </a:p>
        </p:txBody>
      </p:sp>
      <p:sp>
        <p:nvSpPr>
          <p:cNvPr id="14" name="TextBox 13"/>
          <p:cNvSpPr txBox="1"/>
          <p:nvPr/>
        </p:nvSpPr>
        <p:spPr>
          <a:xfrm>
            <a:off x="8321040" y="3520439"/>
            <a:ext cx="3383280" cy="215444"/>
          </a:xfrm>
          <a:prstGeom prst="rect">
            <a:avLst/>
          </a:prstGeom>
          <a:noFill/>
        </p:spPr>
        <p:txBody>
          <a:bodyPr wrap="square" lIns="0" tIns="0" rIns="0" bIns="0" anchor="t">
            <a:spAutoFit/>
          </a:bodyPr>
          <a:lstStyle/>
          <a:p>
            <a:pPr algn="l"/>
            <a:r>
              <a:rPr sz="1400" b="1" i="1" dirty="0">
                <a:solidFill>
                  <a:srgbClr val="F37866"/>
                </a:solidFill>
                <a:latin typeface="Calibri"/>
              </a:rPr>
              <a:t>± 0.05%</a:t>
            </a:r>
          </a:p>
        </p:txBody>
      </p:sp>
      <p:sp>
        <p:nvSpPr>
          <p:cNvPr id="15" name="TextBox 14"/>
          <p:cNvSpPr txBox="1"/>
          <p:nvPr/>
        </p:nvSpPr>
        <p:spPr>
          <a:xfrm>
            <a:off x="8321040" y="3794759"/>
            <a:ext cx="3383280" cy="274320"/>
          </a:xfrm>
          <a:prstGeom prst="rect">
            <a:avLst/>
          </a:prstGeom>
          <a:noFill/>
        </p:spPr>
        <p:txBody>
          <a:bodyPr wrap="square" lIns="0" tIns="0" rIns="0" bIns="0" anchor="t">
            <a:spAutoFit/>
          </a:bodyPr>
          <a:lstStyle/>
          <a:p>
            <a:pPr algn="l"/>
            <a:r>
              <a:rPr sz="1100" b="1" i="0" spc="300">
                <a:solidFill>
                  <a:srgbClr val="64748B"/>
                </a:solidFill>
                <a:latin typeface="Calibri"/>
              </a:rPr>
              <a:t>Macro-F1</a:t>
            </a:r>
          </a:p>
        </p:txBody>
      </p:sp>
      <p:sp>
        <p:nvSpPr>
          <p:cNvPr id="16" name="Rectangle 15"/>
          <p:cNvSpPr/>
          <p:nvPr/>
        </p:nvSpPr>
        <p:spPr>
          <a:xfrm>
            <a:off x="8092440" y="4251960"/>
            <a:ext cx="365760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92440" y="4251960"/>
            <a:ext cx="91440" cy="1097280"/>
          </a:xfrm>
          <a:prstGeom prst="rect">
            <a:avLst/>
          </a:prstGeom>
          <a:solidFill>
            <a:srgbClr val="487E83">
              <a:alpha val="7882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21040" y="4343400"/>
            <a:ext cx="3383280" cy="461665"/>
          </a:xfrm>
          <a:prstGeom prst="rect">
            <a:avLst/>
          </a:prstGeom>
          <a:noFill/>
        </p:spPr>
        <p:txBody>
          <a:bodyPr wrap="square" lIns="0" tIns="0" rIns="0" bIns="0" anchor="t">
            <a:spAutoFit/>
          </a:bodyPr>
          <a:lstStyle/>
          <a:p>
            <a:pPr algn="l"/>
            <a:r>
              <a:rPr sz="3000" b="1" i="0" dirty="0">
                <a:solidFill>
                  <a:srgbClr val="59A3AB"/>
                </a:solidFill>
                <a:latin typeface="Calibri"/>
              </a:rPr>
              <a:t>99.94%</a:t>
            </a:r>
          </a:p>
        </p:txBody>
      </p:sp>
      <p:sp>
        <p:nvSpPr>
          <p:cNvPr id="19" name="TextBox 18"/>
          <p:cNvSpPr txBox="1"/>
          <p:nvPr/>
        </p:nvSpPr>
        <p:spPr>
          <a:xfrm>
            <a:off x="8321040" y="4754880"/>
            <a:ext cx="3383280" cy="215444"/>
          </a:xfrm>
          <a:prstGeom prst="rect">
            <a:avLst/>
          </a:prstGeom>
          <a:noFill/>
        </p:spPr>
        <p:txBody>
          <a:bodyPr wrap="square" lIns="0" tIns="0" rIns="0" bIns="0" anchor="t">
            <a:spAutoFit/>
          </a:bodyPr>
          <a:lstStyle/>
          <a:p>
            <a:pPr algn="l"/>
            <a:r>
              <a:rPr sz="1400" b="1" i="1" dirty="0">
                <a:solidFill>
                  <a:srgbClr val="F37866"/>
                </a:solidFill>
                <a:latin typeface="Calibri"/>
              </a:rPr>
              <a:t>± 0.05%</a:t>
            </a:r>
          </a:p>
        </p:txBody>
      </p:sp>
      <p:sp>
        <p:nvSpPr>
          <p:cNvPr id="20" name="TextBox 19"/>
          <p:cNvSpPr txBox="1"/>
          <p:nvPr/>
        </p:nvSpPr>
        <p:spPr>
          <a:xfrm>
            <a:off x="8321040" y="5029200"/>
            <a:ext cx="3383280" cy="274320"/>
          </a:xfrm>
          <a:prstGeom prst="rect">
            <a:avLst/>
          </a:prstGeom>
          <a:noFill/>
        </p:spPr>
        <p:txBody>
          <a:bodyPr wrap="square" lIns="0" tIns="0" rIns="0" bIns="0" anchor="t">
            <a:spAutoFit/>
          </a:bodyPr>
          <a:lstStyle/>
          <a:p>
            <a:pPr algn="l"/>
            <a:r>
              <a:rPr sz="1100" b="1" i="0" spc="300">
                <a:solidFill>
                  <a:srgbClr val="64748B"/>
                </a:solidFill>
                <a:latin typeface="Calibri"/>
              </a:rPr>
              <a:t>Weighted-F1</a:t>
            </a:r>
          </a:p>
        </p:txBody>
      </p:sp>
      <p:sp>
        <p:nvSpPr>
          <p:cNvPr id="21" name="Rectangle 20"/>
          <p:cNvSpPr/>
          <p:nvPr/>
        </p:nvSpPr>
        <p:spPr>
          <a:xfrm>
            <a:off x="457200" y="5532120"/>
            <a:ext cx="11247120" cy="8229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5532120"/>
            <a:ext cx="137160" cy="822960"/>
          </a:xfrm>
          <a:prstGeom prst="rect">
            <a:avLst/>
          </a:prstGeom>
          <a:solidFill>
            <a:srgbClr val="649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5596128"/>
            <a:ext cx="4572000" cy="274320"/>
          </a:xfrm>
          <a:prstGeom prst="rect">
            <a:avLst/>
          </a:prstGeom>
          <a:noFill/>
        </p:spPr>
        <p:txBody>
          <a:bodyPr wrap="square" lIns="0" tIns="0" rIns="0" bIns="0" anchor="t">
            <a:spAutoFit/>
          </a:bodyPr>
          <a:lstStyle/>
          <a:p>
            <a:pPr algn="l"/>
            <a:r>
              <a:rPr sz="1100" b="1" i="0" spc="400">
                <a:solidFill>
                  <a:srgbClr val="02C39A"/>
                </a:solidFill>
                <a:latin typeface="Calibri"/>
              </a:rPr>
              <a:t>STABILITY EVIDENCE</a:t>
            </a:r>
          </a:p>
        </p:txBody>
      </p:sp>
      <p:sp>
        <p:nvSpPr>
          <p:cNvPr id="24" name="TextBox 23"/>
          <p:cNvSpPr txBox="1"/>
          <p:nvPr/>
        </p:nvSpPr>
        <p:spPr>
          <a:xfrm>
            <a:off x="777240" y="5852160"/>
            <a:ext cx="10789920" cy="502920"/>
          </a:xfrm>
          <a:prstGeom prst="rect">
            <a:avLst/>
          </a:prstGeom>
          <a:noFill/>
        </p:spPr>
        <p:txBody>
          <a:bodyPr wrap="square" lIns="0" tIns="0" rIns="0" bIns="0" anchor="t">
            <a:spAutoFit/>
          </a:bodyPr>
          <a:lstStyle/>
          <a:p>
            <a:pPr algn="l"/>
            <a:r>
              <a:rPr sz="1100" b="0" i="1">
                <a:solidFill>
                  <a:srgbClr val="FFFFFF"/>
                </a:solidFill>
                <a:latin typeface="Calibri"/>
              </a:rPr>
              <a:t>Per-fold range: 99.84% – 100%. Std = 0.0005 confirms the in-distribution result is not a single-split artifact. Combined with the permutation sanity (real 99.8% vs permuted 33%), this provides multi-layered evidence against overfitting.</a:t>
            </a:r>
          </a:p>
        </p:txBody>
      </p:sp>
      <p:sp>
        <p:nvSpPr>
          <p:cNvPr id="25" name="TextBox 24"/>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Graduation Thesis · Final Defense</a:t>
            </a:r>
          </a:p>
        </p:txBody>
      </p:sp>
      <p:sp>
        <p:nvSpPr>
          <p:cNvPr id="26" name="TextBox 25"/>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12 / 23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18" name="Rectangle 1">
            <a:extLst>
              <a:ext uri="{FF2B5EF4-FFF2-40B4-BE49-F238E27FC236}">
                <a16:creationId xmlns:a16="http://schemas.microsoft.com/office/drawing/2014/main" id="{028A2DF2-042A-8A3A-4D43-0F1B70EB79B4}"/>
              </a:ext>
            </a:extLst>
          </p:cNvPr>
          <p:cNvSpPr/>
          <p:nvPr/>
        </p:nvSpPr>
        <p:spPr>
          <a:xfrm>
            <a:off x="3864" y="-14516"/>
            <a:ext cx="12157974" cy="685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22860" y="-14516"/>
            <a:ext cx="205422" cy="6872516"/>
          </a:xfrm>
          <a:prstGeom prst="rect">
            <a:avLst/>
          </a:prstGeom>
          <a:solidFill>
            <a:srgbClr val="F37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5486400" cy="274320"/>
          </a:xfrm>
          <a:prstGeom prst="rect">
            <a:avLst/>
          </a:prstGeom>
          <a:noFill/>
        </p:spPr>
        <p:txBody>
          <a:bodyPr wrap="square" lIns="0" tIns="0" rIns="0" bIns="0" anchor="t">
            <a:spAutoFit/>
          </a:bodyPr>
          <a:lstStyle/>
          <a:p>
            <a:pPr algn="l"/>
            <a:r>
              <a:rPr sz="1000" b="1" i="0" spc="400">
                <a:solidFill>
                  <a:srgbClr val="F96167"/>
                </a:solidFill>
                <a:latin typeface="Calibri"/>
              </a:rPr>
              <a:t>3 · RESULTS · THE KEY EXPERIMENT</a:t>
            </a:r>
          </a:p>
        </p:txBody>
      </p:sp>
      <mc:AlternateContent xmlns:mc="http://schemas.openxmlformats.org/markup-compatibility/2006">
        <mc:Choice xmlns:a14="http://schemas.microsoft.com/office/drawing/2010/main" Requires="a14">
          <p:sp>
            <p:nvSpPr>
              <p:cNvPr id="4" name="TextBox 3"/>
              <p:cNvSpPr txBox="1"/>
              <p:nvPr/>
            </p:nvSpPr>
            <p:spPr>
              <a:xfrm>
                <a:off x="457200" y="548640"/>
                <a:ext cx="11430000" cy="430887"/>
              </a:xfrm>
              <a:prstGeom prst="rect">
                <a:avLst/>
              </a:prstGeom>
              <a:noFill/>
            </p:spPr>
            <p:txBody>
              <a:bodyPr wrap="square" lIns="0" tIns="0" rIns="0" bIns="0" anchor="t">
                <a:spAutoFit/>
              </a:bodyPr>
              <a:lstStyle/>
              <a:p>
                <a:pPr algn="l"/>
                <a:r>
                  <a:rPr lang="tr-TR" sz="2800" b="1" i="0" dirty="0">
                    <a:solidFill>
                      <a:srgbClr val="1E2760"/>
                    </a:solidFill>
                    <a:latin typeface="Calibri"/>
                  </a:rPr>
                  <a:t>C </a:t>
                </a:r>
                <a14:m>
                  <m:oMath xmlns:m="http://schemas.openxmlformats.org/officeDocument/2006/math">
                    <m:r>
                      <a:rPr lang="tr-TR" sz="2800" b="1" i="1" smtClean="0">
                        <a:solidFill>
                          <a:srgbClr val="1E2760"/>
                        </a:solidFill>
                        <a:latin typeface="Cambria Math" panose="02040503050406030204" pitchFamily="18" charset="0"/>
                      </a:rPr>
                      <m:t>⋅</m:t>
                    </m:r>
                  </m:oMath>
                </a14:m>
                <a:r>
                  <a:rPr lang="tr-TR" sz="2800" b="1" i="0" dirty="0">
                    <a:solidFill>
                      <a:srgbClr val="1E2760"/>
                    </a:solidFill>
                    <a:latin typeface="Calibri"/>
                  </a:rPr>
                  <a:t> Mimicry Holdout — The Heart of the Thesis</a:t>
                </a:r>
              </a:p>
            </p:txBody>
          </p:sp>
        </mc:Choice>
        <mc:Fallback>
          <p:sp>
            <p:nvSpPr>
              <p:cNvPr id="4" name="TextBox 3"/>
              <p:cNvSpPr txBox="1">
                <a:spLocks noRot="1" noChangeAspect="1" noMove="1" noResize="1" noEditPoints="1" noAdjustHandles="1" noChangeArrowheads="1" noChangeShapeType="1" noTextEdit="1"/>
              </p:cNvSpPr>
              <p:nvPr/>
            </p:nvSpPr>
            <p:spPr>
              <a:xfrm>
                <a:off x="457200" y="548640"/>
                <a:ext cx="11430000" cy="430887"/>
              </a:xfrm>
              <a:prstGeom prst="rect">
                <a:avLst/>
              </a:prstGeom>
              <a:blipFill>
                <a:blip r:embed="rId3"/>
                <a:stretch>
                  <a:fillRect l="-1998" t="-25714" b="-45714"/>
                </a:stretch>
              </a:blipFill>
            </p:spPr>
            <p:txBody>
              <a:bodyPr/>
              <a:lstStyle/>
              <a:p>
                <a:r>
                  <a:rPr lang="tr-TR">
                    <a:noFill/>
                  </a:rPr>
                  <a:t> </a:t>
                </a:r>
              </a:p>
            </p:txBody>
          </p:sp>
        </mc:Fallback>
      </mc:AlternateContent>
      <p:sp>
        <p:nvSpPr>
          <p:cNvPr id="5" name="TextBox 4"/>
          <p:cNvSpPr txBox="1"/>
          <p:nvPr/>
        </p:nvSpPr>
        <p:spPr>
          <a:xfrm>
            <a:off x="457200" y="1188720"/>
            <a:ext cx="11430000" cy="215444"/>
          </a:xfrm>
          <a:prstGeom prst="rect">
            <a:avLst/>
          </a:prstGeom>
          <a:noFill/>
        </p:spPr>
        <p:txBody>
          <a:bodyPr wrap="square" lIns="0" tIns="0" rIns="0" bIns="0" anchor="t">
            <a:spAutoFit/>
          </a:bodyPr>
          <a:lstStyle/>
          <a:p>
            <a:pPr algn="l"/>
            <a:r>
              <a:rPr sz="1400" b="0" i="1" dirty="0">
                <a:solidFill>
                  <a:schemeClr val="tx1">
                    <a:lumMod val="50000"/>
                    <a:lumOff val="50000"/>
                  </a:schemeClr>
                </a:solidFill>
                <a:latin typeface="Calibri"/>
              </a:rPr>
              <a:t>The model never saw this attack during training. It only met it during the exam.</a:t>
            </a:r>
          </a:p>
        </p:txBody>
      </p:sp>
      <p:sp>
        <p:nvSpPr>
          <p:cNvPr id="6" name="Rectangle 5"/>
          <p:cNvSpPr/>
          <p:nvPr/>
        </p:nvSpPr>
        <p:spPr>
          <a:xfrm>
            <a:off x="457200" y="1828800"/>
            <a:ext cx="3657600" cy="2560320"/>
          </a:xfrm>
          <a:prstGeom prst="rect">
            <a:avLst/>
          </a:prstGeom>
          <a:solidFill>
            <a:schemeClr val="bg1">
              <a:lumMod val="95000"/>
            </a:schemeClr>
          </a:solidFill>
          <a:ln w="38100">
            <a:solidFill>
              <a:srgbClr val="02C3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2194560"/>
            <a:ext cx="3657600" cy="1280160"/>
          </a:xfrm>
          <a:prstGeom prst="rect">
            <a:avLst/>
          </a:prstGeom>
          <a:noFill/>
        </p:spPr>
        <p:txBody>
          <a:bodyPr wrap="square" lIns="0" tIns="0" rIns="0" bIns="0" anchor="t">
            <a:spAutoFit/>
          </a:bodyPr>
          <a:lstStyle/>
          <a:p>
            <a:pPr algn="ctr"/>
            <a:r>
              <a:rPr sz="6400" b="1" i="0">
                <a:solidFill>
                  <a:srgbClr val="02C39A"/>
                </a:solidFill>
                <a:latin typeface="Calibri"/>
              </a:rPr>
              <a:t>96.38%</a:t>
            </a:r>
          </a:p>
        </p:txBody>
      </p:sp>
      <p:sp>
        <p:nvSpPr>
          <p:cNvPr id="8" name="TextBox 7"/>
          <p:cNvSpPr txBox="1"/>
          <p:nvPr/>
        </p:nvSpPr>
        <p:spPr>
          <a:xfrm>
            <a:off x="731520" y="3474720"/>
            <a:ext cx="3108960" cy="338554"/>
          </a:xfrm>
          <a:prstGeom prst="rect">
            <a:avLst/>
          </a:prstGeom>
          <a:noFill/>
        </p:spPr>
        <p:txBody>
          <a:bodyPr wrap="square" lIns="0" tIns="0" rIns="0" bIns="0" anchor="t">
            <a:spAutoFit/>
          </a:bodyPr>
          <a:lstStyle/>
          <a:p>
            <a:pPr algn="ctr"/>
            <a:r>
              <a:rPr sz="1100" b="1" i="0" spc="200" dirty="0">
                <a:solidFill>
                  <a:schemeClr val="tx2">
                    <a:lumMod val="75000"/>
                  </a:schemeClr>
                </a:solidFill>
                <a:latin typeface="Calibri"/>
              </a:rPr>
              <a:t>classified CORRECTLY
as </a:t>
            </a:r>
            <a:r>
              <a:rPr sz="1100" b="1" i="0" spc="200" dirty="0" err="1">
                <a:solidFill>
                  <a:schemeClr val="tx2">
                    <a:lumMod val="75000"/>
                  </a:schemeClr>
                </a:solidFill>
                <a:latin typeface="Calibri"/>
              </a:rPr>
              <a:t>http_flood</a:t>
            </a:r>
            <a:endParaRPr sz="1100" b="1" i="0" spc="200" dirty="0">
              <a:solidFill>
                <a:schemeClr val="tx2">
                  <a:lumMod val="75000"/>
                </a:schemeClr>
              </a:solidFill>
              <a:latin typeface="Calibri"/>
            </a:endParaRPr>
          </a:p>
        </p:txBody>
      </p:sp>
      <p:sp>
        <p:nvSpPr>
          <p:cNvPr id="9" name="Rectangle 8"/>
          <p:cNvSpPr/>
          <p:nvPr/>
        </p:nvSpPr>
        <p:spPr>
          <a:xfrm>
            <a:off x="4251960" y="1828800"/>
            <a:ext cx="3657600" cy="2560320"/>
          </a:xfrm>
          <a:prstGeom prst="rect">
            <a:avLst/>
          </a:prstGeom>
          <a:solidFill>
            <a:schemeClr val="bg1">
              <a:lumMod val="95000"/>
            </a:schemeClr>
          </a:solidFill>
          <a:ln w="12700">
            <a:solidFill>
              <a:srgbClr val="F378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37866"/>
              </a:solidFill>
            </a:endParaRPr>
          </a:p>
        </p:txBody>
      </p:sp>
      <p:sp>
        <p:nvSpPr>
          <p:cNvPr id="10" name="TextBox 9"/>
          <p:cNvSpPr txBox="1"/>
          <p:nvPr/>
        </p:nvSpPr>
        <p:spPr>
          <a:xfrm>
            <a:off x="4251960" y="2194560"/>
            <a:ext cx="3657600" cy="984885"/>
          </a:xfrm>
          <a:prstGeom prst="rect">
            <a:avLst/>
          </a:prstGeom>
          <a:noFill/>
        </p:spPr>
        <p:txBody>
          <a:bodyPr wrap="square" lIns="0" tIns="0" rIns="0" bIns="0" anchor="t">
            <a:spAutoFit/>
          </a:bodyPr>
          <a:lstStyle/>
          <a:p>
            <a:pPr algn="ctr"/>
            <a:r>
              <a:rPr sz="6400" b="1" i="0" dirty="0">
                <a:solidFill>
                  <a:srgbClr val="F37866"/>
                </a:solidFill>
                <a:latin typeface="Calibri"/>
              </a:rPr>
              <a:t>3.08%</a:t>
            </a:r>
          </a:p>
        </p:txBody>
      </p:sp>
      <p:sp>
        <p:nvSpPr>
          <p:cNvPr id="11" name="TextBox 10"/>
          <p:cNvSpPr txBox="1"/>
          <p:nvPr/>
        </p:nvSpPr>
        <p:spPr>
          <a:xfrm>
            <a:off x="4526280" y="3474720"/>
            <a:ext cx="3108960" cy="338554"/>
          </a:xfrm>
          <a:prstGeom prst="rect">
            <a:avLst/>
          </a:prstGeom>
          <a:noFill/>
        </p:spPr>
        <p:txBody>
          <a:bodyPr wrap="square" lIns="0" tIns="0" rIns="0" bIns="0" anchor="t">
            <a:spAutoFit/>
          </a:bodyPr>
          <a:lstStyle/>
          <a:p>
            <a:pPr algn="ctr"/>
            <a:r>
              <a:rPr sz="1100" b="1" i="0" spc="200" dirty="0">
                <a:solidFill>
                  <a:schemeClr val="tx2">
                    <a:lumMod val="75000"/>
                  </a:schemeClr>
                </a:solidFill>
                <a:latin typeface="Calibri"/>
              </a:rPr>
              <a:t>missed as </a:t>
            </a:r>
            <a:r>
              <a:rPr sz="1100" b="1" i="0" spc="200" dirty="0" err="1">
                <a:solidFill>
                  <a:schemeClr val="tx2">
                    <a:lumMod val="75000"/>
                  </a:schemeClr>
                </a:solidFill>
                <a:latin typeface="Calibri"/>
              </a:rPr>
              <a:t>normal_user</a:t>
            </a:r>
            <a:r>
              <a:rPr sz="1100" b="1" i="0" spc="200" dirty="0">
                <a:solidFill>
                  <a:schemeClr val="tx2">
                    <a:lumMod val="75000"/>
                  </a:schemeClr>
                </a:solidFill>
                <a:latin typeface="Calibri"/>
              </a:rPr>
              <a:t>
(evasion rate)</a:t>
            </a:r>
          </a:p>
        </p:txBody>
      </p:sp>
      <p:sp>
        <p:nvSpPr>
          <p:cNvPr id="12" name="Rectangle 11"/>
          <p:cNvSpPr/>
          <p:nvPr/>
        </p:nvSpPr>
        <p:spPr>
          <a:xfrm>
            <a:off x="8046720" y="1828800"/>
            <a:ext cx="3657600" cy="2560320"/>
          </a:xfrm>
          <a:prstGeom prst="rect">
            <a:avLst/>
          </a:prstGeom>
          <a:solidFill>
            <a:schemeClr val="bg1">
              <a:lumMod val="95000"/>
            </a:schemeClr>
          </a:solidFill>
          <a:ln w="12700">
            <a:solidFill>
              <a:srgbClr val="8FA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0" y="2194560"/>
            <a:ext cx="3657600" cy="1280160"/>
          </a:xfrm>
          <a:prstGeom prst="rect">
            <a:avLst/>
          </a:prstGeom>
          <a:noFill/>
        </p:spPr>
        <p:txBody>
          <a:bodyPr wrap="square" lIns="0" tIns="0" rIns="0" bIns="0" anchor="t">
            <a:spAutoFit/>
          </a:bodyPr>
          <a:lstStyle/>
          <a:p>
            <a:pPr algn="ctr"/>
            <a:r>
              <a:rPr sz="6400" b="1" i="0">
                <a:solidFill>
                  <a:srgbClr val="8FAEEB"/>
                </a:solidFill>
                <a:latin typeface="Calibri"/>
              </a:rPr>
              <a:t>96.92%</a:t>
            </a:r>
          </a:p>
        </p:txBody>
      </p:sp>
      <p:sp>
        <p:nvSpPr>
          <p:cNvPr id="14" name="TextBox 13"/>
          <p:cNvSpPr txBox="1"/>
          <p:nvPr/>
        </p:nvSpPr>
        <p:spPr>
          <a:xfrm>
            <a:off x="8321040" y="3474720"/>
            <a:ext cx="3108960" cy="338554"/>
          </a:xfrm>
          <a:prstGeom prst="rect">
            <a:avLst/>
          </a:prstGeom>
          <a:noFill/>
        </p:spPr>
        <p:txBody>
          <a:bodyPr wrap="square" lIns="0" tIns="0" rIns="0" bIns="0" anchor="t">
            <a:spAutoFit/>
          </a:bodyPr>
          <a:lstStyle/>
          <a:p>
            <a:pPr algn="ctr"/>
            <a:r>
              <a:rPr sz="1100" b="1" i="0" spc="200" dirty="0">
                <a:solidFill>
                  <a:schemeClr val="tx2">
                    <a:lumMod val="75000"/>
                  </a:schemeClr>
                </a:solidFill>
                <a:latin typeface="Calibri"/>
              </a:rPr>
              <a:t>BINARY ATTACK
RECALL (total)</a:t>
            </a:r>
          </a:p>
        </p:txBody>
      </p:sp>
      <p:sp>
        <p:nvSpPr>
          <p:cNvPr id="15" name="TextBox 14"/>
          <p:cNvSpPr txBox="1"/>
          <p:nvPr/>
        </p:nvSpPr>
        <p:spPr>
          <a:xfrm>
            <a:off x="457200" y="4617720"/>
            <a:ext cx="11430000" cy="200055"/>
          </a:xfrm>
          <a:prstGeom prst="rect">
            <a:avLst/>
          </a:prstGeom>
          <a:noFill/>
        </p:spPr>
        <p:txBody>
          <a:bodyPr wrap="square" lIns="0" tIns="0" rIns="0" bIns="0" anchor="t">
            <a:spAutoFit/>
          </a:bodyPr>
          <a:lstStyle/>
          <a:p>
            <a:pPr algn="l"/>
            <a:r>
              <a:rPr sz="1300" b="1" i="0" dirty="0">
                <a:solidFill>
                  <a:schemeClr val="tx1">
                    <a:lumMod val="50000"/>
                    <a:lumOff val="50000"/>
                  </a:schemeClr>
                </a:solidFill>
                <a:latin typeface="Calibri"/>
              </a:rPr>
              <a:t>Proposed Random Forest vs ISO+RF (alternative) — mimicry predictions</a:t>
            </a:r>
          </a:p>
        </p:txBody>
      </p:sp>
      <p:graphicFrame>
        <p:nvGraphicFramePr>
          <p:cNvPr id="16" name="Chart 15"/>
          <p:cNvGraphicFramePr>
            <a:graphicFrameLocks noGrp="1"/>
          </p:cNvGraphicFramePr>
          <p:nvPr>
            <p:extLst>
              <p:ext uri="{D42A27DB-BD31-4B8C-83A1-F6EECF244321}">
                <p14:modId xmlns:p14="http://schemas.microsoft.com/office/powerpoint/2010/main" val="2971332520"/>
              </p:ext>
            </p:extLst>
          </p:nvPr>
        </p:nvGraphicFramePr>
        <p:xfrm>
          <a:off x="457200" y="4937760"/>
          <a:ext cx="11430000" cy="1371600"/>
        </p:xfrm>
        <a:graphic>
          <a:graphicData uri="http://schemas.openxmlformats.org/drawingml/2006/chart">
            <c:chart xmlns:c="http://schemas.openxmlformats.org/drawingml/2006/chart" xmlns:r="http://schemas.openxmlformats.org/officeDocument/2006/relationships" r:id="rId4"/>
          </a:graphicData>
        </a:graphic>
      </p:graphicFrame>
      <p:sp>
        <p:nvSpPr>
          <p:cNvPr id="17" name="TextBox 16"/>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CADCFC"/>
                </a:solidFill>
                <a:latin typeface="Calibri"/>
              </a:rPr>
              <a:t>13 / 23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3 · RESULTS · INTERPRETATION</a:t>
            </a:r>
          </a:p>
        </p:txBody>
      </p:sp>
      <mc:AlternateContent xmlns:mc="http://schemas.openxmlformats.org/markup-compatibility/2006">
        <mc:Choice xmlns:a14="http://schemas.microsoft.com/office/drawing/2010/main" Requires="a14">
          <p:sp>
            <p:nvSpPr>
              <p:cNvPr id="3" name="TextBox 2"/>
              <p:cNvSpPr txBox="1"/>
              <p:nvPr/>
            </p:nvSpPr>
            <p:spPr>
              <a:xfrm>
                <a:off x="365760" y="548640"/>
                <a:ext cx="11430000" cy="430887"/>
              </a:xfrm>
              <a:prstGeom prst="rect">
                <a:avLst/>
              </a:prstGeom>
              <a:noFill/>
            </p:spPr>
            <p:txBody>
              <a:bodyPr wrap="square" lIns="0" tIns="0" rIns="0" bIns="0" anchor="t">
                <a:spAutoFit/>
              </a:bodyPr>
              <a:lstStyle/>
              <a:p>
                <a:pPr algn="l"/>
                <a:r>
                  <a:rPr lang="tr-TR" sz="2800" b="1" i="0" dirty="0">
                    <a:solidFill>
                      <a:srgbClr val="1E2760"/>
                    </a:solidFill>
                    <a:latin typeface="Calibri"/>
                  </a:rPr>
                  <a:t>C </a:t>
                </a:r>
                <a14:m>
                  <m:oMath xmlns:m="http://schemas.openxmlformats.org/officeDocument/2006/math">
                    <m:r>
                      <a:rPr lang="tr-TR" sz="2800" b="1" i="1" smtClean="0">
                        <a:solidFill>
                          <a:srgbClr val="1E2760"/>
                        </a:solidFill>
                        <a:latin typeface="Cambria Math" panose="02040503050406030204" pitchFamily="18" charset="0"/>
                      </a:rPr>
                      <m:t>⋅</m:t>
                    </m:r>
                  </m:oMath>
                </a14:m>
                <a:r>
                  <a:rPr lang="tr-TR" sz="2800" b="1" i="0" dirty="0">
                    <a:solidFill>
                      <a:srgbClr val="1E2760"/>
                    </a:solidFill>
                    <a:latin typeface="Calibri"/>
                  </a:rPr>
                  <a:t> How to Read the Mimicry Result</a:t>
                </a:r>
              </a:p>
            </p:txBody>
          </p:sp>
        </mc:Choice>
        <mc:Fallback>
          <p:sp>
            <p:nvSpPr>
              <p:cNvPr id="3" name="TextBox 2"/>
              <p:cNvSpPr txBox="1">
                <a:spLocks noRot="1" noChangeAspect="1" noMove="1" noResize="1" noEditPoints="1" noAdjustHandles="1" noChangeArrowheads="1" noChangeShapeType="1" noTextEdit="1"/>
              </p:cNvSpPr>
              <p:nvPr/>
            </p:nvSpPr>
            <p:spPr>
              <a:xfrm>
                <a:off x="365760" y="548640"/>
                <a:ext cx="11430000" cy="430887"/>
              </a:xfrm>
              <a:prstGeom prst="rect">
                <a:avLst/>
              </a:prstGeom>
              <a:blipFill>
                <a:blip r:embed="rId2"/>
                <a:stretch>
                  <a:fillRect l="-1887" t="-25714" b="-45714"/>
                </a:stretch>
              </a:blipFill>
            </p:spPr>
            <p:txBody>
              <a:bodyPr/>
              <a:lstStyle/>
              <a:p>
                <a:r>
                  <a:rPr lang="tr-TR">
                    <a:noFill/>
                  </a:rPr>
                  <a:t> </a:t>
                </a:r>
              </a:p>
            </p:txBody>
          </p:sp>
        </mc:Fallback>
      </mc:AlternateContent>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dirty="0">
                <a:solidFill>
                  <a:srgbClr val="64748B"/>
                </a:solidFill>
                <a:latin typeface="Calibri"/>
              </a:rPr>
              <a:t>Three layers: what the attacker did, what they couldn't fake, and why it matters</a:t>
            </a:r>
          </a:p>
        </p:txBody>
      </p:sp>
      <p:pic>
        <p:nvPicPr>
          <p:cNvPr id="5" name="Picture 4" descr="fig10_mimicry_breakdown.png"/>
          <p:cNvPicPr>
            <a:picLocks noChangeAspect="1"/>
          </p:cNvPicPr>
          <p:nvPr/>
        </p:nvPicPr>
        <p:blipFill>
          <a:blip r:embed="rId3"/>
          <a:stretch>
            <a:fillRect/>
          </a:stretch>
        </p:blipFill>
        <p:spPr>
          <a:xfrm>
            <a:off x="457200" y="1691640"/>
            <a:ext cx="5943600" cy="4114800"/>
          </a:xfrm>
          <a:prstGeom prst="rect">
            <a:avLst/>
          </a:prstGeom>
        </p:spPr>
      </p:pic>
      <p:sp>
        <p:nvSpPr>
          <p:cNvPr id="6" name="TextBox 5"/>
          <p:cNvSpPr txBox="1"/>
          <p:nvPr/>
        </p:nvSpPr>
        <p:spPr>
          <a:xfrm>
            <a:off x="6675120" y="1691640"/>
            <a:ext cx="5212080" cy="153888"/>
          </a:xfrm>
          <a:prstGeom prst="rect">
            <a:avLst/>
          </a:prstGeom>
          <a:noFill/>
        </p:spPr>
        <p:txBody>
          <a:bodyPr wrap="square" lIns="0" tIns="0" rIns="0" bIns="0" anchor="t">
            <a:spAutoFit/>
          </a:bodyPr>
          <a:lstStyle/>
          <a:p>
            <a:pPr algn="l"/>
            <a:r>
              <a:rPr sz="1000" b="1" i="0" spc="400" dirty="0">
                <a:solidFill>
                  <a:srgbClr val="FF6046"/>
                </a:solidFill>
                <a:latin typeface="Calibri"/>
              </a:rPr>
              <a:t>LAYERS OF INTERPRETATION</a:t>
            </a:r>
          </a:p>
        </p:txBody>
      </p:sp>
      <p:sp>
        <p:nvSpPr>
          <p:cNvPr id="7" name="TextBox 6"/>
          <p:cNvSpPr txBox="1"/>
          <p:nvPr/>
        </p:nvSpPr>
        <p:spPr>
          <a:xfrm>
            <a:off x="6675120" y="2103120"/>
            <a:ext cx="457200" cy="457200"/>
          </a:xfrm>
          <a:prstGeom prst="rect">
            <a:avLst/>
          </a:prstGeom>
          <a:noFill/>
        </p:spPr>
        <p:txBody>
          <a:bodyPr wrap="square" lIns="0" tIns="0" rIns="0" bIns="0" anchor="t">
            <a:spAutoFit/>
          </a:bodyPr>
          <a:lstStyle/>
          <a:p>
            <a:pPr algn="l"/>
            <a:r>
              <a:rPr sz="3200" b="1" i="0">
                <a:solidFill>
                  <a:srgbClr val="1E2761"/>
                </a:solidFill>
                <a:latin typeface="Georgia"/>
              </a:rPr>
              <a:t>1</a:t>
            </a:r>
          </a:p>
        </p:txBody>
      </p:sp>
      <p:sp>
        <p:nvSpPr>
          <p:cNvPr id="8" name="TextBox 7"/>
          <p:cNvSpPr txBox="1"/>
          <p:nvPr/>
        </p:nvSpPr>
        <p:spPr>
          <a:xfrm>
            <a:off x="7178040" y="2148839"/>
            <a:ext cx="4663440" cy="320040"/>
          </a:xfrm>
          <a:prstGeom prst="rect">
            <a:avLst/>
          </a:prstGeom>
          <a:noFill/>
        </p:spPr>
        <p:txBody>
          <a:bodyPr wrap="square" lIns="0" tIns="0" rIns="0" bIns="0" anchor="t">
            <a:spAutoFit/>
          </a:bodyPr>
          <a:lstStyle/>
          <a:p>
            <a:pPr algn="l"/>
            <a:r>
              <a:rPr sz="1300" b="1" i="0">
                <a:solidFill>
                  <a:srgbClr val="1E2761"/>
                </a:solidFill>
                <a:latin typeface="Calibri"/>
              </a:rPr>
              <a:t>What the attacker did well</a:t>
            </a:r>
          </a:p>
        </p:txBody>
      </p:sp>
      <p:sp>
        <p:nvSpPr>
          <p:cNvPr id="9" name="TextBox 8"/>
          <p:cNvSpPr txBox="1"/>
          <p:nvPr/>
        </p:nvSpPr>
        <p:spPr>
          <a:xfrm>
            <a:off x="7178040" y="2487168"/>
            <a:ext cx="4663440" cy="914400"/>
          </a:xfrm>
          <a:prstGeom prst="rect">
            <a:avLst/>
          </a:prstGeom>
          <a:noFill/>
        </p:spPr>
        <p:txBody>
          <a:bodyPr wrap="square" lIns="0" tIns="0" rIns="0" bIns="0" anchor="t">
            <a:spAutoFit/>
          </a:bodyPr>
          <a:lstStyle/>
          <a:p>
            <a:pPr algn="l"/>
            <a:r>
              <a:rPr sz="1100" b="0" i="0">
                <a:solidFill>
                  <a:srgbClr val="1A1A2E"/>
                </a:solidFill>
                <a:latin typeface="Calibri"/>
              </a:rPr>
              <a:t>Surface mimicry worked: UA pool, IP overlap, token reuse, sticky sessions — all successfully imitated. Even per-window request rate overlaps normal_user.</a:t>
            </a:r>
          </a:p>
        </p:txBody>
      </p:sp>
      <p:sp>
        <p:nvSpPr>
          <p:cNvPr id="10" name="TextBox 9"/>
          <p:cNvSpPr txBox="1"/>
          <p:nvPr/>
        </p:nvSpPr>
        <p:spPr>
          <a:xfrm>
            <a:off x="6675120" y="3520439"/>
            <a:ext cx="457200" cy="457200"/>
          </a:xfrm>
          <a:prstGeom prst="rect">
            <a:avLst/>
          </a:prstGeom>
          <a:noFill/>
        </p:spPr>
        <p:txBody>
          <a:bodyPr wrap="square" lIns="0" tIns="0" rIns="0" bIns="0" anchor="t">
            <a:spAutoFit/>
          </a:bodyPr>
          <a:lstStyle/>
          <a:p>
            <a:pPr algn="l"/>
            <a:r>
              <a:rPr sz="3200" b="1" i="0">
                <a:solidFill>
                  <a:srgbClr val="1E2761"/>
                </a:solidFill>
                <a:latin typeface="Georgia"/>
              </a:rPr>
              <a:t>2</a:t>
            </a:r>
          </a:p>
        </p:txBody>
      </p:sp>
      <p:sp>
        <p:nvSpPr>
          <p:cNvPr id="11" name="TextBox 10"/>
          <p:cNvSpPr txBox="1"/>
          <p:nvPr/>
        </p:nvSpPr>
        <p:spPr>
          <a:xfrm>
            <a:off x="7178040" y="3566159"/>
            <a:ext cx="4663440" cy="320040"/>
          </a:xfrm>
          <a:prstGeom prst="rect">
            <a:avLst/>
          </a:prstGeom>
          <a:noFill/>
        </p:spPr>
        <p:txBody>
          <a:bodyPr wrap="square" lIns="0" tIns="0" rIns="0" bIns="0" anchor="t">
            <a:spAutoFit/>
          </a:bodyPr>
          <a:lstStyle/>
          <a:p>
            <a:pPr algn="l"/>
            <a:r>
              <a:rPr sz="1300" b="1" i="0">
                <a:solidFill>
                  <a:srgbClr val="1E2761"/>
                </a:solidFill>
                <a:latin typeface="Calibri"/>
              </a:rPr>
              <a:t>What the attacker could not fake</a:t>
            </a:r>
          </a:p>
        </p:txBody>
      </p:sp>
      <p:sp>
        <p:nvSpPr>
          <p:cNvPr id="12" name="TextBox 11"/>
          <p:cNvSpPr txBox="1"/>
          <p:nvPr/>
        </p:nvSpPr>
        <p:spPr>
          <a:xfrm>
            <a:off x="7178040" y="3904487"/>
            <a:ext cx="4663440" cy="914400"/>
          </a:xfrm>
          <a:prstGeom prst="rect">
            <a:avLst/>
          </a:prstGeom>
          <a:noFill/>
        </p:spPr>
        <p:txBody>
          <a:bodyPr wrap="square" lIns="0" tIns="0" rIns="0" bIns="0" anchor="t">
            <a:spAutoFit/>
          </a:bodyPr>
          <a:lstStyle/>
          <a:p>
            <a:pPr algn="l"/>
            <a:r>
              <a:rPr sz="1100" b="0" i="0">
                <a:solidFill>
                  <a:srgbClr val="1A1A2E"/>
                </a:solidFill>
                <a:latin typeface="Calibri"/>
              </a:rPr>
              <a:t>Endpoint distribution (search-burst only), endpoint cost asymmetry, login pattern, status code mix — these behavioral signatures bleed through.</a:t>
            </a:r>
          </a:p>
        </p:txBody>
      </p:sp>
      <p:sp>
        <p:nvSpPr>
          <p:cNvPr id="13" name="TextBox 12"/>
          <p:cNvSpPr txBox="1"/>
          <p:nvPr/>
        </p:nvSpPr>
        <p:spPr>
          <a:xfrm>
            <a:off x="6675120" y="4937760"/>
            <a:ext cx="457200" cy="457200"/>
          </a:xfrm>
          <a:prstGeom prst="rect">
            <a:avLst/>
          </a:prstGeom>
          <a:noFill/>
        </p:spPr>
        <p:txBody>
          <a:bodyPr wrap="square" lIns="0" tIns="0" rIns="0" bIns="0" anchor="t">
            <a:spAutoFit/>
          </a:bodyPr>
          <a:lstStyle/>
          <a:p>
            <a:pPr algn="l"/>
            <a:r>
              <a:rPr sz="3200" b="1" i="0">
                <a:solidFill>
                  <a:srgbClr val="1E2761"/>
                </a:solidFill>
                <a:latin typeface="Georgia"/>
              </a:rPr>
              <a:t>3</a:t>
            </a:r>
          </a:p>
        </p:txBody>
      </p:sp>
      <p:sp>
        <p:nvSpPr>
          <p:cNvPr id="14" name="TextBox 13"/>
          <p:cNvSpPr txBox="1"/>
          <p:nvPr/>
        </p:nvSpPr>
        <p:spPr>
          <a:xfrm>
            <a:off x="7178040" y="4983480"/>
            <a:ext cx="4663440" cy="320040"/>
          </a:xfrm>
          <a:prstGeom prst="rect">
            <a:avLst/>
          </a:prstGeom>
          <a:noFill/>
        </p:spPr>
        <p:txBody>
          <a:bodyPr wrap="square" lIns="0" tIns="0" rIns="0" bIns="0" anchor="t">
            <a:spAutoFit/>
          </a:bodyPr>
          <a:lstStyle/>
          <a:p>
            <a:pPr algn="l"/>
            <a:r>
              <a:rPr sz="1300" b="1" i="0">
                <a:solidFill>
                  <a:srgbClr val="1E2761"/>
                </a:solidFill>
                <a:latin typeface="Calibri"/>
              </a:rPr>
              <a:t>Why this matters</a:t>
            </a:r>
          </a:p>
        </p:txBody>
      </p:sp>
      <p:sp>
        <p:nvSpPr>
          <p:cNvPr id="15" name="TextBox 14"/>
          <p:cNvSpPr txBox="1"/>
          <p:nvPr/>
        </p:nvSpPr>
        <p:spPr>
          <a:xfrm>
            <a:off x="7178040" y="5321808"/>
            <a:ext cx="4663440" cy="914400"/>
          </a:xfrm>
          <a:prstGeom prst="rect">
            <a:avLst/>
          </a:prstGeom>
          <a:noFill/>
        </p:spPr>
        <p:txBody>
          <a:bodyPr wrap="square" lIns="0" tIns="0" rIns="0" bIns="0" anchor="t">
            <a:spAutoFit/>
          </a:bodyPr>
          <a:lstStyle/>
          <a:p>
            <a:pPr algn="l"/>
            <a:r>
              <a:rPr sz="1100" b="0" i="0">
                <a:solidFill>
                  <a:srgbClr val="1A1A2E"/>
                </a:solidFill>
                <a:latin typeface="Calibri"/>
              </a:rPr>
              <a:t>The model never saw the mimicry variant during training. It still flagged 96.92% as attack — the features GENERALIZE to a new attack type.</a:t>
            </a:r>
          </a:p>
        </p:txBody>
      </p:sp>
      <p:sp>
        <p:nvSpPr>
          <p:cNvPr id="16" name="TextBox 15"/>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Graduation Thesis · Final Defense</a:t>
            </a:r>
          </a:p>
        </p:txBody>
      </p:sp>
      <p:sp>
        <p:nvSpPr>
          <p:cNvPr id="17" name="TextBox 16"/>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14 / 23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3 · RESULTS · ABLATION</a:t>
            </a:r>
          </a:p>
        </p:txBody>
      </p:sp>
      <mc:AlternateContent xmlns:mc="http://schemas.openxmlformats.org/markup-compatibility/2006">
        <mc:Choice xmlns:a14="http://schemas.microsoft.com/office/drawing/2010/main" Requires="a14">
          <p:sp>
            <p:nvSpPr>
              <p:cNvPr id="3" name="TextBox 2"/>
              <p:cNvSpPr txBox="1"/>
              <p:nvPr/>
            </p:nvSpPr>
            <p:spPr>
              <a:xfrm>
                <a:off x="365760" y="548640"/>
                <a:ext cx="11430000" cy="430887"/>
              </a:xfrm>
              <a:prstGeom prst="rect">
                <a:avLst/>
              </a:prstGeom>
              <a:noFill/>
            </p:spPr>
            <p:txBody>
              <a:bodyPr wrap="square" lIns="0" tIns="0" rIns="0" bIns="0" anchor="t">
                <a:spAutoFit/>
              </a:bodyPr>
              <a:lstStyle/>
              <a:p>
                <a:pPr algn="l"/>
                <a:r>
                  <a:rPr lang="tr-TR" sz="2800" b="1" i="0" dirty="0">
                    <a:solidFill>
                      <a:srgbClr val="1E2760"/>
                    </a:solidFill>
                    <a:latin typeface="Calibri"/>
                  </a:rPr>
                  <a:t>D </a:t>
                </a:r>
                <a14:m>
                  <m:oMath xmlns:m="http://schemas.openxmlformats.org/officeDocument/2006/math">
                    <m:r>
                      <a:rPr lang="tr-TR" sz="2800" b="1" i="1" smtClean="0">
                        <a:solidFill>
                          <a:srgbClr val="1E2760"/>
                        </a:solidFill>
                        <a:latin typeface="Cambria Math" panose="02040503050406030204" pitchFamily="18" charset="0"/>
                      </a:rPr>
                      <m:t>⋅</m:t>
                    </m:r>
                  </m:oMath>
                </a14:m>
                <a:r>
                  <a:rPr lang="tr-TR" sz="2800" b="1" i="0" dirty="0">
                    <a:solidFill>
                      <a:srgbClr val="1E2760"/>
                    </a:solidFill>
                    <a:latin typeface="Calibri"/>
                  </a:rPr>
                  <a:t> Proving the Behavioral Lift on Mimicry</a:t>
                </a:r>
              </a:p>
            </p:txBody>
          </p:sp>
        </mc:Choice>
        <mc:Fallback>
          <p:sp>
            <p:nvSpPr>
              <p:cNvPr id="3" name="TextBox 2"/>
              <p:cNvSpPr txBox="1">
                <a:spLocks noRot="1" noChangeAspect="1" noMove="1" noResize="1" noEditPoints="1" noAdjustHandles="1" noChangeArrowheads="1" noChangeShapeType="1" noTextEdit="1"/>
              </p:cNvSpPr>
              <p:nvPr/>
            </p:nvSpPr>
            <p:spPr>
              <a:xfrm>
                <a:off x="365760" y="548640"/>
                <a:ext cx="11430000" cy="430887"/>
              </a:xfrm>
              <a:prstGeom prst="rect">
                <a:avLst/>
              </a:prstGeom>
              <a:blipFill>
                <a:blip r:embed="rId2"/>
                <a:stretch>
                  <a:fillRect l="-1887" t="-25714" b="-45714"/>
                </a:stretch>
              </a:blipFill>
            </p:spPr>
            <p:txBody>
              <a:bodyPr/>
              <a:lstStyle/>
              <a:p>
                <a:r>
                  <a:rPr lang="tr-TR">
                    <a:noFill/>
                  </a:rPr>
                  <a:t> </a:t>
                </a:r>
              </a:p>
            </p:txBody>
          </p:sp>
        </mc:Fallback>
      </mc:AlternateContent>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Rate-only recalls 73% of mimicry; the full feature pipeline recalls 96% — a +23pp gap</a:t>
            </a:r>
          </a:p>
        </p:txBody>
      </p:sp>
      <p:pic>
        <p:nvPicPr>
          <p:cNvPr id="5" name="Picture 4" descr="fig6_ablation.png"/>
          <p:cNvPicPr>
            <a:picLocks noChangeAspect="1"/>
          </p:cNvPicPr>
          <p:nvPr/>
        </p:nvPicPr>
        <p:blipFill>
          <a:blip r:embed="rId3"/>
          <a:stretch>
            <a:fillRect/>
          </a:stretch>
        </p:blipFill>
        <p:spPr>
          <a:xfrm>
            <a:off x="457200" y="1691640"/>
            <a:ext cx="6858000" cy="4572000"/>
          </a:xfrm>
          <a:prstGeom prst="rect">
            <a:avLst/>
          </a:prstGeom>
        </p:spPr>
      </p:pic>
      <p:sp>
        <p:nvSpPr>
          <p:cNvPr id="6" name="TextBox 5"/>
          <p:cNvSpPr txBox="1"/>
          <p:nvPr/>
        </p:nvSpPr>
        <p:spPr>
          <a:xfrm>
            <a:off x="7589520" y="1783080"/>
            <a:ext cx="4297680" cy="320040"/>
          </a:xfrm>
          <a:prstGeom prst="rect">
            <a:avLst/>
          </a:prstGeom>
          <a:noFill/>
        </p:spPr>
        <p:txBody>
          <a:bodyPr wrap="square" lIns="0" tIns="0" rIns="0" bIns="0" anchor="t">
            <a:spAutoFit/>
          </a:bodyPr>
          <a:lstStyle/>
          <a:p>
            <a:pPr algn="l"/>
            <a:r>
              <a:rPr sz="1000" b="1" i="0" spc="400">
                <a:solidFill>
                  <a:srgbClr val="F96167"/>
                </a:solidFill>
                <a:latin typeface="Calibri"/>
              </a:rPr>
              <a:t>KEY MIMICRY-RECALL FINDINGS</a:t>
            </a:r>
          </a:p>
        </p:txBody>
      </p:sp>
      <p:sp>
        <p:nvSpPr>
          <p:cNvPr id="7" name="Rectangle 6"/>
          <p:cNvSpPr/>
          <p:nvPr/>
        </p:nvSpPr>
        <p:spPr>
          <a:xfrm>
            <a:off x="7589520" y="2194560"/>
            <a:ext cx="429768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589520" y="2194560"/>
            <a:ext cx="73152" cy="86868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0" y="2240279"/>
            <a:ext cx="1371600" cy="411480"/>
          </a:xfrm>
          <a:prstGeom prst="rect">
            <a:avLst/>
          </a:prstGeom>
          <a:noFill/>
        </p:spPr>
        <p:txBody>
          <a:bodyPr wrap="square" lIns="0" tIns="0" rIns="0" bIns="0" anchor="t">
            <a:spAutoFit/>
          </a:bodyPr>
          <a:lstStyle/>
          <a:p>
            <a:pPr algn="l"/>
            <a:r>
              <a:rPr sz="2200" b="1" i="0">
                <a:solidFill>
                  <a:srgbClr val="02C39A"/>
                </a:solidFill>
                <a:latin typeface="Calibri"/>
              </a:rPr>
              <a:t>96.4%</a:t>
            </a:r>
          </a:p>
        </p:txBody>
      </p:sp>
      <p:sp>
        <p:nvSpPr>
          <p:cNvPr id="10" name="TextBox 9"/>
          <p:cNvSpPr txBox="1"/>
          <p:nvPr/>
        </p:nvSpPr>
        <p:spPr>
          <a:xfrm>
            <a:off x="9189720" y="2286000"/>
            <a:ext cx="2606040" cy="320040"/>
          </a:xfrm>
          <a:prstGeom prst="rect">
            <a:avLst/>
          </a:prstGeom>
          <a:noFill/>
        </p:spPr>
        <p:txBody>
          <a:bodyPr wrap="square" lIns="0" tIns="0" rIns="0" bIns="0" anchor="t">
            <a:spAutoFit/>
          </a:bodyPr>
          <a:lstStyle/>
          <a:p>
            <a:pPr algn="l"/>
            <a:r>
              <a:rPr sz="1200" b="1" i="0">
                <a:solidFill>
                  <a:srgbClr val="1E2761"/>
                </a:solidFill>
                <a:latin typeface="Calibri"/>
              </a:rPr>
              <a:t>All features (full)</a:t>
            </a:r>
          </a:p>
        </p:txBody>
      </p:sp>
      <p:sp>
        <p:nvSpPr>
          <p:cNvPr id="11" name="TextBox 10"/>
          <p:cNvSpPr txBox="1"/>
          <p:nvPr/>
        </p:nvSpPr>
        <p:spPr>
          <a:xfrm>
            <a:off x="7772400" y="2651760"/>
            <a:ext cx="4023360" cy="411480"/>
          </a:xfrm>
          <a:prstGeom prst="rect">
            <a:avLst/>
          </a:prstGeom>
          <a:noFill/>
        </p:spPr>
        <p:txBody>
          <a:bodyPr wrap="square" lIns="0" tIns="0" rIns="0" bIns="0" anchor="t">
            <a:spAutoFit/>
          </a:bodyPr>
          <a:lstStyle/>
          <a:p>
            <a:pPr algn="l"/>
            <a:r>
              <a:rPr sz="1000" b="0" i="1">
                <a:solidFill>
                  <a:srgbClr val="64748B"/>
                </a:solidFill>
                <a:latin typeface="Calibri"/>
              </a:rPr>
              <a:t>The proposed pipeline detection.</a:t>
            </a:r>
          </a:p>
        </p:txBody>
      </p:sp>
      <p:sp>
        <p:nvSpPr>
          <p:cNvPr id="12" name="Rectangle 11"/>
          <p:cNvSpPr/>
          <p:nvPr/>
        </p:nvSpPr>
        <p:spPr>
          <a:xfrm>
            <a:off x="7589520" y="3154680"/>
            <a:ext cx="429768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589520" y="3154680"/>
            <a:ext cx="73152" cy="868680"/>
          </a:xfrm>
          <a:prstGeom prst="rect">
            <a:avLst/>
          </a:prstGeom>
          <a:solidFill>
            <a:srgbClr val="F37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0" y="3200400"/>
            <a:ext cx="1371600" cy="338554"/>
          </a:xfrm>
          <a:prstGeom prst="rect">
            <a:avLst/>
          </a:prstGeom>
          <a:noFill/>
        </p:spPr>
        <p:txBody>
          <a:bodyPr wrap="square" lIns="0" tIns="0" rIns="0" bIns="0" anchor="t">
            <a:spAutoFit/>
          </a:bodyPr>
          <a:lstStyle/>
          <a:p>
            <a:pPr algn="l"/>
            <a:r>
              <a:rPr sz="2200" b="1" i="0" dirty="0">
                <a:solidFill>
                  <a:srgbClr val="F37866"/>
                </a:solidFill>
                <a:latin typeface="Calibri"/>
              </a:rPr>
              <a:t>73.1%</a:t>
            </a:r>
          </a:p>
        </p:txBody>
      </p:sp>
      <p:sp>
        <p:nvSpPr>
          <p:cNvPr id="15" name="TextBox 14"/>
          <p:cNvSpPr txBox="1"/>
          <p:nvPr/>
        </p:nvSpPr>
        <p:spPr>
          <a:xfrm>
            <a:off x="9189720" y="3246120"/>
            <a:ext cx="2606040" cy="320040"/>
          </a:xfrm>
          <a:prstGeom prst="rect">
            <a:avLst/>
          </a:prstGeom>
          <a:noFill/>
        </p:spPr>
        <p:txBody>
          <a:bodyPr wrap="square" lIns="0" tIns="0" rIns="0" bIns="0" anchor="t">
            <a:spAutoFit/>
          </a:bodyPr>
          <a:lstStyle/>
          <a:p>
            <a:pPr algn="l"/>
            <a:r>
              <a:rPr sz="1200" b="1" i="0">
                <a:solidFill>
                  <a:srgbClr val="1E2761"/>
                </a:solidFill>
                <a:latin typeface="Calibri"/>
              </a:rPr>
              <a:t>Rate-only</a:t>
            </a:r>
          </a:p>
        </p:txBody>
      </p:sp>
      <p:sp>
        <p:nvSpPr>
          <p:cNvPr id="16" name="TextBox 15"/>
          <p:cNvSpPr txBox="1"/>
          <p:nvPr/>
        </p:nvSpPr>
        <p:spPr>
          <a:xfrm>
            <a:off x="7772400" y="3611880"/>
            <a:ext cx="4023360" cy="411480"/>
          </a:xfrm>
          <a:prstGeom prst="rect">
            <a:avLst/>
          </a:prstGeom>
          <a:noFill/>
        </p:spPr>
        <p:txBody>
          <a:bodyPr wrap="square" lIns="0" tIns="0" rIns="0" bIns="0" anchor="t">
            <a:spAutoFit/>
          </a:bodyPr>
          <a:lstStyle/>
          <a:p>
            <a:pPr algn="l"/>
            <a:r>
              <a:rPr sz="1000" b="0" i="1">
                <a:solidFill>
                  <a:srgbClr val="64748B"/>
                </a:solidFill>
                <a:latin typeface="Calibri"/>
              </a:rPr>
              <a:t>Rate alone insufficient against mimicry. Behavioral lift: +23pp.</a:t>
            </a:r>
          </a:p>
        </p:txBody>
      </p:sp>
      <p:sp>
        <p:nvSpPr>
          <p:cNvPr id="17" name="Rectangle 16"/>
          <p:cNvSpPr/>
          <p:nvPr/>
        </p:nvSpPr>
        <p:spPr>
          <a:xfrm>
            <a:off x="7589520" y="4114800"/>
            <a:ext cx="429768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89520" y="4114800"/>
            <a:ext cx="73152" cy="868680"/>
          </a:xfrm>
          <a:prstGeom prst="rect">
            <a:avLst/>
          </a:prstGeom>
          <a:solidFill>
            <a:srgbClr val="C94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0" y="4160520"/>
            <a:ext cx="1371600" cy="411480"/>
          </a:xfrm>
          <a:prstGeom prst="rect">
            <a:avLst/>
          </a:prstGeom>
          <a:noFill/>
        </p:spPr>
        <p:txBody>
          <a:bodyPr wrap="square" lIns="0" tIns="0" rIns="0" bIns="0" anchor="t">
            <a:spAutoFit/>
          </a:bodyPr>
          <a:lstStyle/>
          <a:p>
            <a:pPr algn="l"/>
            <a:r>
              <a:rPr sz="2200" b="1" i="0">
                <a:solidFill>
                  <a:srgbClr val="C9434A"/>
                </a:solidFill>
                <a:latin typeface="Calibri"/>
              </a:rPr>
              <a:t>13.2%</a:t>
            </a:r>
          </a:p>
        </p:txBody>
      </p:sp>
      <p:sp>
        <p:nvSpPr>
          <p:cNvPr id="20" name="TextBox 19"/>
          <p:cNvSpPr txBox="1"/>
          <p:nvPr/>
        </p:nvSpPr>
        <p:spPr>
          <a:xfrm>
            <a:off x="9189720" y="4206240"/>
            <a:ext cx="2606040" cy="320040"/>
          </a:xfrm>
          <a:prstGeom prst="rect">
            <a:avLst/>
          </a:prstGeom>
          <a:noFill/>
        </p:spPr>
        <p:txBody>
          <a:bodyPr wrap="square" lIns="0" tIns="0" rIns="0" bIns="0" anchor="t">
            <a:spAutoFit/>
          </a:bodyPr>
          <a:lstStyle/>
          <a:p>
            <a:pPr algn="l"/>
            <a:r>
              <a:rPr sz="1200" b="1" i="0">
                <a:solidFill>
                  <a:srgbClr val="1E2761"/>
                </a:solidFill>
                <a:latin typeface="Calibri"/>
              </a:rPr>
              <a:t>UA-only</a:t>
            </a:r>
          </a:p>
        </p:txBody>
      </p:sp>
      <p:sp>
        <p:nvSpPr>
          <p:cNvPr id="21" name="TextBox 20"/>
          <p:cNvSpPr txBox="1"/>
          <p:nvPr/>
        </p:nvSpPr>
        <p:spPr>
          <a:xfrm>
            <a:off x="7772400" y="4572000"/>
            <a:ext cx="4023360" cy="411480"/>
          </a:xfrm>
          <a:prstGeom prst="rect">
            <a:avLst/>
          </a:prstGeom>
          <a:noFill/>
        </p:spPr>
        <p:txBody>
          <a:bodyPr wrap="square" lIns="0" tIns="0" rIns="0" bIns="0" anchor="t">
            <a:spAutoFit/>
          </a:bodyPr>
          <a:lstStyle/>
          <a:p>
            <a:pPr algn="l"/>
            <a:r>
              <a:rPr sz="1000" b="0" i="1">
                <a:solidFill>
                  <a:srgbClr val="64748B"/>
                </a:solidFill>
                <a:latin typeface="Calibri"/>
              </a:rPr>
              <a:t>Below class baseline. Model does NOT use UA shortcut.</a:t>
            </a:r>
          </a:p>
        </p:txBody>
      </p:sp>
      <p:sp>
        <p:nvSpPr>
          <p:cNvPr id="22" name="Rectangle 21"/>
          <p:cNvSpPr/>
          <p:nvPr/>
        </p:nvSpPr>
        <p:spPr>
          <a:xfrm>
            <a:off x="7589520" y="5074920"/>
            <a:ext cx="429768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589520" y="5074920"/>
            <a:ext cx="73152" cy="868680"/>
          </a:xfrm>
          <a:prstGeom prst="rect">
            <a:avLst/>
          </a:prstGeom>
          <a:solidFill>
            <a:srgbClr val="2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0" y="5120640"/>
            <a:ext cx="1371600" cy="411480"/>
          </a:xfrm>
          <a:prstGeom prst="rect">
            <a:avLst/>
          </a:prstGeom>
          <a:noFill/>
        </p:spPr>
        <p:txBody>
          <a:bodyPr wrap="square" lIns="0" tIns="0" rIns="0" bIns="0" anchor="t">
            <a:spAutoFit/>
          </a:bodyPr>
          <a:lstStyle/>
          <a:p>
            <a:pPr algn="l"/>
            <a:r>
              <a:rPr sz="2200" b="1" i="0">
                <a:solidFill>
                  <a:srgbClr val="2B3A8C"/>
                </a:solidFill>
                <a:latin typeface="Calibri"/>
              </a:rPr>
              <a:t>14.9%</a:t>
            </a:r>
          </a:p>
        </p:txBody>
      </p:sp>
      <p:sp>
        <p:nvSpPr>
          <p:cNvPr id="25" name="TextBox 24"/>
          <p:cNvSpPr txBox="1"/>
          <p:nvPr/>
        </p:nvSpPr>
        <p:spPr>
          <a:xfrm>
            <a:off x="9189720" y="5166360"/>
            <a:ext cx="2606040" cy="320040"/>
          </a:xfrm>
          <a:prstGeom prst="rect">
            <a:avLst/>
          </a:prstGeom>
          <a:noFill/>
        </p:spPr>
        <p:txBody>
          <a:bodyPr wrap="square" lIns="0" tIns="0" rIns="0" bIns="0" anchor="t">
            <a:spAutoFit/>
          </a:bodyPr>
          <a:lstStyle/>
          <a:p>
            <a:pPr algn="l"/>
            <a:r>
              <a:rPr sz="1200" b="1" i="0">
                <a:solidFill>
                  <a:srgbClr val="1E2761"/>
                </a:solidFill>
                <a:latin typeface="Calibri"/>
              </a:rPr>
              <a:t>No global/baseline</a:t>
            </a:r>
          </a:p>
        </p:txBody>
      </p:sp>
      <p:sp>
        <p:nvSpPr>
          <p:cNvPr id="26" name="TextBox 25"/>
          <p:cNvSpPr txBox="1"/>
          <p:nvPr/>
        </p:nvSpPr>
        <p:spPr>
          <a:xfrm>
            <a:off x="7772400" y="5532120"/>
            <a:ext cx="4023360" cy="411480"/>
          </a:xfrm>
          <a:prstGeom prst="rect">
            <a:avLst/>
          </a:prstGeom>
          <a:noFill/>
        </p:spPr>
        <p:txBody>
          <a:bodyPr wrap="square" lIns="0" tIns="0" rIns="0" bIns="0" anchor="t">
            <a:spAutoFit/>
          </a:bodyPr>
          <a:lstStyle/>
          <a:p>
            <a:pPr algn="l"/>
            <a:r>
              <a:rPr sz="1000" b="0" i="1">
                <a:solidFill>
                  <a:srgbClr val="64748B"/>
                </a:solidFill>
                <a:latin typeface="Calibri"/>
              </a:rPr>
              <a:t>Removing global features collapses mimicry detection (-81pp).</a:t>
            </a:r>
          </a:p>
        </p:txBody>
      </p:sp>
      <p:sp>
        <p:nvSpPr>
          <p:cNvPr id="27" name="TextBox 26"/>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Graduation Thesis · Final Defense</a:t>
            </a:r>
          </a:p>
        </p:txBody>
      </p:sp>
      <p:sp>
        <p:nvSpPr>
          <p:cNvPr id="28" name="TextBox 27"/>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15 / 23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3 · RESULTS · FEATURES</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What Features Is the Model Actually Using?</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Top feature importances · Proposed Random Forest model</a:t>
            </a:r>
          </a:p>
        </p:txBody>
      </p:sp>
      <p:pic>
        <p:nvPicPr>
          <p:cNvPr id="5" name="Picture 4" descr="fig4_feature_importance.png"/>
          <p:cNvPicPr>
            <a:picLocks noChangeAspect="1"/>
          </p:cNvPicPr>
          <p:nvPr/>
        </p:nvPicPr>
        <p:blipFill>
          <a:blip r:embed="rId2"/>
          <a:stretch>
            <a:fillRect/>
          </a:stretch>
        </p:blipFill>
        <p:spPr>
          <a:xfrm>
            <a:off x="457200" y="1691640"/>
            <a:ext cx="6400800" cy="4572000"/>
          </a:xfrm>
          <a:prstGeom prst="rect">
            <a:avLst/>
          </a:prstGeom>
        </p:spPr>
      </p:pic>
      <p:sp>
        <p:nvSpPr>
          <p:cNvPr id="6" name="TextBox 5"/>
          <p:cNvSpPr txBox="1"/>
          <p:nvPr/>
        </p:nvSpPr>
        <p:spPr>
          <a:xfrm>
            <a:off x="7223760" y="1737360"/>
            <a:ext cx="4663440" cy="153888"/>
          </a:xfrm>
          <a:prstGeom prst="rect">
            <a:avLst/>
          </a:prstGeom>
          <a:noFill/>
        </p:spPr>
        <p:txBody>
          <a:bodyPr wrap="square" lIns="0" tIns="0" rIns="0" bIns="0" anchor="t">
            <a:spAutoFit/>
          </a:bodyPr>
          <a:lstStyle/>
          <a:p>
            <a:pPr algn="l"/>
            <a:r>
              <a:rPr sz="1000" b="1" i="0" spc="400" dirty="0">
                <a:solidFill>
                  <a:srgbClr val="F37866"/>
                </a:solidFill>
                <a:latin typeface="Calibri"/>
              </a:rPr>
              <a:t>DISCRIMINATIVE GROUPS</a:t>
            </a:r>
          </a:p>
        </p:txBody>
      </p:sp>
      <p:sp>
        <p:nvSpPr>
          <p:cNvPr id="7" name="Rectangle 6"/>
          <p:cNvSpPr/>
          <p:nvPr/>
        </p:nvSpPr>
        <p:spPr>
          <a:xfrm>
            <a:off x="7223760" y="2148840"/>
            <a:ext cx="73152" cy="9144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06640" y="2148840"/>
            <a:ext cx="4389120" cy="274320"/>
          </a:xfrm>
          <a:prstGeom prst="rect">
            <a:avLst/>
          </a:prstGeom>
          <a:noFill/>
        </p:spPr>
        <p:txBody>
          <a:bodyPr wrap="square" lIns="0" tIns="0" rIns="0" bIns="0" anchor="t">
            <a:spAutoFit/>
          </a:bodyPr>
          <a:lstStyle/>
          <a:p>
            <a:pPr algn="l"/>
            <a:r>
              <a:rPr sz="1200" b="1" i="0">
                <a:solidFill>
                  <a:srgbClr val="1E2761"/>
                </a:solidFill>
                <a:latin typeface="Calibri"/>
              </a:rPr>
              <a:t>Source Diversity (global)</a:t>
            </a:r>
          </a:p>
        </p:txBody>
      </p:sp>
      <p:sp>
        <p:nvSpPr>
          <p:cNvPr id="9" name="TextBox 8"/>
          <p:cNvSpPr txBox="1"/>
          <p:nvPr/>
        </p:nvSpPr>
        <p:spPr>
          <a:xfrm>
            <a:off x="7406640" y="2423160"/>
            <a:ext cx="4389120" cy="365760"/>
          </a:xfrm>
          <a:prstGeom prst="rect">
            <a:avLst/>
          </a:prstGeom>
          <a:noFill/>
        </p:spPr>
        <p:txBody>
          <a:bodyPr wrap="square" lIns="0" tIns="0" rIns="0" bIns="0" anchor="t">
            <a:spAutoFit/>
          </a:bodyPr>
          <a:lstStyle/>
          <a:p>
            <a:pPr algn="l"/>
            <a:r>
              <a:rPr sz="950" b="0" i="0">
                <a:solidFill>
                  <a:srgbClr val="1A1A2E"/>
                </a:solidFill>
                <a:latin typeface="Consolas"/>
              </a:rPr>
              <a:t>global_unique_ip (#1) · global_unique_subnet (#2) · global_req_rate (#3)</a:t>
            </a:r>
          </a:p>
        </p:txBody>
      </p:sp>
      <p:sp>
        <p:nvSpPr>
          <p:cNvPr id="10" name="TextBox 9"/>
          <p:cNvSpPr txBox="1"/>
          <p:nvPr/>
        </p:nvSpPr>
        <p:spPr>
          <a:xfrm>
            <a:off x="7406640" y="2788920"/>
            <a:ext cx="4389120" cy="274320"/>
          </a:xfrm>
          <a:prstGeom prst="rect">
            <a:avLst/>
          </a:prstGeom>
          <a:noFill/>
        </p:spPr>
        <p:txBody>
          <a:bodyPr wrap="square" lIns="0" tIns="0" rIns="0" bIns="0" anchor="t">
            <a:spAutoFit/>
          </a:bodyPr>
          <a:lstStyle/>
          <a:p>
            <a:pPr algn="l"/>
            <a:r>
              <a:rPr sz="1000" b="0" i="1">
                <a:solidFill>
                  <a:srgbClr val="64748B"/>
                </a:solidFill>
                <a:latin typeface="Calibri"/>
              </a:rPr>
              <a:t>How distributed and how fast is the attack?</a:t>
            </a:r>
          </a:p>
        </p:txBody>
      </p:sp>
      <p:sp>
        <p:nvSpPr>
          <p:cNvPr id="11" name="Rectangle 10"/>
          <p:cNvSpPr/>
          <p:nvPr/>
        </p:nvSpPr>
        <p:spPr>
          <a:xfrm>
            <a:off x="7223760" y="3154680"/>
            <a:ext cx="73152" cy="914400"/>
          </a:xfrm>
          <a:prstGeom prst="rect">
            <a:avLst/>
          </a:prstGeom>
          <a:solidFill>
            <a:srgbClr val="2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06640" y="3154680"/>
            <a:ext cx="4389120" cy="274320"/>
          </a:xfrm>
          <a:prstGeom prst="rect">
            <a:avLst/>
          </a:prstGeom>
          <a:noFill/>
        </p:spPr>
        <p:txBody>
          <a:bodyPr wrap="square" lIns="0" tIns="0" rIns="0" bIns="0" anchor="t">
            <a:spAutoFit/>
          </a:bodyPr>
          <a:lstStyle/>
          <a:p>
            <a:pPr algn="l"/>
            <a:r>
              <a:rPr sz="1200" b="1" i="0">
                <a:solidFill>
                  <a:srgbClr val="2B3A8C"/>
                </a:solidFill>
                <a:latin typeface="Calibri"/>
              </a:rPr>
              <a:t>Identity &amp; Status</a:t>
            </a:r>
          </a:p>
        </p:txBody>
      </p:sp>
      <p:sp>
        <p:nvSpPr>
          <p:cNvPr id="13" name="TextBox 12"/>
          <p:cNvSpPr txBox="1"/>
          <p:nvPr/>
        </p:nvSpPr>
        <p:spPr>
          <a:xfrm>
            <a:off x="7406640" y="3429000"/>
            <a:ext cx="4389120" cy="365760"/>
          </a:xfrm>
          <a:prstGeom prst="rect">
            <a:avLst/>
          </a:prstGeom>
          <a:noFill/>
        </p:spPr>
        <p:txBody>
          <a:bodyPr wrap="square" lIns="0" tIns="0" rIns="0" bIns="0" anchor="t">
            <a:spAutoFit/>
          </a:bodyPr>
          <a:lstStyle/>
          <a:p>
            <a:pPr algn="l"/>
            <a:r>
              <a:rPr sz="950" b="0" i="0">
                <a:solidFill>
                  <a:srgbClr val="1A1A2E"/>
                </a:solidFill>
                <a:latin typeface="Consolas"/>
              </a:rPr>
              <a:t>status_4xx_ratio (#5) · login_present_ratio (#7)</a:t>
            </a:r>
          </a:p>
        </p:txBody>
      </p:sp>
      <p:sp>
        <p:nvSpPr>
          <p:cNvPr id="14" name="TextBox 13"/>
          <p:cNvSpPr txBox="1"/>
          <p:nvPr/>
        </p:nvSpPr>
        <p:spPr>
          <a:xfrm>
            <a:off x="7406640" y="3794760"/>
            <a:ext cx="4389120" cy="274320"/>
          </a:xfrm>
          <a:prstGeom prst="rect">
            <a:avLst/>
          </a:prstGeom>
          <a:noFill/>
        </p:spPr>
        <p:txBody>
          <a:bodyPr wrap="square" lIns="0" tIns="0" rIns="0" bIns="0" anchor="t">
            <a:spAutoFit/>
          </a:bodyPr>
          <a:lstStyle/>
          <a:p>
            <a:pPr algn="l"/>
            <a:r>
              <a:rPr sz="1000" b="0" i="1">
                <a:solidFill>
                  <a:srgbClr val="64748B"/>
                </a:solidFill>
                <a:latin typeface="Calibri"/>
              </a:rPr>
              <a:t>Auth pattern + error signal</a:t>
            </a:r>
          </a:p>
        </p:txBody>
      </p:sp>
      <p:sp>
        <p:nvSpPr>
          <p:cNvPr id="15" name="Rectangle 14"/>
          <p:cNvSpPr/>
          <p:nvPr/>
        </p:nvSpPr>
        <p:spPr>
          <a:xfrm>
            <a:off x="7223760" y="4160520"/>
            <a:ext cx="73152" cy="914400"/>
          </a:xfrm>
          <a:prstGeom prst="rect">
            <a:avLst/>
          </a:prstGeom>
          <a:solidFill>
            <a:srgbClr val="018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06640" y="4160520"/>
            <a:ext cx="4389120" cy="274320"/>
          </a:xfrm>
          <a:prstGeom prst="rect">
            <a:avLst/>
          </a:prstGeom>
          <a:noFill/>
        </p:spPr>
        <p:txBody>
          <a:bodyPr wrap="square" lIns="0" tIns="0" rIns="0" bIns="0" anchor="t">
            <a:spAutoFit/>
          </a:bodyPr>
          <a:lstStyle/>
          <a:p>
            <a:pPr algn="l"/>
            <a:r>
              <a:rPr sz="1200" b="1" i="0">
                <a:solidFill>
                  <a:srgbClr val="018F71"/>
                </a:solidFill>
                <a:latin typeface="Calibri"/>
              </a:rPr>
              <a:t>Endpoint Cost (behavioral)</a:t>
            </a:r>
          </a:p>
        </p:txBody>
      </p:sp>
      <p:sp>
        <p:nvSpPr>
          <p:cNvPr id="17" name="TextBox 16"/>
          <p:cNvSpPr txBox="1"/>
          <p:nvPr/>
        </p:nvSpPr>
        <p:spPr>
          <a:xfrm>
            <a:off x="7406640" y="4434840"/>
            <a:ext cx="4389120" cy="365760"/>
          </a:xfrm>
          <a:prstGeom prst="rect">
            <a:avLst/>
          </a:prstGeom>
          <a:noFill/>
        </p:spPr>
        <p:txBody>
          <a:bodyPr wrap="square" lIns="0" tIns="0" rIns="0" bIns="0" anchor="t">
            <a:spAutoFit/>
          </a:bodyPr>
          <a:lstStyle/>
          <a:p>
            <a:pPr algn="l"/>
            <a:r>
              <a:rPr sz="950" b="0" i="0">
                <a:solidFill>
                  <a:srgbClr val="1A1A2E"/>
                </a:solidFill>
                <a:latin typeface="Consolas"/>
              </a:rPr>
              <a:t>endpoint_cost_mean (#4) · endpoint_cost_sum (#10) · mean_cpu_time (#8)</a:t>
            </a:r>
          </a:p>
        </p:txBody>
      </p:sp>
      <p:sp>
        <p:nvSpPr>
          <p:cNvPr id="18" name="TextBox 17"/>
          <p:cNvSpPr txBox="1"/>
          <p:nvPr/>
        </p:nvSpPr>
        <p:spPr>
          <a:xfrm>
            <a:off x="7406640" y="4800600"/>
            <a:ext cx="4389120" cy="274320"/>
          </a:xfrm>
          <a:prstGeom prst="rect">
            <a:avLst/>
          </a:prstGeom>
          <a:noFill/>
        </p:spPr>
        <p:txBody>
          <a:bodyPr wrap="square" lIns="0" tIns="0" rIns="0" bIns="0" anchor="t">
            <a:spAutoFit/>
          </a:bodyPr>
          <a:lstStyle/>
          <a:p>
            <a:pPr algn="l"/>
            <a:r>
              <a:rPr sz="1000" b="0" i="1">
                <a:solidFill>
                  <a:srgbClr val="64748B"/>
                </a:solidFill>
                <a:latin typeface="Calibri"/>
              </a:rPr>
              <a:t>Backend cost asymmetry — hard for attacker to fake</a:t>
            </a:r>
          </a:p>
        </p:txBody>
      </p:sp>
      <p:sp>
        <p:nvSpPr>
          <p:cNvPr id="19" name="Rectangle 18"/>
          <p:cNvSpPr/>
          <p:nvPr/>
        </p:nvSpPr>
        <p:spPr>
          <a:xfrm>
            <a:off x="7223760" y="5166360"/>
            <a:ext cx="73152" cy="91440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06640" y="5166360"/>
            <a:ext cx="4389120" cy="274320"/>
          </a:xfrm>
          <a:prstGeom prst="rect">
            <a:avLst/>
          </a:prstGeom>
          <a:noFill/>
        </p:spPr>
        <p:txBody>
          <a:bodyPr wrap="square" lIns="0" tIns="0" rIns="0" bIns="0" anchor="t">
            <a:spAutoFit/>
          </a:bodyPr>
          <a:lstStyle/>
          <a:p>
            <a:pPr algn="l"/>
            <a:r>
              <a:rPr sz="1200" b="1" i="0">
                <a:solidFill>
                  <a:srgbClr val="8FAEEB"/>
                </a:solidFill>
                <a:latin typeface="Calibri"/>
              </a:rPr>
              <a:t>Timing Behavior</a:t>
            </a:r>
          </a:p>
        </p:txBody>
      </p:sp>
      <p:sp>
        <p:nvSpPr>
          <p:cNvPr id="21" name="TextBox 20"/>
          <p:cNvSpPr txBox="1"/>
          <p:nvPr/>
        </p:nvSpPr>
        <p:spPr>
          <a:xfrm>
            <a:off x="7406640" y="5440680"/>
            <a:ext cx="4389120" cy="365760"/>
          </a:xfrm>
          <a:prstGeom prst="rect">
            <a:avLst/>
          </a:prstGeom>
          <a:noFill/>
        </p:spPr>
        <p:txBody>
          <a:bodyPr wrap="square" lIns="0" tIns="0" rIns="0" bIns="0" anchor="t">
            <a:spAutoFit/>
          </a:bodyPr>
          <a:lstStyle/>
          <a:p>
            <a:pPr algn="l"/>
            <a:r>
              <a:rPr sz="950" b="0" i="0">
                <a:solidFill>
                  <a:srgbClr val="1A1A2E"/>
                </a:solidFill>
                <a:latin typeface="Consolas"/>
              </a:rPr>
              <a:t>iat_mean (#9) · iat_cv · iat_p95 · iat_ks_distance</a:t>
            </a:r>
          </a:p>
        </p:txBody>
      </p:sp>
      <p:sp>
        <p:nvSpPr>
          <p:cNvPr id="22" name="TextBox 21"/>
          <p:cNvSpPr txBox="1"/>
          <p:nvPr/>
        </p:nvSpPr>
        <p:spPr>
          <a:xfrm>
            <a:off x="7406640" y="5806440"/>
            <a:ext cx="4389120" cy="274320"/>
          </a:xfrm>
          <a:prstGeom prst="rect">
            <a:avLst/>
          </a:prstGeom>
          <a:noFill/>
        </p:spPr>
        <p:txBody>
          <a:bodyPr wrap="square" lIns="0" tIns="0" rIns="0" bIns="0" anchor="t">
            <a:spAutoFit/>
          </a:bodyPr>
          <a:lstStyle/>
          <a:p>
            <a:pPr algn="l"/>
            <a:r>
              <a:rPr sz="1000" b="0" i="1">
                <a:solidFill>
                  <a:srgbClr val="64748B"/>
                </a:solidFill>
                <a:latin typeface="Calibri"/>
              </a:rPr>
              <a:t>Request timing patterns — strong on mimicry</a:t>
            </a:r>
          </a:p>
        </p:txBody>
      </p:sp>
      <p:sp>
        <p:nvSpPr>
          <p:cNvPr id="23" name="TextBox 22"/>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Graduation Thesis · Final Defense</a:t>
            </a:r>
          </a:p>
        </p:txBody>
      </p:sp>
      <p:sp>
        <p:nvSpPr>
          <p:cNvPr id="24" name="TextBox 23"/>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16 / 23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3 · RESULTS · DEEP-DIVE</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Mimicry, Flood, and Legit — Side by Side</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Which features overlap, which ones separate?</a:t>
            </a:r>
          </a:p>
        </p:txBody>
      </p:sp>
      <p:pic>
        <p:nvPicPr>
          <p:cNvPr id="5" name="Picture 4" descr="fig9_mimicry_features.png"/>
          <p:cNvPicPr>
            <a:picLocks noChangeAspect="1"/>
          </p:cNvPicPr>
          <p:nvPr/>
        </p:nvPicPr>
        <p:blipFill>
          <a:blip r:embed="rId2"/>
          <a:stretch>
            <a:fillRect/>
          </a:stretch>
        </p:blipFill>
        <p:spPr>
          <a:xfrm>
            <a:off x="457200" y="1691640"/>
            <a:ext cx="7772400" cy="4572000"/>
          </a:xfrm>
          <a:prstGeom prst="rect">
            <a:avLst/>
          </a:prstGeom>
        </p:spPr>
      </p:pic>
      <p:sp>
        <p:nvSpPr>
          <p:cNvPr id="6" name="TextBox 5"/>
          <p:cNvSpPr txBox="1"/>
          <p:nvPr/>
        </p:nvSpPr>
        <p:spPr>
          <a:xfrm>
            <a:off x="8595360" y="1783080"/>
            <a:ext cx="3291840" cy="153888"/>
          </a:xfrm>
          <a:prstGeom prst="rect">
            <a:avLst/>
          </a:prstGeom>
          <a:noFill/>
        </p:spPr>
        <p:txBody>
          <a:bodyPr wrap="square" lIns="0" tIns="0" rIns="0" bIns="0" anchor="t">
            <a:spAutoFit/>
          </a:bodyPr>
          <a:lstStyle/>
          <a:p>
            <a:pPr algn="l"/>
            <a:r>
              <a:rPr sz="1000" b="1" i="0" spc="300" dirty="0">
                <a:solidFill>
                  <a:srgbClr val="F37866"/>
                </a:solidFill>
                <a:latin typeface="Calibri"/>
              </a:rPr>
              <a:t>SEPARATION POINTS</a:t>
            </a:r>
          </a:p>
        </p:txBody>
      </p:sp>
      <p:sp>
        <p:nvSpPr>
          <p:cNvPr id="7" name="TextBox 6"/>
          <p:cNvSpPr txBox="1"/>
          <p:nvPr/>
        </p:nvSpPr>
        <p:spPr>
          <a:xfrm>
            <a:off x="8595360" y="2194560"/>
            <a:ext cx="3291840" cy="274320"/>
          </a:xfrm>
          <a:prstGeom prst="rect">
            <a:avLst/>
          </a:prstGeom>
          <a:noFill/>
        </p:spPr>
        <p:txBody>
          <a:bodyPr wrap="square" lIns="0" tIns="0" rIns="0" bIns="0" anchor="t">
            <a:spAutoFit/>
          </a:bodyPr>
          <a:lstStyle/>
          <a:p>
            <a:pPr algn="l"/>
            <a:r>
              <a:rPr sz="1100" b="1" i="0">
                <a:solidFill>
                  <a:srgbClr val="1E2761"/>
                </a:solidFill>
                <a:latin typeface="Consolas"/>
              </a:rPr>
              <a:t>req_rate</a:t>
            </a:r>
          </a:p>
        </p:txBody>
      </p:sp>
      <p:sp>
        <p:nvSpPr>
          <p:cNvPr id="8" name="TextBox 7"/>
          <p:cNvSpPr txBox="1"/>
          <p:nvPr/>
        </p:nvSpPr>
        <p:spPr>
          <a:xfrm>
            <a:off x="8595360" y="2468879"/>
            <a:ext cx="3291840" cy="138499"/>
          </a:xfrm>
          <a:prstGeom prst="rect">
            <a:avLst/>
          </a:prstGeom>
          <a:noFill/>
        </p:spPr>
        <p:txBody>
          <a:bodyPr wrap="square" lIns="0" tIns="0" rIns="0" bIns="0" anchor="t">
            <a:spAutoFit/>
          </a:bodyPr>
          <a:lstStyle/>
          <a:p>
            <a:pPr algn="l"/>
            <a:r>
              <a:rPr sz="900" b="1" i="0" spc="300" dirty="0">
                <a:solidFill>
                  <a:srgbClr val="F37866"/>
                </a:solidFill>
                <a:latin typeface="Calibri"/>
              </a:rPr>
              <a:t>OVERLAPS</a:t>
            </a:r>
          </a:p>
        </p:txBody>
      </p:sp>
      <p:sp>
        <p:nvSpPr>
          <p:cNvPr id="9" name="TextBox 8"/>
          <p:cNvSpPr txBox="1"/>
          <p:nvPr/>
        </p:nvSpPr>
        <p:spPr>
          <a:xfrm>
            <a:off x="8595360" y="2743200"/>
            <a:ext cx="3291840" cy="502920"/>
          </a:xfrm>
          <a:prstGeom prst="rect">
            <a:avLst/>
          </a:prstGeom>
          <a:noFill/>
        </p:spPr>
        <p:txBody>
          <a:bodyPr wrap="square" lIns="0" tIns="0" rIns="0" bIns="0" anchor="t">
            <a:spAutoFit/>
          </a:bodyPr>
          <a:lstStyle/>
          <a:p>
            <a:pPr algn="l"/>
            <a:r>
              <a:rPr sz="1000" b="0" i="0">
                <a:solidFill>
                  <a:srgbClr val="1A1A2E"/>
                </a:solidFill>
                <a:latin typeface="Calibri"/>
              </a:rPr>
              <a:t>All three classes share similar rate distributions — rate alone cannot tell mimicry from legit.</a:t>
            </a:r>
          </a:p>
        </p:txBody>
      </p:sp>
      <p:sp>
        <p:nvSpPr>
          <p:cNvPr id="10" name="TextBox 9"/>
          <p:cNvSpPr txBox="1"/>
          <p:nvPr/>
        </p:nvSpPr>
        <p:spPr>
          <a:xfrm>
            <a:off x="8595360" y="3337560"/>
            <a:ext cx="3291840" cy="274320"/>
          </a:xfrm>
          <a:prstGeom prst="rect">
            <a:avLst/>
          </a:prstGeom>
          <a:noFill/>
        </p:spPr>
        <p:txBody>
          <a:bodyPr wrap="square" lIns="0" tIns="0" rIns="0" bIns="0" anchor="t">
            <a:spAutoFit/>
          </a:bodyPr>
          <a:lstStyle/>
          <a:p>
            <a:pPr algn="l"/>
            <a:r>
              <a:rPr sz="1100" b="1" i="0">
                <a:solidFill>
                  <a:srgbClr val="1E2761"/>
                </a:solidFill>
                <a:latin typeface="Consolas"/>
              </a:rPr>
              <a:t>endpoint_entropy</a:t>
            </a:r>
          </a:p>
        </p:txBody>
      </p:sp>
      <p:sp>
        <p:nvSpPr>
          <p:cNvPr id="11" name="TextBox 10"/>
          <p:cNvSpPr txBox="1"/>
          <p:nvPr/>
        </p:nvSpPr>
        <p:spPr>
          <a:xfrm>
            <a:off x="8595360" y="3611879"/>
            <a:ext cx="3291840" cy="274320"/>
          </a:xfrm>
          <a:prstGeom prst="rect">
            <a:avLst/>
          </a:prstGeom>
          <a:noFill/>
        </p:spPr>
        <p:txBody>
          <a:bodyPr wrap="square" lIns="0" tIns="0" rIns="0" bIns="0" anchor="t">
            <a:spAutoFit/>
          </a:bodyPr>
          <a:lstStyle/>
          <a:p>
            <a:pPr algn="l"/>
            <a:r>
              <a:rPr sz="900" b="1" i="0" spc="300">
                <a:solidFill>
                  <a:srgbClr val="02C39A"/>
                </a:solidFill>
                <a:latin typeface="Calibri"/>
              </a:rPr>
              <a:t>SEPARATES</a:t>
            </a:r>
          </a:p>
        </p:txBody>
      </p:sp>
      <p:sp>
        <p:nvSpPr>
          <p:cNvPr id="12" name="TextBox 11"/>
          <p:cNvSpPr txBox="1"/>
          <p:nvPr/>
        </p:nvSpPr>
        <p:spPr>
          <a:xfrm>
            <a:off x="8595360" y="3886200"/>
            <a:ext cx="3291840" cy="502920"/>
          </a:xfrm>
          <a:prstGeom prst="rect">
            <a:avLst/>
          </a:prstGeom>
          <a:noFill/>
        </p:spPr>
        <p:txBody>
          <a:bodyPr wrap="square" lIns="0" tIns="0" rIns="0" bIns="0" anchor="t">
            <a:spAutoFit/>
          </a:bodyPr>
          <a:lstStyle/>
          <a:p>
            <a:pPr algn="l"/>
            <a:r>
              <a:rPr sz="1000" b="0" i="0">
                <a:solidFill>
                  <a:srgbClr val="1A1A2E"/>
                </a:solidFill>
                <a:latin typeface="Calibri"/>
              </a:rPr>
              <a:t>Legit ~0.9, mimicry ~0.05. Mimicry only bursts on search — its distribution is narrow.</a:t>
            </a:r>
          </a:p>
        </p:txBody>
      </p:sp>
      <p:sp>
        <p:nvSpPr>
          <p:cNvPr id="13" name="TextBox 12"/>
          <p:cNvSpPr txBox="1"/>
          <p:nvPr/>
        </p:nvSpPr>
        <p:spPr>
          <a:xfrm>
            <a:off x="8595360" y="4480560"/>
            <a:ext cx="3291840" cy="274320"/>
          </a:xfrm>
          <a:prstGeom prst="rect">
            <a:avLst/>
          </a:prstGeom>
          <a:noFill/>
        </p:spPr>
        <p:txBody>
          <a:bodyPr wrap="square" lIns="0" tIns="0" rIns="0" bIns="0" anchor="t">
            <a:spAutoFit/>
          </a:bodyPr>
          <a:lstStyle/>
          <a:p>
            <a:pPr algn="l"/>
            <a:r>
              <a:rPr sz="1100" b="1" i="0">
                <a:solidFill>
                  <a:srgbClr val="1E2761"/>
                </a:solidFill>
                <a:latin typeface="Consolas"/>
              </a:rPr>
              <a:t>endpoint_cost_sum</a:t>
            </a:r>
          </a:p>
        </p:txBody>
      </p:sp>
      <p:sp>
        <p:nvSpPr>
          <p:cNvPr id="14" name="TextBox 13"/>
          <p:cNvSpPr txBox="1"/>
          <p:nvPr/>
        </p:nvSpPr>
        <p:spPr>
          <a:xfrm>
            <a:off x="8595360" y="4754880"/>
            <a:ext cx="3291840" cy="274320"/>
          </a:xfrm>
          <a:prstGeom prst="rect">
            <a:avLst/>
          </a:prstGeom>
          <a:noFill/>
        </p:spPr>
        <p:txBody>
          <a:bodyPr wrap="square" lIns="0" tIns="0" rIns="0" bIns="0" anchor="t">
            <a:spAutoFit/>
          </a:bodyPr>
          <a:lstStyle/>
          <a:p>
            <a:pPr algn="l"/>
            <a:r>
              <a:rPr sz="900" b="1" i="0" spc="300">
                <a:solidFill>
                  <a:srgbClr val="02C39A"/>
                </a:solidFill>
                <a:latin typeface="Calibri"/>
              </a:rPr>
              <a:t>SEPARATES</a:t>
            </a:r>
          </a:p>
        </p:txBody>
      </p:sp>
      <p:sp>
        <p:nvSpPr>
          <p:cNvPr id="15" name="TextBox 14"/>
          <p:cNvSpPr txBox="1"/>
          <p:nvPr/>
        </p:nvSpPr>
        <p:spPr>
          <a:xfrm>
            <a:off x="8595360" y="5029200"/>
            <a:ext cx="3291840" cy="502920"/>
          </a:xfrm>
          <a:prstGeom prst="rect">
            <a:avLst/>
          </a:prstGeom>
          <a:noFill/>
        </p:spPr>
        <p:txBody>
          <a:bodyPr wrap="square" lIns="0" tIns="0" rIns="0" bIns="0" anchor="t">
            <a:spAutoFit/>
          </a:bodyPr>
          <a:lstStyle/>
          <a:p>
            <a:pPr algn="l"/>
            <a:r>
              <a:rPr sz="1000" b="0" i="0">
                <a:solidFill>
                  <a:srgbClr val="1A1A2E"/>
                </a:solidFill>
                <a:latin typeface="Calibri"/>
              </a:rPr>
              <a:t>Cost asymmetry signal — attacker cannot fake the asymmetry.</a:t>
            </a:r>
          </a:p>
        </p:txBody>
      </p:sp>
      <p:sp>
        <p:nvSpPr>
          <p:cNvPr id="16" name="TextBox 15"/>
          <p:cNvSpPr txBox="1"/>
          <p:nvPr/>
        </p:nvSpPr>
        <p:spPr>
          <a:xfrm>
            <a:off x="8595360" y="5623560"/>
            <a:ext cx="3291840" cy="274320"/>
          </a:xfrm>
          <a:prstGeom prst="rect">
            <a:avLst/>
          </a:prstGeom>
          <a:noFill/>
        </p:spPr>
        <p:txBody>
          <a:bodyPr wrap="square" lIns="0" tIns="0" rIns="0" bIns="0" anchor="t">
            <a:spAutoFit/>
          </a:bodyPr>
          <a:lstStyle/>
          <a:p>
            <a:pPr algn="l"/>
            <a:r>
              <a:rPr sz="1100" b="1" i="0">
                <a:solidFill>
                  <a:srgbClr val="1E2761"/>
                </a:solidFill>
                <a:latin typeface="Consolas"/>
              </a:rPr>
              <a:t>ua_entropy</a:t>
            </a:r>
          </a:p>
        </p:txBody>
      </p:sp>
      <p:sp>
        <p:nvSpPr>
          <p:cNvPr id="17" name="TextBox 16"/>
          <p:cNvSpPr txBox="1"/>
          <p:nvPr/>
        </p:nvSpPr>
        <p:spPr>
          <a:xfrm>
            <a:off x="8595360" y="5897880"/>
            <a:ext cx="3291840" cy="274320"/>
          </a:xfrm>
          <a:prstGeom prst="rect">
            <a:avLst/>
          </a:prstGeom>
          <a:noFill/>
        </p:spPr>
        <p:txBody>
          <a:bodyPr wrap="square" lIns="0" tIns="0" rIns="0" bIns="0" anchor="t">
            <a:spAutoFit/>
          </a:bodyPr>
          <a:lstStyle/>
          <a:p>
            <a:pPr algn="l"/>
            <a:r>
              <a:rPr sz="900" b="1" i="0" spc="300">
                <a:solidFill>
                  <a:srgbClr val="8FAEEB"/>
                </a:solidFill>
                <a:latin typeface="Calibri"/>
              </a:rPr>
              <a:t>INVERTED</a:t>
            </a:r>
          </a:p>
        </p:txBody>
      </p:sp>
      <p:sp>
        <p:nvSpPr>
          <p:cNvPr id="18" name="TextBox 17"/>
          <p:cNvSpPr txBox="1"/>
          <p:nvPr/>
        </p:nvSpPr>
        <p:spPr>
          <a:xfrm>
            <a:off x="8595360" y="6172200"/>
            <a:ext cx="3291840" cy="502920"/>
          </a:xfrm>
          <a:prstGeom prst="rect">
            <a:avLst/>
          </a:prstGeom>
          <a:noFill/>
        </p:spPr>
        <p:txBody>
          <a:bodyPr wrap="square" lIns="0" tIns="0" rIns="0" bIns="0" anchor="t">
            <a:spAutoFit/>
          </a:bodyPr>
          <a:lstStyle/>
          <a:p>
            <a:pPr algn="l"/>
            <a:r>
              <a:rPr sz="1000" b="0" i="0">
                <a:solidFill>
                  <a:srgbClr val="1A1A2E"/>
                </a:solidFill>
                <a:latin typeface="Calibri"/>
              </a:rPr>
              <a:t>Higher in mimicry — the attacker DIVERSIFIES UA strings, and that itself is a signal.</a:t>
            </a:r>
          </a:p>
        </p:txBody>
      </p:sp>
      <p:sp>
        <p:nvSpPr>
          <p:cNvPr id="19" name="TextBox 18"/>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Graduation Thesis · Final Defense</a:t>
            </a:r>
          </a:p>
        </p:txBody>
      </p:sp>
      <p:sp>
        <p:nvSpPr>
          <p:cNvPr id="20" name="TextBox 19"/>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17 / 23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3 · RESULTS · OPERATIONAL</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Detection Latency and False Positive Rate</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How fast does the system react, and how often does it bother real users?</a:t>
            </a:r>
          </a:p>
        </p:txBody>
      </p:sp>
      <p:sp>
        <p:nvSpPr>
          <p:cNvPr id="5" name="TextBox 4"/>
          <p:cNvSpPr txBox="1"/>
          <p:nvPr/>
        </p:nvSpPr>
        <p:spPr>
          <a:xfrm>
            <a:off x="457200" y="1691640"/>
            <a:ext cx="5943600" cy="320040"/>
          </a:xfrm>
          <a:prstGeom prst="rect">
            <a:avLst/>
          </a:prstGeom>
          <a:noFill/>
        </p:spPr>
        <p:txBody>
          <a:bodyPr wrap="square" lIns="0" tIns="0" rIns="0" bIns="0" anchor="t">
            <a:spAutoFit/>
          </a:bodyPr>
          <a:lstStyle/>
          <a:p>
            <a:pPr algn="l"/>
            <a:r>
              <a:rPr sz="1300" b="1" i="0">
                <a:solidFill>
                  <a:srgbClr val="1E2761"/>
                </a:solidFill>
                <a:latin typeface="Calibri"/>
              </a:rPr>
              <a:t>Detection summary</a:t>
            </a:r>
          </a:p>
        </p:txBody>
      </p:sp>
      <p:graphicFrame>
        <p:nvGraphicFramePr>
          <p:cNvPr id="6" name="Table 5"/>
          <p:cNvGraphicFramePr>
            <a:graphicFrameLocks noGrp="1"/>
          </p:cNvGraphicFramePr>
          <p:nvPr/>
        </p:nvGraphicFramePr>
        <p:xfrm>
          <a:off x="457200" y="2057400"/>
          <a:ext cx="5943600" cy="2304288"/>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384048">
                <a:tc>
                  <a:txBody>
                    <a:bodyPr/>
                    <a:lstStyle/>
                    <a:p>
                      <a:pPr algn="l"/>
                      <a:r>
                        <a:rPr sz="1100" b="1">
                          <a:solidFill>
                            <a:srgbClr val="FFFFFF"/>
                          </a:solidFill>
                          <a:latin typeface="Calibri"/>
                        </a:rPr>
                        <a:t>Metric</a:t>
                      </a:r>
                    </a:p>
                  </a:txBody>
                  <a:tcPr marL="73152" marR="73152" marT="36576" marB="36576">
                    <a:solidFill>
                      <a:srgbClr val="1E2761"/>
                    </a:solidFill>
                  </a:tcPr>
                </a:tc>
                <a:tc>
                  <a:txBody>
                    <a:bodyPr/>
                    <a:lstStyle/>
                    <a:p>
                      <a:pPr algn="ctr"/>
                      <a:r>
                        <a:rPr sz="1100" b="1">
                          <a:solidFill>
                            <a:srgbClr val="FFFFFF"/>
                          </a:solidFill>
                          <a:latin typeface="Calibri"/>
                        </a:rPr>
                        <a:t>Value</a:t>
                      </a:r>
                    </a:p>
                  </a:txBody>
                  <a:tcPr marL="73152" marR="73152" marT="36576" marB="36576">
                    <a:solidFill>
                      <a:srgbClr val="1E2761"/>
                    </a:solidFill>
                  </a:tcPr>
                </a:tc>
                <a:extLst>
                  <a:ext uri="{0D108BD9-81ED-4DB2-BD59-A6C34878D82A}">
                    <a16:rowId xmlns:a16="http://schemas.microsoft.com/office/drawing/2014/main" val="10000"/>
                  </a:ext>
                </a:extLst>
              </a:tr>
              <a:tr h="384048">
                <a:tc>
                  <a:txBody>
                    <a:bodyPr/>
                    <a:lstStyle/>
                    <a:p>
                      <a:pPr algn="l"/>
                      <a:r>
                        <a:rPr sz="1100" b="0">
                          <a:solidFill>
                            <a:srgbClr val="1A1A2E"/>
                          </a:solidFill>
                          <a:latin typeface="Calibri"/>
                        </a:rPr>
                        <a:t>Median detection latency</a:t>
                      </a:r>
                    </a:p>
                  </a:txBody>
                  <a:tcPr marL="73152" marR="73152" marT="36576" marB="36576"/>
                </a:tc>
                <a:tc>
                  <a:txBody>
                    <a:bodyPr/>
                    <a:lstStyle/>
                    <a:p>
                      <a:pPr algn="ctr"/>
                      <a:r>
                        <a:rPr sz="1100" b="0">
                          <a:solidFill>
                            <a:srgbClr val="1A1A2E"/>
                          </a:solidFill>
                          <a:latin typeface="Calibri"/>
                        </a:rPr>
                        <a:t>0.0 sec (first window)</a:t>
                      </a:r>
                    </a:p>
                  </a:txBody>
                  <a:tcPr marL="73152" marR="73152" marT="36576" marB="36576"/>
                </a:tc>
                <a:extLst>
                  <a:ext uri="{0D108BD9-81ED-4DB2-BD59-A6C34878D82A}">
                    <a16:rowId xmlns:a16="http://schemas.microsoft.com/office/drawing/2014/main" val="10001"/>
                  </a:ext>
                </a:extLst>
              </a:tr>
              <a:tr h="384048">
                <a:tc>
                  <a:txBody>
                    <a:bodyPr/>
                    <a:lstStyle/>
                    <a:p>
                      <a:pPr algn="l"/>
                      <a:r>
                        <a:rPr sz="1100" b="0">
                          <a:solidFill>
                            <a:srgbClr val="1A1A2E"/>
                          </a:solidFill>
                          <a:latin typeface="Calibri"/>
                        </a:rPr>
                        <a:t>Mimicry binary attack recall</a:t>
                      </a:r>
                    </a:p>
                  </a:txBody>
                  <a:tcPr marL="73152" marR="73152" marT="36576" marB="36576"/>
                </a:tc>
                <a:tc>
                  <a:txBody>
                    <a:bodyPr/>
                    <a:lstStyle/>
                    <a:p>
                      <a:pPr algn="ctr"/>
                      <a:r>
                        <a:rPr sz="1100" b="0">
                          <a:solidFill>
                            <a:srgbClr val="1A1A2E"/>
                          </a:solidFill>
                          <a:latin typeface="Calibri"/>
                        </a:rPr>
                        <a:t>96.92%</a:t>
                      </a:r>
                    </a:p>
                  </a:txBody>
                  <a:tcPr marL="73152" marR="73152" marT="36576" marB="36576"/>
                </a:tc>
                <a:extLst>
                  <a:ext uri="{0D108BD9-81ED-4DB2-BD59-A6C34878D82A}">
                    <a16:rowId xmlns:a16="http://schemas.microsoft.com/office/drawing/2014/main" val="10002"/>
                  </a:ext>
                </a:extLst>
              </a:tr>
              <a:tr h="384048">
                <a:tc>
                  <a:txBody>
                    <a:bodyPr/>
                    <a:lstStyle/>
                    <a:p>
                      <a:pPr algn="l"/>
                      <a:r>
                        <a:rPr sz="1100" b="0">
                          <a:solidFill>
                            <a:srgbClr val="1A1A2E"/>
                          </a:solidFill>
                          <a:latin typeface="Calibri"/>
                        </a:rPr>
                        <a:t>In-distribution test accuracy</a:t>
                      </a:r>
                    </a:p>
                  </a:txBody>
                  <a:tcPr marL="73152" marR="73152" marT="36576" marB="36576"/>
                </a:tc>
                <a:tc>
                  <a:txBody>
                    <a:bodyPr/>
                    <a:lstStyle/>
                    <a:p>
                      <a:pPr algn="ctr"/>
                      <a:r>
                        <a:rPr sz="1100" b="0">
                          <a:solidFill>
                            <a:srgbClr val="1A1A2E"/>
                          </a:solidFill>
                          <a:latin typeface="Calibri"/>
                        </a:rPr>
                        <a:t>100% (CV: 99.94 ± 0.05%)</a:t>
                      </a:r>
                    </a:p>
                  </a:txBody>
                  <a:tcPr marL="73152" marR="73152" marT="36576" marB="36576"/>
                </a:tc>
                <a:extLst>
                  <a:ext uri="{0D108BD9-81ED-4DB2-BD59-A6C34878D82A}">
                    <a16:rowId xmlns:a16="http://schemas.microsoft.com/office/drawing/2014/main" val="10003"/>
                  </a:ext>
                </a:extLst>
              </a:tr>
              <a:tr h="384048">
                <a:tc>
                  <a:txBody>
                    <a:bodyPr/>
                    <a:lstStyle/>
                    <a:p>
                      <a:pPr algn="l"/>
                      <a:r>
                        <a:rPr sz="1100" b="0">
                          <a:solidFill>
                            <a:srgbClr val="1A1A2E"/>
                          </a:solidFill>
                          <a:latin typeface="Calibri"/>
                        </a:rPr>
                        <a:t>Behavioral lift on mimicry (ablation)</a:t>
                      </a:r>
                    </a:p>
                  </a:txBody>
                  <a:tcPr marL="73152" marR="73152" marT="36576" marB="36576"/>
                </a:tc>
                <a:tc>
                  <a:txBody>
                    <a:bodyPr/>
                    <a:lstStyle/>
                    <a:p>
                      <a:pPr algn="ctr"/>
                      <a:r>
                        <a:rPr sz="1100" b="0">
                          <a:solidFill>
                            <a:srgbClr val="1A1A2E"/>
                          </a:solidFill>
                          <a:latin typeface="Calibri"/>
                        </a:rPr>
                        <a:t>+23 percentage points</a:t>
                      </a:r>
                    </a:p>
                  </a:txBody>
                  <a:tcPr marL="73152" marR="73152" marT="36576" marB="36576"/>
                </a:tc>
                <a:extLst>
                  <a:ext uri="{0D108BD9-81ED-4DB2-BD59-A6C34878D82A}">
                    <a16:rowId xmlns:a16="http://schemas.microsoft.com/office/drawing/2014/main" val="10004"/>
                  </a:ext>
                </a:extLst>
              </a:tr>
              <a:tr h="384048">
                <a:tc>
                  <a:txBody>
                    <a:bodyPr/>
                    <a:lstStyle/>
                    <a:p>
                      <a:pPr algn="l"/>
                      <a:r>
                        <a:rPr sz="1100" b="0">
                          <a:solidFill>
                            <a:srgbClr val="1A1A2E"/>
                          </a:solidFill>
                          <a:latin typeface="Calibri"/>
                        </a:rPr>
                        <a:t>S6 slowloris (sparse, rule-based) *</a:t>
                      </a:r>
                    </a:p>
                  </a:txBody>
                  <a:tcPr marL="73152" marR="73152" marT="36576" marB="36576"/>
                </a:tc>
                <a:tc>
                  <a:txBody>
                    <a:bodyPr/>
                    <a:lstStyle/>
                    <a:p>
                      <a:pPr algn="ctr"/>
                      <a:r>
                        <a:rPr sz="1100" b="0">
                          <a:solidFill>
                            <a:srgbClr val="64748B"/>
                          </a:solidFill>
                          <a:latin typeface="Calibri"/>
                        </a:rPr>
                        <a:t>see §5.3</a:t>
                      </a:r>
                    </a:p>
                  </a:txBody>
                  <a:tcPr marL="73152" marR="73152" marT="36576" marB="36576"/>
                </a:tc>
                <a:extLst>
                  <a:ext uri="{0D108BD9-81ED-4DB2-BD59-A6C34878D82A}">
                    <a16:rowId xmlns:a16="http://schemas.microsoft.com/office/drawing/2014/main" val="10005"/>
                  </a:ext>
                </a:extLst>
              </a:tr>
            </a:tbl>
          </a:graphicData>
        </a:graphic>
      </p:graphicFrame>
      <p:sp>
        <p:nvSpPr>
          <p:cNvPr id="7" name="TextBox 6"/>
          <p:cNvSpPr txBox="1"/>
          <p:nvPr/>
        </p:nvSpPr>
        <p:spPr>
          <a:xfrm>
            <a:off x="457200" y="4617720"/>
            <a:ext cx="5943600" cy="274320"/>
          </a:xfrm>
          <a:prstGeom prst="rect">
            <a:avLst/>
          </a:prstGeom>
          <a:noFill/>
        </p:spPr>
        <p:txBody>
          <a:bodyPr wrap="square" lIns="0" tIns="0" rIns="0" bIns="0" anchor="t">
            <a:spAutoFit/>
          </a:bodyPr>
          <a:lstStyle/>
          <a:p>
            <a:pPr algn="l"/>
            <a:r>
              <a:rPr sz="900" b="0" i="1">
                <a:solidFill>
                  <a:srgbClr val="64748B"/>
                </a:solidFill>
                <a:latin typeface="Calibri"/>
              </a:rPr>
              <a:t>* Slow HTTP evaluated by connection-level rule — see Discussion §5.3</a:t>
            </a:r>
          </a:p>
        </p:txBody>
      </p:sp>
      <p:sp>
        <p:nvSpPr>
          <p:cNvPr id="8" name="TextBox 7"/>
          <p:cNvSpPr txBox="1"/>
          <p:nvPr/>
        </p:nvSpPr>
        <p:spPr>
          <a:xfrm>
            <a:off x="6858000" y="1691640"/>
            <a:ext cx="5029200" cy="320040"/>
          </a:xfrm>
          <a:prstGeom prst="rect">
            <a:avLst/>
          </a:prstGeom>
          <a:noFill/>
        </p:spPr>
        <p:txBody>
          <a:bodyPr wrap="square" lIns="0" tIns="0" rIns="0" bIns="0" anchor="t">
            <a:spAutoFit/>
          </a:bodyPr>
          <a:lstStyle/>
          <a:p>
            <a:pPr algn="l"/>
            <a:r>
              <a:rPr sz="1300" b="1" i="0">
                <a:solidFill>
                  <a:srgbClr val="1E2761"/>
                </a:solidFill>
                <a:latin typeface="Calibri"/>
              </a:rPr>
              <a:t>False positives on normal users</a:t>
            </a:r>
          </a:p>
        </p:txBody>
      </p:sp>
      <p:sp>
        <p:nvSpPr>
          <p:cNvPr id="9" name="Rectangle 8"/>
          <p:cNvSpPr/>
          <p:nvPr/>
        </p:nvSpPr>
        <p:spPr>
          <a:xfrm>
            <a:off x="6858000" y="2103120"/>
            <a:ext cx="4846320" cy="777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0" y="2103120"/>
            <a:ext cx="91440" cy="777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32320" y="2194560"/>
            <a:ext cx="1645920" cy="594360"/>
          </a:xfrm>
          <a:prstGeom prst="rect">
            <a:avLst/>
          </a:prstGeom>
          <a:noFill/>
        </p:spPr>
        <p:txBody>
          <a:bodyPr wrap="square" lIns="0" tIns="0" rIns="0" bIns="0" anchor="t">
            <a:spAutoFit/>
          </a:bodyPr>
          <a:lstStyle/>
          <a:p>
            <a:pPr algn="l"/>
            <a:r>
              <a:rPr sz="3200" b="1" i="0">
                <a:solidFill>
                  <a:srgbClr val="02C39A"/>
                </a:solidFill>
                <a:latin typeface="Calibri"/>
              </a:rPr>
              <a:t>0</a:t>
            </a:r>
          </a:p>
        </p:txBody>
      </p:sp>
      <p:sp>
        <p:nvSpPr>
          <p:cNvPr id="12" name="TextBox 11"/>
          <p:cNvSpPr txBox="1"/>
          <p:nvPr/>
        </p:nvSpPr>
        <p:spPr>
          <a:xfrm>
            <a:off x="8778240" y="2286000"/>
            <a:ext cx="2834640" cy="457200"/>
          </a:xfrm>
          <a:prstGeom prst="rect">
            <a:avLst/>
          </a:prstGeom>
          <a:noFill/>
        </p:spPr>
        <p:txBody>
          <a:bodyPr wrap="square" lIns="0" tIns="0" rIns="0" bIns="0" anchor="ctr">
            <a:spAutoFit/>
          </a:bodyPr>
          <a:lstStyle/>
          <a:p>
            <a:pPr algn="l"/>
            <a:r>
              <a:rPr sz="1100" b="0" i="0">
                <a:solidFill>
                  <a:srgbClr val="1A1A2E"/>
                </a:solidFill>
                <a:latin typeface="Calibri"/>
              </a:rPr>
              <a:t>false-positive windows</a:t>
            </a:r>
          </a:p>
        </p:txBody>
      </p:sp>
      <p:sp>
        <p:nvSpPr>
          <p:cNvPr id="13" name="Rectangle 12"/>
          <p:cNvSpPr/>
          <p:nvPr/>
        </p:nvSpPr>
        <p:spPr>
          <a:xfrm>
            <a:off x="6858000" y="3017520"/>
            <a:ext cx="4846320" cy="777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858000" y="3017520"/>
            <a:ext cx="91440" cy="77724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32320" y="3108960"/>
            <a:ext cx="1645920" cy="594360"/>
          </a:xfrm>
          <a:prstGeom prst="rect">
            <a:avLst/>
          </a:prstGeom>
          <a:noFill/>
        </p:spPr>
        <p:txBody>
          <a:bodyPr wrap="square" lIns="0" tIns="0" rIns="0" bIns="0" anchor="t">
            <a:spAutoFit/>
          </a:bodyPr>
          <a:lstStyle/>
          <a:p>
            <a:pPr algn="l"/>
            <a:r>
              <a:rPr sz="3200" b="1" i="0">
                <a:solidFill>
                  <a:srgbClr val="8FAEEB"/>
                </a:solidFill>
                <a:latin typeface="Calibri"/>
              </a:rPr>
              <a:t>∞</a:t>
            </a:r>
          </a:p>
        </p:txBody>
      </p:sp>
      <p:sp>
        <p:nvSpPr>
          <p:cNvPr id="16" name="TextBox 15"/>
          <p:cNvSpPr txBox="1"/>
          <p:nvPr/>
        </p:nvSpPr>
        <p:spPr>
          <a:xfrm>
            <a:off x="8778240" y="3200400"/>
            <a:ext cx="2834640" cy="457200"/>
          </a:xfrm>
          <a:prstGeom prst="rect">
            <a:avLst/>
          </a:prstGeom>
          <a:noFill/>
        </p:spPr>
        <p:txBody>
          <a:bodyPr wrap="square" lIns="0" tIns="0" rIns="0" bIns="0" anchor="ctr">
            <a:spAutoFit/>
          </a:bodyPr>
          <a:lstStyle/>
          <a:p>
            <a:pPr algn="l"/>
            <a:r>
              <a:rPr sz="1100" b="0" i="0">
                <a:solidFill>
                  <a:srgbClr val="1A1A2E"/>
                </a:solidFill>
                <a:latin typeface="Calibri"/>
              </a:rPr>
              <a:t>windows per false alarm</a:t>
            </a:r>
          </a:p>
        </p:txBody>
      </p:sp>
      <p:sp>
        <p:nvSpPr>
          <p:cNvPr id="17" name="Rectangle 16"/>
          <p:cNvSpPr/>
          <p:nvPr/>
        </p:nvSpPr>
        <p:spPr>
          <a:xfrm>
            <a:off x="6858000" y="3931920"/>
            <a:ext cx="4846320" cy="777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858000" y="3931920"/>
            <a:ext cx="91440" cy="777240"/>
          </a:xfrm>
          <a:prstGeom prst="rect">
            <a:avLst/>
          </a:prstGeom>
          <a:solidFill>
            <a:srgbClr val="018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32320" y="4023359"/>
            <a:ext cx="1645920" cy="594360"/>
          </a:xfrm>
          <a:prstGeom prst="rect">
            <a:avLst/>
          </a:prstGeom>
          <a:noFill/>
        </p:spPr>
        <p:txBody>
          <a:bodyPr wrap="square" lIns="0" tIns="0" rIns="0" bIns="0" anchor="t">
            <a:spAutoFit/>
          </a:bodyPr>
          <a:lstStyle/>
          <a:p>
            <a:pPr algn="l"/>
            <a:r>
              <a:rPr sz="3200" b="1" i="0">
                <a:solidFill>
                  <a:srgbClr val="018F71"/>
                </a:solidFill>
                <a:latin typeface="Calibri"/>
              </a:rPr>
              <a:t>0.000</a:t>
            </a:r>
          </a:p>
        </p:txBody>
      </p:sp>
      <p:sp>
        <p:nvSpPr>
          <p:cNvPr id="20" name="TextBox 19"/>
          <p:cNvSpPr txBox="1"/>
          <p:nvPr/>
        </p:nvSpPr>
        <p:spPr>
          <a:xfrm>
            <a:off x="8778240" y="4114800"/>
            <a:ext cx="2834640" cy="457200"/>
          </a:xfrm>
          <a:prstGeom prst="rect">
            <a:avLst/>
          </a:prstGeom>
          <a:noFill/>
        </p:spPr>
        <p:txBody>
          <a:bodyPr wrap="square" lIns="0" tIns="0" rIns="0" bIns="0" anchor="ctr">
            <a:spAutoFit/>
          </a:bodyPr>
          <a:lstStyle/>
          <a:p>
            <a:pPr algn="l"/>
            <a:r>
              <a:rPr sz="1100" b="0" i="0">
                <a:solidFill>
                  <a:srgbClr val="1A1A2E"/>
                </a:solidFill>
                <a:latin typeface="Calibri"/>
              </a:rPr>
              <a:t>FPR / legit IP-minute</a:t>
            </a:r>
          </a:p>
        </p:txBody>
      </p:sp>
      <p:sp>
        <p:nvSpPr>
          <p:cNvPr id="21" name="Rectangle 20"/>
          <p:cNvSpPr/>
          <p:nvPr/>
        </p:nvSpPr>
        <p:spPr>
          <a:xfrm>
            <a:off x="457200" y="5120640"/>
            <a:ext cx="11247120" cy="12801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5120640"/>
            <a:ext cx="137160" cy="12801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5212080"/>
            <a:ext cx="4572000" cy="274320"/>
          </a:xfrm>
          <a:prstGeom prst="rect">
            <a:avLst/>
          </a:prstGeom>
          <a:noFill/>
        </p:spPr>
        <p:txBody>
          <a:bodyPr wrap="square" lIns="0" tIns="0" rIns="0" bIns="0" anchor="t">
            <a:spAutoFit/>
          </a:bodyPr>
          <a:lstStyle/>
          <a:p>
            <a:pPr algn="l"/>
            <a:r>
              <a:rPr sz="1100" b="1" i="0" spc="400">
                <a:solidFill>
                  <a:srgbClr val="02C39A"/>
                </a:solidFill>
                <a:latin typeface="Calibri"/>
              </a:rPr>
              <a:t>OPERATIONAL READING</a:t>
            </a:r>
          </a:p>
        </p:txBody>
      </p:sp>
      <p:sp>
        <p:nvSpPr>
          <p:cNvPr id="24" name="TextBox 23"/>
          <p:cNvSpPr txBox="1"/>
          <p:nvPr/>
        </p:nvSpPr>
        <p:spPr>
          <a:xfrm>
            <a:off x="777240" y="5486400"/>
            <a:ext cx="10789920" cy="914400"/>
          </a:xfrm>
          <a:prstGeom prst="rect">
            <a:avLst/>
          </a:prstGeom>
          <a:noFill/>
        </p:spPr>
        <p:txBody>
          <a:bodyPr wrap="square" lIns="0" tIns="0" rIns="0" bIns="0" anchor="t">
            <a:spAutoFit/>
          </a:bodyPr>
          <a:lstStyle/>
          <a:p>
            <a:pPr algn="l"/>
            <a:r>
              <a:rPr sz="1200" b="0" i="1">
                <a:solidFill>
                  <a:srgbClr val="FFFFFF"/>
                </a:solidFill>
                <a:latin typeface="Calibri"/>
              </a:rPr>
              <a:t>Median detection is in the first 10-second window. Under V3 production-realistic conditions, the model produces zero false positives across all normal-user windows — a clean signal even with stricter (more realistic) legit baseline.</a:t>
            </a:r>
          </a:p>
        </p:txBody>
      </p:sp>
      <p:sp>
        <p:nvSpPr>
          <p:cNvPr id="25" name="TextBox 24"/>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Graduation Thesis · Final Defense</a:t>
            </a:r>
          </a:p>
        </p:txBody>
      </p:sp>
      <p:sp>
        <p:nvSpPr>
          <p:cNvPr id="26" name="TextBox 25"/>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18 / 23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3 · RESULTS · CALIBRATION</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Calibration Against Historical Web Traces</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Synthetic legitimate traffic aligns structurally with NASA 1995</a:t>
            </a:r>
          </a:p>
        </p:txBody>
      </p:sp>
      <p:pic>
        <p:nvPicPr>
          <p:cNvPr id="5" name="Picture 4" descr="fig7_iat_calibration.png"/>
          <p:cNvPicPr>
            <a:picLocks noChangeAspect="1"/>
          </p:cNvPicPr>
          <p:nvPr/>
        </p:nvPicPr>
        <p:blipFill>
          <a:blip r:embed="rId2"/>
          <a:stretch>
            <a:fillRect/>
          </a:stretch>
        </p:blipFill>
        <p:spPr>
          <a:xfrm>
            <a:off x="457200" y="1691640"/>
            <a:ext cx="5760720" cy="2194560"/>
          </a:xfrm>
          <a:prstGeom prst="rect">
            <a:avLst/>
          </a:prstGeom>
        </p:spPr>
      </p:pic>
      <p:sp>
        <p:nvSpPr>
          <p:cNvPr id="6" name="TextBox 5"/>
          <p:cNvSpPr txBox="1"/>
          <p:nvPr/>
        </p:nvSpPr>
        <p:spPr>
          <a:xfrm>
            <a:off x="457200" y="3931920"/>
            <a:ext cx="5760720" cy="274320"/>
          </a:xfrm>
          <a:prstGeom prst="rect">
            <a:avLst/>
          </a:prstGeom>
          <a:noFill/>
        </p:spPr>
        <p:txBody>
          <a:bodyPr wrap="square" lIns="0" tIns="0" rIns="0" bIns="0" anchor="t">
            <a:spAutoFit/>
          </a:bodyPr>
          <a:lstStyle/>
          <a:p>
            <a:pPr algn="ctr"/>
            <a:r>
              <a:rPr sz="1100" b="0" i="1">
                <a:solidFill>
                  <a:srgbClr val="64748B"/>
                </a:solidFill>
                <a:latin typeface="Calibri"/>
              </a:rPr>
              <a:t>IAT distribution (KS = 0.321) — substantial alignment in 0.1-10s range</a:t>
            </a:r>
          </a:p>
        </p:txBody>
      </p:sp>
      <p:pic>
        <p:nvPicPr>
          <p:cNvPr id="7" name="Picture 6" descr="fig8_zipf_calibration.png"/>
          <p:cNvPicPr>
            <a:picLocks noChangeAspect="1"/>
          </p:cNvPicPr>
          <p:nvPr/>
        </p:nvPicPr>
        <p:blipFill>
          <a:blip r:embed="rId3"/>
          <a:stretch>
            <a:fillRect/>
          </a:stretch>
        </p:blipFill>
        <p:spPr>
          <a:xfrm>
            <a:off x="6400800" y="1691640"/>
            <a:ext cx="5486400" cy="2194560"/>
          </a:xfrm>
          <a:prstGeom prst="rect">
            <a:avLst/>
          </a:prstGeom>
        </p:spPr>
      </p:pic>
      <p:sp>
        <p:nvSpPr>
          <p:cNvPr id="8" name="TextBox 7"/>
          <p:cNvSpPr txBox="1"/>
          <p:nvPr/>
        </p:nvSpPr>
        <p:spPr>
          <a:xfrm>
            <a:off x="6400800" y="3931920"/>
            <a:ext cx="5486400" cy="274320"/>
          </a:xfrm>
          <a:prstGeom prst="rect">
            <a:avLst/>
          </a:prstGeom>
          <a:noFill/>
        </p:spPr>
        <p:txBody>
          <a:bodyPr wrap="square" lIns="0" tIns="0" rIns="0" bIns="0" anchor="t">
            <a:spAutoFit/>
          </a:bodyPr>
          <a:lstStyle/>
          <a:p>
            <a:pPr algn="ctr"/>
            <a:r>
              <a:rPr sz="1100" b="0" i="1">
                <a:solidFill>
                  <a:srgbClr val="64748B"/>
                </a:solidFill>
                <a:latin typeface="Calibri"/>
              </a:rPr>
              <a:t>Endpoint Zipf (α: synthetic 2.20 vs NASA 1.25)</a:t>
            </a:r>
          </a:p>
        </p:txBody>
      </p:sp>
      <p:sp>
        <p:nvSpPr>
          <p:cNvPr id="9" name="Rectangle 8"/>
          <p:cNvSpPr/>
          <p:nvPr/>
        </p:nvSpPr>
        <p:spPr>
          <a:xfrm>
            <a:off x="457200" y="4434840"/>
            <a:ext cx="11247120" cy="1920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4434840"/>
            <a:ext cx="137160" cy="1920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4526280"/>
            <a:ext cx="5486400" cy="320040"/>
          </a:xfrm>
          <a:prstGeom prst="rect">
            <a:avLst/>
          </a:prstGeom>
          <a:noFill/>
        </p:spPr>
        <p:txBody>
          <a:bodyPr wrap="square" lIns="0" tIns="0" rIns="0" bIns="0" anchor="t">
            <a:spAutoFit/>
          </a:bodyPr>
          <a:lstStyle/>
          <a:p>
            <a:pPr algn="l"/>
            <a:r>
              <a:rPr sz="1100" b="1" i="0" spc="400">
                <a:solidFill>
                  <a:srgbClr val="018F71"/>
                </a:solidFill>
                <a:latin typeface="Calibri"/>
              </a:rPr>
              <a:t>WHAT'S PRESERVED, WHAT'S RE-PARAMETERIZED</a:t>
            </a:r>
          </a:p>
        </p:txBody>
      </p:sp>
      <p:sp>
        <p:nvSpPr>
          <p:cNvPr id="12" name="TextBox 11"/>
          <p:cNvSpPr txBox="1"/>
          <p:nvPr/>
        </p:nvSpPr>
        <p:spPr>
          <a:xfrm>
            <a:off x="777240" y="4846320"/>
            <a:ext cx="10789920" cy="1508760"/>
          </a:xfrm>
          <a:prstGeom prst="rect">
            <a:avLst/>
          </a:prstGeom>
          <a:noFill/>
        </p:spPr>
        <p:txBody>
          <a:bodyPr wrap="square" lIns="0" tIns="0" rIns="0" bIns="0" anchor="t">
            <a:spAutoFit/>
          </a:bodyPr>
          <a:lstStyle/>
          <a:p>
            <a:pPr algn="l"/>
            <a:r>
              <a:rPr sz="1150" b="1" i="0">
                <a:solidFill>
                  <a:srgbClr val="1A1A2E"/>
                </a:solidFill>
                <a:latin typeface="Calibri"/>
              </a:rPr>
              <a:t>Synthetic traffic closely tracks NASA structure.</a:t>
            </a:r>
          </a:p>
          <a:p>
            <a:pPr algn="l"/>
            <a:r>
              <a:rPr sz="1150" b="0" i="0">
                <a:solidFill>
                  <a:srgbClr val="1A1A2E"/>
                </a:solidFill>
                <a:latin typeface="Calibri"/>
              </a:rPr>
              <a:t>IAT KS dropped from 0.994 to 0.321 after bug fixes and production-realistic legit scaling.</a:t>
            </a:r>
          </a:p>
          <a:p>
            <a:pPr algn="l"/>
            <a:r>
              <a:rPr sz="1150" b="1" i="0">
                <a:solidFill>
                  <a:srgbClr val="1A1A2E"/>
                </a:solidFill>
                <a:latin typeface="Calibri"/>
              </a:rPr>
              <a:t>Structural properties preserved: </a:t>
            </a:r>
            <a:r>
              <a:rPr sz="1150" b="0" i="0">
                <a:solidFill>
                  <a:srgbClr val="1A1A2E"/>
                </a:solidFill>
                <a:latin typeface="Calibri"/>
              </a:rPr>
              <a:t>log-normal IAT shape, Zipf endpoint popularity, Markov navigation graph.</a:t>
            </a:r>
          </a:p>
          <a:p>
            <a:pPr algn="l"/>
            <a:r>
              <a:rPr sz="1150" b="1" i="0">
                <a:solidFill>
                  <a:srgbClr val="1A1A2E"/>
                </a:solidFill>
                <a:latin typeface="Calibri"/>
              </a:rPr>
              <a:t>Numerical parameters re-parameterized per deployment context: </a:t>
            </a:r>
            <a:r>
              <a:rPr sz="1150" b="0" i="0">
                <a:solidFill>
                  <a:srgbClr val="1A1A2E"/>
                </a:solidFill>
                <a:latin typeface="Calibri"/>
              </a:rPr>
              <a:t>α 2.20 (4 routes) vs NASA 1.25 (hundreds of paths) — expected; structure transfers, context-specific values do not.</a:t>
            </a:r>
          </a:p>
        </p:txBody>
      </p:sp>
      <p:sp>
        <p:nvSpPr>
          <p:cNvPr id="13" name="TextBox 12"/>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Graduation Thesis · Final Defense</a:t>
            </a:r>
          </a:p>
        </p:txBody>
      </p:sp>
      <p:sp>
        <p:nvSpPr>
          <p:cNvPr id="14" name="TextBox 13"/>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19 / 23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4 · CONTRIBUTIONS &amp; LIMITS</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Scientific Contributions</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Three methodological moves that make this thesis stand out</a:t>
            </a:r>
          </a:p>
        </p:txBody>
      </p:sp>
      <p:sp>
        <p:nvSpPr>
          <p:cNvPr id="5" name="Rectangle 4"/>
          <p:cNvSpPr/>
          <p:nvPr/>
        </p:nvSpPr>
        <p:spPr>
          <a:xfrm>
            <a:off x="1042918" y="1705142"/>
            <a:ext cx="10511140" cy="14173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1904" y="1705141"/>
            <a:ext cx="591014" cy="1439515"/>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2188" y="2195787"/>
            <a:ext cx="1092820" cy="307777"/>
          </a:xfrm>
          <a:prstGeom prst="rect">
            <a:avLst/>
          </a:prstGeom>
          <a:noFill/>
        </p:spPr>
        <p:txBody>
          <a:bodyPr wrap="square" lIns="0" tIns="0" rIns="0" bIns="0" anchor="t">
            <a:spAutoFit/>
          </a:bodyPr>
          <a:lstStyle/>
          <a:p>
            <a:pPr algn="ctr"/>
            <a:r>
              <a:rPr sz="2000" b="1" i="0" dirty="0">
                <a:solidFill>
                  <a:srgbClr val="FFFFFF"/>
                </a:solidFill>
                <a:latin typeface="Georgia"/>
              </a:rPr>
              <a:t>01</a:t>
            </a:r>
          </a:p>
        </p:txBody>
      </p:sp>
      <p:sp>
        <p:nvSpPr>
          <p:cNvPr id="8" name="TextBox 7"/>
          <p:cNvSpPr txBox="1"/>
          <p:nvPr/>
        </p:nvSpPr>
        <p:spPr>
          <a:xfrm>
            <a:off x="1280160" y="1828800"/>
            <a:ext cx="9601200" cy="365760"/>
          </a:xfrm>
          <a:prstGeom prst="rect">
            <a:avLst/>
          </a:prstGeom>
          <a:noFill/>
        </p:spPr>
        <p:txBody>
          <a:bodyPr wrap="square" lIns="0" tIns="0" rIns="0" bIns="0" anchor="t">
            <a:spAutoFit/>
          </a:bodyPr>
          <a:lstStyle/>
          <a:p>
            <a:pPr algn="l"/>
            <a:r>
              <a:rPr sz="1700" b="1" i="0" dirty="0">
                <a:solidFill>
                  <a:srgbClr val="1E2761"/>
                </a:solidFill>
                <a:latin typeface="Calibri"/>
              </a:rPr>
              <a:t>Multi-Tier Behavioral Feature Pipeline</a:t>
            </a:r>
          </a:p>
        </p:txBody>
      </p:sp>
      <p:sp>
        <p:nvSpPr>
          <p:cNvPr id="9" name="TextBox 8"/>
          <p:cNvSpPr txBox="1"/>
          <p:nvPr/>
        </p:nvSpPr>
        <p:spPr>
          <a:xfrm>
            <a:off x="1280160" y="2232929"/>
            <a:ext cx="9601200" cy="685800"/>
          </a:xfrm>
          <a:prstGeom prst="rect">
            <a:avLst/>
          </a:prstGeom>
          <a:noFill/>
        </p:spPr>
        <p:txBody>
          <a:bodyPr wrap="square" lIns="0" tIns="0" rIns="0" bIns="0" anchor="t">
            <a:spAutoFit/>
          </a:bodyPr>
          <a:lstStyle/>
          <a:p>
            <a:pPr algn="l"/>
            <a:r>
              <a:rPr sz="1150" b="0" i="0" dirty="0">
                <a:solidFill>
                  <a:srgbClr val="1A1A2E"/>
                </a:solidFill>
                <a:latin typeface="Calibri"/>
              </a:rPr>
              <a:t>37 features across four tiers (connection / window / global / baseline-distance). Ablation shows +23pp behavioral lift on mimicry recall over rate-only features.</a:t>
            </a:r>
          </a:p>
        </p:txBody>
      </p:sp>
      <p:sp>
        <p:nvSpPr>
          <p:cNvPr id="10" name="Rounded Rectangle 9"/>
          <p:cNvSpPr/>
          <p:nvPr/>
        </p:nvSpPr>
        <p:spPr>
          <a:xfrm>
            <a:off x="1186435" y="2722802"/>
            <a:ext cx="758952" cy="27432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86435" y="2718844"/>
            <a:ext cx="758952" cy="274320"/>
          </a:xfrm>
          <a:prstGeom prst="rect">
            <a:avLst/>
          </a:prstGeom>
          <a:noFill/>
        </p:spPr>
        <p:txBody>
          <a:bodyPr wrap="square" lIns="0" tIns="0" rIns="0" bIns="0" anchor="ctr">
            <a:spAutoFit/>
          </a:bodyPr>
          <a:lstStyle/>
          <a:p>
            <a:pPr algn="ctr"/>
            <a:r>
              <a:rPr sz="900" b="1" i="0" dirty="0">
                <a:solidFill>
                  <a:srgbClr val="1E2761"/>
                </a:solidFill>
                <a:latin typeface="Consolas"/>
              </a:rPr>
              <a:t>features</a:t>
            </a:r>
          </a:p>
        </p:txBody>
      </p:sp>
      <p:sp>
        <p:nvSpPr>
          <p:cNvPr id="12" name="Rounded Rectangle 11"/>
          <p:cNvSpPr/>
          <p:nvPr/>
        </p:nvSpPr>
        <p:spPr>
          <a:xfrm>
            <a:off x="2068608" y="2722304"/>
            <a:ext cx="1069848" cy="27432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68608" y="2722304"/>
            <a:ext cx="1069848" cy="274320"/>
          </a:xfrm>
          <a:prstGeom prst="rect">
            <a:avLst/>
          </a:prstGeom>
          <a:noFill/>
        </p:spPr>
        <p:txBody>
          <a:bodyPr wrap="square" lIns="0" tIns="0" rIns="0" bIns="0" anchor="ctr">
            <a:spAutoFit/>
          </a:bodyPr>
          <a:lstStyle/>
          <a:p>
            <a:pPr algn="ctr"/>
            <a:r>
              <a:rPr sz="900" b="1" i="0" dirty="0">
                <a:solidFill>
                  <a:srgbClr val="1E2761"/>
                </a:solidFill>
                <a:latin typeface="Consolas"/>
              </a:rPr>
              <a:t>architecture</a:t>
            </a:r>
          </a:p>
        </p:txBody>
      </p:sp>
      <p:sp>
        <p:nvSpPr>
          <p:cNvPr id="14" name="Rectangle 13"/>
          <p:cNvSpPr/>
          <p:nvPr/>
        </p:nvSpPr>
        <p:spPr>
          <a:xfrm>
            <a:off x="1042918" y="3232190"/>
            <a:ext cx="10511140" cy="14173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1904" y="3232189"/>
            <a:ext cx="591014" cy="1439515"/>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7331" y="3721641"/>
            <a:ext cx="1280160" cy="307777"/>
          </a:xfrm>
          <a:prstGeom prst="rect">
            <a:avLst/>
          </a:prstGeom>
          <a:noFill/>
        </p:spPr>
        <p:txBody>
          <a:bodyPr wrap="square" lIns="0" tIns="0" rIns="0" bIns="0" anchor="t">
            <a:spAutoFit/>
          </a:bodyPr>
          <a:lstStyle/>
          <a:p>
            <a:pPr algn="ctr"/>
            <a:r>
              <a:rPr sz="2000" b="1" i="0" dirty="0">
                <a:solidFill>
                  <a:srgbClr val="FFFFFF"/>
                </a:solidFill>
                <a:latin typeface="Georgia"/>
              </a:rPr>
              <a:t>02</a:t>
            </a:r>
          </a:p>
        </p:txBody>
      </p:sp>
      <p:sp>
        <p:nvSpPr>
          <p:cNvPr id="17" name="TextBox 16"/>
          <p:cNvSpPr txBox="1"/>
          <p:nvPr/>
        </p:nvSpPr>
        <p:spPr>
          <a:xfrm>
            <a:off x="1315008" y="3369349"/>
            <a:ext cx="9601200" cy="365760"/>
          </a:xfrm>
          <a:prstGeom prst="rect">
            <a:avLst/>
          </a:prstGeom>
          <a:noFill/>
        </p:spPr>
        <p:txBody>
          <a:bodyPr wrap="square" lIns="0" tIns="0" rIns="0" bIns="0" anchor="t">
            <a:spAutoFit/>
          </a:bodyPr>
          <a:lstStyle/>
          <a:p>
            <a:pPr algn="l"/>
            <a:r>
              <a:rPr sz="1700" b="1" i="0" dirty="0">
                <a:solidFill>
                  <a:srgbClr val="1E2761"/>
                </a:solidFill>
                <a:latin typeface="Calibri"/>
              </a:rPr>
              <a:t>Mimicry Holdout Protocol</a:t>
            </a:r>
          </a:p>
        </p:txBody>
      </p:sp>
      <p:sp>
        <p:nvSpPr>
          <p:cNvPr id="18" name="TextBox 17"/>
          <p:cNvSpPr txBox="1"/>
          <p:nvPr/>
        </p:nvSpPr>
        <p:spPr>
          <a:xfrm>
            <a:off x="1328724" y="3826550"/>
            <a:ext cx="9601200" cy="685800"/>
          </a:xfrm>
          <a:prstGeom prst="rect">
            <a:avLst/>
          </a:prstGeom>
          <a:noFill/>
        </p:spPr>
        <p:txBody>
          <a:bodyPr wrap="square" lIns="0" tIns="0" rIns="0" bIns="0" anchor="t">
            <a:spAutoFit/>
          </a:bodyPr>
          <a:lstStyle/>
          <a:p>
            <a:pPr algn="l"/>
            <a:r>
              <a:rPr sz="1150" b="0" i="0" dirty="0">
                <a:solidFill>
                  <a:srgbClr val="1A1A2E"/>
                </a:solidFill>
                <a:latin typeface="Calibri"/>
              </a:rPr>
              <a:t>Attack variant excluded from training and validation, evaluated only on holdout. Stricter protocol tests generalization to unseen attacks.</a:t>
            </a:r>
          </a:p>
        </p:txBody>
      </p:sp>
      <p:sp>
        <p:nvSpPr>
          <p:cNvPr id="19" name="Rounded Rectangle 18"/>
          <p:cNvSpPr/>
          <p:nvPr/>
        </p:nvSpPr>
        <p:spPr>
          <a:xfrm>
            <a:off x="1328724" y="4247871"/>
            <a:ext cx="758952" cy="27432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315008" y="4232287"/>
            <a:ext cx="758952" cy="274320"/>
          </a:xfrm>
          <a:prstGeom prst="rect">
            <a:avLst/>
          </a:prstGeom>
          <a:noFill/>
        </p:spPr>
        <p:txBody>
          <a:bodyPr wrap="square" lIns="0" tIns="0" rIns="0" bIns="0" anchor="ctr">
            <a:spAutoFit/>
          </a:bodyPr>
          <a:lstStyle/>
          <a:p>
            <a:pPr algn="ctr"/>
            <a:r>
              <a:rPr sz="900" b="1" i="0" dirty="0">
                <a:solidFill>
                  <a:srgbClr val="1E2761"/>
                </a:solidFill>
                <a:latin typeface="Consolas"/>
              </a:rPr>
              <a:t>protocol</a:t>
            </a:r>
          </a:p>
        </p:txBody>
      </p:sp>
      <p:sp>
        <p:nvSpPr>
          <p:cNvPr id="21" name="Rounded Rectangle 20"/>
          <p:cNvSpPr/>
          <p:nvPr/>
        </p:nvSpPr>
        <p:spPr>
          <a:xfrm>
            <a:off x="2261133" y="4250239"/>
            <a:ext cx="914400" cy="27432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277247" y="4233625"/>
            <a:ext cx="914400" cy="274320"/>
          </a:xfrm>
          <a:prstGeom prst="rect">
            <a:avLst/>
          </a:prstGeom>
          <a:noFill/>
        </p:spPr>
        <p:txBody>
          <a:bodyPr wrap="square" lIns="0" tIns="0" rIns="0" bIns="0" anchor="ctr">
            <a:spAutoFit/>
          </a:bodyPr>
          <a:lstStyle/>
          <a:p>
            <a:pPr algn="ctr"/>
            <a:r>
              <a:rPr sz="900" b="1" i="0" dirty="0">
                <a:solidFill>
                  <a:srgbClr val="1E2761"/>
                </a:solidFill>
                <a:latin typeface="Consolas"/>
              </a:rPr>
              <a:t>evaluation</a:t>
            </a:r>
          </a:p>
        </p:txBody>
      </p:sp>
      <p:sp>
        <p:nvSpPr>
          <p:cNvPr id="23" name="Rectangle 22"/>
          <p:cNvSpPr/>
          <p:nvPr/>
        </p:nvSpPr>
        <p:spPr>
          <a:xfrm>
            <a:off x="1042918" y="4759238"/>
            <a:ext cx="10511140" cy="14173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1904" y="4759238"/>
            <a:ext cx="591014" cy="14173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8518" y="5235499"/>
            <a:ext cx="1280160" cy="307777"/>
          </a:xfrm>
          <a:prstGeom prst="rect">
            <a:avLst/>
          </a:prstGeom>
          <a:noFill/>
        </p:spPr>
        <p:txBody>
          <a:bodyPr wrap="square" lIns="0" tIns="0" rIns="0" bIns="0" anchor="t">
            <a:spAutoFit/>
          </a:bodyPr>
          <a:lstStyle/>
          <a:p>
            <a:pPr algn="ctr"/>
            <a:r>
              <a:rPr sz="2000" b="1" i="0" dirty="0">
                <a:solidFill>
                  <a:srgbClr val="FFFFFF"/>
                </a:solidFill>
                <a:latin typeface="Georgia"/>
              </a:rPr>
              <a:t>03</a:t>
            </a:r>
          </a:p>
        </p:txBody>
      </p:sp>
      <p:sp>
        <p:nvSpPr>
          <p:cNvPr id="26" name="TextBox 25"/>
          <p:cNvSpPr txBox="1"/>
          <p:nvPr/>
        </p:nvSpPr>
        <p:spPr>
          <a:xfrm>
            <a:off x="1280160" y="4910560"/>
            <a:ext cx="9601200" cy="261610"/>
          </a:xfrm>
          <a:prstGeom prst="rect">
            <a:avLst/>
          </a:prstGeom>
          <a:noFill/>
        </p:spPr>
        <p:txBody>
          <a:bodyPr wrap="square" lIns="0" tIns="0" rIns="0" bIns="0" anchor="t">
            <a:spAutoFit/>
          </a:bodyPr>
          <a:lstStyle/>
          <a:p>
            <a:r>
              <a:rPr lang="tr-TR" sz="1700" b="1" dirty="0" err="1">
                <a:solidFill>
                  <a:srgbClr val="1E2761"/>
                </a:solidFill>
              </a:rPr>
              <a:t>Validation</a:t>
            </a:r>
            <a:r>
              <a:rPr lang="tr-TR" sz="1700" b="1" dirty="0">
                <a:solidFill>
                  <a:srgbClr val="1E2761"/>
                </a:solidFill>
              </a:rPr>
              <a:t> </a:t>
            </a:r>
            <a:r>
              <a:rPr lang="tr-TR" sz="1700" b="1" dirty="0" err="1">
                <a:solidFill>
                  <a:srgbClr val="1E2761"/>
                </a:solidFill>
              </a:rPr>
              <a:t>and</a:t>
            </a:r>
            <a:r>
              <a:rPr lang="tr-TR" sz="1700" b="1" dirty="0">
                <a:solidFill>
                  <a:srgbClr val="1E2761"/>
                </a:solidFill>
              </a:rPr>
              <a:t> </a:t>
            </a:r>
            <a:r>
              <a:rPr lang="tr-TR" sz="1700" b="1" dirty="0" err="1">
                <a:solidFill>
                  <a:srgbClr val="1E2761"/>
                </a:solidFill>
              </a:rPr>
              <a:t>Sanity</a:t>
            </a:r>
            <a:r>
              <a:rPr lang="tr-TR" sz="1700" b="1" dirty="0">
                <a:solidFill>
                  <a:srgbClr val="1E2761"/>
                </a:solidFill>
              </a:rPr>
              <a:t> </a:t>
            </a:r>
            <a:r>
              <a:rPr lang="tr-TR" sz="1700" b="1" dirty="0" err="1">
                <a:solidFill>
                  <a:srgbClr val="1E2761"/>
                </a:solidFill>
              </a:rPr>
              <a:t>Checks</a:t>
            </a:r>
            <a:endParaRPr sz="1700" b="1" i="0" dirty="0">
              <a:solidFill>
                <a:srgbClr val="1E2761"/>
              </a:solidFill>
              <a:latin typeface="Calibri"/>
            </a:endParaRPr>
          </a:p>
        </p:txBody>
      </p:sp>
      <p:sp>
        <p:nvSpPr>
          <p:cNvPr id="27" name="TextBox 26"/>
          <p:cNvSpPr txBox="1"/>
          <p:nvPr/>
        </p:nvSpPr>
        <p:spPr>
          <a:xfrm>
            <a:off x="1315008" y="5276320"/>
            <a:ext cx="9601200" cy="176972"/>
          </a:xfrm>
          <a:prstGeom prst="rect">
            <a:avLst/>
          </a:prstGeom>
          <a:noFill/>
        </p:spPr>
        <p:txBody>
          <a:bodyPr wrap="square" lIns="0" tIns="0" rIns="0" bIns="0" anchor="t">
            <a:spAutoFit/>
          </a:bodyPr>
          <a:lstStyle/>
          <a:p>
            <a:r>
              <a:rPr lang="tr-TR" sz="1150" dirty="0">
                <a:solidFill>
                  <a:srgbClr val="1A1A2E"/>
                </a:solidFill>
              </a:rPr>
              <a:t>5-fold CV, </a:t>
            </a:r>
            <a:r>
              <a:rPr lang="tr-TR" sz="1150" dirty="0" err="1">
                <a:solidFill>
                  <a:srgbClr val="1A1A2E"/>
                </a:solidFill>
              </a:rPr>
              <a:t>mimicry</a:t>
            </a:r>
            <a:r>
              <a:rPr lang="tr-TR" sz="1150" dirty="0">
                <a:solidFill>
                  <a:srgbClr val="1A1A2E"/>
                </a:solidFill>
              </a:rPr>
              <a:t> </a:t>
            </a:r>
            <a:r>
              <a:rPr lang="tr-TR" sz="1150" dirty="0" err="1">
                <a:solidFill>
                  <a:srgbClr val="1A1A2E"/>
                </a:solidFill>
              </a:rPr>
              <a:t>holdout</a:t>
            </a:r>
            <a:r>
              <a:rPr lang="tr-TR" sz="1150" dirty="0">
                <a:solidFill>
                  <a:srgbClr val="1A1A2E"/>
                </a:solidFill>
              </a:rPr>
              <a:t>, </a:t>
            </a:r>
            <a:r>
              <a:rPr lang="tr-TR" sz="1150" dirty="0" err="1">
                <a:solidFill>
                  <a:srgbClr val="1A1A2E"/>
                </a:solidFill>
              </a:rPr>
              <a:t>ablation</a:t>
            </a:r>
            <a:r>
              <a:rPr lang="tr-TR" sz="1150" dirty="0">
                <a:solidFill>
                  <a:srgbClr val="1A1A2E"/>
                </a:solidFill>
              </a:rPr>
              <a:t>, </a:t>
            </a:r>
            <a:r>
              <a:rPr lang="tr-TR" sz="1150" dirty="0" err="1">
                <a:solidFill>
                  <a:srgbClr val="1A1A2E"/>
                </a:solidFill>
              </a:rPr>
              <a:t>and</a:t>
            </a:r>
            <a:r>
              <a:rPr lang="tr-TR" sz="1150" dirty="0">
                <a:solidFill>
                  <a:srgbClr val="1A1A2E"/>
                </a:solidFill>
              </a:rPr>
              <a:t> </a:t>
            </a:r>
            <a:r>
              <a:rPr lang="tr-TR" sz="1150" dirty="0" err="1">
                <a:solidFill>
                  <a:srgbClr val="1A1A2E"/>
                </a:solidFill>
              </a:rPr>
              <a:t>leakage</a:t>
            </a:r>
            <a:r>
              <a:rPr lang="tr-TR" sz="1150" dirty="0">
                <a:solidFill>
                  <a:srgbClr val="1A1A2E"/>
                </a:solidFill>
              </a:rPr>
              <a:t> </a:t>
            </a:r>
            <a:r>
              <a:rPr lang="tr-TR" sz="1150" dirty="0" err="1">
                <a:solidFill>
                  <a:srgbClr val="1A1A2E"/>
                </a:solidFill>
              </a:rPr>
              <a:t>checks</a:t>
            </a:r>
            <a:r>
              <a:rPr lang="tr-TR" sz="1150" dirty="0">
                <a:solidFill>
                  <a:srgbClr val="1A1A2E"/>
                </a:solidFill>
              </a:rPr>
              <a:t> </a:t>
            </a:r>
            <a:r>
              <a:rPr lang="tr-TR" sz="1150" dirty="0" err="1">
                <a:solidFill>
                  <a:srgbClr val="1A1A2E"/>
                </a:solidFill>
              </a:rPr>
              <a:t>were</a:t>
            </a:r>
            <a:r>
              <a:rPr lang="tr-TR" sz="1150" dirty="0">
                <a:solidFill>
                  <a:srgbClr val="1A1A2E"/>
                </a:solidFill>
              </a:rPr>
              <a:t> </a:t>
            </a:r>
            <a:r>
              <a:rPr lang="tr-TR" sz="1150" dirty="0" err="1">
                <a:solidFill>
                  <a:srgbClr val="1A1A2E"/>
                </a:solidFill>
              </a:rPr>
              <a:t>used</a:t>
            </a:r>
            <a:r>
              <a:rPr lang="tr-TR" sz="1150" dirty="0">
                <a:solidFill>
                  <a:srgbClr val="1A1A2E"/>
                </a:solidFill>
              </a:rPr>
              <a:t> </a:t>
            </a:r>
            <a:r>
              <a:rPr lang="tr-TR" sz="1150" dirty="0" err="1">
                <a:solidFill>
                  <a:srgbClr val="1A1A2E"/>
                </a:solidFill>
              </a:rPr>
              <a:t>to</a:t>
            </a:r>
            <a:r>
              <a:rPr lang="tr-TR" sz="1150" dirty="0">
                <a:solidFill>
                  <a:srgbClr val="1A1A2E"/>
                </a:solidFill>
              </a:rPr>
              <a:t> test </a:t>
            </a:r>
            <a:r>
              <a:rPr lang="tr-TR" sz="1150" dirty="0" err="1">
                <a:solidFill>
                  <a:srgbClr val="1A1A2E"/>
                </a:solidFill>
              </a:rPr>
              <a:t>whether</a:t>
            </a:r>
            <a:r>
              <a:rPr lang="tr-TR" sz="1150" dirty="0">
                <a:solidFill>
                  <a:srgbClr val="1A1A2E"/>
                </a:solidFill>
              </a:rPr>
              <a:t> </a:t>
            </a:r>
            <a:r>
              <a:rPr lang="tr-TR" sz="1150" dirty="0" err="1">
                <a:solidFill>
                  <a:srgbClr val="1A1A2E"/>
                </a:solidFill>
              </a:rPr>
              <a:t>the</a:t>
            </a:r>
            <a:r>
              <a:rPr lang="tr-TR" sz="1150" dirty="0">
                <a:solidFill>
                  <a:srgbClr val="1A1A2E"/>
                </a:solidFill>
              </a:rPr>
              <a:t> main </a:t>
            </a:r>
            <a:r>
              <a:rPr lang="tr-TR" sz="1150" dirty="0" err="1">
                <a:solidFill>
                  <a:srgbClr val="1A1A2E"/>
                </a:solidFill>
              </a:rPr>
              <a:t>result</a:t>
            </a:r>
            <a:r>
              <a:rPr lang="tr-TR" sz="1150" dirty="0">
                <a:solidFill>
                  <a:srgbClr val="1A1A2E"/>
                </a:solidFill>
              </a:rPr>
              <a:t> </a:t>
            </a:r>
            <a:r>
              <a:rPr lang="tr-TR" sz="1150" dirty="0" err="1">
                <a:solidFill>
                  <a:srgbClr val="1A1A2E"/>
                </a:solidFill>
              </a:rPr>
              <a:t>was</a:t>
            </a:r>
            <a:r>
              <a:rPr lang="tr-TR" sz="1150" dirty="0">
                <a:solidFill>
                  <a:srgbClr val="1A1A2E"/>
                </a:solidFill>
              </a:rPr>
              <a:t> </a:t>
            </a:r>
            <a:r>
              <a:rPr lang="tr-TR" sz="1150" dirty="0" err="1">
                <a:solidFill>
                  <a:srgbClr val="1A1A2E"/>
                </a:solidFill>
              </a:rPr>
              <a:t>stable</a:t>
            </a:r>
            <a:r>
              <a:rPr lang="tr-TR" sz="1150" dirty="0">
                <a:solidFill>
                  <a:srgbClr val="1A1A2E"/>
                </a:solidFill>
              </a:rPr>
              <a:t> </a:t>
            </a:r>
            <a:r>
              <a:rPr lang="tr-TR" sz="1150" dirty="0" err="1">
                <a:solidFill>
                  <a:srgbClr val="1A1A2E"/>
                </a:solidFill>
              </a:rPr>
              <a:t>and</a:t>
            </a:r>
            <a:r>
              <a:rPr lang="tr-TR" sz="1150" dirty="0">
                <a:solidFill>
                  <a:srgbClr val="1A1A2E"/>
                </a:solidFill>
              </a:rPr>
              <a:t> not </a:t>
            </a:r>
            <a:r>
              <a:rPr lang="tr-TR" sz="1150" dirty="0" err="1">
                <a:solidFill>
                  <a:srgbClr val="1A1A2E"/>
                </a:solidFill>
              </a:rPr>
              <a:t>caused</a:t>
            </a:r>
            <a:r>
              <a:rPr lang="tr-TR" sz="1150" dirty="0">
                <a:solidFill>
                  <a:srgbClr val="1A1A2E"/>
                </a:solidFill>
              </a:rPr>
              <a:t> </a:t>
            </a:r>
            <a:r>
              <a:rPr lang="tr-TR" sz="1150" dirty="0" err="1">
                <a:solidFill>
                  <a:srgbClr val="1A1A2E"/>
                </a:solidFill>
              </a:rPr>
              <a:t>by</a:t>
            </a:r>
            <a:r>
              <a:rPr lang="tr-TR" sz="1150" dirty="0">
                <a:solidFill>
                  <a:srgbClr val="1A1A2E"/>
                </a:solidFill>
              </a:rPr>
              <a:t> </a:t>
            </a:r>
            <a:r>
              <a:rPr lang="tr-TR" sz="1150" dirty="0" err="1">
                <a:solidFill>
                  <a:srgbClr val="1A1A2E"/>
                </a:solidFill>
              </a:rPr>
              <a:t>shortcuts</a:t>
            </a:r>
            <a:r>
              <a:rPr lang="tr-TR" sz="1150" dirty="0">
                <a:solidFill>
                  <a:srgbClr val="1A1A2E"/>
                </a:solidFill>
              </a:rPr>
              <a:t>.</a:t>
            </a:r>
            <a:endParaRPr sz="1150" b="0" i="0" dirty="0">
              <a:solidFill>
                <a:srgbClr val="1A1A2E"/>
              </a:solidFill>
              <a:latin typeface="Calibri"/>
            </a:endParaRPr>
          </a:p>
        </p:txBody>
      </p:sp>
      <p:sp>
        <p:nvSpPr>
          <p:cNvPr id="28" name="Rounded Rectangle 27"/>
          <p:cNvSpPr/>
          <p:nvPr/>
        </p:nvSpPr>
        <p:spPr>
          <a:xfrm>
            <a:off x="1328724" y="5776568"/>
            <a:ext cx="914400" cy="27432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331456" y="5765077"/>
            <a:ext cx="914400" cy="274320"/>
          </a:xfrm>
          <a:prstGeom prst="rect">
            <a:avLst/>
          </a:prstGeom>
          <a:noFill/>
        </p:spPr>
        <p:txBody>
          <a:bodyPr wrap="square" lIns="0" tIns="0" rIns="0" bIns="0" anchor="ctr">
            <a:spAutoFit/>
          </a:bodyPr>
          <a:lstStyle/>
          <a:p>
            <a:pPr algn="ctr"/>
            <a:r>
              <a:rPr sz="900" b="1" i="0" dirty="0">
                <a:solidFill>
                  <a:srgbClr val="1E2761"/>
                </a:solidFill>
                <a:latin typeface="Consolas"/>
              </a:rPr>
              <a:t>robustness</a:t>
            </a:r>
          </a:p>
        </p:txBody>
      </p:sp>
      <p:sp>
        <p:nvSpPr>
          <p:cNvPr id="30" name="Rounded Rectangle 29"/>
          <p:cNvSpPr/>
          <p:nvPr/>
        </p:nvSpPr>
        <p:spPr>
          <a:xfrm>
            <a:off x="2423774" y="5776568"/>
            <a:ext cx="1069848" cy="27432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423774" y="5752151"/>
            <a:ext cx="1069848" cy="274320"/>
          </a:xfrm>
          <a:prstGeom prst="rect">
            <a:avLst/>
          </a:prstGeom>
          <a:noFill/>
        </p:spPr>
        <p:txBody>
          <a:bodyPr wrap="square" lIns="0" tIns="0" rIns="0" bIns="0" anchor="ctr">
            <a:spAutoFit/>
          </a:bodyPr>
          <a:lstStyle/>
          <a:p>
            <a:pPr algn="ctr"/>
            <a:r>
              <a:rPr sz="900" b="1" i="0" dirty="0">
                <a:solidFill>
                  <a:srgbClr val="1E2761"/>
                </a:solidFill>
                <a:latin typeface="Consolas"/>
              </a:rPr>
              <a:t>transparency</a:t>
            </a:r>
          </a:p>
        </p:txBody>
      </p:sp>
      <p:sp>
        <p:nvSpPr>
          <p:cNvPr id="32" name="TextBox 31"/>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Graduation Thesis · Final Defense</a:t>
            </a:r>
          </a:p>
        </p:txBody>
      </p:sp>
      <p:sp>
        <p:nvSpPr>
          <p:cNvPr id="33" name="TextBox 32"/>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20 / 23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4 · CONTRIBUTIONS &amp; LIMITS</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Limitations — The Honest List</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Aligned with Discussion §5.6 — a complete inventory</a:t>
            </a:r>
          </a:p>
        </p:txBody>
      </p:sp>
      <p:sp>
        <p:nvSpPr>
          <p:cNvPr id="5" name="Rectangle 4"/>
          <p:cNvSpPr/>
          <p:nvPr/>
        </p:nvSpPr>
        <p:spPr>
          <a:xfrm>
            <a:off x="457359" y="2077250"/>
            <a:ext cx="562356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359" y="2077250"/>
            <a:ext cx="777240" cy="109728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359" y="2077250"/>
            <a:ext cx="777240" cy="1097280"/>
          </a:xfrm>
          <a:prstGeom prst="rect">
            <a:avLst/>
          </a:prstGeom>
          <a:noFill/>
        </p:spPr>
        <p:txBody>
          <a:bodyPr wrap="square" lIns="0" tIns="0" rIns="0" bIns="0" anchor="ctr">
            <a:spAutoFit/>
          </a:bodyPr>
          <a:lstStyle/>
          <a:p>
            <a:pPr algn="ctr"/>
            <a:r>
              <a:rPr sz="1000" b="1" i="0" spc="200">
                <a:solidFill>
                  <a:srgbClr val="FFFFFF"/>
                </a:solidFill>
                <a:latin typeface="Calibri"/>
              </a:rPr>
              <a:t>SCOPE</a:t>
            </a:r>
          </a:p>
        </p:txBody>
      </p:sp>
      <p:sp>
        <p:nvSpPr>
          <p:cNvPr id="8" name="TextBox 7"/>
          <p:cNvSpPr txBox="1"/>
          <p:nvPr/>
        </p:nvSpPr>
        <p:spPr>
          <a:xfrm>
            <a:off x="1371759" y="2186978"/>
            <a:ext cx="4617720" cy="320040"/>
          </a:xfrm>
          <a:prstGeom prst="rect">
            <a:avLst/>
          </a:prstGeom>
          <a:noFill/>
        </p:spPr>
        <p:txBody>
          <a:bodyPr wrap="square" lIns="0" tIns="0" rIns="0" bIns="0" anchor="t">
            <a:spAutoFit/>
          </a:bodyPr>
          <a:lstStyle/>
          <a:p>
            <a:pPr algn="l"/>
            <a:r>
              <a:rPr sz="1200" b="1" i="0">
                <a:solidFill>
                  <a:srgbClr val="1E2761"/>
                </a:solidFill>
                <a:latin typeface="Calibri"/>
              </a:rPr>
              <a:t>Single application</a:t>
            </a:r>
          </a:p>
        </p:txBody>
      </p:sp>
      <p:sp>
        <p:nvSpPr>
          <p:cNvPr id="9" name="TextBox 8"/>
          <p:cNvSpPr txBox="1"/>
          <p:nvPr/>
        </p:nvSpPr>
        <p:spPr>
          <a:xfrm>
            <a:off x="1371759" y="2516162"/>
            <a:ext cx="4617720" cy="640080"/>
          </a:xfrm>
          <a:prstGeom prst="rect">
            <a:avLst/>
          </a:prstGeom>
          <a:noFill/>
        </p:spPr>
        <p:txBody>
          <a:bodyPr wrap="square" lIns="0" tIns="0" rIns="0" bIns="0" anchor="t">
            <a:spAutoFit/>
          </a:bodyPr>
          <a:lstStyle/>
          <a:p>
            <a:pPr algn="l"/>
            <a:r>
              <a:rPr sz="1000" b="0" i="0" dirty="0">
                <a:solidFill>
                  <a:srgbClr val="1A1A2E"/>
                </a:solidFill>
                <a:latin typeface="Calibri"/>
              </a:rPr>
              <a:t>Results from one </a:t>
            </a:r>
            <a:r>
              <a:rPr sz="1000" b="0" i="0" dirty="0" err="1">
                <a:solidFill>
                  <a:srgbClr val="1A1A2E"/>
                </a:solidFill>
                <a:latin typeface="Calibri"/>
              </a:rPr>
              <a:t>NestJS</a:t>
            </a:r>
            <a:r>
              <a:rPr sz="1000" b="0" i="0" dirty="0">
                <a:solidFill>
                  <a:srgbClr val="1A1A2E"/>
                </a:solidFill>
                <a:latin typeface="Calibri"/>
              </a:rPr>
              <a:t> API. Endpoint cost profile is application-specific.</a:t>
            </a:r>
          </a:p>
        </p:txBody>
      </p:sp>
      <p:sp>
        <p:nvSpPr>
          <p:cNvPr id="10" name="Rectangle 9"/>
          <p:cNvSpPr/>
          <p:nvPr/>
        </p:nvSpPr>
        <p:spPr>
          <a:xfrm>
            <a:off x="6218079" y="2077250"/>
            <a:ext cx="562356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8079" y="2077250"/>
            <a:ext cx="777240" cy="109728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8079" y="2077250"/>
            <a:ext cx="777240" cy="1097280"/>
          </a:xfrm>
          <a:prstGeom prst="rect">
            <a:avLst/>
          </a:prstGeom>
          <a:noFill/>
        </p:spPr>
        <p:txBody>
          <a:bodyPr wrap="square" lIns="0" tIns="0" rIns="0" bIns="0" anchor="ctr">
            <a:spAutoFit/>
          </a:bodyPr>
          <a:lstStyle/>
          <a:p>
            <a:pPr algn="ctr"/>
            <a:r>
              <a:rPr sz="1000" b="1" i="0" spc="200">
                <a:solidFill>
                  <a:srgbClr val="FFFFFF"/>
                </a:solidFill>
                <a:latin typeface="Calibri"/>
              </a:rPr>
              <a:t>DATA</a:t>
            </a:r>
          </a:p>
        </p:txBody>
      </p:sp>
      <p:sp>
        <p:nvSpPr>
          <p:cNvPr id="13" name="TextBox 12"/>
          <p:cNvSpPr txBox="1"/>
          <p:nvPr/>
        </p:nvSpPr>
        <p:spPr>
          <a:xfrm>
            <a:off x="7132479" y="2186978"/>
            <a:ext cx="4617720" cy="320040"/>
          </a:xfrm>
          <a:prstGeom prst="rect">
            <a:avLst/>
          </a:prstGeom>
          <a:noFill/>
        </p:spPr>
        <p:txBody>
          <a:bodyPr wrap="square" lIns="0" tIns="0" rIns="0" bIns="0" anchor="t">
            <a:spAutoFit/>
          </a:bodyPr>
          <a:lstStyle/>
          <a:p>
            <a:pPr algn="l"/>
            <a:r>
              <a:rPr sz="1200" b="1" i="0">
                <a:solidFill>
                  <a:srgbClr val="1E2761"/>
                </a:solidFill>
                <a:latin typeface="Calibri"/>
              </a:rPr>
              <a:t>Synthetic traffic</a:t>
            </a:r>
          </a:p>
        </p:txBody>
      </p:sp>
      <p:sp>
        <p:nvSpPr>
          <p:cNvPr id="14" name="TextBox 13"/>
          <p:cNvSpPr txBox="1"/>
          <p:nvPr/>
        </p:nvSpPr>
        <p:spPr>
          <a:xfrm>
            <a:off x="7132479" y="2516162"/>
            <a:ext cx="4617720" cy="640080"/>
          </a:xfrm>
          <a:prstGeom prst="rect">
            <a:avLst/>
          </a:prstGeom>
          <a:noFill/>
        </p:spPr>
        <p:txBody>
          <a:bodyPr wrap="square" lIns="0" tIns="0" rIns="0" bIns="0" anchor="t">
            <a:spAutoFit/>
          </a:bodyPr>
          <a:lstStyle/>
          <a:p>
            <a:pPr algn="l"/>
            <a:r>
              <a:rPr sz="1000" b="0" i="0">
                <a:solidFill>
                  <a:srgbClr val="1A1A2E"/>
                </a:solidFill>
                <a:latin typeface="Calibri"/>
              </a:rPr>
              <a:t>Generated by k6 and slowhttptest. No production trace validation.</a:t>
            </a:r>
          </a:p>
        </p:txBody>
      </p:sp>
      <p:sp>
        <p:nvSpPr>
          <p:cNvPr id="15" name="Rectangle 14"/>
          <p:cNvSpPr/>
          <p:nvPr/>
        </p:nvSpPr>
        <p:spPr>
          <a:xfrm>
            <a:off x="457359" y="3530365"/>
            <a:ext cx="562356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359" y="3530365"/>
            <a:ext cx="777240" cy="109728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359" y="3530365"/>
            <a:ext cx="777240" cy="1097280"/>
          </a:xfrm>
          <a:prstGeom prst="rect">
            <a:avLst/>
          </a:prstGeom>
          <a:noFill/>
        </p:spPr>
        <p:txBody>
          <a:bodyPr wrap="square" lIns="0" tIns="0" rIns="0" bIns="0" anchor="ctr">
            <a:spAutoFit/>
          </a:bodyPr>
          <a:lstStyle/>
          <a:p>
            <a:pPr algn="ctr"/>
            <a:r>
              <a:rPr sz="1000" b="1" i="0" spc="200">
                <a:solidFill>
                  <a:srgbClr val="FFFFFF"/>
                </a:solidFill>
                <a:latin typeface="Calibri"/>
              </a:rPr>
              <a:t>ADV.</a:t>
            </a:r>
          </a:p>
        </p:txBody>
      </p:sp>
      <p:sp>
        <p:nvSpPr>
          <p:cNvPr id="18" name="TextBox 17"/>
          <p:cNvSpPr txBox="1"/>
          <p:nvPr/>
        </p:nvSpPr>
        <p:spPr>
          <a:xfrm>
            <a:off x="1371759" y="3640093"/>
            <a:ext cx="4617720" cy="320040"/>
          </a:xfrm>
          <a:prstGeom prst="rect">
            <a:avLst/>
          </a:prstGeom>
          <a:noFill/>
        </p:spPr>
        <p:txBody>
          <a:bodyPr wrap="square" lIns="0" tIns="0" rIns="0" bIns="0" anchor="t">
            <a:spAutoFit/>
          </a:bodyPr>
          <a:lstStyle/>
          <a:p>
            <a:pPr algn="l"/>
            <a:r>
              <a:rPr sz="1200" b="1" i="0">
                <a:solidFill>
                  <a:srgbClr val="1E2761"/>
                </a:solidFill>
                <a:latin typeface="Calibri"/>
              </a:rPr>
              <a:t>No adaptive adversary</a:t>
            </a:r>
          </a:p>
        </p:txBody>
      </p:sp>
      <p:sp>
        <p:nvSpPr>
          <p:cNvPr id="19" name="TextBox 18"/>
          <p:cNvSpPr txBox="1"/>
          <p:nvPr/>
        </p:nvSpPr>
        <p:spPr>
          <a:xfrm>
            <a:off x="1371759" y="3969277"/>
            <a:ext cx="4617720" cy="640080"/>
          </a:xfrm>
          <a:prstGeom prst="rect">
            <a:avLst/>
          </a:prstGeom>
          <a:noFill/>
        </p:spPr>
        <p:txBody>
          <a:bodyPr wrap="square" lIns="0" tIns="0" rIns="0" bIns="0" anchor="t">
            <a:spAutoFit/>
          </a:bodyPr>
          <a:lstStyle/>
          <a:p>
            <a:pPr algn="l"/>
            <a:r>
              <a:rPr sz="1000" b="0" i="0">
                <a:solidFill>
                  <a:srgbClr val="1A1A2E"/>
                </a:solidFill>
                <a:latin typeface="Calibri"/>
              </a:rPr>
              <a:t>Mimicry is static. No iterative optimization against detector feedback.</a:t>
            </a:r>
          </a:p>
        </p:txBody>
      </p:sp>
      <p:sp>
        <p:nvSpPr>
          <p:cNvPr id="20" name="Rectangle 19"/>
          <p:cNvSpPr/>
          <p:nvPr/>
        </p:nvSpPr>
        <p:spPr>
          <a:xfrm>
            <a:off x="6218079" y="3530365"/>
            <a:ext cx="562356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8079" y="3530365"/>
            <a:ext cx="777240" cy="109728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18079" y="3530365"/>
            <a:ext cx="777240" cy="1097280"/>
          </a:xfrm>
          <a:prstGeom prst="rect">
            <a:avLst/>
          </a:prstGeom>
          <a:noFill/>
        </p:spPr>
        <p:txBody>
          <a:bodyPr wrap="square" lIns="0" tIns="0" rIns="0" bIns="0" anchor="ctr">
            <a:spAutoFit/>
          </a:bodyPr>
          <a:lstStyle/>
          <a:p>
            <a:pPr algn="ctr"/>
            <a:r>
              <a:rPr sz="1000" b="1" i="0" spc="200">
                <a:solidFill>
                  <a:srgbClr val="FFFFFF"/>
                </a:solidFill>
                <a:latin typeface="Calibri"/>
              </a:rPr>
              <a:t>SIGNAL</a:t>
            </a:r>
          </a:p>
        </p:txBody>
      </p:sp>
      <p:sp>
        <p:nvSpPr>
          <p:cNvPr id="23" name="TextBox 22"/>
          <p:cNvSpPr txBox="1"/>
          <p:nvPr/>
        </p:nvSpPr>
        <p:spPr>
          <a:xfrm>
            <a:off x="7132479" y="3640093"/>
            <a:ext cx="4617720" cy="320040"/>
          </a:xfrm>
          <a:prstGeom prst="rect">
            <a:avLst/>
          </a:prstGeom>
          <a:noFill/>
        </p:spPr>
        <p:txBody>
          <a:bodyPr wrap="square" lIns="0" tIns="0" rIns="0" bIns="0" anchor="t">
            <a:spAutoFit/>
          </a:bodyPr>
          <a:lstStyle/>
          <a:p>
            <a:pPr algn="l"/>
            <a:r>
              <a:rPr sz="1200" b="1" i="0">
                <a:solidFill>
                  <a:srgbClr val="1E2761"/>
                </a:solidFill>
                <a:latin typeface="Calibri"/>
              </a:rPr>
              <a:t>Slow HTTP is sparse</a:t>
            </a:r>
          </a:p>
        </p:txBody>
      </p:sp>
      <p:sp>
        <p:nvSpPr>
          <p:cNvPr id="24" name="TextBox 23"/>
          <p:cNvSpPr txBox="1"/>
          <p:nvPr/>
        </p:nvSpPr>
        <p:spPr>
          <a:xfrm>
            <a:off x="7132479" y="3969277"/>
            <a:ext cx="4617720" cy="640080"/>
          </a:xfrm>
          <a:prstGeom prst="rect">
            <a:avLst/>
          </a:prstGeom>
          <a:noFill/>
        </p:spPr>
        <p:txBody>
          <a:bodyPr wrap="square" lIns="0" tIns="0" rIns="0" bIns="0" anchor="t">
            <a:spAutoFit/>
          </a:bodyPr>
          <a:lstStyle/>
          <a:p>
            <a:pPr algn="l"/>
            <a:r>
              <a:rPr sz="1000" b="0" i="0">
                <a:solidFill>
                  <a:srgbClr val="1A1A2E"/>
                </a:solidFill>
                <a:latin typeface="Calibri"/>
              </a:rPr>
              <a:t>nginx 60s timeout kills slowloris early; evaluated by rule rather than supervised.</a:t>
            </a:r>
          </a:p>
        </p:txBody>
      </p:sp>
      <p:sp>
        <p:nvSpPr>
          <p:cNvPr id="25" name="Rectangle 24"/>
          <p:cNvSpPr/>
          <p:nvPr/>
        </p:nvSpPr>
        <p:spPr>
          <a:xfrm>
            <a:off x="457359" y="4983480"/>
            <a:ext cx="562356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359" y="4983480"/>
            <a:ext cx="777240" cy="109728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359" y="4983480"/>
            <a:ext cx="777240" cy="1097280"/>
          </a:xfrm>
          <a:prstGeom prst="rect">
            <a:avLst/>
          </a:prstGeom>
          <a:noFill/>
        </p:spPr>
        <p:txBody>
          <a:bodyPr wrap="square" lIns="0" tIns="0" rIns="0" bIns="0" anchor="ctr">
            <a:spAutoFit/>
          </a:bodyPr>
          <a:lstStyle/>
          <a:p>
            <a:pPr algn="ctr"/>
            <a:r>
              <a:rPr sz="1000" b="1" i="0" spc="200">
                <a:solidFill>
                  <a:srgbClr val="FFFFFF"/>
                </a:solidFill>
                <a:latin typeface="Calibri"/>
              </a:rPr>
              <a:t>AUTH</a:t>
            </a:r>
          </a:p>
        </p:txBody>
      </p:sp>
      <p:sp>
        <p:nvSpPr>
          <p:cNvPr id="28" name="TextBox 27"/>
          <p:cNvSpPr txBox="1"/>
          <p:nvPr/>
        </p:nvSpPr>
        <p:spPr>
          <a:xfrm>
            <a:off x="1371759" y="5093208"/>
            <a:ext cx="4617720" cy="320040"/>
          </a:xfrm>
          <a:prstGeom prst="rect">
            <a:avLst/>
          </a:prstGeom>
          <a:noFill/>
        </p:spPr>
        <p:txBody>
          <a:bodyPr wrap="square" lIns="0" tIns="0" rIns="0" bIns="0" anchor="t">
            <a:spAutoFit/>
          </a:bodyPr>
          <a:lstStyle/>
          <a:p>
            <a:pPr algn="l"/>
            <a:r>
              <a:rPr sz="1200" b="1" i="0">
                <a:solidFill>
                  <a:srgbClr val="1E2761"/>
                </a:solidFill>
                <a:latin typeface="Calibri"/>
              </a:rPr>
              <a:t>Auth-layer rate limiting DISABLED</a:t>
            </a:r>
          </a:p>
        </p:txBody>
      </p:sp>
      <p:sp>
        <p:nvSpPr>
          <p:cNvPr id="29" name="TextBox 28"/>
          <p:cNvSpPr txBox="1"/>
          <p:nvPr/>
        </p:nvSpPr>
        <p:spPr>
          <a:xfrm>
            <a:off x="1371759" y="5422392"/>
            <a:ext cx="4617720" cy="640080"/>
          </a:xfrm>
          <a:prstGeom prst="rect">
            <a:avLst/>
          </a:prstGeom>
          <a:noFill/>
        </p:spPr>
        <p:txBody>
          <a:bodyPr wrap="square" lIns="0" tIns="0" rIns="0" bIns="0" anchor="t">
            <a:spAutoFit/>
          </a:bodyPr>
          <a:lstStyle/>
          <a:p>
            <a:pPr algn="l"/>
            <a:r>
              <a:rPr sz="1000" b="0" i="0">
                <a:solidFill>
                  <a:srgbClr val="1A1A2E"/>
                </a:solidFill>
                <a:latin typeface="Calibri"/>
              </a:rPr>
              <a:t>Deliberate, to isolate the behavioral signal. Both layers would coexist in production.</a:t>
            </a:r>
          </a:p>
        </p:txBody>
      </p:sp>
      <p:sp>
        <p:nvSpPr>
          <p:cNvPr id="40" name="Rectangle 39"/>
          <p:cNvSpPr/>
          <p:nvPr/>
        </p:nvSpPr>
        <p:spPr>
          <a:xfrm>
            <a:off x="6218079" y="4981305"/>
            <a:ext cx="562356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218079" y="4981305"/>
            <a:ext cx="777240" cy="109728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18079" y="4981305"/>
            <a:ext cx="777240" cy="1097280"/>
          </a:xfrm>
          <a:prstGeom prst="rect">
            <a:avLst/>
          </a:prstGeom>
          <a:noFill/>
        </p:spPr>
        <p:txBody>
          <a:bodyPr wrap="square" lIns="0" tIns="0" rIns="0" bIns="0" anchor="ctr">
            <a:spAutoFit/>
          </a:bodyPr>
          <a:lstStyle/>
          <a:p>
            <a:pPr algn="ctr"/>
            <a:r>
              <a:rPr sz="1000" b="1" i="0" spc="200">
                <a:solidFill>
                  <a:srgbClr val="FFFFFF"/>
                </a:solidFill>
                <a:latin typeface="Calibri"/>
              </a:rPr>
              <a:t>EXT.</a:t>
            </a:r>
          </a:p>
        </p:txBody>
      </p:sp>
      <p:sp>
        <p:nvSpPr>
          <p:cNvPr id="43" name="TextBox 42"/>
          <p:cNvSpPr txBox="1"/>
          <p:nvPr/>
        </p:nvSpPr>
        <p:spPr>
          <a:xfrm>
            <a:off x="7132479" y="5091033"/>
            <a:ext cx="4617720" cy="320040"/>
          </a:xfrm>
          <a:prstGeom prst="rect">
            <a:avLst/>
          </a:prstGeom>
          <a:noFill/>
        </p:spPr>
        <p:txBody>
          <a:bodyPr wrap="square" lIns="0" tIns="0" rIns="0" bIns="0" anchor="t">
            <a:spAutoFit/>
          </a:bodyPr>
          <a:lstStyle/>
          <a:p>
            <a:pPr algn="l"/>
            <a:r>
              <a:rPr sz="1200" b="1" i="0">
                <a:solidFill>
                  <a:srgbClr val="1E2761"/>
                </a:solidFill>
                <a:latin typeface="Calibri"/>
              </a:rPr>
              <a:t>External validation limited</a:t>
            </a:r>
          </a:p>
        </p:txBody>
      </p:sp>
      <p:sp>
        <p:nvSpPr>
          <p:cNvPr id="44" name="TextBox 43"/>
          <p:cNvSpPr txBox="1"/>
          <p:nvPr/>
        </p:nvSpPr>
        <p:spPr>
          <a:xfrm>
            <a:off x="7132479" y="5420216"/>
            <a:ext cx="4617720" cy="640080"/>
          </a:xfrm>
          <a:prstGeom prst="rect">
            <a:avLst/>
          </a:prstGeom>
          <a:noFill/>
        </p:spPr>
        <p:txBody>
          <a:bodyPr wrap="square" lIns="0" tIns="0" rIns="0" bIns="0" anchor="t">
            <a:spAutoFit/>
          </a:bodyPr>
          <a:lstStyle/>
          <a:p>
            <a:pPr algn="l"/>
            <a:r>
              <a:rPr sz="1000" b="0" i="0">
                <a:solidFill>
                  <a:srgbClr val="1A1A2E"/>
                </a:solidFill>
                <a:latin typeface="Calibri"/>
              </a:rPr>
              <a:t>CIC-DDoS2019 sanity check; feature space differs from API-layer model.</a:t>
            </a:r>
          </a:p>
        </p:txBody>
      </p:sp>
      <p:sp>
        <p:nvSpPr>
          <p:cNvPr id="45" name="TextBox 44"/>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Graduation Thesis · Final Defense</a:t>
            </a:r>
          </a:p>
        </p:txBody>
      </p:sp>
      <p:sp>
        <p:nvSpPr>
          <p:cNvPr id="46" name="TextBox 45"/>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21 / 23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extBox 1"/>
          <p:cNvSpPr txBox="1"/>
          <p:nvPr/>
        </p:nvSpPr>
        <p:spPr>
          <a:xfrm>
            <a:off x="365760" y="274320"/>
            <a:ext cx="5486400" cy="274320"/>
          </a:xfrm>
          <a:prstGeom prst="rect">
            <a:avLst/>
          </a:prstGeom>
          <a:noFill/>
        </p:spPr>
        <p:txBody>
          <a:bodyPr wrap="square" lIns="0" tIns="0" rIns="0" bIns="0" anchor="t">
            <a:spAutoFit/>
          </a:bodyPr>
          <a:lstStyle/>
          <a:p>
            <a:pPr algn="l"/>
            <a:r>
              <a:rPr sz="1000" b="1" i="0" spc="400">
                <a:solidFill>
                  <a:srgbClr val="8FAEEB"/>
                </a:solidFill>
                <a:latin typeface="Calibri"/>
              </a:rPr>
              <a:t>4 · CONTRIBUTIONS &amp; LIMITS</a:t>
            </a:r>
          </a:p>
        </p:txBody>
      </p:sp>
      <p:sp>
        <p:nvSpPr>
          <p:cNvPr id="3" name="TextBox 2"/>
          <p:cNvSpPr txBox="1"/>
          <p:nvPr/>
        </p:nvSpPr>
        <p:spPr>
          <a:xfrm>
            <a:off x="365760" y="548640"/>
            <a:ext cx="11430000" cy="640080"/>
          </a:xfrm>
          <a:prstGeom prst="rect">
            <a:avLst/>
          </a:prstGeom>
          <a:noFill/>
        </p:spPr>
        <p:txBody>
          <a:bodyPr wrap="square" lIns="0" tIns="0" rIns="0" bIns="0" anchor="t">
            <a:spAutoFit/>
          </a:bodyPr>
          <a:lstStyle/>
          <a:p>
            <a:pPr algn="l"/>
            <a:r>
              <a:rPr sz="2800" b="1" i="0">
                <a:solidFill>
                  <a:srgbClr val="1E2761"/>
                </a:solidFill>
                <a:latin typeface="Calibri"/>
              </a:rPr>
              <a:t>Future Work</a:t>
            </a:r>
          </a:p>
        </p:txBody>
      </p:sp>
      <p:sp>
        <p:nvSpPr>
          <p:cNvPr id="4" name="TextBox 3"/>
          <p:cNvSpPr txBox="1"/>
          <p:nvPr/>
        </p:nvSpPr>
        <p:spPr>
          <a:xfrm>
            <a:off x="365760" y="1188720"/>
            <a:ext cx="11430000" cy="365760"/>
          </a:xfrm>
          <a:prstGeom prst="rect">
            <a:avLst/>
          </a:prstGeom>
          <a:noFill/>
        </p:spPr>
        <p:txBody>
          <a:bodyPr wrap="square" lIns="0" tIns="0" rIns="0" bIns="0" anchor="t">
            <a:spAutoFit/>
          </a:bodyPr>
          <a:lstStyle/>
          <a:p>
            <a:pPr algn="l"/>
            <a:r>
              <a:rPr sz="1400" b="0" i="1">
                <a:solidFill>
                  <a:srgbClr val="64748B"/>
                </a:solidFill>
                <a:latin typeface="Calibri"/>
              </a:rPr>
              <a:t>Five natural extensions of this thesis</a:t>
            </a:r>
          </a:p>
        </p:txBody>
      </p:sp>
      <p:sp>
        <p:nvSpPr>
          <p:cNvPr id="5" name="Rectangle 4"/>
          <p:cNvSpPr/>
          <p:nvPr/>
        </p:nvSpPr>
        <p:spPr>
          <a:xfrm>
            <a:off x="457200" y="1783080"/>
            <a:ext cx="112471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783080"/>
            <a:ext cx="73152" cy="8229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920240"/>
            <a:ext cx="457200" cy="548640"/>
          </a:xfrm>
          <a:prstGeom prst="rect">
            <a:avLst/>
          </a:prstGeom>
          <a:noFill/>
        </p:spPr>
        <p:txBody>
          <a:bodyPr wrap="square" lIns="0" tIns="0" rIns="0" bIns="0" anchor="t">
            <a:spAutoFit/>
          </a:bodyPr>
          <a:lstStyle/>
          <a:p>
            <a:pPr algn="l"/>
            <a:r>
              <a:rPr sz="2800" b="1" i="0">
                <a:solidFill>
                  <a:srgbClr val="02C39A"/>
                </a:solidFill>
                <a:latin typeface="Calibri"/>
              </a:rPr>
              <a:t>→</a:t>
            </a:r>
          </a:p>
        </p:txBody>
      </p:sp>
      <p:sp>
        <p:nvSpPr>
          <p:cNvPr id="8" name="TextBox 7"/>
          <p:cNvSpPr txBox="1"/>
          <p:nvPr/>
        </p:nvSpPr>
        <p:spPr>
          <a:xfrm>
            <a:off x="1143000" y="1892807"/>
            <a:ext cx="10469880" cy="320040"/>
          </a:xfrm>
          <a:prstGeom prst="rect">
            <a:avLst/>
          </a:prstGeom>
          <a:noFill/>
        </p:spPr>
        <p:txBody>
          <a:bodyPr wrap="square" lIns="0" tIns="0" rIns="0" bIns="0" anchor="t">
            <a:spAutoFit/>
          </a:bodyPr>
          <a:lstStyle/>
          <a:p>
            <a:pPr algn="l"/>
            <a:r>
              <a:rPr sz="1400" b="1" i="0">
                <a:solidFill>
                  <a:srgbClr val="1E2761"/>
                </a:solidFill>
                <a:latin typeface="Calibri"/>
              </a:rPr>
              <a:t>Multi-application validation</a:t>
            </a:r>
          </a:p>
        </p:txBody>
      </p:sp>
      <p:sp>
        <p:nvSpPr>
          <p:cNvPr id="9" name="TextBox 8"/>
          <p:cNvSpPr txBox="1"/>
          <p:nvPr/>
        </p:nvSpPr>
        <p:spPr>
          <a:xfrm>
            <a:off x="1143000" y="2194560"/>
            <a:ext cx="10469880" cy="365760"/>
          </a:xfrm>
          <a:prstGeom prst="rect">
            <a:avLst/>
          </a:prstGeom>
          <a:noFill/>
        </p:spPr>
        <p:txBody>
          <a:bodyPr wrap="square" lIns="0" tIns="0" rIns="0" bIns="0" anchor="t">
            <a:spAutoFit/>
          </a:bodyPr>
          <a:lstStyle/>
          <a:p>
            <a:pPr algn="l"/>
            <a:r>
              <a:rPr sz="1100" b="0" i="0">
                <a:solidFill>
                  <a:srgbClr val="1A1A2E"/>
                </a:solidFill>
                <a:latin typeface="Calibri"/>
              </a:rPr>
              <a:t>Test the same pipeline on 3-5 APIs with different endpoint structures.</a:t>
            </a:r>
          </a:p>
        </p:txBody>
      </p:sp>
      <p:sp>
        <p:nvSpPr>
          <p:cNvPr id="10" name="Rectangle 9"/>
          <p:cNvSpPr/>
          <p:nvPr/>
        </p:nvSpPr>
        <p:spPr>
          <a:xfrm>
            <a:off x="457200" y="2715768"/>
            <a:ext cx="112471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2715768"/>
            <a:ext cx="73152" cy="8229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852927"/>
            <a:ext cx="457200" cy="548640"/>
          </a:xfrm>
          <a:prstGeom prst="rect">
            <a:avLst/>
          </a:prstGeom>
          <a:noFill/>
        </p:spPr>
        <p:txBody>
          <a:bodyPr wrap="square" lIns="0" tIns="0" rIns="0" bIns="0" anchor="t">
            <a:spAutoFit/>
          </a:bodyPr>
          <a:lstStyle/>
          <a:p>
            <a:pPr algn="l"/>
            <a:r>
              <a:rPr sz="2800" b="1" i="0">
                <a:solidFill>
                  <a:srgbClr val="02C39A"/>
                </a:solidFill>
                <a:latin typeface="Calibri"/>
              </a:rPr>
              <a:t>→</a:t>
            </a:r>
          </a:p>
        </p:txBody>
      </p:sp>
      <p:sp>
        <p:nvSpPr>
          <p:cNvPr id="13" name="TextBox 12"/>
          <p:cNvSpPr txBox="1"/>
          <p:nvPr/>
        </p:nvSpPr>
        <p:spPr>
          <a:xfrm>
            <a:off x="1143000" y="2825496"/>
            <a:ext cx="10469880" cy="320040"/>
          </a:xfrm>
          <a:prstGeom prst="rect">
            <a:avLst/>
          </a:prstGeom>
          <a:noFill/>
        </p:spPr>
        <p:txBody>
          <a:bodyPr wrap="square" lIns="0" tIns="0" rIns="0" bIns="0" anchor="t">
            <a:spAutoFit/>
          </a:bodyPr>
          <a:lstStyle/>
          <a:p>
            <a:pPr algn="l"/>
            <a:r>
              <a:rPr sz="1400" b="1" i="0">
                <a:solidFill>
                  <a:srgbClr val="1E2761"/>
                </a:solidFill>
                <a:latin typeface="Calibri"/>
              </a:rPr>
              <a:t>Adaptive adversary</a:t>
            </a:r>
          </a:p>
        </p:txBody>
      </p:sp>
      <p:sp>
        <p:nvSpPr>
          <p:cNvPr id="14" name="TextBox 13"/>
          <p:cNvSpPr txBox="1"/>
          <p:nvPr/>
        </p:nvSpPr>
        <p:spPr>
          <a:xfrm>
            <a:off x="1143000" y="3127248"/>
            <a:ext cx="10469880" cy="365760"/>
          </a:xfrm>
          <a:prstGeom prst="rect">
            <a:avLst/>
          </a:prstGeom>
          <a:noFill/>
        </p:spPr>
        <p:txBody>
          <a:bodyPr wrap="square" lIns="0" tIns="0" rIns="0" bIns="0" anchor="t">
            <a:spAutoFit/>
          </a:bodyPr>
          <a:lstStyle/>
          <a:p>
            <a:pPr algn="l"/>
            <a:r>
              <a:rPr sz="1100" b="0" i="0">
                <a:solidFill>
                  <a:srgbClr val="1A1A2E"/>
                </a:solidFill>
                <a:latin typeface="Calibri"/>
              </a:rPr>
              <a:t>Scenarios where the attacker iteratively optimizes against detector feedback.</a:t>
            </a:r>
          </a:p>
        </p:txBody>
      </p:sp>
      <p:sp>
        <p:nvSpPr>
          <p:cNvPr id="15" name="Rectangle 14"/>
          <p:cNvSpPr/>
          <p:nvPr/>
        </p:nvSpPr>
        <p:spPr>
          <a:xfrm>
            <a:off x="457200" y="3648456"/>
            <a:ext cx="112471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3648456"/>
            <a:ext cx="73152" cy="8229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3785616"/>
            <a:ext cx="457200" cy="548640"/>
          </a:xfrm>
          <a:prstGeom prst="rect">
            <a:avLst/>
          </a:prstGeom>
          <a:noFill/>
        </p:spPr>
        <p:txBody>
          <a:bodyPr wrap="square" lIns="0" tIns="0" rIns="0" bIns="0" anchor="t">
            <a:spAutoFit/>
          </a:bodyPr>
          <a:lstStyle/>
          <a:p>
            <a:pPr algn="l"/>
            <a:r>
              <a:rPr sz="2800" b="1" i="0">
                <a:solidFill>
                  <a:srgbClr val="02C39A"/>
                </a:solidFill>
                <a:latin typeface="Calibri"/>
              </a:rPr>
              <a:t>→</a:t>
            </a:r>
          </a:p>
        </p:txBody>
      </p:sp>
      <p:sp>
        <p:nvSpPr>
          <p:cNvPr id="18" name="TextBox 17"/>
          <p:cNvSpPr txBox="1"/>
          <p:nvPr/>
        </p:nvSpPr>
        <p:spPr>
          <a:xfrm>
            <a:off x="1143000" y="3758184"/>
            <a:ext cx="10469880" cy="320040"/>
          </a:xfrm>
          <a:prstGeom prst="rect">
            <a:avLst/>
          </a:prstGeom>
          <a:noFill/>
        </p:spPr>
        <p:txBody>
          <a:bodyPr wrap="square" lIns="0" tIns="0" rIns="0" bIns="0" anchor="t">
            <a:spAutoFit/>
          </a:bodyPr>
          <a:lstStyle/>
          <a:p>
            <a:pPr algn="l"/>
            <a:r>
              <a:rPr sz="1400" b="1" i="0">
                <a:solidFill>
                  <a:srgbClr val="1E2761"/>
                </a:solidFill>
                <a:latin typeface="Calibri"/>
              </a:rPr>
              <a:t>Production trace validation</a:t>
            </a:r>
          </a:p>
        </p:txBody>
      </p:sp>
      <p:sp>
        <p:nvSpPr>
          <p:cNvPr id="19" name="TextBox 18"/>
          <p:cNvSpPr txBox="1"/>
          <p:nvPr/>
        </p:nvSpPr>
        <p:spPr>
          <a:xfrm>
            <a:off x="1143000" y="4059936"/>
            <a:ext cx="10469880" cy="365760"/>
          </a:xfrm>
          <a:prstGeom prst="rect">
            <a:avLst/>
          </a:prstGeom>
          <a:noFill/>
        </p:spPr>
        <p:txBody>
          <a:bodyPr wrap="square" lIns="0" tIns="0" rIns="0" bIns="0" anchor="t">
            <a:spAutoFit/>
          </a:bodyPr>
          <a:lstStyle/>
          <a:p>
            <a:pPr algn="l"/>
            <a:r>
              <a:rPr sz="1100" b="0" i="0">
                <a:solidFill>
                  <a:srgbClr val="1A1A2E"/>
                </a:solidFill>
                <a:latin typeface="Calibri"/>
              </a:rPr>
              <a:t>Run the model on anonymized production API logs; explore synthetic-to-real transfer.</a:t>
            </a:r>
          </a:p>
        </p:txBody>
      </p:sp>
      <p:sp>
        <p:nvSpPr>
          <p:cNvPr id="20" name="Rectangle 19"/>
          <p:cNvSpPr/>
          <p:nvPr/>
        </p:nvSpPr>
        <p:spPr>
          <a:xfrm>
            <a:off x="457200" y="4581144"/>
            <a:ext cx="112471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4581144"/>
            <a:ext cx="73152" cy="8229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4718304"/>
            <a:ext cx="457200" cy="548640"/>
          </a:xfrm>
          <a:prstGeom prst="rect">
            <a:avLst/>
          </a:prstGeom>
          <a:noFill/>
        </p:spPr>
        <p:txBody>
          <a:bodyPr wrap="square" lIns="0" tIns="0" rIns="0" bIns="0" anchor="t">
            <a:spAutoFit/>
          </a:bodyPr>
          <a:lstStyle/>
          <a:p>
            <a:pPr algn="l"/>
            <a:r>
              <a:rPr sz="2800" b="1" i="0">
                <a:solidFill>
                  <a:srgbClr val="02C39A"/>
                </a:solidFill>
                <a:latin typeface="Calibri"/>
              </a:rPr>
              <a:t>→</a:t>
            </a:r>
          </a:p>
        </p:txBody>
      </p:sp>
      <p:sp>
        <p:nvSpPr>
          <p:cNvPr id="23" name="TextBox 22"/>
          <p:cNvSpPr txBox="1"/>
          <p:nvPr/>
        </p:nvSpPr>
        <p:spPr>
          <a:xfrm>
            <a:off x="1143000" y="4690872"/>
            <a:ext cx="10469880" cy="320040"/>
          </a:xfrm>
          <a:prstGeom prst="rect">
            <a:avLst/>
          </a:prstGeom>
          <a:noFill/>
        </p:spPr>
        <p:txBody>
          <a:bodyPr wrap="square" lIns="0" tIns="0" rIns="0" bIns="0" anchor="t">
            <a:spAutoFit/>
          </a:bodyPr>
          <a:lstStyle/>
          <a:p>
            <a:pPr algn="l"/>
            <a:r>
              <a:rPr sz="1400" b="1" i="0">
                <a:solidFill>
                  <a:srgbClr val="1E2761"/>
                </a:solidFill>
                <a:latin typeface="Calibri"/>
              </a:rPr>
              <a:t>Protocol-level features</a:t>
            </a:r>
          </a:p>
        </p:txBody>
      </p:sp>
      <p:sp>
        <p:nvSpPr>
          <p:cNvPr id="24" name="TextBox 23"/>
          <p:cNvSpPr txBox="1"/>
          <p:nvPr/>
        </p:nvSpPr>
        <p:spPr>
          <a:xfrm>
            <a:off x="1143000" y="4992624"/>
            <a:ext cx="10469880" cy="365760"/>
          </a:xfrm>
          <a:prstGeom prst="rect">
            <a:avLst/>
          </a:prstGeom>
          <a:noFill/>
        </p:spPr>
        <p:txBody>
          <a:bodyPr wrap="square" lIns="0" tIns="0" rIns="0" bIns="0" anchor="t">
            <a:spAutoFit/>
          </a:bodyPr>
          <a:lstStyle/>
          <a:p>
            <a:pPr algn="l"/>
            <a:r>
              <a:rPr sz="1100" b="0" i="0">
                <a:solidFill>
                  <a:srgbClr val="1A1A2E"/>
                </a:solidFill>
                <a:latin typeface="Calibri"/>
              </a:rPr>
              <a:t>TLS JA3/JA4 fingerprints, HTTP/2 behavior, browser automation traces.</a:t>
            </a:r>
          </a:p>
        </p:txBody>
      </p:sp>
      <p:sp>
        <p:nvSpPr>
          <p:cNvPr id="25" name="Rectangle 24"/>
          <p:cNvSpPr/>
          <p:nvPr/>
        </p:nvSpPr>
        <p:spPr>
          <a:xfrm>
            <a:off x="457200" y="5513832"/>
            <a:ext cx="112471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 y="5513832"/>
            <a:ext cx="73152" cy="8229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5650992"/>
            <a:ext cx="457200" cy="548640"/>
          </a:xfrm>
          <a:prstGeom prst="rect">
            <a:avLst/>
          </a:prstGeom>
          <a:noFill/>
        </p:spPr>
        <p:txBody>
          <a:bodyPr wrap="square" lIns="0" tIns="0" rIns="0" bIns="0" anchor="t">
            <a:spAutoFit/>
          </a:bodyPr>
          <a:lstStyle/>
          <a:p>
            <a:pPr algn="l"/>
            <a:r>
              <a:rPr sz="2800" b="1" i="0">
                <a:solidFill>
                  <a:srgbClr val="02C39A"/>
                </a:solidFill>
                <a:latin typeface="Calibri"/>
              </a:rPr>
              <a:t>→</a:t>
            </a:r>
          </a:p>
        </p:txBody>
      </p:sp>
      <p:sp>
        <p:nvSpPr>
          <p:cNvPr id="28" name="TextBox 27"/>
          <p:cNvSpPr txBox="1"/>
          <p:nvPr/>
        </p:nvSpPr>
        <p:spPr>
          <a:xfrm>
            <a:off x="1143000" y="5623560"/>
            <a:ext cx="10469880" cy="320040"/>
          </a:xfrm>
          <a:prstGeom prst="rect">
            <a:avLst/>
          </a:prstGeom>
          <a:noFill/>
        </p:spPr>
        <p:txBody>
          <a:bodyPr wrap="square" lIns="0" tIns="0" rIns="0" bIns="0" anchor="t">
            <a:spAutoFit/>
          </a:bodyPr>
          <a:lstStyle/>
          <a:p>
            <a:pPr algn="l"/>
            <a:r>
              <a:rPr sz="1400" b="1" i="0">
                <a:solidFill>
                  <a:srgbClr val="1E2761"/>
                </a:solidFill>
                <a:latin typeface="Calibri"/>
              </a:rPr>
              <a:t>Richer slow HTTP telemetry</a:t>
            </a:r>
          </a:p>
        </p:txBody>
      </p:sp>
      <p:sp>
        <p:nvSpPr>
          <p:cNvPr id="29" name="TextBox 28"/>
          <p:cNvSpPr txBox="1"/>
          <p:nvPr/>
        </p:nvSpPr>
        <p:spPr>
          <a:xfrm>
            <a:off x="1143000" y="5925312"/>
            <a:ext cx="10469880" cy="365760"/>
          </a:xfrm>
          <a:prstGeom prst="rect">
            <a:avLst/>
          </a:prstGeom>
          <a:noFill/>
        </p:spPr>
        <p:txBody>
          <a:bodyPr wrap="square" lIns="0" tIns="0" rIns="0" bIns="0" anchor="t">
            <a:spAutoFit/>
          </a:bodyPr>
          <a:lstStyle/>
          <a:p>
            <a:pPr algn="l"/>
            <a:r>
              <a:rPr sz="1100" b="0" i="0">
                <a:solidFill>
                  <a:srgbClr val="1A1A2E"/>
                </a:solidFill>
                <a:latin typeface="Calibri"/>
              </a:rPr>
              <a:t>Reverse-proxy and socket-level metrics for continuous slowloris modeling.</a:t>
            </a:r>
          </a:p>
        </p:txBody>
      </p:sp>
      <p:sp>
        <p:nvSpPr>
          <p:cNvPr id="30" name="TextBox 29"/>
          <p:cNvSpPr txBox="1"/>
          <p:nvPr/>
        </p:nvSpPr>
        <p:spPr>
          <a:xfrm>
            <a:off x="365760" y="6537960"/>
            <a:ext cx="7315200" cy="228600"/>
          </a:xfrm>
          <a:prstGeom prst="rect">
            <a:avLst/>
          </a:prstGeom>
          <a:noFill/>
        </p:spPr>
        <p:txBody>
          <a:bodyPr wrap="square" lIns="0" tIns="0" rIns="0" bIns="0" anchor="t">
            <a:spAutoFit/>
          </a:bodyPr>
          <a:lstStyle/>
          <a:p>
            <a:pPr algn="l"/>
            <a:r>
              <a:rPr sz="900" b="0" i="0">
                <a:solidFill>
                  <a:srgbClr val="64748B"/>
                </a:solidFill>
                <a:latin typeface="Calibri"/>
              </a:rPr>
              <a:t>Beyza Yavuz · Graduation Thesis · Final Defense</a:t>
            </a:r>
          </a:p>
        </p:txBody>
      </p:sp>
      <p:sp>
        <p:nvSpPr>
          <p:cNvPr id="31" name="TextBox 30"/>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64748B"/>
                </a:solidFill>
                <a:latin typeface="Calibri"/>
              </a:rPr>
              <a:t>22 / 23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0"/>
            <a:ext cx="228600" cy="685800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548640"/>
            <a:ext cx="4572000" cy="365760"/>
          </a:xfrm>
          <a:prstGeom prst="rect">
            <a:avLst/>
          </a:prstGeom>
          <a:noFill/>
        </p:spPr>
        <p:txBody>
          <a:bodyPr wrap="square" lIns="0" tIns="0" rIns="0" bIns="0" anchor="t">
            <a:spAutoFit/>
          </a:bodyPr>
          <a:lstStyle/>
          <a:p>
            <a:pPr algn="l"/>
            <a:r>
              <a:rPr sz="1200" b="1" i="0" spc="600" dirty="0">
                <a:solidFill>
                  <a:srgbClr val="02C39A"/>
                </a:solidFill>
                <a:latin typeface="Calibri"/>
              </a:rPr>
              <a:t>CLOSING</a:t>
            </a:r>
          </a:p>
        </p:txBody>
      </p:sp>
      <p:sp>
        <p:nvSpPr>
          <p:cNvPr id="4" name="TextBox 3"/>
          <p:cNvSpPr txBox="1"/>
          <p:nvPr/>
        </p:nvSpPr>
        <p:spPr>
          <a:xfrm>
            <a:off x="457200" y="960120"/>
            <a:ext cx="11430000" cy="731520"/>
          </a:xfrm>
          <a:prstGeom prst="rect">
            <a:avLst/>
          </a:prstGeom>
          <a:noFill/>
        </p:spPr>
        <p:txBody>
          <a:bodyPr wrap="square" lIns="0" tIns="0" rIns="0" bIns="0" anchor="t">
            <a:spAutoFit/>
          </a:bodyPr>
          <a:lstStyle/>
          <a:p>
            <a:pPr algn="l"/>
            <a:r>
              <a:rPr sz="3600" b="1" i="0" dirty="0">
                <a:solidFill>
                  <a:srgbClr val="FFFFFF"/>
                </a:solidFill>
                <a:latin typeface="Calibri"/>
              </a:rPr>
              <a:t>Summary and Verdict</a:t>
            </a:r>
          </a:p>
        </p:txBody>
      </p:sp>
      <p:sp>
        <p:nvSpPr>
          <p:cNvPr id="5" name="Rectangle 4"/>
          <p:cNvSpPr/>
          <p:nvPr/>
        </p:nvSpPr>
        <p:spPr>
          <a:xfrm>
            <a:off x="548640" y="2011680"/>
            <a:ext cx="11064240" cy="1828800"/>
          </a:xfrm>
          <a:prstGeom prst="rect">
            <a:avLst/>
          </a:prstGeom>
          <a:solidFill>
            <a:srgbClr val="131A47"/>
          </a:solidFill>
          <a:ln w="25400">
            <a:solidFill>
              <a:srgbClr val="02C3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240280"/>
            <a:ext cx="731520" cy="1371600"/>
          </a:xfrm>
          <a:prstGeom prst="rect">
            <a:avLst/>
          </a:prstGeom>
          <a:noFill/>
        </p:spPr>
        <p:txBody>
          <a:bodyPr wrap="square" lIns="0" tIns="0" rIns="0" bIns="0" anchor="ctr">
            <a:spAutoFit/>
          </a:bodyPr>
          <a:lstStyle/>
          <a:p>
            <a:pPr algn="l"/>
            <a:r>
              <a:rPr sz="6000" b="1" i="0">
                <a:solidFill>
                  <a:srgbClr val="02C39A"/>
                </a:solidFill>
                <a:latin typeface="Calibri"/>
              </a:rPr>
              <a:t>✓</a:t>
            </a:r>
          </a:p>
        </p:txBody>
      </p:sp>
      <p:sp>
        <p:nvSpPr>
          <p:cNvPr id="7" name="TextBox 6"/>
          <p:cNvSpPr txBox="1"/>
          <p:nvPr/>
        </p:nvSpPr>
        <p:spPr>
          <a:xfrm>
            <a:off x="1737360" y="2194560"/>
            <a:ext cx="9784080" cy="731520"/>
          </a:xfrm>
          <a:prstGeom prst="rect">
            <a:avLst/>
          </a:prstGeom>
          <a:noFill/>
        </p:spPr>
        <p:txBody>
          <a:bodyPr wrap="square" lIns="0" tIns="0" rIns="0" bIns="0" anchor="ctr">
            <a:spAutoFit/>
          </a:bodyPr>
          <a:lstStyle/>
          <a:p>
            <a:pPr algn="l"/>
            <a:r>
              <a:rPr sz="1800" b="1" i="0">
                <a:solidFill>
                  <a:srgbClr val="FFFFFF"/>
                </a:solidFill>
                <a:latin typeface="Calibri"/>
              </a:rPr>
              <a:t>Behavior-based API-layer detection is robust to surface mimicry under production-realistic conditions.</a:t>
            </a:r>
          </a:p>
        </p:txBody>
      </p:sp>
      <p:sp>
        <p:nvSpPr>
          <p:cNvPr id="8" name="TextBox 7"/>
          <p:cNvSpPr txBox="1"/>
          <p:nvPr/>
        </p:nvSpPr>
        <p:spPr>
          <a:xfrm>
            <a:off x="1737360" y="2971800"/>
            <a:ext cx="9784080" cy="640080"/>
          </a:xfrm>
          <a:prstGeom prst="rect">
            <a:avLst/>
          </a:prstGeom>
          <a:noFill/>
        </p:spPr>
        <p:txBody>
          <a:bodyPr wrap="square" lIns="0" tIns="0" rIns="0" bIns="0" anchor="ctr">
            <a:spAutoFit/>
          </a:bodyPr>
          <a:lstStyle/>
          <a:p>
            <a:pPr algn="l"/>
            <a:r>
              <a:rPr sz="1300" b="0" i="1">
                <a:solidFill>
                  <a:srgbClr val="CADCFC"/>
                </a:solidFill>
                <a:latin typeface="Calibri"/>
              </a:rPr>
              <a:t>Mimicry holdout 96.38% · FPR = 0 · CV 99.94% ± 0.05% · Behavioral lift +23pp · UA-only 13%</a:t>
            </a:r>
          </a:p>
        </p:txBody>
      </p:sp>
      <p:sp>
        <p:nvSpPr>
          <p:cNvPr id="9" name="TextBox 8"/>
          <p:cNvSpPr txBox="1"/>
          <p:nvPr/>
        </p:nvSpPr>
        <p:spPr>
          <a:xfrm>
            <a:off x="640080" y="4160520"/>
            <a:ext cx="457200" cy="457200"/>
          </a:xfrm>
          <a:prstGeom prst="rect">
            <a:avLst/>
          </a:prstGeom>
          <a:noFill/>
        </p:spPr>
        <p:txBody>
          <a:bodyPr wrap="square" lIns="0" tIns="0" rIns="0" bIns="0" anchor="t">
            <a:spAutoFit/>
          </a:bodyPr>
          <a:lstStyle/>
          <a:p>
            <a:pPr algn="l"/>
            <a:r>
              <a:rPr sz="1600" b="1" i="0">
                <a:solidFill>
                  <a:srgbClr val="02C39A"/>
                </a:solidFill>
                <a:latin typeface="Georgia"/>
              </a:rPr>
              <a:t>01</a:t>
            </a:r>
          </a:p>
        </p:txBody>
      </p:sp>
      <p:sp>
        <p:nvSpPr>
          <p:cNvPr id="10" name="TextBox 9"/>
          <p:cNvSpPr txBox="1"/>
          <p:nvPr/>
        </p:nvSpPr>
        <p:spPr>
          <a:xfrm>
            <a:off x="1143000" y="4160520"/>
            <a:ext cx="10515600" cy="548640"/>
          </a:xfrm>
          <a:prstGeom prst="rect">
            <a:avLst/>
          </a:prstGeom>
          <a:solidFill>
            <a:srgbClr val="1E2760"/>
          </a:solidFill>
        </p:spPr>
        <p:txBody>
          <a:bodyPr wrap="square" lIns="0" tIns="0" rIns="0" bIns="0" anchor="t">
            <a:spAutoFit/>
          </a:bodyPr>
          <a:lstStyle/>
          <a:p>
            <a:pPr algn="l"/>
            <a:r>
              <a:rPr sz="1300" b="0" i="0">
                <a:solidFill>
                  <a:srgbClr val="CADCFC"/>
                </a:solidFill>
                <a:latin typeface="Calibri"/>
              </a:rPr>
              <a:t>The mimicry holdout protocol is the methodological core — the model generalizes to an unseen attack at 96% recall.</a:t>
            </a:r>
          </a:p>
        </p:txBody>
      </p:sp>
      <p:sp>
        <p:nvSpPr>
          <p:cNvPr id="11" name="TextBox 10"/>
          <p:cNvSpPr txBox="1"/>
          <p:nvPr/>
        </p:nvSpPr>
        <p:spPr>
          <a:xfrm>
            <a:off x="640080" y="4800600"/>
            <a:ext cx="457200" cy="457200"/>
          </a:xfrm>
          <a:prstGeom prst="rect">
            <a:avLst/>
          </a:prstGeom>
          <a:noFill/>
        </p:spPr>
        <p:txBody>
          <a:bodyPr wrap="square" lIns="0" tIns="0" rIns="0" bIns="0" anchor="t">
            <a:spAutoFit/>
          </a:bodyPr>
          <a:lstStyle/>
          <a:p>
            <a:pPr algn="l"/>
            <a:r>
              <a:rPr sz="1600" b="1" i="0">
                <a:solidFill>
                  <a:srgbClr val="02C39A"/>
                </a:solidFill>
                <a:latin typeface="Georgia"/>
              </a:rPr>
              <a:t>02</a:t>
            </a:r>
          </a:p>
        </p:txBody>
      </p:sp>
      <p:sp>
        <p:nvSpPr>
          <p:cNvPr id="12" name="TextBox 11"/>
          <p:cNvSpPr txBox="1"/>
          <p:nvPr/>
        </p:nvSpPr>
        <p:spPr>
          <a:xfrm>
            <a:off x="1143000" y="4800600"/>
            <a:ext cx="10515600" cy="548640"/>
          </a:xfrm>
          <a:prstGeom prst="rect">
            <a:avLst/>
          </a:prstGeom>
          <a:noFill/>
        </p:spPr>
        <p:txBody>
          <a:bodyPr wrap="square" lIns="0" tIns="0" rIns="0" bIns="0" anchor="t">
            <a:spAutoFit/>
          </a:bodyPr>
          <a:lstStyle/>
          <a:p>
            <a:pPr algn="l"/>
            <a:r>
              <a:rPr sz="1300" b="0" i="0">
                <a:solidFill>
                  <a:srgbClr val="CADCFC"/>
                </a:solidFill>
                <a:latin typeface="Calibri"/>
              </a:rPr>
              <a:t>Ablation rules out shortcut-learning — rate-only mimicry recall is 73%; behavioral features add +23 points.</a:t>
            </a:r>
          </a:p>
        </p:txBody>
      </p:sp>
      <p:sp>
        <p:nvSpPr>
          <p:cNvPr id="13" name="TextBox 12"/>
          <p:cNvSpPr txBox="1"/>
          <p:nvPr/>
        </p:nvSpPr>
        <p:spPr>
          <a:xfrm>
            <a:off x="640080" y="5440679"/>
            <a:ext cx="457200" cy="457200"/>
          </a:xfrm>
          <a:prstGeom prst="rect">
            <a:avLst/>
          </a:prstGeom>
          <a:noFill/>
        </p:spPr>
        <p:txBody>
          <a:bodyPr wrap="square" lIns="0" tIns="0" rIns="0" bIns="0" anchor="t">
            <a:spAutoFit/>
          </a:bodyPr>
          <a:lstStyle/>
          <a:p>
            <a:pPr algn="l"/>
            <a:r>
              <a:rPr sz="1600" b="1" i="0">
                <a:solidFill>
                  <a:srgbClr val="02C39A"/>
                </a:solidFill>
                <a:latin typeface="Georgia"/>
              </a:rPr>
              <a:t>03</a:t>
            </a:r>
          </a:p>
        </p:txBody>
      </p:sp>
      <p:sp>
        <p:nvSpPr>
          <p:cNvPr id="14" name="TextBox 13"/>
          <p:cNvSpPr txBox="1"/>
          <p:nvPr/>
        </p:nvSpPr>
        <p:spPr>
          <a:xfrm>
            <a:off x="1143000" y="5440679"/>
            <a:ext cx="10515600" cy="548640"/>
          </a:xfrm>
          <a:prstGeom prst="rect">
            <a:avLst/>
          </a:prstGeom>
          <a:noFill/>
        </p:spPr>
        <p:txBody>
          <a:bodyPr wrap="square" lIns="0" tIns="0" rIns="0" bIns="0" anchor="t">
            <a:spAutoFit/>
          </a:bodyPr>
          <a:lstStyle/>
          <a:p>
            <a:pPr algn="l"/>
            <a:r>
              <a:rPr sz="1300" b="0" i="0">
                <a:solidFill>
                  <a:srgbClr val="CADCFC"/>
                </a:solidFill>
                <a:latin typeface="Calibri"/>
              </a:rPr>
              <a:t>Implementation issues identified, corrected, and re-verified across three configurations + 5-fold cross-validation.</a:t>
            </a:r>
          </a:p>
        </p:txBody>
      </p:sp>
      <p:sp>
        <p:nvSpPr>
          <p:cNvPr id="15" name="TextBox 14"/>
          <p:cNvSpPr txBox="1"/>
          <p:nvPr/>
        </p:nvSpPr>
        <p:spPr>
          <a:xfrm>
            <a:off x="11338560" y="6537960"/>
            <a:ext cx="731520" cy="228600"/>
          </a:xfrm>
          <a:prstGeom prst="rect">
            <a:avLst/>
          </a:prstGeom>
          <a:noFill/>
        </p:spPr>
        <p:txBody>
          <a:bodyPr wrap="square" lIns="0" tIns="0" rIns="0" bIns="0" anchor="t">
            <a:spAutoFit/>
          </a:bodyPr>
          <a:lstStyle/>
          <a:p>
            <a:pPr algn="r"/>
            <a:r>
              <a:rPr sz="900" b="0" i="0">
                <a:solidFill>
                  <a:srgbClr val="CADCFC"/>
                </a:solidFill>
                <a:latin typeface="Calibri"/>
              </a:rPr>
              <a:t>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1606</TotalTime>
  <Words>3090</Words>
  <Application>Microsoft Macintosh PowerPoint</Application>
  <PresentationFormat>Özel</PresentationFormat>
  <Paragraphs>450</Paragraphs>
  <Slides>23</Slides>
  <Notes>2</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23</vt:i4>
      </vt:variant>
    </vt:vector>
  </HeadingPairs>
  <TitlesOfParts>
    <vt:vector size="30" baseType="lpstr">
      <vt:lpstr>Aptos</vt:lpstr>
      <vt:lpstr>Arial</vt:lpstr>
      <vt:lpstr>Calibri</vt:lpstr>
      <vt:lpstr>Cambria Math</vt:lpstr>
      <vt:lpstr>Consolas</vt:lpstr>
      <vt:lpstr>Georgia</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Beyza Yavuz</cp:lastModifiedBy>
  <cp:revision>18</cp:revision>
  <dcterms:created xsi:type="dcterms:W3CDTF">2013-01-27T09:14:16Z</dcterms:created>
  <dcterms:modified xsi:type="dcterms:W3CDTF">2026-05-22T21:34:06Z</dcterms:modified>
  <cp:category/>
</cp:coreProperties>
</file>