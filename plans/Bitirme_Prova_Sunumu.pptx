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RF</c:v>
                </c:pt>
              </c:strCache>
            </c:strRef>
          </c:tx>
          <c:spPr>
            <a:solidFill>
              <a:srgbClr val="8FAEEB"/>
            </a:solidFill>
          </c:spPr>
          <c:cat>
            <c:strRef>
              <c:f>Sheet1!$A$2:$A$4</c:f>
              <c:strCache>
                <c:ptCount val="3"/>
                <c:pt idx="0">
                  <c:v>http_flood</c:v>
                </c:pt>
                <c:pt idx="1">
                  <c:v>normal_user</c:v>
                </c:pt>
                <c:pt idx="2">
                  <c:v>low_rate_bot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0.9152</c:v>
                </c:pt>
                <c:pt idx="1">
                  <c:v>0.0638</c:v>
                </c:pt>
                <c:pt idx="2">
                  <c:v>0.021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(ISO+RF)</c:v>
                </c:pt>
              </c:strCache>
            </c:strRef>
          </c:tx>
          <c:spPr>
            <a:solidFill>
              <a:srgbClr val="02C39A"/>
            </a:solidFill>
          </c:spPr>
          <c:cat>
            <c:strRef>
              <c:f>Sheet1!$A$2:$A$4</c:f>
              <c:strCache>
                <c:ptCount val="3"/>
                <c:pt idx="0">
                  <c:v>http_flood</c:v>
                </c:pt>
                <c:pt idx="1">
                  <c:v>normal_user</c:v>
                </c:pt>
                <c:pt idx="2">
                  <c:v>low_rate_bot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0.9196</c:v>
                </c:pt>
                <c:pt idx="1">
                  <c:v>0.0574</c:v>
                </c:pt>
                <c:pt idx="2">
                  <c:v>0.023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600">
                <a:solidFill>
                  <a:srgbClr val="8FAEEB"/>
                </a:solidFill>
                <a:latin typeface="Calibri"/>
              </a:rPr>
              <a:t>BİTİRME TEZİ — PROVA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API Katmanında Davranış Tabanlı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DDoS Tespiti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Mimicry Saldırıları Altında Davranışsal Özelliklerin Dayanıklılığı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434840"/>
            <a:ext cx="731520" cy="3657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Beyza Yavuz</a:t>
            </a:r>
          </a:p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Danışman: [Hocanın Adı]</a:t>
            </a:r>
          </a:p>
          <a:p>
            <a:pPr algn="l"/>
            <a:r>
              <a:rPr sz="1300" b="0" i="0">
                <a:solidFill>
                  <a:srgbClr val="8FAEEB"/>
                </a:solidFill>
                <a:latin typeface="Calibri"/>
              </a:rPr>
              <a:t>Bilgisayar Mühendisliği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17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400">
                <a:solidFill>
                  <a:srgbClr val="F96167"/>
                </a:solidFill>
                <a:latin typeface="Calibri"/>
              </a:rPr>
              <a:t>PROVA · KRİTİK CHECKPOINT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0 · BU SUNUMA KADAR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Tamamlanan Adımlar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Önceki sunumdan bu yana yapılan ilerlemenin özeti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10972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1E2761"/>
                </a:solidFill>
                <a:latin typeface="Calibri"/>
              </a:rPr>
              <a:t>ALTYAPI &amp; TRAFİK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10896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NestJS + nginx + Postgres pipeline kuruldu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AsyncLocalStorage ile per-request backend cost ölçümü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nginx access log + Prisma RequestLog paralel veri akışı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k6 senaryoları: S1 legit, S2 flood, S3 low-rate, S4 credential, S5 mimicry, S6 slowloris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9164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657600" cy="109728"/>
          </a:xfrm>
          <a:prstGeom prst="rect">
            <a:avLst/>
          </a:prstGeom>
          <a:solidFill>
            <a:srgbClr val="2B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65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2B3A8C"/>
                </a:solidFill>
                <a:latin typeface="Calibri"/>
              </a:rPr>
              <a:t>ÖZELLİK &amp;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60320"/>
            <a:ext cx="310896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B3A8C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Tier 1-4 feature pipeline (connection / window / global / session)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B3A8C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Endpoint cost profili, Markov log-likelihood, IAT KS uzaklığı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B3A8C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Random Forest baseline + ISO+RF stacked model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B3A8C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Mimicry holdout protokolü — train'de görmedi, sadece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657600" cy="109728"/>
          </a:xfrm>
          <a:prstGeom prst="rect">
            <a:avLst/>
          </a:prstGeom>
          <a:solidFill>
            <a:srgbClr val="01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659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018F71"/>
                </a:solidFill>
                <a:latin typeface="Calibri"/>
              </a:rPr>
              <a:t>DEĞERLENDİRME &amp; YAZIM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60320"/>
            <a:ext cx="310896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18F71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In-distribution: %99.14 accuracy, %99.23 macro-F1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18F71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Mimicry holdout: %91.96 saldırı olarak tespit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18F71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Ablation çalışması: UA-only %9, rate-only %71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18F71"/>
                </a:solidFill>
                <a:latin typeface="Calibri"/>
              </a:rPr>
              <a:t>▪  </a:t>
            </a:r>
            <a:r>
              <a:rPr sz="1100">
                <a:solidFill>
                  <a:srgbClr val="1A1A2E"/>
                </a:solidFill>
                <a:latin typeface="Calibri"/>
              </a:rPr>
              <a:t>Tez bölümleri: abstract, methodology, results, discussion, 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Bu sunum boyunca: tezin gerekçesi, sistem, sonuçlar, sınırlar ve katkılar baştan sona anlatılacak.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1 · TEZ SORUSU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Soruyu Tek Cümlede Sormak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2194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37160" cy="21945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8FAEEB"/>
                </a:solidFill>
                <a:latin typeface="Georgia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978408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 i="1">
                <a:solidFill>
                  <a:srgbClr val="FFFFFF"/>
                </a:solidFill>
                <a:latin typeface="Calibri"/>
              </a:rPr>
              <a:t>Bir saldırgan tarayıcı imzasını, IP'sini, hatta istek hızını gerçek kullanıcıya benzetirse,</a:t>
            </a:r>
          </a:p>
          <a:p>
            <a:pPr algn="l"/>
            <a:r>
              <a:rPr sz="2100" b="0" i="1">
                <a:solidFill>
                  <a:srgbClr val="FFFFFF"/>
                </a:solidFill>
                <a:latin typeface="Calibri"/>
              </a:rPr>
              <a:t>davranış tabanlı bir tespit modeli onu hâlâ yakalayabilir mi?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48056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6634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96167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80060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Rate tabanlı klasik savunmalar dağıtık saldırılarda yeterli mi?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448056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6634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96167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80060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Endpoint maliyet asimetrisi gibi davranışsal özellikler ne kadar ayırt edici?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448056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6634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96167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480060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Mimicry'yi train'de hiç görmemiş bir model onu yine saldırı olarak işaretler mi?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1 · TEZ SORUSU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Bu Soru Neden Zor?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Modern API saldırıları artık "tek IP yüksek hız" değil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Dağıtık Trafik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14600"/>
            <a:ext cx="42062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Akamai/Cloudflare raporları: tipik bir L7 saldırı yüzlerce-binlerce IP'ye dağılıyor. Per-IP rate eşikleri saldırganın eline su döker.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011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Yüzeysel Taklit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14600"/>
            <a:ext cx="42062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Saldırgan User-Agent havuzunu Chrome/Safari/iPhone karışımıyla rotasyona sokuyor; Accept-Language ve Accept-Encoding değiştiriyor.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519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5720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720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Asimetrik Maliyet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20"/>
            <a:ext cx="42062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Bir /auth/login isteği bcrypt nedeniyle bir /health çağrısından ~500× daha pahalı. Sayı saymak yetmez, hangi endpoint hangi maliyetle bilmek gerek.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5196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45720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52628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5720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Sınıfta Yokken Sınamak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74920"/>
            <a:ext cx="420624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Model eğitim sırasında her saldırı türünü gördüyse, gerçek dünyada ortaya çıkan yeni varyantta zayıf kalır. Test "görmediği" bir saldırıyla yapılmalı.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2 · METODOLOJİ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Sistem Mimarisi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Trafik üretiminden modele kadar tek bir veri akışı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783080" cy="13716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200">
                <a:solidFill>
                  <a:srgbClr val="FFFFFF"/>
                </a:solidFill>
                <a:latin typeface="Calibri"/>
              </a:rPr>
              <a:t>TRAFİK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k6 + slowhttptest
6 senaryo</a:t>
            </a:r>
          </a:p>
        </p:txBody>
      </p:sp>
      <p:sp>
        <p:nvSpPr>
          <p:cNvPr id="8" name="Right Triangle 7"/>
          <p:cNvSpPr/>
          <p:nvPr/>
        </p:nvSpPr>
        <p:spPr>
          <a:xfrm rot="5400000">
            <a:off x="2249424" y="2532888"/>
            <a:ext cx="137160" cy="146304"/>
          </a:xfrm>
          <a:prstGeom prst="rtTriangl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4872" y="1920240"/>
            <a:ext cx="1783080" cy="1371600"/>
          </a:xfrm>
          <a:prstGeom prst="rect">
            <a:avLst/>
          </a:prstGeom>
          <a:solidFill>
            <a:srgbClr val="2B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210312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200">
                <a:solidFill>
                  <a:srgbClr val="FFFFFF"/>
                </a:solidFill>
                <a:latin typeface="Calibri"/>
              </a:rPr>
              <a:t>REVERSE 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256032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nginx 1.27
JSON access log</a:t>
            </a:r>
          </a:p>
        </p:txBody>
      </p:sp>
      <p:sp>
        <p:nvSpPr>
          <p:cNvPr id="12" name="Right Triangle 11"/>
          <p:cNvSpPr/>
          <p:nvPr/>
        </p:nvSpPr>
        <p:spPr>
          <a:xfrm rot="5400000">
            <a:off x="4197096" y="2532888"/>
            <a:ext cx="137160" cy="146304"/>
          </a:xfrm>
          <a:prstGeom prst="rtTriangl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920240"/>
            <a:ext cx="178308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3" y="210312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200">
                <a:solidFill>
                  <a:srgbClr val="FFFFFF"/>
                </a:solidFill>
                <a:latin typeface="Calibri"/>
              </a:rPr>
              <a:t>UYGULAMA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3" y="256032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NestJS 11
Middleware + Interceptor</a:t>
            </a:r>
          </a:p>
        </p:txBody>
      </p:sp>
      <p:sp>
        <p:nvSpPr>
          <p:cNvPr id="16" name="Right Triangle 15"/>
          <p:cNvSpPr/>
          <p:nvPr/>
        </p:nvSpPr>
        <p:spPr>
          <a:xfrm rot="5400000">
            <a:off x="6144768" y="2532888"/>
            <a:ext cx="137160" cy="146304"/>
          </a:xfrm>
          <a:prstGeom prst="rtTriangl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1920240"/>
            <a:ext cx="1783080" cy="137160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210312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200">
                <a:solidFill>
                  <a:srgbClr val="FFFFFF"/>
                </a:solidFill>
                <a:latin typeface="Calibri"/>
              </a:rPr>
              <a:t>VERİ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56032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PostgreSQL 16
RequestLog + Connection</a:t>
            </a:r>
          </a:p>
        </p:txBody>
      </p:sp>
      <p:sp>
        <p:nvSpPr>
          <p:cNvPr id="20" name="Right Triangle 19"/>
          <p:cNvSpPr/>
          <p:nvPr/>
        </p:nvSpPr>
        <p:spPr>
          <a:xfrm rot="5400000">
            <a:off x="8092440" y="2532888"/>
            <a:ext cx="137160" cy="146304"/>
          </a:xfrm>
          <a:prstGeom prst="rtTriangl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47888" y="1920240"/>
            <a:ext cx="1783080" cy="1371600"/>
          </a:xfrm>
          <a:prstGeom prst="rect">
            <a:avLst/>
          </a:prstGeom>
          <a:solidFill>
            <a:srgbClr val="01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210312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200">
                <a:solidFill>
                  <a:srgbClr val="FFFFFF"/>
                </a:solidFill>
                <a:latin typeface="Calibri"/>
              </a:rPr>
              <a:t>ÖZELLİK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56032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Tier 1-4 pipeline
37 feature</a:t>
            </a:r>
          </a:p>
        </p:txBody>
      </p:sp>
      <p:sp>
        <p:nvSpPr>
          <p:cNvPr id="24" name="Right Triangle 23"/>
          <p:cNvSpPr/>
          <p:nvPr/>
        </p:nvSpPr>
        <p:spPr>
          <a:xfrm rot="5400000">
            <a:off x="10040111" y="2532888"/>
            <a:ext cx="137160" cy="146304"/>
          </a:xfrm>
          <a:prstGeom prst="rtTriangl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95559" y="1920240"/>
            <a:ext cx="1783080" cy="13716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6999" y="2103120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20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6999" y="256032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ISO + RF
Stacked 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Veri Toplama Detayları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2336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nginx access log →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her HTTP isteği için connection_id, request_time, status, upstream timing</a:t>
            </a:r>
          </a:p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NestJS middleware →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AsyncLocalStorage ile her istek için izole metrics: dbQueryCount, dbTotalTimeMs, cpuTimeMs</a:t>
            </a:r>
          </a:p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Connection enrichment →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nginx 408 timeout kayıtları Connection tablosuna yazılıyor; slowloris yakalanıyor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Pencereleme &amp; Etiketleme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02336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Pencere boyutu: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10 saniye, IP ve /24 subnet seviyesinde</a:t>
            </a:r>
          </a:p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Etiket: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her pencerenin majority traffic label'ı (normal_user, http_flood, ...)</a:t>
            </a:r>
          </a:p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Sızıntı koruması: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scenario_id, label, window_start gibi sütunlar feature setinden çıkarıldı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2 · METODOLOJİ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Altı Trafik Senaryosu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Beşincisi diğerlerinden farklı: model onu sadece sınavda görüyor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623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640080" cy="7315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64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Legitimate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64748B"/>
                </a:solidFill>
                <a:latin typeface="Calibri"/>
              </a:rPr>
              <a:t>Eğitim ·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391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Markov navigasyonu, log-normal düşünme süresi, Zipf arama terimleri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623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640080" cy="7315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9164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764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HTTP Flood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64748B"/>
                </a:solidFill>
                <a:latin typeface="Calibri"/>
              </a:rPr>
              <a:t>Eğitim ·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0391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Dağıtık yüksek hızlı istekler, naive saldırgan UA havuzu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5623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640080" cy="7315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1460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5877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Low-Rate Bot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64748B"/>
                </a:solidFill>
                <a:latin typeface="Calibri"/>
              </a:rPr>
              <a:t>Eğitim ·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620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Düşük hızlı sürekli scraping; rate eşiğinin altında kalır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514600"/>
            <a:ext cx="5623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514600"/>
            <a:ext cx="640080" cy="7315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51460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5877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Credential Stuffing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64748B"/>
                </a:solidFill>
                <a:latin typeface="Calibri"/>
              </a:rPr>
              <a:t>Eğitim ·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8620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Rastgele e-posta/şifre login denemeleri; 401 sinyali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56235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337560"/>
            <a:ext cx="640080" cy="7315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3756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4107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Mimicry Flood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 ·  </a:t>
            </a:r>
            <a:r>
              <a:rPr sz="1000" b="1" i="1">
                <a:solidFill>
                  <a:srgbClr val="F96167"/>
                </a:solidFill>
                <a:latin typeface="Calibri"/>
              </a:rPr>
              <a:t>★ SADECE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68503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Legit havuzundan UA + IP, token-reuse, flood seviyesinde burst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337560"/>
            <a:ext cx="5623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337560"/>
            <a:ext cx="640080" cy="731520"/>
          </a:xfrm>
          <a:prstGeom prst="rect">
            <a:avLst/>
          </a:prstGeom>
          <a:solidFill>
            <a:srgbClr val="C94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33756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4107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Slow HTTP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64748B"/>
                </a:solidFill>
                <a:latin typeface="Calibri"/>
              </a:rPr>
              <a:t>Bağlantı kuralı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68503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Slowloris; nginx 60s'de connection close; sparse 408 sinyali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120640"/>
            <a:ext cx="137160" cy="1188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8FAEEB"/>
                </a:solidFill>
                <a:latin typeface="Calibri"/>
              </a:rPr>
              <a:t>KRİTİK TASARIM KARARI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S5 mimicry_flood eğitim ve validasyon setlerine dahil edilmedi. Sadece holdout test olarak kullanıldı. Bu, modelin "görmediği" bir saldırıyı genelleyip genelleyemediğini ölçen ana deneydir.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2 · METODOLOJİ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Mimicry Saldırısının Anatomisi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Yüzey legit, davranış flood. Bu asimetri tezin sınav sorusu.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623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62356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 spc="200">
                <a:solidFill>
                  <a:srgbClr val="FFFFFF"/>
                </a:solidFill>
                <a:latin typeface="Calibri"/>
              </a:rPr>
              <a:t>Naive HTTP Flood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Calibri"/>
              </a:rPr>
              <a:t>User-Agent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7744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curl/8.7.1, python-requests, Go-http-client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Calibri"/>
              </a:rPr>
              <a:t>IP Havuzu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7180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Saldırgan-özel havuz (legit'le minimal overlap)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Calibri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5661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Her istekte yeniden — token reuse yok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Calibri"/>
              </a:rPr>
              <a:t>Cadence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16052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Burst 2-5 istek, 10-50ms aralıkla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96167"/>
                </a:solidFill>
                <a:latin typeface="Calibri"/>
              </a:rPr>
              <a:t>İmza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7548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Yüksek rate + tool UA + ayrı IP cluster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691640"/>
            <a:ext cx="5623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691640"/>
            <a:ext cx="562356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73736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 spc="200">
                <a:solidFill>
                  <a:srgbClr val="FFFFFF"/>
                </a:solidFill>
                <a:latin typeface="Calibri"/>
              </a:rPr>
              <a:t>Mimicry Flood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E2761"/>
                </a:solidFill>
                <a:latin typeface="Calibri"/>
              </a:rPr>
              <a:t>User-Agent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37744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Chrome/Safari/Firefox/iPhone — legit havuzunun aynısı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718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E2761"/>
                </a:solidFill>
                <a:latin typeface="Calibri"/>
              </a:rPr>
              <a:t>IP Havuzu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97180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Legit havuzundan 15 IP + 5 yeni — overlap'lı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661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E2761"/>
                </a:solidFill>
                <a:latin typeface="Calibri"/>
              </a:rPr>
              <a:t>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5661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Token-reuse, 50 istekte bir re-login — sticky session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1605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E2761"/>
                </a:solidFill>
                <a:latin typeface="Calibri"/>
              </a:rPr>
              <a:t>Cadence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16052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Aynı burst pattern ama legit-benzeri sessions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7548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E2761"/>
                </a:solidFill>
                <a:latin typeface="Calibri"/>
              </a:rPr>
              <a:t>İmza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75488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Yüzey legit ama hâlâ yüksek toplam rate ve endpoint odaklı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1">
                <a:solidFill>
                  <a:srgbClr val="1E2761"/>
                </a:solidFill>
                <a:latin typeface="Calibri"/>
              </a:rPr>
              <a:t>Çıkarım: Saldırgan yüzeyi taklit edebilir ama endpoint dağılımı, backend maliyet asimetrisi ve session pattern'ı taklit etmek zor. Modelin yakalaması beklenen sinyal burada.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2 · METODOLOJİ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Dört Katmanlı Özellik Çıkarımı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Her tier farklı bir bağlama bakar — birlikte 37 özellik üretir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623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914400" cy="21945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2024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96167"/>
                </a:solidFill>
                <a:latin typeface="Calibri"/>
              </a:rPr>
              <a:t>Bağlantı (Connection)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Bir TCP bağlantısı boyunca: süre, istek sayısı, keepalive, partial/timeout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9184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onsolas"/>
              </a:rPr>
              <a:t>durationMs · requestCount · partialRequestCount · timeoutRequestCount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5623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914400" cy="2194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0574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88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920240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Pencere (10s Window)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331720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IP ve /24 subnet seviyesinde 10 saniyelik trafik özetleri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291840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onsolas"/>
              </a:rPr>
              <a:t>req_rate · iat_cv · endpoint_entropy · endpoint_cost_mean · login_present_ratio · status_4xx_ratio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50791"/>
            <a:ext cx="5623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50791"/>
            <a:ext cx="914400" cy="2194560"/>
          </a:xfrm>
          <a:prstGeom prst="rect">
            <a:avLst/>
          </a:prstGeom>
          <a:solidFill>
            <a:srgbClr val="2B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16552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48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279392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3A8C"/>
                </a:solidFill>
                <a:latin typeface="Calibri"/>
              </a:rPr>
              <a:t>Global (Sistem)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90872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 10 saniyede sistemde toplam neler oluyor — saldırı yayılımının imzası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650992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onsolas"/>
              </a:rPr>
              <a:t>global_unique_ip · global_unique_subnet · global_req_rate · global_new_src_ratio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050791"/>
            <a:ext cx="5623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050791"/>
            <a:ext cx="914400" cy="2194560"/>
          </a:xfrm>
          <a:prstGeom prst="rect">
            <a:avLst/>
          </a:prstGeom>
          <a:solidFill>
            <a:srgbClr val="01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416552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148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4279392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18F71"/>
                </a:solidFill>
                <a:latin typeface="Calibri"/>
              </a:rPr>
              <a:t>Baseline Mesafe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690872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NASA tarihi trafik referansından sapma — Markov + IAT 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650992"/>
            <a:ext cx="4343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onsolas"/>
              </a:rPr>
              <a:t>markov_log_likelihood · iat_ks_distance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Toplam 37 sayısal özellik · IP ve /24 subnet için ayrı satırlar üretiliyor · NaN'lar 0 ile dolduruluyor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2 · METODOLOJİ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Önerilen Model: ISO + RF (Stacked)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Yarı denetimsiz anomali katmanı + denetimli sınıflandırıcı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03520" cy="45720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KATMAN A · Isolation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Yarı-denetimsiz · Sadece normal_user üzerinde eğitilir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Amaç: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Her pencere için bir </a:t>
            </a:r>
            <a:r>
              <a:rPr sz="1200" b="1" i="0">
                <a:solidFill>
                  <a:srgbClr val="1E2761"/>
                </a:solidFill>
                <a:latin typeface="Calibri"/>
              </a:rPr>
              <a:t>anomaly_score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üretmek.</a:t>
            </a:r>
          </a:p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Yöntem: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200 ağaç, contamination=0.05, decision_function negatifleniyor (yüksek skor = daha anormal).</a:t>
            </a:r>
          </a:p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Çıktı: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Tek bir ek özellik. RF katmanına input olarak verilir.</a:t>
            </a:r>
          </a:p>
        </p:txBody>
      </p:sp>
      <p:sp>
        <p:nvSpPr>
          <p:cNvPr id="10" name="Right Triangle 9"/>
          <p:cNvSpPr/>
          <p:nvPr/>
        </p:nvSpPr>
        <p:spPr>
          <a:xfrm rot="5400000">
            <a:off x="5943600" y="3703320"/>
            <a:ext cx="411480" cy="457200"/>
          </a:xfrm>
          <a:prstGeom prst="rtTriangl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200">
                <a:solidFill>
                  <a:srgbClr val="FFFFFF"/>
                </a:solidFill>
                <a:latin typeface="Calibri"/>
              </a:rPr>
              <a:t>KATMAN B · 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231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Denetimli · 4 sınıf çoklu sınıflandırma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Sınıflar: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normal_user · http_flood · low_rate_bot · credential_stuffing</a:t>
            </a:r>
          </a:p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Yöntem: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300 ağaç, balanced_subsample, 37 + 1 (anomaly_score) özellik.</a:t>
            </a:r>
          </a:p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Karşılaştırma: </a:t>
            </a:r>
            <a:r>
              <a:rPr sz="1200" b="0" i="0">
                <a:solidFill>
                  <a:srgbClr val="1A1A2E"/>
                </a:solidFill>
                <a:latin typeface="Calibri"/>
              </a:rPr>
              <a:t>Aynı feature seti ile (anomaly_score'suz) eğitilen baseline RF ile karşı karşıya konur.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Neden stacked? — Yarı-denetimsiz katman normal davranışın "şeklini" öğrenir; denetimli katman bu şeklin dışına çıkanları farklı saldırı tiplerine eşler. İki katman birlikte hem in-distribution hem de mimicry holdout'ta tutarlı sonuç verdi.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2 · METODOLOJİ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Değerlendirme Protokolü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Üç bağımsız sınav: in-distribution, holdout, leakage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822960" cy="1417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In-Distribution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Ne yapar: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Dört sınıf (normal/flood/low-rate/credential) stratified train/val/test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32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Metrik:  </a:t>
            </a:r>
            <a:r>
              <a:rPr sz="1050" b="0" i="1">
                <a:solidFill>
                  <a:srgbClr val="1A1A2E"/>
                </a:solidFill>
                <a:latin typeface="Calibri"/>
              </a:rPr>
              <a:t>Accuracy · Macro-F1 · PR-AUC · 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072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Amaç:  </a:t>
            </a:r>
            <a:r>
              <a:rPr sz="1100" b="0" i="1">
                <a:solidFill>
                  <a:srgbClr val="1E2761"/>
                </a:solidFill>
                <a:latin typeface="Calibri"/>
              </a:rPr>
              <a:t>Model bilinen saldırıları doğru ayırıyor mu?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822960" cy="14173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29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96167"/>
                </a:solidFill>
                <a:latin typeface="Calibri"/>
              </a:rPr>
              <a:t>★ Mimicry Holdout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94759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Ne yapar: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S5 train'de yok. Model eğitimden sonra sadece test setinde görüyor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873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Metrik:  </a:t>
            </a:r>
            <a:r>
              <a:rPr sz="1050" b="0" i="1">
                <a:solidFill>
                  <a:srgbClr val="1A1A2E"/>
                </a:solidFill>
                <a:latin typeface="Calibri"/>
              </a:rPr>
              <a:t>recall_as_flood · evasion_rate · binary_attack_recall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616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Amaç:  </a:t>
            </a:r>
            <a:r>
              <a:rPr sz="1100" b="0" i="1">
                <a:solidFill>
                  <a:srgbClr val="F96167"/>
                </a:solidFill>
                <a:latin typeface="Calibri"/>
              </a:rPr>
              <a:t>Model görmediği saldırı tipini de yakalayabiliyor mu?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00600"/>
            <a:ext cx="822960" cy="1417320"/>
          </a:xfrm>
          <a:prstGeom prst="rect">
            <a:avLst/>
          </a:prstGeom>
          <a:solidFill>
            <a:srgbClr val="01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83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18F71"/>
                </a:solidFill>
                <a:latin typeface="Calibri"/>
              </a:rPr>
              <a:t>Leakage &amp; Ablation Kontrolleri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Ne yapar:  </a:t>
            </a:r>
            <a:r>
              <a:rPr sz="1100" b="0" i="0">
                <a:solidFill>
                  <a:srgbClr val="1A1A2E"/>
                </a:solidFill>
                <a:latin typeface="Calibri"/>
              </a:rPr>
              <a:t>Random-label permütasyon + 12 feature-group ablation çalışması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6418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Metrik:  </a:t>
            </a:r>
            <a:r>
              <a:rPr sz="1050" b="0" i="1">
                <a:solidFill>
                  <a:srgbClr val="1A1A2E"/>
                </a:solidFill>
                <a:latin typeface="Calibri"/>
              </a:rPr>
              <a:t>Δ accuracy (real vs permuted) · per-group val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9161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Amaç:  </a:t>
            </a:r>
            <a:r>
              <a:rPr sz="1100" b="0" i="1">
                <a:solidFill>
                  <a:srgbClr val="018F71"/>
                </a:solidFill>
                <a:latin typeface="Calibri"/>
              </a:rPr>
              <a:t>Model gerçek sinyal mi öğreniyor, kısa yol mu kullanıyor?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Üç sınav birbirinden bağımsız. Sonuçların hepsinin aynı yönde işaret vermesi tezin temel argümanının dayanağıdır.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3 · SONUÇLAR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Sonuç 1 — In-Distribution Performans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Bilinen dört sınıfta model neredeyse mükemmel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91440" cy="13716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E2761"/>
                </a:solidFill>
                <a:latin typeface="Calibri"/>
              </a:rPr>
              <a:t>99.14%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4748B"/>
                </a:solidFill>
                <a:latin typeface="Calibri"/>
              </a:rPr>
              <a:t>TEST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916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B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B3A8C"/>
                </a:solidFill>
                <a:latin typeface="Calibri"/>
              </a:rPr>
              <a:t>99.23%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517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4748B"/>
                </a:solidFill>
                <a:latin typeface="Calibri"/>
              </a:rPr>
              <a:t>MACRO-F1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91440" cy="1371600"/>
          </a:xfrm>
          <a:prstGeom prst="rect">
            <a:avLst/>
          </a:prstGeom>
          <a:solidFill>
            <a:srgbClr val="01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18F71"/>
                </a:solidFill>
                <a:latin typeface="Calibri"/>
              </a:rPr>
              <a:t>99.92%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4748B"/>
                </a:solidFill>
                <a:latin typeface="Calibri"/>
              </a:rPr>
              <a:t>ORT. PR-AUC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Sınıf Başına Performans (Proposed Model · Test Seti)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370332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Sınıf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credential_stuffing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378</a:t>
                      </a:r>
                    </a:p>
                  </a:txBody>
                  <a:tcPr marL="73152" marR="73152" marT="36576" marB="36576"/>
                </a:tc>
              </a:tr>
              <a:tr h="365760">
                <a:tc>
                  <a:txBody>
                    <a:bodyPr wrap="square" anchor="ctr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http_flood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0.9899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0.9879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0.9889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495</a:t>
                      </a:r>
                    </a:p>
                  </a:txBody>
                  <a:tcPr marL="73152" marR="73152" marT="36576" marB="36576"/>
                </a:tc>
              </a:tr>
              <a:tr h="365760">
                <a:tc>
                  <a:txBody>
                    <a:bodyPr wrap="square" anchor="ctr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low_rate_bot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0.9870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0.9935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73152" marR="73152" marT="36576" marB="36576"/>
                </a:tc>
              </a:tr>
              <a:tr h="365760">
                <a:tc>
                  <a:txBody>
                    <a:bodyPr wrap="square" anchor="ctr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normal_user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0.9868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0.9868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0.9868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454</a:t>
                      </a:r>
                    </a:p>
                  </a:txBody>
                  <a:tcPr marL="73152" marR="73152" marT="36576" marB="36576"/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Yorum: </a:t>
            </a:r>
            <a:r>
              <a:rPr sz="1200" b="0" i="1">
                <a:solidFill>
                  <a:srgbClr val="1A1A2E"/>
                </a:solidFill>
                <a:latin typeface="Calibri"/>
              </a:rPr>
              <a:t>Hatalar sadece http_flood ve normal_user arasında — dağıtık flood ile yüksek-rate legit'in örtüştüğü gri bölge. Credential stuffing ve low-rate bot mükemmel ayrılıyor.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3 · SONUÇLAR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Confusion Matrix — Görsel İnceleme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Hata desenini doğrulamak için karışıklık matrisi</a:t>
            </a:r>
          </a:p>
        </p:txBody>
      </p:sp>
      <p:pic>
        <p:nvPicPr>
          <p:cNvPr id="5" name="Picture 4" descr="fig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783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Gözlemler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2148840"/>
            <a:ext cx="914400" cy="36576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4231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nsolas"/>
              </a:rPr>
              <a:t>378/378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697479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credential_stuffing tamamen doğru sınıflandırıldı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136391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nsolas"/>
              </a:rPr>
              <a:t>489 + 6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410711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http_flood: 489'u doğru, 6'sı normal_user olarak işaretlendi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8496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nsolas"/>
              </a:rPr>
              <a:t>76/76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12394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low_rate_bot tamamen doğru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5628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nsolas"/>
              </a:rPr>
              <a:t>448 + 5 + 1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83717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normal_user: 448 doğru, 5 flood + 1 low-rate yanlış pozitifi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2760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onsolas"/>
              </a:rPr>
              <a:t>11 / 1403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5550407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Toplam hata: 11 pencere — yaklaşık %0.8 hata oranı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96167"/>
                </a:solidFill>
                <a:latin typeface="Calibri"/>
              </a:rPr>
              <a:t>3 · SONUÇLAR · ANA DENEY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★ Mimicry Holdout — Tezin Kalbi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ADCFC"/>
                </a:solidFill>
                <a:latin typeface="Calibri"/>
              </a:rPr>
              <a:t>Model bu saldırıyı eğitim sırasında HİÇ görmedi. Sadece sınav sırasında karşılaştı.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657600" cy="2560320"/>
          </a:xfrm>
          <a:prstGeom prst="rect">
            <a:avLst/>
          </a:prstGeom>
          <a:solidFill>
            <a:srgbClr val="131A47"/>
          </a:solidFill>
          <a:ln w="381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02C39A"/>
                </a:solidFill>
                <a:latin typeface="Calibri"/>
              </a:rPr>
              <a:t>91.96%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CADCFC"/>
                </a:solidFill>
                <a:latin typeface="Calibri"/>
              </a:rPr>
              <a:t>http_flood olarak
DOĞRU sınıflandırıldı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828800"/>
            <a:ext cx="3657600" cy="2560320"/>
          </a:xfrm>
          <a:prstGeom prst="rect">
            <a:avLst/>
          </a:prstGeom>
          <a:solidFill>
            <a:srgbClr val="131A47"/>
          </a:solidFill>
          <a:ln w="12700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1945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F96167"/>
                </a:solidFill>
                <a:latin typeface="Calibri"/>
              </a:rPr>
              <a:t>5.74%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4747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CADCFC"/>
                </a:solidFill>
                <a:latin typeface="Calibri"/>
              </a:rPr>
              <a:t>normal_user olarak
KAÇIRILDI (evasion)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657600" cy="2560320"/>
          </a:xfrm>
          <a:prstGeom prst="rect">
            <a:avLst/>
          </a:prstGeom>
          <a:solidFill>
            <a:srgbClr val="131A47"/>
          </a:solidFill>
          <a:ln w="12700">
            <a:solidFill>
              <a:srgbClr val="8FA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8FAEEB"/>
                </a:solidFill>
                <a:latin typeface="Calibri"/>
              </a:rPr>
              <a:t>94.26%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4747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CADCFC"/>
                </a:solidFill>
                <a:latin typeface="Calibri"/>
              </a:rPr>
              <a:t>BİNARY ATTACK
RECALL (toplam)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177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Baseline RF vs Proposed ISO+RF — mimicry tahminleri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57200" y="4937760"/>
          <a:ext cx="11430000" cy="1371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3 · SONUÇLAR · YORUM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Mimicry Sonucunu Nasıl Okumalı?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Üç katmanlı yorum: ne yapamadı, neyi başardı, neden önemli</a:t>
            </a:r>
          </a:p>
        </p:txBody>
      </p:sp>
      <p:pic>
        <p:nvPicPr>
          <p:cNvPr id="5" name="Picture 4" descr="fig10_mimicr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9436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6916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96167"/>
                </a:solidFill>
                <a:latin typeface="Calibri"/>
              </a:rPr>
              <a:t>YORUM KATMANLARI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1488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Saldırgan ne yapabildi?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487168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Yüzey legit: UA havuzu, IP overlap, token reuse, sticky session — hepsi başarıyla taklit edildi. Pencere bazında req_rate dağılımı bile normal_user'la örtüşüyor.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5204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56615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Saldırgan ne yapamadı?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904487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Endpoint dağılımı (sadece search burst), endpoint maliyet asimetrisi (auth + heavy search), login pattern, status code dağılımı — bu davranışsal imzalar yüzeyden saklanamıyor.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937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9834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Neden önemli?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5321808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Model eğitim sırasında bu özelliklerin mimicry varyantını görmedi. Yine de %94'ünü saldırı olarak işaretlemesi, özelliklerin yeni saldırı tiplerine GENELLENDİĞİNİ gösteriyor.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3 · SONUÇLAR ·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★ Modelin NEYE Dayanmadığını Kanıtlamak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12 farklı feature grubuyla eğitim — sadece bir tanesi 'shortcut' alıyor mu?</a:t>
            </a:r>
          </a:p>
        </p:txBody>
      </p:sp>
      <p:pic>
        <p:nvPicPr>
          <p:cNvPr id="5" name="Picture 4" descr="fig6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78308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96167"/>
                </a:solidFill>
                <a:latin typeface="Calibri"/>
              </a:rPr>
              <a:t>KRİTİK BULGULAR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219456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2194560"/>
            <a:ext cx="73152" cy="8686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240279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  <a:latin typeface="Calibri"/>
              </a:rPr>
              <a:t>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2860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UA-only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5176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Class baseline'ın bile altında. Model UA'ya GÜVENMİYOR.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15468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3154680"/>
            <a:ext cx="73152" cy="86868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2004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8FAEEB"/>
                </a:solidFill>
                <a:latin typeface="Calibri"/>
              </a:rPr>
              <a:t>71.3%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24612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Rate-only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61188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Tek başına yetersiz. Model rate'e DAYANMIYOR.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411480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4114800"/>
            <a:ext cx="73152" cy="868680"/>
          </a:xfrm>
          <a:prstGeom prst="rect">
            <a:avLst/>
          </a:prstGeom>
          <a:solidFill>
            <a:srgbClr val="2B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1605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B3A8C"/>
                </a:solidFill>
                <a:latin typeface="Calibri"/>
              </a:rPr>
              <a:t>93.3%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420624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Endpoint-only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57200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Endpoint davranışı tek başına güçlü.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507492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5074920"/>
            <a:ext cx="73152" cy="8686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512064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  <a:latin typeface="Calibri"/>
              </a:rPr>
              <a:t>99.4%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516636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Full (all features)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53212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Tüm özellikler birlikte en iyi sonuç.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3 · SONUÇLAR · ÖZELLİKLER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Model Hangi Özelliklere Bakıyor?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Top 10 feature importance · Proposed ISO+RF model</a:t>
            </a:r>
          </a:p>
        </p:txBody>
      </p:sp>
      <p:pic>
        <p:nvPicPr>
          <p:cNvPr id="5" name="Picture 4" descr="fig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4008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7373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96167"/>
                </a:solidFill>
                <a:latin typeface="Calibri"/>
              </a:rPr>
              <a:t>AYIRT EDİCİ GRUP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2148840"/>
            <a:ext cx="73152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21488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Endpoint Davranışı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4231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onsolas"/>
              </a:rPr>
              <a:t>endpoint_entropy (#1) · endpoint_cost_mean (#3) · endpoint_unique (#6) · endpoint_cost_sum (#10)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788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Hangi route'lara saldırılıyor, hangi maliyetle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3154680"/>
            <a:ext cx="73152" cy="914400"/>
          </a:xfrm>
          <a:prstGeom prst="rect">
            <a:avLst/>
          </a:prstGeom>
          <a:solidFill>
            <a:srgbClr val="2B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3154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B3A8C"/>
                </a:solidFill>
                <a:latin typeface="Calibri"/>
              </a:rPr>
              <a:t>Kimlik ve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4290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onsolas"/>
              </a:rPr>
              <a:t>login_present_ratio (#2) · status_4xx_ratio (#4)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7947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Auth pattern + hata sinyali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160520"/>
            <a:ext cx="73152" cy="91440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1605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FAEEB"/>
                </a:solidFill>
                <a:latin typeface="Calibri"/>
              </a:rPr>
              <a:t>Dağıtım Kaynağı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4348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onsolas"/>
              </a:rPr>
              <a:t>global_unique_subnet (#5) · global_unique_ip (#18)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8006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Saldırının kaynak çeşitliliği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5166360"/>
            <a:ext cx="73152" cy="914400"/>
          </a:xfrm>
          <a:prstGeom prst="rect">
            <a:avLst/>
          </a:prstGeom>
          <a:solidFill>
            <a:srgbClr val="018F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5166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18F71"/>
                </a:solidFill>
                <a:latin typeface="Calibri"/>
              </a:rPr>
              <a:t>Backend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440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onsolas"/>
              </a:rPr>
              <a:t>mean_db_time (#8) · mean_cpu_time (#9)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8064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Gerçek server yükü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3 · SONUÇLAR · DERİN İNCELEME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Mimicry, Flood ve Legit — Yan Yana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Hangi özelliklerde benziyor, hangilerinde ayrışıyor?</a:t>
            </a:r>
          </a:p>
        </p:txBody>
      </p:sp>
      <p:pic>
        <p:nvPicPr>
          <p:cNvPr id="5" name="Picture 4" descr="fig9_mimicry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772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7830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96167"/>
                </a:solidFill>
                <a:latin typeface="Calibri"/>
              </a:rPr>
              <a:t>AYRILMA NOKTALARI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194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req_rate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46887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96167"/>
                </a:solidFill>
                <a:latin typeface="Calibri"/>
              </a:rPr>
              <a:t>ÖRTÜŞÜYOR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7432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Üç sınıf da benzer rate dağılımına sahip — bu özellik mimicry'yi ayıramaz.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337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endpoint_entropy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611879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02C39A"/>
                </a:solidFill>
                <a:latin typeface="Calibri"/>
              </a:rPr>
              <a:t>AYRIŞIYOR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8862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Legit ~1.6, mimicry ~0.2. Mimicry sadece search burst ediyor, dağılım dar.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480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endpoint_cost_sum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754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02C39A"/>
                </a:solidFill>
                <a:latin typeface="Calibri"/>
              </a:rPr>
              <a:t>AYRIŞIYOR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0292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Legit yüksek, mimicry düşük. Mimicry'nin endpoint paterni cost asimetrisini taklit edemiyor.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623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onsolas"/>
              </a:rPr>
              <a:t>ua_entropy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897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8FAEEB"/>
                </a:solidFill>
                <a:latin typeface="Calibri"/>
              </a:rPr>
              <a:t>TERSİNE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61722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Mimicry'de daha YÜKSEK — saldırgan UA çeşitlendiriyor; bu bile sinyal.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3 · SONUÇLAR · OPERASYON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Tespit Hızı ve Yanlış Pozitif Oranı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Sistem ne kadar hızlı tepki veriyor, normal kullanıcıya ne kadar engel oluyor?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Senaryo Bazında Tespit Gecikmesi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57400"/>
          <a:ext cx="5943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1645920"/>
              </a:tblGrid>
              <a:tr h="384048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Senaryo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Latency (s)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 Recall</a:t>
                      </a:r>
                    </a:p>
                  </a:txBody>
                  <a:tcPr marL="73152" marR="73152" marT="36576" marB="36576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S2 — http_flood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86.9%</a:t>
                      </a:r>
                    </a:p>
                  </a:txBody>
                  <a:tcPr marL="73152" marR="73152" marT="36576" marB="36576"/>
                </a:tc>
              </a:tr>
              <a:tr h="384048"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S3 — low_rate_bot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46.6%</a:t>
                      </a:r>
                    </a:p>
                  </a:txBody>
                  <a:tcPr marL="73152" marR="73152" marT="36576" marB="36576"/>
                </a:tc>
              </a:tr>
              <a:tr h="384048"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S4 — credential_stuffing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82.0%</a:t>
                      </a:r>
                    </a:p>
                  </a:txBody>
                  <a:tcPr marL="73152" marR="73152" marT="36576" marB="36576"/>
                </a:tc>
              </a:tr>
              <a:tr h="384048"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S5 — mimicry_flood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Calibri"/>
                        </a:rPr>
                        <a:t>89.6%</a:t>
                      </a:r>
                    </a:p>
                  </a:txBody>
                  <a:tcPr marL="73152" marR="73152" marT="36576" marB="36576"/>
                </a:tc>
              </a:tr>
              <a:tr h="384048"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64748B"/>
                          </a:solidFill>
                          <a:latin typeface="Calibri"/>
                        </a:rPr>
                        <a:t>S6 — slowloris *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3152" marR="73152" marT="36576" marB="36576"/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64748B"/>
                          </a:solidFill>
                          <a:latin typeface="Calibri"/>
                        </a:rPr>
                        <a:t>0.2% *</a:t>
                      </a:r>
                    </a:p>
                  </a:txBody>
                  <a:tcPr marL="73152" marR="73152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177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* S6 sparse — bkz. Discussion §5.3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916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Normal Kullanıcı Yanlış Pozitif Oranı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10312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2103120"/>
            <a:ext cx="91440" cy="7772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19456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96167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2860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Yanlış pozitif pencere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01752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3017520"/>
            <a:ext cx="91440" cy="77724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310896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8FAEEB"/>
                </a:solidFill>
                <a:latin typeface="Calibri"/>
              </a:rPr>
              <a:t>2642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Toplam normal pencere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93192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3931920"/>
            <a:ext cx="91440" cy="777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023359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2C39A"/>
                </a:solidFill>
                <a:latin typeface="Calibri"/>
              </a:rPr>
              <a:t>0.018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1148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FPR / legit IP-dakika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137160" cy="12801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2C39A"/>
                </a:solidFill>
                <a:latin typeface="Calibri"/>
              </a:rPr>
              <a:t>OPERASYONEL OKUMA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Median tespit ilk pencerede (0s). Low-rate bot 10s (bir pencere) gecikiyor — beklenebilir, davranışı normal'e en yakın. Slow HTTP sparse olduğu için ayrı kural ile değerlendirildi. FPR seviyesi production'da bir kullanıcının dakikada ~%1.8'inden daha az alarmla karşılaşacağı anlamına gelir.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3 · SONUÇLAR · DÜRÜSTLÜK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Kalibrasyon Sınırı — Dürüst Sunum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NASA referansı bir hedef değil, bir yapı kılavuzudur</a:t>
            </a:r>
          </a:p>
        </p:txBody>
      </p:sp>
      <p:pic>
        <p:nvPicPr>
          <p:cNvPr id="5" name="Picture 4" descr="fig7_iat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76072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319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IAT Dağılımı (KS = 0.994)</a:t>
            </a:r>
          </a:p>
        </p:txBody>
      </p:sp>
      <p:pic>
        <p:nvPicPr>
          <p:cNvPr id="7" name="Picture 6" descr="fig8_zipf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548640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931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Endpoint Zipf (α: synthetic 1.71 vs NASA 1.25)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137160" cy="19202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96167"/>
                </a:solidFill>
                <a:latin typeface="Calibri"/>
              </a:rPr>
              <a:t>KORUNUMLAR VE GERÇEKLİK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107899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Sentetik trafik NASA'yı KOPYALAMIYOR — bu beklenen.</a:t>
            </a:r>
          </a:p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NASA: 1995 yılı geniş web trafiği, yüzlerce path. Bizimki: 4 route, kontrollü API. Birebir uyum mantıksız.</a:t>
            </a:r>
          </a:p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Korunan yapısal özellikler: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log-normal IAT şekli, Zipf endpoint dağılımı, Markov navigation graph yapısı.</a:t>
            </a:r>
          </a:p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Değişen sayısal parametreler: </a:t>
            </a:r>
            <a:r>
              <a:rPr sz="1150" b="0" i="0">
                <a:solidFill>
                  <a:srgbClr val="1A1A2E"/>
                </a:solidFill>
                <a:latin typeface="Calibri"/>
              </a:rPr>
              <a:t>μ_log, α değerleri uygulama bağlamına göre yeniden parametrize ediliyor. Bu, yapı-bağlam ayrımının (Discussion §5.4) somut göstergesi.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4 · KATKI VE SINIRLAR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Bilimsel Katkılar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Bu tezi alanyazınında ayıran üç yöntemsel hamle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280160" cy="1554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745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Mimicry Holdout Protokolü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286000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Saldırı varyantını eğitime sokmadan test etmek standart değil. Bu çalışma protokolü açıkça tanımlıyor: train, val ve test setlerinden mimicry'yi çıkarıp ayrı bir holdout test bölümüne ayırıyor.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834639"/>
            <a:ext cx="758952" cy="274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834639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onsolas"/>
              </a:rPr>
              <a:t>protocol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2834639"/>
            <a:ext cx="914400" cy="274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28346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onsolas"/>
              </a:rPr>
              <a:t>evaluation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1280160" cy="1554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661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Endpoint-Cost-Aware 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977640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Çoğu literatür request sayısını ölçer. Bu çalışma backend timing telemetrisi (dbTotalTimeMs, cpuTimeMs) ile route bazlı cost profili çıkarıyor ve bunu pencere özelliklerine entegre ediyor.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4526280"/>
            <a:ext cx="758952" cy="274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52628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onsolas"/>
              </a:rPr>
              <a:t>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70632" y="4526280"/>
            <a:ext cx="836676" cy="274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0632" y="4526280"/>
            <a:ext cx="8366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onsolas"/>
              </a:rPr>
              <a:t>asymmetry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7492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074920"/>
            <a:ext cx="1280160" cy="1554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2578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libri"/>
              </a:rPr>
              <a:t>nginx 408 Enrichment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669280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Slowloris bağlantıları nginx tarafından kesilir; backend middleware görmez. Çözüm: nginx access log'undaki 408 kayıtlarını Connection tablosuna yansıt.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6217920"/>
            <a:ext cx="1303020" cy="274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6217920"/>
            <a:ext cx="13030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onsolas"/>
              </a:rPr>
              <a:t>instrumentation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14700" y="6217920"/>
            <a:ext cx="836676" cy="27432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4700" y="6217920"/>
            <a:ext cx="8366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Consolas"/>
              </a:rPr>
              <a:t>slowloris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4 · KATKI VE SINIRLAR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Sınırlar — Dürüst Liste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Discussion §5.6 ile tutarlı tam sınırlama envanteri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623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77240" cy="109728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Tek uygulama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30552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Tüm sonuçlar tek bir NestJS API üzerinde alındı. Endpoint cost profili uygulama-spesifiktir.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623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777240" cy="109728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9164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80136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Sentetik trafik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130552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k6 + slowhttptest ile üretilen kontrollü trafik. Production trace doğrulaması yapılmadı.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98648"/>
            <a:ext cx="5623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98648"/>
            <a:ext cx="777240" cy="109728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98648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Calibri"/>
              </a:rPr>
              <a:t>ADV.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08376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Adaptive adversary yok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37560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Mimicry static. Saldırgan tespit feedback'iyle iteratif optimize etmiyor.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898648"/>
            <a:ext cx="5623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898648"/>
            <a:ext cx="777240" cy="109728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898648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008376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Slow HTTP sparse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337560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nginx 60s timeout ile slowloris erken kesiliyor; supervised değil, kuralla değerlendirildi.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05656"/>
            <a:ext cx="5623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05656"/>
            <a:ext cx="777240" cy="109728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05656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15384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Auth-katmanı rate-limit DEVRE DIŞI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544568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Behavioral sinyali test etmek için auth.service IP block + account lockout devre dışı bırakıldı.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105656"/>
            <a:ext cx="5623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105656"/>
            <a:ext cx="777240" cy="10972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105656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Calibri"/>
              </a:rPr>
              <a:t>BUG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215384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Think-time sleep eksikliği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544568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k6 legit flow'unda think time hesaplandı ama sleep çağrılmadı. Legit RPS gerçek üretim trafiğinden yüksek — paradoxal olarak detection problemini ZORLAŞTIRIYOR.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12664"/>
            <a:ext cx="5623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12664"/>
            <a:ext cx="777240" cy="10972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12664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Calibri"/>
              </a:rPr>
              <a:t>BUG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422392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UserService Prisma client mismatch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751575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search endpoint query timing'leri eksik ölçüldü. Endpoint cost asimetrisi kategorik göreceli ayrımla modellendi.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312664"/>
            <a:ext cx="5623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5312664"/>
            <a:ext cx="777240" cy="1097280"/>
          </a:xfrm>
          <a:prstGeom prst="rect">
            <a:avLst/>
          </a:prstGeom>
          <a:solidFill>
            <a:srgbClr val="8FA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312664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00">
                <a:solidFill>
                  <a:srgbClr val="FFFFFF"/>
                </a:solidFill>
                <a:latin typeface="Calibri"/>
              </a:rPr>
              <a:t>EXT.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5422392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CIC validation sınırlı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5751575"/>
            <a:ext cx="4617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CIC-DDoS2019 UDPLag flow-level sanity check yapıldı. Bu doğrudan API-layer model validation DEĞİL; feature space uyumsuz.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8FAEEB"/>
                </a:solidFill>
                <a:latin typeface="Calibri"/>
              </a:rPr>
              <a:t>4 · KATKI VE SINIRLAR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Gelecek Çalışmalar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Bu tezin doğal devamı için beş yön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73152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92807"/>
            <a:ext cx="10469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Çoklu Uygulama Validasyonu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94560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Farklı endpoint yapıları ve cost profiline sahip 3-5 API üzerinde aynı pipeline'ı test etmek.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15768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15768"/>
            <a:ext cx="73152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52927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25496"/>
            <a:ext cx="10469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Adaptive Adversary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27248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Saldırganın tespit feedback'ini görüp endpoint, IP, timing seçimlerini iteratif optimize ettiği senaryolar.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48456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48456"/>
            <a:ext cx="73152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8561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758184"/>
            <a:ext cx="10469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Production Trace Validasyonu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59936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Anonimize edilmiş üretim API loglarında modeli koşturmak; sentetik-gerçek arası transfer öğrenme.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81144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581144"/>
            <a:ext cx="73152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18304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690872"/>
            <a:ext cx="10469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Protokol-Seviyesi Özellikler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92624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TLS JA3/JA4 fingerprint, HTTP/2 davranışı, browser automation izleri (Selenium, Puppeteer).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13832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513832"/>
            <a:ext cx="73152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5099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623560"/>
            <a:ext cx="10469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Slow HTTP Telemetrisi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925312"/>
            <a:ext cx="10469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Daha zengin reverse-proxy ve socket-level metrikler ile slowloris'i sparse değil sürekli sinyal olarak modellemek.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Beyza Yavuz · Bitirme Tezi Prova Sunumu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600">
                <a:solidFill>
                  <a:srgbClr val="02C39A"/>
                </a:solidFill>
                <a:latin typeface="Calibri"/>
              </a:rPr>
              <a:t>KAPANIŞ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430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Özet ve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828800"/>
          </a:xfrm>
          <a:prstGeom prst="rect">
            <a:avLst/>
          </a:prstGeom>
          <a:solidFill>
            <a:srgbClr val="131A47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7315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1" i="0">
                <a:solidFill>
                  <a:srgbClr val="02C39A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94560"/>
            <a:ext cx="9784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Davranış tabanlı API katmanı tespiti, yüzey mimicry'sine karşı bu kontrollü ortamda dayanıklıdır.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97180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Mimicry holdout %91.96 detection · Ablation: rate-only %71 · UA-only %9 · full %99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Mimicry holdout protokolü tezin yöntemsel özünü oluşturuyor — model gerçekten yeni saldırıyı genelliyor.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00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Ablation, davranışsal özelliklerin shortcut'larla karıştırılmadığını kanıtlıyor — UA ve rate tek başına yetersiz.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40679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Sınırlar (sentetik trafik, single app, slowloris sparse, iki kod hatası) Discussion §5.6'da şeffaf belgelendi.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