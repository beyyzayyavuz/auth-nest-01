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Baseline RF</c:v>
                </c:pt>
              </c:strCache>
            </c:strRef>
          </c:tx>
          <c:spPr>
            <a:solidFill>
              <a:srgbClr val="8FAEEB"/>
            </a:solidFill>
          </c:spPr>
          <c:cat>
            <c:strRef>
              <c:f>Sheet1!$A$2:$A$4</c:f>
              <c:strCache>
                <c:ptCount val="3"/>
                <c:pt idx="0">
                  <c:v>http_flood</c:v>
                </c:pt>
                <c:pt idx="1">
                  <c:v>normal_user</c:v>
                </c:pt>
                <c:pt idx="2">
                  <c:v>low_rate_bot</c:v>
                </c:pt>
              </c:strCache>
            </c:strRef>
          </c:cat>
          <c:val>
            <c:numRef>
              <c:f>Sheet1!$B$2:$B$4</c:f>
              <c:numCache>
                <c:formatCode>General</c:formatCode>
                <c:ptCount val="3"/>
                <c:pt idx="0">
                  <c:v>0.9152</c:v>
                </c:pt>
                <c:pt idx="1">
                  <c:v>0.0638</c:v>
                </c:pt>
                <c:pt idx="2">
                  <c:v>0.021</c:v>
                </c:pt>
              </c:numCache>
            </c:numRef>
          </c:val>
        </c:ser>
        <c:ser>
          <c:idx val="1"/>
          <c:order val="1"/>
          <c:tx>
            <c:strRef>
              <c:f>Sheet1!$C$1</c:f>
              <c:strCache>
                <c:ptCount val="1"/>
                <c:pt idx="0">
                  <c:v>Proposed (ISO+RF)</c:v>
                </c:pt>
              </c:strCache>
            </c:strRef>
          </c:tx>
          <c:spPr>
            <a:solidFill>
              <a:srgbClr val="02C39A"/>
            </a:solidFill>
          </c:spPr>
          <c:cat>
            <c:strRef>
              <c:f>Sheet1!$A$2:$A$4</c:f>
              <c:strCache>
                <c:ptCount val="3"/>
                <c:pt idx="0">
                  <c:v>http_flood</c:v>
                </c:pt>
                <c:pt idx="1">
                  <c:v>normal_user</c:v>
                </c:pt>
                <c:pt idx="2">
                  <c:v>low_rate_bot</c:v>
                </c:pt>
              </c:strCache>
            </c:strRef>
          </c:cat>
          <c:val>
            <c:numRef>
              <c:f>Sheet1!$C$2:$C$4</c:f>
              <c:numCache>
                <c:formatCode>General</c:formatCode>
                <c:ptCount val="3"/>
                <c:pt idx="0">
                  <c:v>0.9196</c:v>
                </c:pt>
                <c:pt idx="1">
                  <c:v>0.0574</c:v>
                </c:pt>
                <c:pt idx="2">
                  <c:v>0.023</c:v>
                </c:pt>
              </c:numCache>
            </c:numRef>
          </c:val>
        </c:ser>
        <c:dLbls>
          <c:numFmt formatCode="0.00" sourceLinked="0"/>
          <c:txPr>
            <a:bodyPr/>
            <a:lstStyle/>
            <a:p>
              <a:pPr>
                <a:defRPr sz="900">
                  <a:solidFill>
                    <a:srgbClr val="FFFFF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972800" cy="365760"/>
          </a:xfrm>
          <a:prstGeom prst="rect">
            <a:avLst/>
          </a:prstGeom>
          <a:noFill/>
        </p:spPr>
        <p:txBody>
          <a:bodyPr wrap="square" lIns="0" rIns="0" tIns="0" bIns="0" anchor="t">
            <a:spAutoFit/>
          </a:bodyPr>
          <a:lstStyle/>
          <a:p>
            <a:pPr algn="l"/>
            <a:r>
              <a:rPr sz="1200" b="1" i="0" spc="600">
                <a:solidFill>
                  <a:srgbClr val="8FAEEB"/>
                </a:solidFill>
                <a:latin typeface="Calibri"/>
              </a:rPr>
              <a:t>GRADUATION THESIS — CHECKPOINT PRESENTATION</a:t>
            </a:r>
          </a:p>
        </p:txBody>
      </p:sp>
      <p:sp>
        <p:nvSpPr>
          <p:cNvPr id="4" name="TextBox 3"/>
          <p:cNvSpPr txBox="1"/>
          <p:nvPr/>
        </p:nvSpPr>
        <p:spPr>
          <a:xfrm>
            <a:off x="731520" y="1920240"/>
            <a:ext cx="10972800" cy="1645920"/>
          </a:xfrm>
          <a:prstGeom prst="rect">
            <a:avLst/>
          </a:prstGeom>
          <a:noFill/>
        </p:spPr>
        <p:txBody>
          <a:bodyPr wrap="square" lIns="0" rIns="0" tIns="0" bIns="0" anchor="t">
            <a:spAutoFit/>
          </a:bodyPr>
          <a:lstStyle/>
          <a:p>
            <a:pPr algn="l"/>
            <a:r>
              <a:rPr sz="4400" b="1" i="0">
                <a:solidFill>
                  <a:srgbClr val="FFFFFF"/>
                </a:solidFill>
                <a:latin typeface="Calibri"/>
              </a:rPr>
              <a:t>Behavioral DDoS Detection</a:t>
            </a:r>
          </a:p>
          <a:p>
            <a:pPr algn="l"/>
            <a:r>
              <a:rPr sz="4400" b="1" i="0">
                <a:solidFill>
                  <a:srgbClr val="FFFFFF"/>
                </a:solidFill>
                <a:latin typeface="Calibri"/>
              </a:rPr>
              <a:t>at the API Layer</a:t>
            </a:r>
          </a:p>
        </p:txBody>
      </p:sp>
      <p:sp>
        <p:nvSpPr>
          <p:cNvPr id="5" name="TextBox 4"/>
          <p:cNvSpPr txBox="1"/>
          <p:nvPr/>
        </p:nvSpPr>
        <p:spPr>
          <a:xfrm>
            <a:off x="731520" y="3703320"/>
            <a:ext cx="10972800" cy="457200"/>
          </a:xfrm>
          <a:prstGeom prst="rect">
            <a:avLst/>
          </a:prstGeom>
          <a:noFill/>
        </p:spPr>
        <p:txBody>
          <a:bodyPr wrap="square" lIns="0" rIns="0" tIns="0" bIns="0" anchor="t">
            <a:spAutoFit/>
          </a:bodyPr>
          <a:lstStyle/>
          <a:p>
            <a:pPr algn="l"/>
            <a:r>
              <a:rPr sz="2000" b="0" i="1">
                <a:solidFill>
                  <a:srgbClr val="CADCFC"/>
                </a:solidFill>
                <a:latin typeface="Calibri"/>
              </a:rPr>
              <a:t>Robustness of Behavioral Features under Mimicry Attacks</a:t>
            </a:r>
          </a:p>
        </p:txBody>
      </p:sp>
      <p:sp>
        <p:nvSpPr>
          <p:cNvPr id="6" name="Rectangle 5"/>
          <p:cNvSpPr/>
          <p:nvPr/>
        </p:nvSpPr>
        <p:spPr>
          <a:xfrm>
            <a:off x="731520" y="4434840"/>
            <a:ext cx="731520" cy="3657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663440"/>
            <a:ext cx="7315200" cy="1371600"/>
          </a:xfrm>
          <a:prstGeom prst="rect">
            <a:avLst/>
          </a:prstGeom>
          <a:noFill/>
        </p:spPr>
        <p:txBody>
          <a:bodyPr wrap="square" lIns="0" rIns="0" tIns="0" bIns="0" anchor="t">
            <a:spAutoFit/>
          </a:bodyPr>
          <a:lstStyle/>
          <a:p>
            <a:pPr algn="l"/>
            <a:r>
              <a:rPr sz="1800" b="1" i="0">
                <a:solidFill>
                  <a:srgbClr val="FFFFFF"/>
                </a:solidFill>
                <a:latin typeface="Calibri"/>
              </a:rPr>
              <a:t>Beyza Yavuz</a:t>
            </a:r>
          </a:p>
          <a:p>
            <a:pPr algn="l"/>
            <a:r>
              <a:rPr sz="1300" b="0" i="0">
                <a:solidFill>
                  <a:srgbClr val="CADCFC"/>
                </a:solidFill>
                <a:latin typeface="Calibri"/>
              </a:rPr>
              <a:t>Advisor: [Professor's Name]</a:t>
            </a:r>
          </a:p>
          <a:p>
            <a:pPr algn="l"/>
            <a:r>
              <a:rPr sz="1300" b="0" i="0">
                <a:solidFill>
                  <a:srgbClr val="8FAEEB"/>
                </a:solidFill>
                <a:latin typeface="Calibri"/>
              </a:rPr>
              <a:t>Computer Engineering · 2026</a:t>
            </a:r>
          </a:p>
        </p:txBody>
      </p:sp>
      <p:sp>
        <p:nvSpPr>
          <p:cNvPr id="8" name="TextBox 7"/>
          <p:cNvSpPr txBox="1"/>
          <p:nvPr/>
        </p:nvSpPr>
        <p:spPr>
          <a:xfrm>
            <a:off x="8686800" y="6217920"/>
            <a:ext cx="3200400" cy="274320"/>
          </a:xfrm>
          <a:prstGeom prst="rect">
            <a:avLst/>
          </a:prstGeom>
          <a:noFill/>
        </p:spPr>
        <p:txBody>
          <a:bodyPr wrap="square" lIns="0" rIns="0" tIns="0" bIns="0" anchor="t">
            <a:spAutoFit/>
          </a:bodyPr>
          <a:lstStyle/>
          <a:p>
            <a:pPr algn="r"/>
            <a:r>
              <a:rPr sz="900" b="1" i="0" spc="400">
                <a:solidFill>
                  <a:srgbClr val="F96167"/>
                </a:solidFill>
                <a:latin typeface="Calibri"/>
              </a:rPr>
              <a:t>CHECKPOINT · BEFORE FINAL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0 · BEFORE WE BEGIN</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What I Have Completed</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A brief summary of the work accomplished since our last meeting</a:t>
            </a:r>
          </a:p>
        </p:txBody>
      </p:sp>
      <p:sp>
        <p:nvSpPr>
          <p:cNvPr id="5" name="Rectangle 4"/>
          <p:cNvSpPr/>
          <p:nvPr/>
        </p:nvSpPr>
        <p:spPr>
          <a:xfrm>
            <a:off x="4572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3657600" cy="10972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3108960" cy="411480"/>
          </a:xfrm>
          <a:prstGeom prst="rect">
            <a:avLst/>
          </a:prstGeom>
          <a:noFill/>
        </p:spPr>
        <p:txBody>
          <a:bodyPr wrap="square" lIns="0" rIns="0" tIns="0" bIns="0" anchor="t">
            <a:spAutoFit/>
          </a:bodyPr>
          <a:lstStyle/>
          <a:p>
            <a:pPr algn="l"/>
            <a:r>
              <a:rPr sz="1300" b="1" i="0" spc="300">
                <a:solidFill>
                  <a:srgbClr val="1E2761"/>
                </a:solidFill>
                <a:latin typeface="Calibri"/>
              </a:rPr>
              <a:t>INFRASTRUCTURE &amp; TRAFFIC</a:t>
            </a:r>
          </a:p>
        </p:txBody>
      </p:sp>
      <p:sp>
        <p:nvSpPr>
          <p:cNvPr id="8" name="TextBox 7"/>
          <p:cNvSpPr txBox="1"/>
          <p:nvPr/>
        </p:nvSpPr>
        <p:spPr>
          <a:xfrm>
            <a:off x="731520" y="2560320"/>
            <a:ext cx="3108960" cy="3246120"/>
          </a:xfrm>
          <a:prstGeom prst="rect">
            <a:avLst/>
          </a:prstGeom>
          <a:noFill/>
        </p:spPr>
        <p:txBody>
          <a:bodyPr wrap="square" lIns="0" rIns="0" tIns="0" bIns="0">
            <a:spAutoFit/>
          </a:bodyPr>
          <a:lstStyle/>
          <a:p>
            <a:pPr>
              <a:lnSpc>
                <a:spcPct val="115000"/>
              </a:lnSpc>
              <a:spcAft>
                <a:spcPts val="600"/>
              </a:spcAft>
            </a:pPr>
            <a:r>
              <a:rPr sz="1100" b="1">
                <a:solidFill>
                  <a:srgbClr val="1E2761"/>
                </a:solidFill>
                <a:latin typeface="Calibri"/>
              </a:rPr>
              <a:t>▪  </a:t>
            </a:r>
            <a:r>
              <a:rPr sz="1100">
                <a:solidFill>
                  <a:srgbClr val="1A1A2E"/>
                </a:solidFill>
                <a:latin typeface="Calibri"/>
              </a:rPr>
              <a:t>Built the NestJS + nginx + PostgreSQL data pipeline</a:t>
            </a:r>
          </a:p>
          <a:p>
            <a:pPr>
              <a:lnSpc>
                <a:spcPct val="115000"/>
              </a:lnSpc>
              <a:spcAft>
                <a:spcPts val="600"/>
              </a:spcAft>
            </a:pPr>
            <a:r>
              <a:rPr sz="1100" b="1">
                <a:solidFill>
                  <a:srgbClr val="1E2761"/>
                </a:solidFill>
                <a:latin typeface="Calibri"/>
              </a:rPr>
              <a:t>▪  </a:t>
            </a:r>
            <a:r>
              <a:rPr sz="1100">
                <a:solidFill>
                  <a:srgbClr val="1A1A2E"/>
                </a:solidFill>
                <a:latin typeface="Calibri"/>
              </a:rPr>
              <a:t>Per-request backend cost capture via AsyncLocalStorage</a:t>
            </a:r>
          </a:p>
          <a:p>
            <a:pPr>
              <a:lnSpc>
                <a:spcPct val="115000"/>
              </a:lnSpc>
              <a:spcAft>
                <a:spcPts val="600"/>
              </a:spcAft>
            </a:pPr>
            <a:r>
              <a:rPr sz="1100" b="1">
                <a:solidFill>
                  <a:srgbClr val="1E2761"/>
                </a:solidFill>
                <a:latin typeface="Calibri"/>
              </a:rPr>
              <a:t>▪  </a:t>
            </a:r>
            <a:r>
              <a:rPr sz="1100">
                <a:solidFill>
                  <a:srgbClr val="1A1A2E"/>
                </a:solidFill>
                <a:latin typeface="Calibri"/>
              </a:rPr>
              <a:t>Parallel telemetry: nginx access log + Prisma RequestLog</a:t>
            </a:r>
          </a:p>
          <a:p>
            <a:pPr>
              <a:lnSpc>
                <a:spcPct val="115000"/>
              </a:lnSpc>
              <a:spcAft>
                <a:spcPts val="600"/>
              </a:spcAft>
            </a:pPr>
            <a:r>
              <a:rPr sz="1100" b="1">
                <a:solidFill>
                  <a:srgbClr val="1E2761"/>
                </a:solidFill>
                <a:latin typeface="Calibri"/>
              </a:rPr>
              <a:t>▪  </a:t>
            </a:r>
            <a:r>
              <a:rPr sz="1100">
                <a:solidFill>
                  <a:srgbClr val="1A1A2E"/>
                </a:solidFill>
                <a:latin typeface="Calibri"/>
              </a:rPr>
              <a:t>Six k6 scenarios: legit, flood, low-rate, credential, mimicry, slowloris</a:t>
            </a:r>
          </a:p>
        </p:txBody>
      </p:sp>
      <p:sp>
        <p:nvSpPr>
          <p:cNvPr id="9" name="Rectangle 8"/>
          <p:cNvSpPr/>
          <p:nvPr/>
        </p:nvSpPr>
        <p:spPr>
          <a:xfrm>
            <a:off x="43434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691640"/>
            <a:ext cx="3657600" cy="109728"/>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65960"/>
            <a:ext cx="3108960" cy="411480"/>
          </a:xfrm>
          <a:prstGeom prst="rect">
            <a:avLst/>
          </a:prstGeom>
          <a:noFill/>
        </p:spPr>
        <p:txBody>
          <a:bodyPr wrap="square" lIns="0" rIns="0" tIns="0" bIns="0" anchor="t">
            <a:spAutoFit/>
          </a:bodyPr>
          <a:lstStyle/>
          <a:p>
            <a:pPr algn="l"/>
            <a:r>
              <a:rPr sz="1300" b="1" i="0" spc="300">
                <a:solidFill>
                  <a:srgbClr val="2B3A8C"/>
                </a:solidFill>
                <a:latin typeface="Calibri"/>
              </a:rPr>
              <a:t>FEATURES &amp; MODEL</a:t>
            </a:r>
          </a:p>
        </p:txBody>
      </p:sp>
      <p:sp>
        <p:nvSpPr>
          <p:cNvPr id="12" name="TextBox 11"/>
          <p:cNvSpPr txBox="1"/>
          <p:nvPr/>
        </p:nvSpPr>
        <p:spPr>
          <a:xfrm>
            <a:off x="4617720" y="2560320"/>
            <a:ext cx="3108960" cy="3246120"/>
          </a:xfrm>
          <a:prstGeom prst="rect">
            <a:avLst/>
          </a:prstGeom>
          <a:noFill/>
        </p:spPr>
        <p:txBody>
          <a:bodyPr wrap="square" lIns="0" rIns="0" tIns="0" bIns="0">
            <a:spAutoFit/>
          </a:bodyPr>
          <a:lstStyle/>
          <a:p>
            <a:pPr>
              <a:lnSpc>
                <a:spcPct val="115000"/>
              </a:lnSpc>
              <a:spcAft>
                <a:spcPts val="600"/>
              </a:spcAft>
            </a:pPr>
            <a:r>
              <a:rPr sz="1100" b="1">
                <a:solidFill>
                  <a:srgbClr val="2B3A8C"/>
                </a:solidFill>
                <a:latin typeface="Calibri"/>
              </a:rPr>
              <a:t>▪  </a:t>
            </a:r>
            <a:r>
              <a:rPr sz="1100">
                <a:solidFill>
                  <a:srgbClr val="1A1A2E"/>
                </a:solidFill>
                <a:latin typeface="Calibri"/>
              </a:rPr>
              <a:t>Tier 1-4 feature pipeline (connection / window / global / session)</a:t>
            </a:r>
          </a:p>
          <a:p>
            <a:pPr>
              <a:lnSpc>
                <a:spcPct val="115000"/>
              </a:lnSpc>
              <a:spcAft>
                <a:spcPts val="600"/>
              </a:spcAft>
            </a:pPr>
            <a:r>
              <a:rPr sz="1100" b="1">
                <a:solidFill>
                  <a:srgbClr val="2B3A8C"/>
                </a:solidFill>
                <a:latin typeface="Calibri"/>
              </a:rPr>
              <a:t>▪  </a:t>
            </a:r>
            <a:r>
              <a:rPr sz="1100">
                <a:solidFill>
                  <a:srgbClr val="1A1A2E"/>
                </a:solidFill>
                <a:latin typeface="Calibri"/>
              </a:rPr>
              <a:t>Endpoint cost profile, Markov log-likelihood, IAT KS distance</a:t>
            </a:r>
          </a:p>
          <a:p>
            <a:pPr>
              <a:lnSpc>
                <a:spcPct val="115000"/>
              </a:lnSpc>
              <a:spcAft>
                <a:spcPts val="600"/>
              </a:spcAft>
            </a:pPr>
            <a:r>
              <a:rPr sz="1100" b="1">
                <a:solidFill>
                  <a:srgbClr val="2B3A8C"/>
                </a:solidFill>
                <a:latin typeface="Calibri"/>
              </a:rPr>
              <a:t>▪  </a:t>
            </a:r>
            <a:r>
              <a:rPr sz="1100">
                <a:solidFill>
                  <a:srgbClr val="1A1A2E"/>
                </a:solidFill>
                <a:latin typeface="Calibri"/>
              </a:rPr>
              <a:t>Random Forest baseline + ISO+RF stacked detector</a:t>
            </a:r>
          </a:p>
          <a:p>
            <a:pPr>
              <a:lnSpc>
                <a:spcPct val="115000"/>
              </a:lnSpc>
              <a:spcAft>
                <a:spcPts val="600"/>
              </a:spcAft>
            </a:pPr>
            <a:r>
              <a:rPr sz="1100" b="1">
                <a:solidFill>
                  <a:srgbClr val="2B3A8C"/>
                </a:solidFill>
                <a:latin typeface="Calibri"/>
              </a:rPr>
              <a:t>▪  </a:t>
            </a:r>
            <a:r>
              <a:rPr sz="1100">
                <a:solidFill>
                  <a:srgbClr val="1A1A2E"/>
                </a:solidFill>
                <a:latin typeface="Calibri"/>
              </a:rPr>
              <a:t>Mimicry-holdout protocol — never seen during training</a:t>
            </a:r>
          </a:p>
        </p:txBody>
      </p:sp>
      <p:sp>
        <p:nvSpPr>
          <p:cNvPr id="13" name="Rectangle 12"/>
          <p:cNvSpPr/>
          <p:nvPr/>
        </p:nvSpPr>
        <p:spPr>
          <a:xfrm>
            <a:off x="8229600" y="1691640"/>
            <a:ext cx="365760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691640"/>
            <a:ext cx="3657600" cy="109728"/>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1965960"/>
            <a:ext cx="3108960" cy="411480"/>
          </a:xfrm>
          <a:prstGeom prst="rect">
            <a:avLst/>
          </a:prstGeom>
          <a:noFill/>
        </p:spPr>
        <p:txBody>
          <a:bodyPr wrap="square" lIns="0" rIns="0" tIns="0" bIns="0" anchor="t">
            <a:spAutoFit/>
          </a:bodyPr>
          <a:lstStyle/>
          <a:p>
            <a:pPr algn="l"/>
            <a:r>
              <a:rPr sz="1300" b="1" i="0" spc="300">
                <a:solidFill>
                  <a:srgbClr val="018F71"/>
                </a:solidFill>
                <a:latin typeface="Calibri"/>
              </a:rPr>
              <a:t>EVALUATION &amp; WRITING</a:t>
            </a:r>
          </a:p>
        </p:txBody>
      </p:sp>
      <p:sp>
        <p:nvSpPr>
          <p:cNvPr id="16" name="TextBox 15"/>
          <p:cNvSpPr txBox="1"/>
          <p:nvPr/>
        </p:nvSpPr>
        <p:spPr>
          <a:xfrm>
            <a:off x="8503920" y="2560320"/>
            <a:ext cx="3108960" cy="3246120"/>
          </a:xfrm>
          <a:prstGeom prst="rect">
            <a:avLst/>
          </a:prstGeom>
          <a:noFill/>
        </p:spPr>
        <p:txBody>
          <a:bodyPr wrap="square" lIns="0" rIns="0" tIns="0" bIns="0">
            <a:spAutoFit/>
          </a:bodyPr>
          <a:lstStyle/>
          <a:p>
            <a:pPr>
              <a:lnSpc>
                <a:spcPct val="115000"/>
              </a:lnSpc>
              <a:spcAft>
                <a:spcPts val="600"/>
              </a:spcAft>
            </a:pPr>
            <a:r>
              <a:rPr sz="1100" b="1">
                <a:solidFill>
                  <a:srgbClr val="018F71"/>
                </a:solidFill>
                <a:latin typeface="Calibri"/>
              </a:rPr>
              <a:t>▪  </a:t>
            </a:r>
            <a:r>
              <a:rPr sz="1100">
                <a:solidFill>
                  <a:srgbClr val="1A1A2E"/>
                </a:solidFill>
                <a:latin typeface="Calibri"/>
              </a:rPr>
              <a:t>In-distribution: 99.14% accuracy, 99.23% macro-F1</a:t>
            </a:r>
          </a:p>
          <a:p>
            <a:pPr>
              <a:lnSpc>
                <a:spcPct val="115000"/>
              </a:lnSpc>
              <a:spcAft>
                <a:spcPts val="600"/>
              </a:spcAft>
            </a:pPr>
            <a:r>
              <a:rPr sz="1100" b="1">
                <a:solidFill>
                  <a:srgbClr val="018F71"/>
                </a:solidFill>
                <a:latin typeface="Calibri"/>
              </a:rPr>
              <a:t>▪  </a:t>
            </a:r>
            <a:r>
              <a:rPr sz="1100">
                <a:solidFill>
                  <a:srgbClr val="1A1A2E"/>
                </a:solidFill>
                <a:latin typeface="Calibri"/>
              </a:rPr>
              <a:t>Mimicry holdout: 91.96% correctly flagged as attack</a:t>
            </a:r>
          </a:p>
          <a:p>
            <a:pPr>
              <a:lnSpc>
                <a:spcPct val="115000"/>
              </a:lnSpc>
              <a:spcAft>
                <a:spcPts val="600"/>
              </a:spcAft>
            </a:pPr>
            <a:r>
              <a:rPr sz="1100" b="1">
                <a:solidFill>
                  <a:srgbClr val="018F71"/>
                </a:solidFill>
                <a:latin typeface="Calibri"/>
              </a:rPr>
              <a:t>▪  </a:t>
            </a:r>
            <a:r>
              <a:rPr sz="1100">
                <a:solidFill>
                  <a:srgbClr val="1A1A2E"/>
                </a:solidFill>
                <a:latin typeface="Calibri"/>
              </a:rPr>
              <a:t>Ablation study: UA-only 9%, rate-only 71%</a:t>
            </a:r>
          </a:p>
          <a:p>
            <a:pPr>
              <a:lnSpc>
                <a:spcPct val="115000"/>
              </a:lnSpc>
              <a:spcAft>
                <a:spcPts val="600"/>
              </a:spcAft>
            </a:pPr>
            <a:r>
              <a:rPr sz="1100" b="1">
                <a:solidFill>
                  <a:srgbClr val="018F71"/>
                </a:solidFill>
                <a:latin typeface="Calibri"/>
              </a:rPr>
              <a:t>▪  </a:t>
            </a:r>
            <a:r>
              <a:rPr sz="1100">
                <a:solidFill>
                  <a:srgbClr val="1A1A2E"/>
                </a:solidFill>
                <a:latin typeface="Calibri"/>
              </a:rPr>
              <a:t>Thesis chapters: abstract, methodology, results, discussion, conclusion</a:t>
            </a:r>
          </a:p>
        </p:txBody>
      </p:sp>
      <p:sp>
        <p:nvSpPr>
          <p:cNvPr id="17" name="TextBox 16"/>
          <p:cNvSpPr txBox="1"/>
          <p:nvPr/>
        </p:nvSpPr>
        <p:spPr>
          <a:xfrm>
            <a:off x="457200" y="6126480"/>
            <a:ext cx="11247120" cy="365760"/>
          </a:xfrm>
          <a:prstGeom prst="rect">
            <a:avLst/>
          </a:prstGeom>
          <a:noFill/>
        </p:spPr>
        <p:txBody>
          <a:bodyPr wrap="square" lIns="0" rIns="0" tIns="0" bIns="0" anchor="t">
            <a:spAutoFit/>
          </a:bodyPr>
          <a:lstStyle/>
          <a:p>
            <a:pPr algn="l"/>
            <a:r>
              <a:rPr sz="1100" b="0" i="1">
                <a:solidFill>
                  <a:srgbClr val="64748B"/>
                </a:solidFill>
                <a:latin typeface="Calibri"/>
              </a:rPr>
              <a:t>Today's walkthrough: the question, the system, the results, the limits, and the contributions — start to finish.</a:t>
            </a:r>
          </a:p>
        </p:txBody>
      </p:sp>
      <p:sp>
        <p:nvSpPr>
          <p:cNvPr id="18" name="TextBox 17"/>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19" name="TextBox 18"/>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1 · RESEARCH QUESTION</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The Question in One Sentence</a:t>
            </a:r>
          </a:p>
        </p:txBody>
      </p:sp>
      <p:sp>
        <p:nvSpPr>
          <p:cNvPr id="4" name="Rectangle 3"/>
          <p:cNvSpPr/>
          <p:nvPr/>
        </p:nvSpPr>
        <p:spPr>
          <a:xfrm>
            <a:off x="731520" y="1828800"/>
            <a:ext cx="10698480" cy="2194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137160" cy="21945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83080"/>
            <a:ext cx="731520" cy="731520"/>
          </a:xfrm>
          <a:prstGeom prst="rect">
            <a:avLst/>
          </a:prstGeom>
          <a:noFill/>
        </p:spPr>
        <p:txBody>
          <a:bodyPr wrap="square" lIns="0" rIns="0" tIns="0" bIns="0" anchor="t">
            <a:spAutoFit/>
          </a:bodyPr>
          <a:lstStyle/>
          <a:p>
            <a:pPr algn="l"/>
            <a:r>
              <a:rPr sz="6000" b="1" i="0">
                <a:solidFill>
                  <a:srgbClr val="8FAEEB"/>
                </a:solidFill>
                <a:latin typeface="Georgia"/>
              </a:rPr>
              <a:t>"</a:t>
            </a:r>
          </a:p>
        </p:txBody>
      </p:sp>
      <p:sp>
        <p:nvSpPr>
          <p:cNvPr id="7" name="TextBox 6"/>
          <p:cNvSpPr txBox="1"/>
          <p:nvPr/>
        </p:nvSpPr>
        <p:spPr>
          <a:xfrm>
            <a:off x="1463040" y="2057400"/>
            <a:ext cx="9784080" cy="1645920"/>
          </a:xfrm>
          <a:prstGeom prst="rect">
            <a:avLst/>
          </a:prstGeom>
          <a:noFill/>
        </p:spPr>
        <p:txBody>
          <a:bodyPr wrap="square" lIns="0" rIns="0" tIns="0" bIns="0" anchor="ctr">
            <a:spAutoFit/>
          </a:bodyPr>
          <a:lstStyle/>
          <a:p>
            <a:pPr algn="l"/>
            <a:r>
              <a:rPr sz="2100" b="0" i="1">
                <a:solidFill>
                  <a:srgbClr val="FFFFFF"/>
                </a:solidFill>
                <a:latin typeface="Calibri"/>
              </a:rPr>
              <a:t>If an attacker mimics surface features — User-Agent, IP, even request rate — of a real user,</a:t>
            </a:r>
          </a:p>
          <a:p>
            <a:pPr algn="l"/>
            <a:r>
              <a:rPr sz="2100" b="0" i="1">
                <a:solidFill>
                  <a:srgbClr val="FFFFFF"/>
                </a:solidFill>
                <a:latin typeface="Calibri"/>
              </a:rPr>
              <a:t>can a behavior-based detector still tell them apart?</a:t>
            </a:r>
          </a:p>
        </p:txBody>
      </p:sp>
      <p:sp>
        <p:nvSpPr>
          <p:cNvPr id="8" name="Rectangle 7"/>
          <p:cNvSpPr/>
          <p:nvPr/>
        </p:nvSpPr>
        <p:spPr>
          <a:xfrm>
            <a:off x="73152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663440"/>
            <a:ext cx="548640" cy="640080"/>
          </a:xfrm>
          <a:prstGeom prst="rect">
            <a:avLst/>
          </a:prstGeom>
          <a:noFill/>
        </p:spPr>
        <p:txBody>
          <a:bodyPr wrap="square" lIns="0" rIns="0" tIns="0" bIns="0" anchor="t">
            <a:spAutoFit/>
          </a:bodyPr>
          <a:lstStyle/>
          <a:p>
            <a:pPr algn="l"/>
            <a:r>
              <a:rPr sz="4000" b="1" i="0">
                <a:solidFill>
                  <a:srgbClr val="F96167"/>
                </a:solidFill>
                <a:latin typeface="Georgia"/>
              </a:rPr>
              <a:t>1</a:t>
            </a:r>
          </a:p>
        </p:txBody>
      </p:sp>
      <p:sp>
        <p:nvSpPr>
          <p:cNvPr id="10" name="TextBox 9"/>
          <p:cNvSpPr txBox="1"/>
          <p:nvPr/>
        </p:nvSpPr>
        <p:spPr>
          <a:xfrm>
            <a:off x="1600200" y="4800600"/>
            <a:ext cx="2514600" cy="1188720"/>
          </a:xfrm>
          <a:prstGeom prst="rect">
            <a:avLst/>
          </a:prstGeom>
          <a:noFill/>
        </p:spPr>
        <p:txBody>
          <a:bodyPr wrap="square" lIns="0" rIns="0" tIns="0" bIns="0" anchor="t">
            <a:spAutoFit/>
          </a:bodyPr>
          <a:lstStyle/>
          <a:p>
            <a:pPr algn="l"/>
            <a:r>
              <a:rPr sz="1200" b="0" i="0">
                <a:solidFill>
                  <a:srgbClr val="1A1A2E"/>
                </a:solidFill>
                <a:latin typeface="Calibri"/>
              </a:rPr>
              <a:t>Are classical rate-based defenses enough against distributed attacks?</a:t>
            </a:r>
          </a:p>
        </p:txBody>
      </p:sp>
      <p:sp>
        <p:nvSpPr>
          <p:cNvPr id="11" name="Rectangle 10"/>
          <p:cNvSpPr/>
          <p:nvPr/>
        </p:nvSpPr>
        <p:spPr>
          <a:xfrm>
            <a:off x="443484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4663440"/>
            <a:ext cx="548640" cy="640080"/>
          </a:xfrm>
          <a:prstGeom prst="rect">
            <a:avLst/>
          </a:prstGeom>
          <a:noFill/>
        </p:spPr>
        <p:txBody>
          <a:bodyPr wrap="square" lIns="0" rIns="0" tIns="0" bIns="0" anchor="t">
            <a:spAutoFit/>
          </a:bodyPr>
          <a:lstStyle/>
          <a:p>
            <a:pPr algn="l"/>
            <a:r>
              <a:rPr sz="4000" b="1" i="0">
                <a:solidFill>
                  <a:srgbClr val="F96167"/>
                </a:solidFill>
                <a:latin typeface="Georgia"/>
              </a:rPr>
              <a:t>2</a:t>
            </a:r>
          </a:p>
        </p:txBody>
      </p:sp>
      <p:sp>
        <p:nvSpPr>
          <p:cNvPr id="13" name="TextBox 12"/>
          <p:cNvSpPr txBox="1"/>
          <p:nvPr/>
        </p:nvSpPr>
        <p:spPr>
          <a:xfrm>
            <a:off x="5303520" y="4800600"/>
            <a:ext cx="2514600" cy="1188720"/>
          </a:xfrm>
          <a:prstGeom prst="rect">
            <a:avLst/>
          </a:prstGeom>
          <a:noFill/>
        </p:spPr>
        <p:txBody>
          <a:bodyPr wrap="square" lIns="0" rIns="0" tIns="0" bIns="0" anchor="t">
            <a:spAutoFit/>
          </a:bodyPr>
          <a:lstStyle/>
          <a:p>
            <a:pPr algn="l"/>
            <a:r>
              <a:rPr sz="1200" b="0" i="0">
                <a:solidFill>
                  <a:srgbClr val="1A1A2E"/>
                </a:solidFill>
                <a:latin typeface="Calibri"/>
              </a:rPr>
              <a:t>How discriminative are behavioral features like endpoint cost asymmetry?</a:t>
            </a:r>
          </a:p>
        </p:txBody>
      </p:sp>
      <p:sp>
        <p:nvSpPr>
          <p:cNvPr id="14" name="Rectangle 13"/>
          <p:cNvSpPr/>
          <p:nvPr/>
        </p:nvSpPr>
        <p:spPr>
          <a:xfrm>
            <a:off x="8138160" y="4480560"/>
            <a:ext cx="3566160" cy="1645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4663440"/>
            <a:ext cx="548640" cy="640080"/>
          </a:xfrm>
          <a:prstGeom prst="rect">
            <a:avLst/>
          </a:prstGeom>
          <a:noFill/>
        </p:spPr>
        <p:txBody>
          <a:bodyPr wrap="square" lIns="0" rIns="0" tIns="0" bIns="0" anchor="t">
            <a:spAutoFit/>
          </a:bodyPr>
          <a:lstStyle/>
          <a:p>
            <a:pPr algn="l"/>
            <a:r>
              <a:rPr sz="4000" b="1" i="0">
                <a:solidFill>
                  <a:srgbClr val="F96167"/>
                </a:solidFill>
                <a:latin typeface="Georgia"/>
              </a:rPr>
              <a:t>3</a:t>
            </a:r>
          </a:p>
        </p:txBody>
      </p:sp>
      <p:sp>
        <p:nvSpPr>
          <p:cNvPr id="16" name="TextBox 15"/>
          <p:cNvSpPr txBox="1"/>
          <p:nvPr/>
        </p:nvSpPr>
        <p:spPr>
          <a:xfrm>
            <a:off x="9006840" y="4800600"/>
            <a:ext cx="2514600" cy="1188720"/>
          </a:xfrm>
          <a:prstGeom prst="rect">
            <a:avLst/>
          </a:prstGeom>
          <a:noFill/>
        </p:spPr>
        <p:txBody>
          <a:bodyPr wrap="square" lIns="0" rIns="0" tIns="0" bIns="0" anchor="t">
            <a:spAutoFit/>
          </a:bodyPr>
          <a:lstStyle/>
          <a:p>
            <a:pPr algn="l"/>
            <a:r>
              <a:rPr sz="1200" b="0" i="0">
                <a:solidFill>
                  <a:srgbClr val="1A1A2E"/>
                </a:solidFill>
                <a:latin typeface="Calibri"/>
              </a:rPr>
              <a:t>Can a model that never saw mimicry in training still flag it as an attack?</a:t>
            </a:r>
          </a:p>
        </p:txBody>
      </p:sp>
      <p:sp>
        <p:nvSpPr>
          <p:cNvPr id="17" name="TextBox 16"/>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18" name="TextBox 17"/>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1 · RESEARCH QUESTION</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Why is This Question Hard?</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Modern API attacks are no longer "one IP, very high rate"</a:t>
            </a:r>
          </a:p>
        </p:txBody>
      </p:sp>
      <p:sp>
        <p:nvSpPr>
          <p:cNvPr id="5" name="Rectangle 4"/>
          <p:cNvSpPr/>
          <p:nvPr/>
        </p:nvSpPr>
        <p:spPr>
          <a:xfrm>
            <a:off x="457200" y="1691640"/>
            <a:ext cx="548640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2011680"/>
            <a:ext cx="640080" cy="6400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65960"/>
            <a:ext cx="640080" cy="731520"/>
          </a:xfrm>
          <a:prstGeom prst="rect">
            <a:avLst/>
          </a:prstGeom>
          <a:noFill/>
        </p:spPr>
        <p:txBody>
          <a:bodyPr wrap="square" lIns="0" rIns="0" tIns="0" bIns="0" anchor="ctr">
            <a:spAutoFit/>
          </a:bodyPr>
          <a:lstStyle/>
          <a:p>
            <a:pPr algn="ctr"/>
            <a:r>
              <a:rPr sz="2200" b="1" i="0">
                <a:solidFill>
                  <a:srgbClr val="FFFFFF"/>
                </a:solidFill>
                <a:latin typeface="Calibri"/>
              </a:rPr>
              <a:t>①</a:t>
            </a:r>
          </a:p>
        </p:txBody>
      </p:sp>
      <p:sp>
        <p:nvSpPr>
          <p:cNvPr id="8" name="TextBox 7"/>
          <p:cNvSpPr txBox="1"/>
          <p:nvPr/>
        </p:nvSpPr>
        <p:spPr>
          <a:xfrm>
            <a:off x="1554480" y="2011680"/>
            <a:ext cx="4206240" cy="457200"/>
          </a:xfrm>
          <a:prstGeom prst="rect">
            <a:avLst/>
          </a:prstGeom>
          <a:noFill/>
        </p:spPr>
        <p:txBody>
          <a:bodyPr wrap="square" lIns="0" rIns="0" tIns="0" bIns="0" anchor="t">
            <a:spAutoFit/>
          </a:bodyPr>
          <a:lstStyle/>
          <a:p>
            <a:pPr algn="l"/>
            <a:r>
              <a:rPr sz="1600" b="1" i="0">
                <a:solidFill>
                  <a:srgbClr val="1E2761"/>
                </a:solidFill>
                <a:latin typeface="Calibri"/>
              </a:rPr>
              <a:t>Distributed Traffic</a:t>
            </a:r>
          </a:p>
        </p:txBody>
      </p:sp>
      <p:sp>
        <p:nvSpPr>
          <p:cNvPr id="9" name="TextBox 8"/>
          <p:cNvSpPr txBox="1"/>
          <p:nvPr/>
        </p:nvSpPr>
        <p:spPr>
          <a:xfrm>
            <a:off x="1554480" y="2514600"/>
            <a:ext cx="4206240" cy="1325879"/>
          </a:xfrm>
          <a:prstGeom prst="rect">
            <a:avLst/>
          </a:prstGeom>
          <a:noFill/>
        </p:spPr>
        <p:txBody>
          <a:bodyPr wrap="square" lIns="0" rIns="0" tIns="0" bIns="0" anchor="t">
            <a:spAutoFit/>
          </a:bodyPr>
          <a:lstStyle/>
          <a:p>
            <a:pPr algn="l"/>
            <a:r>
              <a:rPr sz="1100" b="0" i="0">
                <a:solidFill>
                  <a:srgbClr val="1A1A2E"/>
                </a:solidFill>
                <a:latin typeface="Calibri"/>
              </a:rPr>
              <a:t>Akamai and Cloudflare reports: a typical L7 attack spans hundreds to thousands of source IPs. Per-IP rate thresholds offer little resistance.</a:t>
            </a:r>
          </a:p>
        </p:txBody>
      </p:sp>
      <p:sp>
        <p:nvSpPr>
          <p:cNvPr id="10" name="Rectangle 9"/>
          <p:cNvSpPr/>
          <p:nvPr/>
        </p:nvSpPr>
        <p:spPr>
          <a:xfrm>
            <a:off x="6217920" y="1691640"/>
            <a:ext cx="548640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0" y="2011680"/>
            <a:ext cx="640080" cy="6400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965960"/>
            <a:ext cx="640080" cy="731520"/>
          </a:xfrm>
          <a:prstGeom prst="rect">
            <a:avLst/>
          </a:prstGeom>
          <a:noFill/>
        </p:spPr>
        <p:txBody>
          <a:bodyPr wrap="square" lIns="0" rIns="0" tIns="0" bIns="0" anchor="ctr">
            <a:spAutoFit/>
          </a:bodyPr>
          <a:lstStyle/>
          <a:p>
            <a:pPr algn="ctr"/>
            <a:r>
              <a:rPr sz="2200" b="1" i="0">
                <a:solidFill>
                  <a:srgbClr val="FFFFFF"/>
                </a:solidFill>
                <a:latin typeface="Calibri"/>
              </a:rPr>
              <a:t>②</a:t>
            </a:r>
          </a:p>
        </p:txBody>
      </p:sp>
      <p:sp>
        <p:nvSpPr>
          <p:cNvPr id="13" name="TextBox 12"/>
          <p:cNvSpPr txBox="1"/>
          <p:nvPr/>
        </p:nvSpPr>
        <p:spPr>
          <a:xfrm>
            <a:off x="7315200" y="2011680"/>
            <a:ext cx="4206240" cy="457200"/>
          </a:xfrm>
          <a:prstGeom prst="rect">
            <a:avLst/>
          </a:prstGeom>
          <a:noFill/>
        </p:spPr>
        <p:txBody>
          <a:bodyPr wrap="square" lIns="0" rIns="0" tIns="0" bIns="0" anchor="t">
            <a:spAutoFit/>
          </a:bodyPr>
          <a:lstStyle/>
          <a:p>
            <a:pPr algn="l"/>
            <a:r>
              <a:rPr sz="1600" b="1" i="0">
                <a:solidFill>
                  <a:srgbClr val="1E2761"/>
                </a:solidFill>
                <a:latin typeface="Calibri"/>
              </a:rPr>
              <a:t>Surface Mimicry</a:t>
            </a:r>
          </a:p>
        </p:txBody>
      </p:sp>
      <p:sp>
        <p:nvSpPr>
          <p:cNvPr id="14" name="TextBox 13"/>
          <p:cNvSpPr txBox="1"/>
          <p:nvPr/>
        </p:nvSpPr>
        <p:spPr>
          <a:xfrm>
            <a:off x="7315200" y="2514600"/>
            <a:ext cx="4206240" cy="1325879"/>
          </a:xfrm>
          <a:prstGeom prst="rect">
            <a:avLst/>
          </a:prstGeom>
          <a:noFill/>
        </p:spPr>
        <p:txBody>
          <a:bodyPr wrap="square" lIns="0" rIns="0" tIns="0" bIns="0" anchor="t">
            <a:spAutoFit/>
          </a:bodyPr>
          <a:lstStyle/>
          <a:p>
            <a:pPr algn="l"/>
            <a:r>
              <a:rPr sz="1100" b="0" i="0">
                <a:solidFill>
                  <a:srgbClr val="1A1A2E"/>
                </a:solidFill>
                <a:latin typeface="Calibri"/>
              </a:rPr>
              <a:t>Attackers rotate User-Agent strings across Chrome, Safari, iPhone, etc., and vary Accept-Language and Accept-Encoding to look legitimate.</a:t>
            </a:r>
          </a:p>
        </p:txBody>
      </p:sp>
      <p:sp>
        <p:nvSpPr>
          <p:cNvPr id="15" name="Rectangle 14"/>
          <p:cNvSpPr/>
          <p:nvPr/>
        </p:nvSpPr>
        <p:spPr>
          <a:xfrm>
            <a:off x="457200" y="4251960"/>
            <a:ext cx="548640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572000"/>
            <a:ext cx="640080" cy="6400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526280"/>
            <a:ext cx="640080" cy="731520"/>
          </a:xfrm>
          <a:prstGeom prst="rect">
            <a:avLst/>
          </a:prstGeom>
          <a:noFill/>
        </p:spPr>
        <p:txBody>
          <a:bodyPr wrap="square" lIns="0" rIns="0" tIns="0" bIns="0" anchor="ctr">
            <a:spAutoFit/>
          </a:bodyPr>
          <a:lstStyle/>
          <a:p>
            <a:pPr algn="ctr"/>
            <a:r>
              <a:rPr sz="2200" b="1" i="0">
                <a:solidFill>
                  <a:srgbClr val="FFFFFF"/>
                </a:solidFill>
                <a:latin typeface="Calibri"/>
              </a:rPr>
              <a:t>③</a:t>
            </a:r>
          </a:p>
        </p:txBody>
      </p:sp>
      <p:sp>
        <p:nvSpPr>
          <p:cNvPr id="18" name="TextBox 17"/>
          <p:cNvSpPr txBox="1"/>
          <p:nvPr/>
        </p:nvSpPr>
        <p:spPr>
          <a:xfrm>
            <a:off x="1554480" y="4572000"/>
            <a:ext cx="4206240" cy="457200"/>
          </a:xfrm>
          <a:prstGeom prst="rect">
            <a:avLst/>
          </a:prstGeom>
          <a:noFill/>
        </p:spPr>
        <p:txBody>
          <a:bodyPr wrap="square" lIns="0" rIns="0" tIns="0" bIns="0" anchor="t">
            <a:spAutoFit/>
          </a:bodyPr>
          <a:lstStyle/>
          <a:p>
            <a:pPr algn="l"/>
            <a:r>
              <a:rPr sz="1600" b="1" i="0">
                <a:solidFill>
                  <a:srgbClr val="1E2761"/>
                </a:solidFill>
                <a:latin typeface="Calibri"/>
              </a:rPr>
              <a:t>Asymmetric Cost</a:t>
            </a:r>
          </a:p>
        </p:txBody>
      </p:sp>
      <p:sp>
        <p:nvSpPr>
          <p:cNvPr id="19" name="TextBox 18"/>
          <p:cNvSpPr txBox="1"/>
          <p:nvPr/>
        </p:nvSpPr>
        <p:spPr>
          <a:xfrm>
            <a:off x="1554480" y="5074920"/>
            <a:ext cx="4206240" cy="1325879"/>
          </a:xfrm>
          <a:prstGeom prst="rect">
            <a:avLst/>
          </a:prstGeom>
          <a:noFill/>
        </p:spPr>
        <p:txBody>
          <a:bodyPr wrap="square" lIns="0" rIns="0" tIns="0" bIns="0" anchor="t">
            <a:spAutoFit/>
          </a:bodyPr>
          <a:lstStyle/>
          <a:p>
            <a:pPr algn="l"/>
            <a:r>
              <a:rPr sz="1100" b="0" i="0">
                <a:solidFill>
                  <a:srgbClr val="1A1A2E"/>
                </a:solidFill>
                <a:latin typeface="Calibri"/>
              </a:rPr>
              <a:t>An /auth/login call costs roughly 500× more than a /health call because of bcrypt. Counting requests alone misses which endpoints cost what.</a:t>
            </a:r>
          </a:p>
        </p:txBody>
      </p:sp>
      <p:sp>
        <p:nvSpPr>
          <p:cNvPr id="20" name="Rectangle 19"/>
          <p:cNvSpPr/>
          <p:nvPr/>
        </p:nvSpPr>
        <p:spPr>
          <a:xfrm>
            <a:off x="6217920" y="4251960"/>
            <a:ext cx="548640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92240" y="4572000"/>
            <a:ext cx="640080" cy="64008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526280"/>
            <a:ext cx="640080" cy="731520"/>
          </a:xfrm>
          <a:prstGeom prst="rect">
            <a:avLst/>
          </a:prstGeom>
          <a:noFill/>
        </p:spPr>
        <p:txBody>
          <a:bodyPr wrap="square" lIns="0" rIns="0" tIns="0" bIns="0" anchor="ctr">
            <a:spAutoFit/>
          </a:bodyPr>
          <a:lstStyle/>
          <a:p>
            <a:pPr algn="ctr"/>
            <a:r>
              <a:rPr sz="2200" b="1" i="0">
                <a:solidFill>
                  <a:srgbClr val="FFFFFF"/>
                </a:solidFill>
                <a:latin typeface="Calibri"/>
              </a:rPr>
              <a:t>④</a:t>
            </a:r>
          </a:p>
        </p:txBody>
      </p:sp>
      <p:sp>
        <p:nvSpPr>
          <p:cNvPr id="23" name="TextBox 22"/>
          <p:cNvSpPr txBox="1"/>
          <p:nvPr/>
        </p:nvSpPr>
        <p:spPr>
          <a:xfrm>
            <a:off x="7315200" y="4572000"/>
            <a:ext cx="4206240" cy="457200"/>
          </a:xfrm>
          <a:prstGeom prst="rect">
            <a:avLst/>
          </a:prstGeom>
          <a:noFill/>
        </p:spPr>
        <p:txBody>
          <a:bodyPr wrap="square" lIns="0" rIns="0" tIns="0" bIns="0" anchor="t">
            <a:spAutoFit/>
          </a:bodyPr>
          <a:lstStyle/>
          <a:p>
            <a:pPr algn="l"/>
            <a:r>
              <a:rPr sz="1600" b="1" i="0">
                <a:solidFill>
                  <a:srgbClr val="1E2761"/>
                </a:solidFill>
                <a:latin typeface="Calibri"/>
              </a:rPr>
              <a:t>Testing on Unseen Attacks</a:t>
            </a:r>
          </a:p>
        </p:txBody>
      </p:sp>
      <p:sp>
        <p:nvSpPr>
          <p:cNvPr id="24" name="TextBox 23"/>
          <p:cNvSpPr txBox="1"/>
          <p:nvPr/>
        </p:nvSpPr>
        <p:spPr>
          <a:xfrm>
            <a:off x="7315200" y="5074920"/>
            <a:ext cx="4206240" cy="1325879"/>
          </a:xfrm>
          <a:prstGeom prst="rect">
            <a:avLst/>
          </a:prstGeom>
          <a:noFill/>
        </p:spPr>
        <p:txBody>
          <a:bodyPr wrap="square" lIns="0" rIns="0" tIns="0" bIns="0" anchor="t">
            <a:spAutoFit/>
          </a:bodyPr>
          <a:lstStyle/>
          <a:p>
            <a:pPr algn="l"/>
            <a:r>
              <a:rPr sz="1100" b="0" i="0">
                <a:solidFill>
                  <a:srgbClr val="1A1A2E"/>
                </a:solidFill>
                <a:latin typeface="Calibri"/>
              </a:rPr>
              <a:t>If a model has seen every attack type during training, it generalizes poorly. The real test is whether it catches a variant it never saw.</a:t>
            </a:r>
          </a:p>
        </p:txBody>
      </p:sp>
      <p:sp>
        <p:nvSpPr>
          <p:cNvPr id="25" name="TextBox 24"/>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26" name="TextBox 25"/>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System Architecture</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A single data path from traffic generation to model</a:t>
            </a:r>
          </a:p>
        </p:txBody>
      </p:sp>
      <p:sp>
        <p:nvSpPr>
          <p:cNvPr id="5" name="Rectangle 4"/>
          <p:cNvSpPr/>
          <p:nvPr/>
        </p:nvSpPr>
        <p:spPr>
          <a:xfrm>
            <a:off x="457200" y="1920240"/>
            <a:ext cx="1783080" cy="13716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1600200" cy="411480"/>
          </a:xfrm>
          <a:prstGeom prst="rect">
            <a:avLst/>
          </a:prstGeom>
          <a:noFill/>
        </p:spPr>
        <p:txBody>
          <a:bodyPr wrap="square" lIns="0" rIns="0" tIns="0" bIns="0" anchor="t">
            <a:spAutoFit/>
          </a:bodyPr>
          <a:lstStyle/>
          <a:p>
            <a:pPr algn="ctr"/>
            <a:r>
              <a:rPr sz="1300" b="1" i="0" spc="200">
                <a:solidFill>
                  <a:srgbClr val="FFFFFF"/>
                </a:solidFill>
                <a:latin typeface="Calibri"/>
              </a:rPr>
              <a:t>TRAFFIC</a:t>
            </a:r>
          </a:p>
        </p:txBody>
      </p:sp>
      <p:sp>
        <p:nvSpPr>
          <p:cNvPr id="7" name="TextBox 6"/>
          <p:cNvSpPr txBox="1"/>
          <p:nvPr/>
        </p:nvSpPr>
        <p:spPr>
          <a:xfrm>
            <a:off x="548640" y="2560320"/>
            <a:ext cx="1600200" cy="640080"/>
          </a:xfrm>
          <a:prstGeom prst="rect">
            <a:avLst/>
          </a:prstGeom>
          <a:noFill/>
        </p:spPr>
        <p:txBody>
          <a:bodyPr wrap="square" lIns="0" rIns="0" tIns="0" bIns="0" anchor="t">
            <a:spAutoFit/>
          </a:bodyPr>
          <a:lstStyle/>
          <a:p>
            <a:pPr algn="ctr"/>
            <a:r>
              <a:rPr sz="1000" b="0" i="0">
                <a:solidFill>
                  <a:srgbClr val="FFFFFF"/>
                </a:solidFill>
                <a:latin typeface="Calibri"/>
              </a:rPr>
              <a:t>k6 + slowhttptest
6 scenarios</a:t>
            </a:r>
          </a:p>
        </p:txBody>
      </p:sp>
      <p:sp>
        <p:nvSpPr>
          <p:cNvPr id="8" name="Right Triangle 7"/>
          <p:cNvSpPr/>
          <p:nvPr/>
        </p:nvSpPr>
        <p:spPr>
          <a:xfrm rot="5400000">
            <a:off x="2249424"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404872" y="1920240"/>
            <a:ext cx="1783080" cy="137160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96312" y="2103120"/>
            <a:ext cx="1600200" cy="411480"/>
          </a:xfrm>
          <a:prstGeom prst="rect">
            <a:avLst/>
          </a:prstGeom>
          <a:noFill/>
        </p:spPr>
        <p:txBody>
          <a:bodyPr wrap="square" lIns="0" rIns="0" tIns="0" bIns="0" anchor="t">
            <a:spAutoFit/>
          </a:bodyPr>
          <a:lstStyle/>
          <a:p>
            <a:pPr algn="ctr"/>
            <a:r>
              <a:rPr sz="1300" b="1" i="0" spc="200">
                <a:solidFill>
                  <a:srgbClr val="FFFFFF"/>
                </a:solidFill>
                <a:latin typeface="Calibri"/>
              </a:rPr>
              <a:t>REVERSE PROXY</a:t>
            </a:r>
          </a:p>
        </p:txBody>
      </p:sp>
      <p:sp>
        <p:nvSpPr>
          <p:cNvPr id="11" name="TextBox 10"/>
          <p:cNvSpPr txBox="1"/>
          <p:nvPr/>
        </p:nvSpPr>
        <p:spPr>
          <a:xfrm>
            <a:off x="2496312" y="2560320"/>
            <a:ext cx="1600200" cy="640080"/>
          </a:xfrm>
          <a:prstGeom prst="rect">
            <a:avLst/>
          </a:prstGeom>
          <a:noFill/>
        </p:spPr>
        <p:txBody>
          <a:bodyPr wrap="square" lIns="0" rIns="0" tIns="0" bIns="0" anchor="t">
            <a:spAutoFit/>
          </a:bodyPr>
          <a:lstStyle/>
          <a:p>
            <a:pPr algn="ctr"/>
            <a:r>
              <a:rPr sz="1000" b="0" i="0">
                <a:solidFill>
                  <a:srgbClr val="FFFFFF"/>
                </a:solidFill>
                <a:latin typeface="Calibri"/>
              </a:rPr>
              <a:t>nginx 1.27
JSON access log</a:t>
            </a:r>
          </a:p>
        </p:txBody>
      </p:sp>
      <p:sp>
        <p:nvSpPr>
          <p:cNvPr id="12" name="Right Triangle 11"/>
          <p:cNvSpPr/>
          <p:nvPr/>
        </p:nvSpPr>
        <p:spPr>
          <a:xfrm rot="5400000">
            <a:off x="4197096"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2544" y="1920240"/>
            <a:ext cx="1783080" cy="13716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3" y="2103120"/>
            <a:ext cx="1600200" cy="411480"/>
          </a:xfrm>
          <a:prstGeom prst="rect">
            <a:avLst/>
          </a:prstGeom>
          <a:noFill/>
        </p:spPr>
        <p:txBody>
          <a:bodyPr wrap="square" lIns="0" rIns="0" tIns="0" bIns="0" anchor="t">
            <a:spAutoFit/>
          </a:bodyPr>
          <a:lstStyle/>
          <a:p>
            <a:pPr algn="ctr"/>
            <a:r>
              <a:rPr sz="1300" b="1" i="0" spc="200">
                <a:solidFill>
                  <a:srgbClr val="FFFFFF"/>
                </a:solidFill>
                <a:latin typeface="Calibri"/>
              </a:rPr>
              <a:t>APPLICATION</a:t>
            </a:r>
          </a:p>
        </p:txBody>
      </p:sp>
      <p:sp>
        <p:nvSpPr>
          <p:cNvPr id="15" name="TextBox 14"/>
          <p:cNvSpPr txBox="1"/>
          <p:nvPr/>
        </p:nvSpPr>
        <p:spPr>
          <a:xfrm>
            <a:off x="4443983" y="2560320"/>
            <a:ext cx="1600200" cy="640080"/>
          </a:xfrm>
          <a:prstGeom prst="rect">
            <a:avLst/>
          </a:prstGeom>
          <a:noFill/>
        </p:spPr>
        <p:txBody>
          <a:bodyPr wrap="square" lIns="0" rIns="0" tIns="0" bIns="0" anchor="t">
            <a:spAutoFit/>
          </a:bodyPr>
          <a:lstStyle/>
          <a:p>
            <a:pPr algn="ctr"/>
            <a:r>
              <a:rPr sz="1000" b="0" i="0">
                <a:solidFill>
                  <a:srgbClr val="FFFFFF"/>
                </a:solidFill>
                <a:latin typeface="Calibri"/>
              </a:rPr>
              <a:t>NestJS 11
Middleware + Interceptor</a:t>
            </a:r>
          </a:p>
        </p:txBody>
      </p:sp>
      <p:sp>
        <p:nvSpPr>
          <p:cNvPr id="16" name="Right Triangle 15"/>
          <p:cNvSpPr/>
          <p:nvPr/>
        </p:nvSpPr>
        <p:spPr>
          <a:xfrm rot="5400000">
            <a:off x="6144768"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0216" y="1920240"/>
            <a:ext cx="1783080" cy="13716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1655" y="2103120"/>
            <a:ext cx="1600200" cy="411480"/>
          </a:xfrm>
          <a:prstGeom prst="rect">
            <a:avLst/>
          </a:prstGeom>
          <a:noFill/>
        </p:spPr>
        <p:txBody>
          <a:bodyPr wrap="square" lIns="0" rIns="0" tIns="0" bIns="0" anchor="t">
            <a:spAutoFit/>
          </a:bodyPr>
          <a:lstStyle/>
          <a:p>
            <a:pPr algn="ctr"/>
            <a:r>
              <a:rPr sz="1300" b="1" i="0" spc="200">
                <a:solidFill>
                  <a:srgbClr val="FFFFFF"/>
                </a:solidFill>
                <a:latin typeface="Calibri"/>
              </a:rPr>
              <a:t>STORAGE</a:t>
            </a:r>
          </a:p>
        </p:txBody>
      </p:sp>
      <p:sp>
        <p:nvSpPr>
          <p:cNvPr id="19" name="TextBox 18"/>
          <p:cNvSpPr txBox="1"/>
          <p:nvPr/>
        </p:nvSpPr>
        <p:spPr>
          <a:xfrm>
            <a:off x="6391655" y="2560320"/>
            <a:ext cx="1600200" cy="640080"/>
          </a:xfrm>
          <a:prstGeom prst="rect">
            <a:avLst/>
          </a:prstGeom>
          <a:noFill/>
        </p:spPr>
        <p:txBody>
          <a:bodyPr wrap="square" lIns="0" rIns="0" tIns="0" bIns="0" anchor="t">
            <a:spAutoFit/>
          </a:bodyPr>
          <a:lstStyle/>
          <a:p>
            <a:pPr algn="ctr"/>
            <a:r>
              <a:rPr sz="1000" b="0" i="0">
                <a:solidFill>
                  <a:srgbClr val="FFFFFF"/>
                </a:solidFill>
                <a:latin typeface="Calibri"/>
              </a:rPr>
              <a:t>PostgreSQL 16
RequestLog + Connection</a:t>
            </a:r>
          </a:p>
        </p:txBody>
      </p:sp>
      <p:sp>
        <p:nvSpPr>
          <p:cNvPr id="20" name="Right Triangle 19"/>
          <p:cNvSpPr/>
          <p:nvPr/>
        </p:nvSpPr>
        <p:spPr>
          <a:xfrm rot="5400000">
            <a:off x="8092440"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1920240"/>
            <a:ext cx="1783080" cy="137160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103120"/>
            <a:ext cx="1600200" cy="411480"/>
          </a:xfrm>
          <a:prstGeom prst="rect">
            <a:avLst/>
          </a:prstGeom>
          <a:noFill/>
        </p:spPr>
        <p:txBody>
          <a:bodyPr wrap="square" lIns="0" rIns="0" tIns="0" bIns="0" anchor="t">
            <a:spAutoFit/>
          </a:bodyPr>
          <a:lstStyle/>
          <a:p>
            <a:pPr algn="ctr"/>
            <a:r>
              <a:rPr sz="1300" b="1" i="0" spc="200">
                <a:solidFill>
                  <a:srgbClr val="FFFFFF"/>
                </a:solidFill>
                <a:latin typeface="Calibri"/>
              </a:rPr>
              <a:t>FEATURES</a:t>
            </a:r>
          </a:p>
        </p:txBody>
      </p:sp>
      <p:sp>
        <p:nvSpPr>
          <p:cNvPr id="23" name="TextBox 22"/>
          <p:cNvSpPr txBox="1"/>
          <p:nvPr/>
        </p:nvSpPr>
        <p:spPr>
          <a:xfrm>
            <a:off x="8339327" y="2560320"/>
            <a:ext cx="1600200" cy="640080"/>
          </a:xfrm>
          <a:prstGeom prst="rect">
            <a:avLst/>
          </a:prstGeom>
          <a:noFill/>
        </p:spPr>
        <p:txBody>
          <a:bodyPr wrap="square" lIns="0" rIns="0" tIns="0" bIns="0" anchor="t">
            <a:spAutoFit/>
          </a:bodyPr>
          <a:lstStyle/>
          <a:p>
            <a:pPr algn="ctr"/>
            <a:r>
              <a:rPr sz="1000" b="0" i="0">
                <a:solidFill>
                  <a:srgbClr val="FFFFFF"/>
                </a:solidFill>
                <a:latin typeface="Calibri"/>
              </a:rPr>
              <a:t>Tier 1-4 pipeline
37 features</a:t>
            </a:r>
          </a:p>
        </p:txBody>
      </p:sp>
      <p:sp>
        <p:nvSpPr>
          <p:cNvPr id="24" name="Right Triangle 23"/>
          <p:cNvSpPr/>
          <p:nvPr/>
        </p:nvSpPr>
        <p:spPr>
          <a:xfrm rot="5400000">
            <a:off x="10040111" y="2532888"/>
            <a:ext cx="137160" cy="146304"/>
          </a:xfrm>
          <a:prstGeom prst="rtTriangl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95559" y="1920240"/>
            <a:ext cx="1783080" cy="13716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86999" y="2103120"/>
            <a:ext cx="1600200" cy="411480"/>
          </a:xfrm>
          <a:prstGeom prst="rect">
            <a:avLst/>
          </a:prstGeom>
          <a:noFill/>
        </p:spPr>
        <p:txBody>
          <a:bodyPr wrap="square" lIns="0" rIns="0" tIns="0" bIns="0" anchor="t">
            <a:spAutoFit/>
          </a:bodyPr>
          <a:lstStyle/>
          <a:p>
            <a:pPr algn="ctr"/>
            <a:r>
              <a:rPr sz="1300" b="1" i="0" spc="200">
                <a:solidFill>
                  <a:srgbClr val="FFFFFF"/>
                </a:solidFill>
                <a:latin typeface="Calibri"/>
              </a:rPr>
              <a:t>MODEL</a:t>
            </a:r>
          </a:p>
        </p:txBody>
      </p:sp>
      <p:sp>
        <p:nvSpPr>
          <p:cNvPr id="27" name="TextBox 26"/>
          <p:cNvSpPr txBox="1"/>
          <p:nvPr/>
        </p:nvSpPr>
        <p:spPr>
          <a:xfrm>
            <a:off x="10286999" y="2560320"/>
            <a:ext cx="1600200" cy="640080"/>
          </a:xfrm>
          <a:prstGeom prst="rect">
            <a:avLst/>
          </a:prstGeom>
          <a:noFill/>
        </p:spPr>
        <p:txBody>
          <a:bodyPr wrap="square" lIns="0" rIns="0" tIns="0" bIns="0" anchor="t">
            <a:spAutoFit/>
          </a:bodyPr>
          <a:lstStyle/>
          <a:p>
            <a:pPr algn="ctr"/>
            <a:r>
              <a:rPr sz="1000" b="0" i="0">
                <a:solidFill>
                  <a:srgbClr val="FFFFFF"/>
                </a:solidFill>
                <a:latin typeface="Calibri"/>
              </a:rPr>
              <a:t>ISO + RF
Stacked detector</a:t>
            </a:r>
          </a:p>
        </p:txBody>
      </p:sp>
      <p:sp>
        <p:nvSpPr>
          <p:cNvPr id="28" name="TextBox 27"/>
          <p:cNvSpPr txBox="1"/>
          <p:nvPr/>
        </p:nvSpPr>
        <p:spPr>
          <a:xfrm>
            <a:off x="457200" y="3657600"/>
            <a:ext cx="5486400" cy="365760"/>
          </a:xfrm>
          <a:prstGeom prst="rect">
            <a:avLst/>
          </a:prstGeom>
          <a:noFill/>
        </p:spPr>
        <p:txBody>
          <a:bodyPr wrap="square" lIns="0" rIns="0" tIns="0" bIns="0" anchor="t">
            <a:spAutoFit/>
          </a:bodyPr>
          <a:lstStyle/>
          <a:p>
            <a:pPr algn="l"/>
            <a:r>
              <a:rPr sz="1400" b="1" i="0">
                <a:solidFill>
                  <a:srgbClr val="1E2761"/>
                </a:solidFill>
                <a:latin typeface="Calibri"/>
              </a:rPr>
              <a:t>Data Collection Details</a:t>
            </a:r>
          </a:p>
        </p:txBody>
      </p:sp>
      <p:sp>
        <p:nvSpPr>
          <p:cNvPr id="29" name="TextBox 28"/>
          <p:cNvSpPr txBox="1"/>
          <p:nvPr/>
        </p:nvSpPr>
        <p:spPr>
          <a:xfrm>
            <a:off x="457200" y="4023360"/>
            <a:ext cx="5486400" cy="2194560"/>
          </a:xfrm>
          <a:prstGeom prst="rect">
            <a:avLst/>
          </a:prstGeom>
          <a:noFill/>
        </p:spPr>
        <p:txBody>
          <a:bodyPr wrap="square" lIns="0" rIns="0" tIns="0" bIns="0" anchor="t">
            <a:spAutoFit/>
          </a:bodyPr>
          <a:lstStyle/>
          <a:p>
            <a:pPr algn="l"/>
            <a:r>
              <a:rPr sz="1100" b="1" i="0">
                <a:solidFill>
                  <a:srgbClr val="1A1A2E"/>
                </a:solidFill>
                <a:latin typeface="Calibri"/>
              </a:rPr>
              <a:t>nginx access log → </a:t>
            </a:r>
            <a:r>
              <a:rPr sz="1100" b="0" i="0">
                <a:solidFill>
                  <a:srgbClr val="1A1A2E"/>
                </a:solidFill>
                <a:latin typeface="Calibri"/>
              </a:rPr>
              <a:t>per request: connection_id, request_time, status, upstream timing</a:t>
            </a:r>
          </a:p>
          <a:p>
            <a:pPr algn="l"/>
            <a:r>
              <a:rPr sz="1100" b="1" i="0">
                <a:solidFill>
                  <a:srgbClr val="1A1A2E"/>
                </a:solidFill>
                <a:latin typeface="Calibri"/>
              </a:rPr>
              <a:t>NestJS middleware → </a:t>
            </a:r>
            <a:r>
              <a:rPr sz="1100" b="0" i="0">
                <a:solidFill>
                  <a:srgbClr val="1A1A2E"/>
                </a:solidFill>
                <a:latin typeface="Calibri"/>
              </a:rPr>
              <a:t>AsyncLocalStorage isolates per-request metrics: dbQueryCount, dbTotalTimeMs, cpuTimeMs</a:t>
            </a:r>
          </a:p>
          <a:p>
            <a:pPr algn="l"/>
            <a:r>
              <a:rPr sz="1100" b="1" i="0">
                <a:solidFill>
                  <a:srgbClr val="1A1A2E"/>
                </a:solidFill>
                <a:latin typeface="Calibri"/>
              </a:rPr>
              <a:t>Connection enrichment → </a:t>
            </a:r>
            <a:r>
              <a:rPr sz="1100" b="0" i="0">
                <a:solidFill>
                  <a:srgbClr val="1A1A2E"/>
                </a:solidFill>
                <a:latin typeface="Calibri"/>
              </a:rPr>
              <a:t>nginx 408 timeout entries get joined into the Connection table — slowloris becomes visible</a:t>
            </a:r>
          </a:p>
        </p:txBody>
      </p:sp>
      <p:sp>
        <p:nvSpPr>
          <p:cNvPr id="30" name="TextBox 29"/>
          <p:cNvSpPr txBox="1"/>
          <p:nvPr/>
        </p:nvSpPr>
        <p:spPr>
          <a:xfrm>
            <a:off x="6217920" y="3657600"/>
            <a:ext cx="5486400" cy="365760"/>
          </a:xfrm>
          <a:prstGeom prst="rect">
            <a:avLst/>
          </a:prstGeom>
          <a:noFill/>
        </p:spPr>
        <p:txBody>
          <a:bodyPr wrap="square" lIns="0" rIns="0" tIns="0" bIns="0" anchor="t">
            <a:spAutoFit/>
          </a:bodyPr>
          <a:lstStyle/>
          <a:p>
            <a:pPr algn="l"/>
            <a:r>
              <a:rPr sz="1400" b="1" i="0">
                <a:solidFill>
                  <a:srgbClr val="1E2761"/>
                </a:solidFill>
                <a:latin typeface="Calibri"/>
              </a:rPr>
              <a:t>Windowing &amp; Labeling</a:t>
            </a:r>
          </a:p>
        </p:txBody>
      </p:sp>
      <p:sp>
        <p:nvSpPr>
          <p:cNvPr id="31" name="TextBox 30"/>
          <p:cNvSpPr txBox="1"/>
          <p:nvPr/>
        </p:nvSpPr>
        <p:spPr>
          <a:xfrm>
            <a:off x="6217920" y="4023360"/>
            <a:ext cx="5486400" cy="2194560"/>
          </a:xfrm>
          <a:prstGeom prst="rect">
            <a:avLst/>
          </a:prstGeom>
          <a:noFill/>
        </p:spPr>
        <p:txBody>
          <a:bodyPr wrap="square" lIns="0" rIns="0" tIns="0" bIns="0" anchor="t">
            <a:spAutoFit/>
          </a:bodyPr>
          <a:lstStyle/>
          <a:p>
            <a:pPr algn="l"/>
            <a:r>
              <a:rPr sz="1100" b="1" i="0">
                <a:solidFill>
                  <a:srgbClr val="1A1A2E"/>
                </a:solidFill>
                <a:latin typeface="Calibri"/>
              </a:rPr>
              <a:t>Window size: </a:t>
            </a:r>
            <a:r>
              <a:rPr sz="1100" b="0" i="0">
                <a:solidFill>
                  <a:srgbClr val="1A1A2E"/>
                </a:solidFill>
                <a:latin typeface="Calibri"/>
              </a:rPr>
              <a:t>10 seconds, aggregated by IP and /24 subnet</a:t>
            </a:r>
          </a:p>
          <a:p>
            <a:pPr algn="l"/>
            <a:r>
              <a:rPr sz="1100" b="1" i="0">
                <a:solidFill>
                  <a:srgbClr val="1A1A2E"/>
                </a:solidFill>
                <a:latin typeface="Calibri"/>
              </a:rPr>
              <a:t>Label: </a:t>
            </a:r>
            <a:r>
              <a:rPr sz="1100" b="0" i="0">
                <a:solidFill>
                  <a:srgbClr val="1A1A2E"/>
                </a:solidFill>
                <a:latin typeface="Calibri"/>
              </a:rPr>
              <a:t>majority traffic label per window (normal_user, http_flood, etc.)</a:t>
            </a:r>
          </a:p>
          <a:p>
            <a:pPr algn="l"/>
            <a:r>
              <a:rPr sz="1100" b="1" i="0">
                <a:solidFill>
                  <a:srgbClr val="1A1A2E"/>
                </a:solidFill>
                <a:latin typeface="Calibri"/>
              </a:rPr>
              <a:t>Leakage protection: </a:t>
            </a:r>
            <a:r>
              <a:rPr sz="1100" b="0" i="0">
                <a:solidFill>
                  <a:srgbClr val="1A1A2E"/>
                </a:solidFill>
                <a:latin typeface="Calibri"/>
              </a:rPr>
              <a:t>scenario_id, label, window_start removed before training — no target leakage</a:t>
            </a:r>
          </a:p>
        </p:txBody>
      </p:sp>
      <p:sp>
        <p:nvSpPr>
          <p:cNvPr id="32" name="TextBox 31"/>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33" name="TextBox 32"/>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Six Traffic Scenarios</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Scenario 5 is special: the model only meets it during the exam</a:t>
            </a:r>
          </a:p>
        </p:txBody>
      </p:sp>
      <p:sp>
        <p:nvSpPr>
          <p:cNvPr id="5" name="Rectangle 4"/>
          <p:cNvSpPr/>
          <p:nvPr/>
        </p:nvSpPr>
        <p:spPr>
          <a:xfrm>
            <a:off x="457200" y="169164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640080" cy="7315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91640"/>
            <a:ext cx="640080" cy="731520"/>
          </a:xfrm>
          <a:prstGeom prst="rect">
            <a:avLst/>
          </a:prstGeom>
          <a:noFill/>
        </p:spPr>
        <p:txBody>
          <a:bodyPr wrap="square" lIns="0" rIns="0" tIns="0" bIns="0" anchor="ctr">
            <a:spAutoFit/>
          </a:bodyPr>
          <a:lstStyle/>
          <a:p>
            <a:pPr algn="ctr"/>
            <a:r>
              <a:rPr sz="1800" b="1" i="0">
                <a:solidFill>
                  <a:srgbClr val="FFFFFF"/>
                </a:solidFill>
                <a:latin typeface="Calibri"/>
              </a:rPr>
              <a:t>S1</a:t>
            </a:r>
          </a:p>
        </p:txBody>
      </p:sp>
      <p:sp>
        <p:nvSpPr>
          <p:cNvPr id="8" name="TextBox 7"/>
          <p:cNvSpPr txBox="1"/>
          <p:nvPr/>
        </p:nvSpPr>
        <p:spPr>
          <a:xfrm>
            <a:off x="1234440" y="1764792"/>
            <a:ext cx="4754880" cy="274320"/>
          </a:xfrm>
          <a:prstGeom prst="rect">
            <a:avLst/>
          </a:prstGeom>
          <a:noFill/>
        </p:spPr>
        <p:txBody>
          <a:bodyPr wrap="square" lIns="0" rIns="0" tIns="0" bIns="0" anchor="t">
            <a:spAutoFit/>
          </a:bodyPr>
          <a:lstStyle/>
          <a:p>
            <a:pPr algn="l"/>
            <a:r>
              <a:rPr sz="1300" b="1" i="0">
                <a:solidFill>
                  <a:srgbClr val="1A1A2E"/>
                </a:solidFill>
                <a:latin typeface="Calibri"/>
              </a:rPr>
              <a:t>Legitimate</a:t>
            </a:r>
            <a:r>
              <a:rPr sz="1100" b="0" i="0">
                <a:solidFill>
                  <a:srgbClr val="64748B"/>
                </a:solidFill>
                <a:latin typeface="Calibri"/>
              </a:rPr>
              <a:t>  ·  </a:t>
            </a:r>
            <a:r>
              <a:rPr sz="1000" b="0" i="1">
                <a:solidFill>
                  <a:srgbClr val="64748B"/>
                </a:solidFill>
                <a:latin typeface="Calibri"/>
              </a:rPr>
              <a:t>Train · Test</a:t>
            </a:r>
          </a:p>
        </p:txBody>
      </p:sp>
      <p:sp>
        <p:nvSpPr>
          <p:cNvPr id="9" name="TextBox 8"/>
          <p:cNvSpPr txBox="1"/>
          <p:nvPr/>
        </p:nvSpPr>
        <p:spPr>
          <a:xfrm>
            <a:off x="1234440" y="2039112"/>
            <a:ext cx="4754880" cy="365760"/>
          </a:xfrm>
          <a:prstGeom prst="rect">
            <a:avLst/>
          </a:prstGeom>
          <a:noFill/>
        </p:spPr>
        <p:txBody>
          <a:bodyPr wrap="square" lIns="0" rIns="0" tIns="0" bIns="0" anchor="t">
            <a:spAutoFit/>
          </a:bodyPr>
          <a:lstStyle/>
          <a:p>
            <a:pPr algn="l"/>
            <a:r>
              <a:rPr sz="1000" b="0" i="0">
                <a:solidFill>
                  <a:srgbClr val="64748B"/>
                </a:solidFill>
                <a:latin typeface="Calibri"/>
              </a:rPr>
              <a:t>Markov navigation, log-normal think time, Zipf search terms</a:t>
            </a:r>
          </a:p>
        </p:txBody>
      </p:sp>
      <p:sp>
        <p:nvSpPr>
          <p:cNvPr id="10" name="Rectangle 9"/>
          <p:cNvSpPr/>
          <p:nvPr/>
        </p:nvSpPr>
        <p:spPr>
          <a:xfrm>
            <a:off x="6263640" y="169164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69164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691640"/>
            <a:ext cx="640080" cy="731520"/>
          </a:xfrm>
          <a:prstGeom prst="rect">
            <a:avLst/>
          </a:prstGeom>
          <a:noFill/>
        </p:spPr>
        <p:txBody>
          <a:bodyPr wrap="square" lIns="0" rIns="0" tIns="0" bIns="0" anchor="ctr">
            <a:spAutoFit/>
          </a:bodyPr>
          <a:lstStyle/>
          <a:p>
            <a:pPr algn="ctr"/>
            <a:r>
              <a:rPr sz="1800" b="1" i="0">
                <a:solidFill>
                  <a:srgbClr val="FFFFFF"/>
                </a:solidFill>
                <a:latin typeface="Calibri"/>
              </a:rPr>
              <a:t>S2</a:t>
            </a:r>
          </a:p>
        </p:txBody>
      </p:sp>
      <p:sp>
        <p:nvSpPr>
          <p:cNvPr id="13" name="TextBox 12"/>
          <p:cNvSpPr txBox="1"/>
          <p:nvPr/>
        </p:nvSpPr>
        <p:spPr>
          <a:xfrm>
            <a:off x="7040880" y="1764792"/>
            <a:ext cx="4754880" cy="274320"/>
          </a:xfrm>
          <a:prstGeom prst="rect">
            <a:avLst/>
          </a:prstGeom>
          <a:noFill/>
        </p:spPr>
        <p:txBody>
          <a:bodyPr wrap="square" lIns="0" rIns="0" tIns="0" bIns="0" anchor="t">
            <a:spAutoFit/>
          </a:bodyPr>
          <a:lstStyle/>
          <a:p>
            <a:pPr algn="l"/>
            <a:r>
              <a:rPr sz="1300" b="1" i="0">
                <a:solidFill>
                  <a:srgbClr val="1A1A2E"/>
                </a:solidFill>
                <a:latin typeface="Calibri"/>
              </a:rPr>
              <a:t>HTTP Flood</a:t>
            </a:r>
            <a:r>
              <a:rPr sz="1100" b="0" i="0">
                <a:solidFill>
                  <a:srgbClr val="64748B"/>
                </a:solidFill>
                <a:latin typeface="Calibri"/>
              </a:rPr>
              <a:t>  ·  </a:t>
            </a:r>
            <a:r>
              <a:rPr sz="1000" b="0" i="1">
                <a:solidFill>
                  <a:srgbClr val="64748B"/>
                </a:solidFill>
                <a:latin typeface="Calibri"/>
              </a:rPr>
              <a:t>Train · Test</a:t>
            </a:r>
          </a:p>
        </p:txBody>
      </p:sp>
      <p:sp>
        <p:nvSpPr>
          <p:cNvPr id="14" name="TextBox 13"/>
          <p:cNvSpPr txBox="1"/>
          <p:nvPr/>
        </p:nvSpPr>
        <p:spPr>
          <a:xfrm>
            <a:off x="7040880" y="2039112"/>
            <a:ext cx="4754880" cy="365760"/>
          </a:xfrm>
          <a:prstGeom prst="rect">
            <a:avLst/>
          </a:prstGeom>
          <a:noFill/>
        </p:spPr>
        <p:txBody>
          <a:bodyPr wrap="square" lIns="0" rIns="0" tIns="0" bIns="0" anchor="t">
            <a:spAutoFit/>
          </a:bodyPr>
          <a:lstStyle/>
          <a:p>
            <a:pPr algn="l"/>
            <a:r>
              <a:rPr sz="1000" b="0" i="0">
                <a:solidFill>
                  <a:srgbClr val="64748B"/>
                </a:solidFill>
                <a:latin typeface="Calibri"/>
              </a:rPr>
              <a:t>Distributed high-rate requests, naive attacker UA pool</a:t>
            </a:r>
          </a:p>
        </p:txBody>
      </p:sp>
      <p:sp>
        <p:nvSpPr>
          <p:cNvPr id="15" name="Rectangle 14"/>
          <p:cNvSpPr/>
          <p:nvPr/>
        </p:nvSpPr>
        <p:spPr>
          <a:xfrm>
            <a:off x="457200" y="251460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51460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514600"/>
            <a:ext cx="640080" cy="731520"/>
          </a:xfrm>
          <a:prstGeom prst="rect">
            <a:avLst/>
          </a:prstGeom>
          <a:noFill/>
        </p:spPr>
        <p:txBody>
          <a:bodyPr wrap="square" lIns="0" rIns="0" tIns="0" bIns="0" anchor="ctr">
            <a:spAutoFit/>
          </a:bodyPr>
          <a:lstStyle/>
          <a:p>
            <a:pPr algn="ctr"/>
            <a:r>
              <a:rPr sz="1800" b="1" i="0">
                <a:solidFill>
                  <a:srgbClr val="FFFFFF"/>
                </a:solidFill>
                <a:latin typeface="Calibri"/>
              </a:rPr>
              <a:t>S3</a:t>
            </a:r>
          </a:p>
        </p:txBody>
      </p:sp>
      <p:sp>
        <p:nvSpPr>
          <p:cNvPr id="18" name="TextBox 17"/>
          <p:cNvSpPr txBox="1"/>
          <p:nvPr/>
        </p:nvSpPr>
        <p:spPr>
          <a:xfrm>
            <a:off x="1234440" y="2587752"/>
            <a:ext cx="4754880" cy="274320"/>
          </a:xfrm>
          <a:prstGeom prst="rect">
            <a:avLst/>
          </a:prstGeom>
          <a:noFill/>
        </p:spPr>
        <p:txBody>
          <a:bodyPr wrap="square" lIns="0" rIns="0" tIns="0" bIns="0" anchor="t">
            <a:spAutoFit/>
          </a:bodyPr>
          <a:lstStyle/>
          <a:p>
            <a:pPr algn="l"/>
            <a:r>
              <a:rPr sz="1300" b="1" i="0">
                <a:solidFill>
                  <a:srgbClr val="1A1A2E"/>
                </a:solidFill>
                <a:latin typeface="Calibri"/>
              </a:rPr>
              <a:t>Low-Rate Bot</a:t>
            </a:r>
            <a:r>
              <a:rPr sz="1100" b="0" i="0">
                <a:solidFill>
                  <a:srgbClr val="64748B"/>
                </a:solidFill>
                <a:latin typeface="Calibri"/>
              </a:rPr>
              <a:t>  ·  </a:t>
            </a:r>
            <a:r>
              <a:rPr sz="1000" b="0" i="1">
                <a:solidFill>
                  <a:srgbClr val="64748B"/>
                </a:solidFill>
                <a:latin typeface="Calibri"/>
              </a:rPr>
              <a:t>Train · Test</a:t>
            </a:r>
          </a:p>
        </p:txBody>
      </p:sp>
      <p:sp>
        <p:nvSpPr>
          <p:cNvPr id="19" name="TextBox 18"/>
          <p:cNvSpPr txBox="1"/>
          <p:nvPr/>
        </p:nvSpPr>
        <p:spPr>
          <a:xfrm>
            <a:off x="1234440" y="2862072"/>
            <a:ext cx="4754880" cy="365760"/>
          </a:xfrm>
          <a:prstGeom prst="rect">
            <a:avLst/>
          </a:prstGeom>
          <a:noFill/>
        </p:spPr>
        <p:txBody>
          <a:bodyPr wrap="square" lIns="0" rIns="0" tIns="0" bIns="0" anchor="t">
            <a:spAutoFit/>
          </a:bodyPr>
          <a:lstStyle/>
          <a:p>
            <a:pPr algn="l"/>
            <a:r>
              <a:rPr sz="1000" b="0" i="0">
                <a:solidFill>
                  <a:srgbClr val="64748B"/>
                </a:solidFill>
                <a:latin typeface="Calibri"/>
              </a:rPr>
              <a:t>Persistent low-rate scraping, stays under rate thresholds</a:t>
            </a:r>
          </a:p>
        </p:txBody>
      </p:sp>
      <p:sp>
        <p:nvSpPr>
          <p:cNvPr id="20" name="Rectangle 19"/>
          <p:cNvSpPr/>
          <p:nvPr/>
        </p:nvSpPr>
        <p:spPr>
          <a:xfrm>
            <a:off x="6263640" y="251460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514600"/>
            <a:ext cx="640080" cy="7315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2514600"/>
            <a:ext cx="640080" cy="731520"/>
          </a:xfrm>
          <a:prstGeom prst="rect">
            <a:avLst/>
          </a:prstGeom>
          <a:noFill/>
        </p:spPr>
        <p:txBody>
          <a:bodyPr wrap="square" lIns="0" rIns="0" tIns="0" bIns="0" anchor="ctr">
            <a:spAutoFit/>
          </a:bodyPr>
          <a:lstStyle/>
          <a:p>
            <a:pPr algn="ctr"/>
            <a:r>
              <a:rPr sz="1800" b="1" i="0">
                <a:solidFill>
                  <a:srgbClr val="FFFFFF"/>
                </a:solidFill>
                <a:latin typeface="Calibri"/>
              </a:rPr>
              <a:t>S4</a:t>
            </a:r>
          </a:p>
        </p:txBody>
      </p:sp>
      <p:sp>
        <p:nvSpPr>
          <p:cNvPr id="23" name="TextBox 22"/>
          <p:cNvSpPr txBox="1"/>
          <p:nvPr/>
        </p:nvSpPr>
        <p:spPr>
          <a:xfrm>
            <a:off x="7040880" y="2587752"/>
            <a:ext cx="4754880" cy="274320"/>
          </a:xfrm>
          <a:prstGeom prst="rect">
            <a:avLst/>
          </a:prstGeom>
          <a:noFill/>
        </p:spPr>
        <p:txBody>
          <a:bodyPr wrap="square" lIns="0" rIns="0" tIns="0" bIns="0" anchor="t">
            <a:spAutoFit/>
          </a:bodyPr>
          <a:lstStyle/>
          <a:p>
            <a:pPr algn="l"/>
            <a:r>
              <a:rPr sz="1300" b="1" i="0">
                <a:solidFill>
                  <a:srgbClr val="1A1A2E"/>
                </a:solidFill>
                <a:latin typeface="Calibri"/>
              </a:rPr>
              <a:t>Credential Stuffing</a:t>
            </a:r>
            <a:r>
              <a:rPr sz="1100" b="0" i="0">
                <a:solidFill>
                  <a:srgbClr val="64748B"/>
                </a:solidFill>
                <a:latin typeface="Calibri"/>
              </a:rPr>
              <a:t>  ·  </a:t>
            </a:r>
            <a:r>
              <a:rPr sz="1000" b="0" i="1">
                <a:solidFill>
                  <a:srgbClr val="64748B"/>
                </a:solidFill>
                <a:latin typeface="Calibri"/>
              </a:rPr>
              <a:t>Train · Test</a:t>
            </a:r>
          </a:p>
        </p:txBody>
      </p:sp>
      <p:sp>
        <p:nvSpPr>
          <p:cNvPr id="24" name="TextBox 23"/>
          <p:cNvSpPr txBox="1"/>
          <p:nvPr/>
        </p:nvSpPr>
        <p:spPr>
          <a:xfrm>
            <a:off x="7040880" y="2862072"/>
            <a:ext cx="4754880" cy="365760"/>
          </a:xfrm>
          <a:prstGeom prst="rect">
            <a:avLst/>
          </a:prstGeom>
          <a:noFill/>
        </p:spPr>
        <p:txBody>
          <a:bodyPr wrap="square" lIns="0" rIns="0" tIns="0" bIns="0" anchor="t">
            <a:spAutoFit/>
          </a:bodyPr>
          <a:lstStyle/>
          <a:p>
            <a:pPr algn="l"/>
            <a:r>
              <a:rPr sz="1000" b="0" i="0">
                <a:solidFill>
                  <a:srgbClr val="64748B"/>
                </a:solidFill>
                <a:latin typeface="Calibri"/>
              </a:rPr>
              <a:t>Random email/password login attempts; produces 401 signal</a:t>
            </a:r>
          </a:p>
        </p:txBody>
      </p:sp>
      <p:sp>
        <p:nvSpPr>
          <p:cNvPr id="25" name="Rectangle 24"/>
          <p:cNvSpPr/>
          <p:nvPr/>
        </p:nvSpPr>
        <p:spPr>
          <a:xfrm>
            <a:off x="457200" y="3337560"/>
            <a:ext cx="5623560" cy="731520"/>
          </a:xfrm>
          <a:prstGeom prst="rect">
            <a:avLst/>
          </a:prstGeom>
          <a:solidFill>
            <a:srgbClr val="FFFFFF"/>
          </a:solidFill>
          <a:ln w="254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337560"/>
            <a:ext cx="640080" cy="7315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337560"/>
            <a:ext cx="640080" cy="731520"/>
          </a:xfrm>
          <a:prstGeom prst="rect">
            <a:avLst/>
          </a:prstGeom>
          <a:noFill/>
        </p:spPr>
        <p:txBody>
          <a:bodyPr wrap="square" lIns="0" rIns="0" tIns="0" bIns="0" anchor="ctr">
            <a:spAutoFit/>
          </a:bodyPr>
          <a:lstStyle/>
          <a:p>
            <a:pPr algn="ctr"/>
            <a:r>
              <a:rPr sz="1800" b="1" i="0">
                <a:solidFill>
                  <a:srgbClr val="FFFFFF"/>
                </a:solidFill>
                <a:latin typeface="Calibri"/>
              </a:rPr>
              <a:t>S5</a:t>
            </a:r>
          </a:p>
        </p:txBody>
      </p:sp>
      <p:sp>
        <p:nvSpPr>
          <p:cNvPr id="28" name="TextBox 27"/>
          <p:cNvSpPr txBox="1"/>
          <p:nvPr/>
        </p:nvSpPr>
        <p:spPr>
          <a:xfrm>
            <a:off x="1234440" y="3410712"/>
            <a:ext cx="4754880" cy="274320"/>
          </a:xfrm>
          <a:prstGeom prst="rect">
            <a:avLst/>
          </a:prstGeom>
          <a:noFill/>
        </p:spPr>
        <p:txBody>
          <a:bodyPr wrap="square" lIns="0" rIns="0" tIns="0" bIns="0" anchor="t">
            <a:spAutoFit/>
          </a:bodyPr>
          <a:lstStyle/>
          <a:p>
            <a:pPr algn="l"/>
            <a:r>
              <a:rPr sz="1300" b="1" i="0">
                <a:solidFill>
                  <a:srgbClr val="1A1A2E"/>
                </a:solidFill>
                <a:latin typeface="Calibri"/>
              </a:rPr>
              <a:t>Mimicry Flood</a:t>
            </a:r>
            <a:r>
              <a:rPr sz="1100" b="0" i="0">
                <a:solidFill>
                  <a:srgbClr val="64748B"/>
                </a:solidFill>
                <a:latin typeface="Calibri"/>
              </a:rPr>
              <a:t>  ·  </a:t>
            </a:r>
            <a:r>
              <a:rPr sz="1000" b="1" i="1">
                <a:solidFill>
                  <a:srgbClr val="F96167"/>
                </a:solidFill>
                <a:latin typeface="Calibri"/>
              </a:rPr>
              <a:t>★ TEST ONLY</a:t>
            </a:r>
          </a:p>
        </p:txBody>
      </p:sp>
      <p:sp>
        <p:nvSpPr>
          <p:cNvPr id="29" name="TextBox 28"/>
          <p:cNvSpPr txBox="1"/>
          <p:nvPr/>
        </p:nvSpPr>
        <p:spPr>
          <a:xfrm>
            <a:off x="1234440" y="3685032"/>
            <a:ext cx="4754880" cy="365760"/>
          </a:xfrm>
          <a:prstGeom prst="rect">
            <a:avLst/>
          </a:prstGeom>
          <a:noFill/>
        </p:spPr>
        <p:txBody>
          <a:bodyPr wrap="square" lIns="0" rIns="0" tIns="0" bIns="0" anchor="t">
            <a:spAutoFit/>
          </a:bodyPr>
          <a:lstStyle/>
          <a:p>
            <a:pPr algn="l"/>
            <a:r>
              <a:rPr sz="1000" b="0" i="0">
                <a:solidFill>
                  <a:srgbClr val="64748B"/>
                </a:solidFill>
                <a:latin typeface="Calibri"/>
              </a:rPr>
              <a:t>UA + IP from legit pool, token reuse, flood-level burst</a:t>
            </a:r>
          </a:p>
        </p:txBody>
      </p:sp>
      <p:sp>
        <p:nvSpPr>
          <p:cNvPr id="30" name="Rectangle 29"/>
          <p:cNvSpPr/>
          <p:nvPr/>
        </p:nvSpPr>
        <p:spPr>
          <a:xfrm>
            <a:off x="6263640" y="3337560"/>
            <a:ext cx="5623560" cy="731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63640" y="3337560"/>
            <a:ext cx="640080" cy="731520"/>
          </a:xfrm>
          <a:prstGeom prst="rect">
            <a:avLst/>
          </a:prstGeom>
          <a:solidFill>
            <a:srgbClr val="C94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3337560"/>
            <a:ext cx="640080" cy="731520"/>
          </a:xfrm>
          <a:prstGeom prst="rect">
            <a:avLst/>
          </a:prstGeom>
          <a:noFill/>
        </p:spPr>
        <p:txBody>
          <a:bodyPr wrap="square" lIns="0" rIns="0" tIns="0" bIns="0" anchor="ctr">
            <a:spAutoFit/>
          </a:bodyPr>
          <a:lstStyle/>
          <a:p>
            <a:pPr algn="ctr"/>
            <a:r>
              <a:rPr sz="1800" b="1" i="0">
                <a:solidFill>
                  <a:srgbClr val="FFFFFF"/>
                </a:solidFill>
                <a:latin typeface="Calibri"/>
              </a:rPr>
              <a:t>S6</a:t>
            </a:r>
          </a:p>
        </p:txBody>
      </p:sp>
      <p:sp>
        <p:nvSpPr>
          <p:cNvPr id="33" name="TextBox 32"/>
          <p:cNvSpPr txBox="1"/>
          <p:nvPr/>
        </p:nvSpPr>
        <p:spPr>
          <a:xfrm>
            <a:off x="7040880" y="3410712"/>
            <a:ext cx="4754880" cy="274320"/>
          </a:xfrm>
          <a:prstGeom prst="rect">
            <a:avLst/>
          </a:prstGeom>
          <a:noFill/>
        </p:spPr>
        <p:txBody>
          <a:bodyPr wrap="square" lIns="0" rIns="0" tIns="0" bIns="0" anchor="t">
            <a:spAutoFit/>
          </a:bodyPr>
          <a:lstStyle/>
          <a:p>
            <a:pPr algn="l"/>
            <a:r>
              <a:rPr sz="1300" b="1" i="0">
                <a:solidFill>
                  <a:srgbClr val="1A1A2E"/>
                </a:solidFill>
                <a:latin typeface="Calibri"/>
              </a:rPr>
              <a:t>Slow HTTP</a:t>
            </a:r>
            <a:r>
              <a:rPr sz="1100" b="0" i="0">
                <a:solidFill>
                  <a:srgbClr val="64748B"/>
                </a:solidFill>
                <a:latin typeface="Calibri"/>
              </a:rPr>
              <a:t>  ·  </a:t>
            </a:r>
            <a:r>
              <a:rPr sz="1000" b="0" i="1">
                <a:solidFill>
                  <a:srgbClr val="64748B"/>
                </a:solidFill>
                <a:latin typeface="Calibri"/>
              </a:rPr>
              <a:t>Connection rule</a:t>
            </a:r>
          </a:p>
        </p:txBody>
      </p:sp>
      <p:sp>
        <p:nvSpPr>
          <p:cNvPr id="34" name="TextBox 33"/>
          <p:cNvSpPr txBox="1"/>
          <p:nvPr/>
        </p:nvSpPr>
        <p:spPr>
          <a:xfrm>
            <a:off x="7040880" y="3685032"/>
            <a:ext cx="4754880" cy="365760"/>
          </a:xfrm>
          <a:prstGeom prst="rect">
            <a:avLst/>
          </a:prstGeom>
          <a:noFill/>
        </p:spPr>
        <p:txBody>
          <a:bodyPr wrap="square" lIns="0" rIns="0" tIns="0" bIns="0" anchor="t">
            <a:spAutoFit/>
          </a:bodyPr>
          <a:lstStyle/>
          <a:p>
            <a:pPr algn="l"/>
            <a:r>
              <a:rPr sz="1000" b="0" i="0">
                <a:solidFill>
                  <a:srgbClr val="64748B"/>
                </a:solidFill>
                <a:latin typeface="Calibri"/>
              </a:rPr>
              <a:t>Slowloris; nginx closes at 60s; sparse 408 signal</a:t>
            </a:r>
          </a:p>
        </p:txBody>
      </p:sp>
      <p:sp>
        <p:nvSpPr>
          <p:cNvPr id="35" name="Rectangle 34"/>
          <p:cNvSpPr/>
          <p:nvPr/>
        </p:nvSpPr>
        <p:spPr>
          <a:xfrm>
            <a:off x="457200" y="5120640"/>
            <a:ext cx="11247120" cy="11887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5120640"/>
            <a:ext cx="137160" cy="1188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212080"/>
            <a:ext cx="4572000" cy="274320"/>
          </a:xfrm>
          <a:prstGeom prst="rect">
            <a:avLst/>
          </a:prstGeom>
          <a:noFill/>
        </p:spPr>
        <p:txBody>
          <a:bodyPr wrap="square" lIns="0" rIns="0" tIns="0" bIns="0" anchor="t">
            <a:spAutoFit/>
          </a:bodyPr>
          <a:lstStyle/>
          <a:p>
            <a:pPr algn="l"/>
            <a:r>
              <a:rPr sz="1100" b="1" i="0" spc="400">
                <a:solidFill>
                  <a:srgbClr val="8FAEEB"/>
                </a:solidFill>
                <a:latin typeface="Calibri"/>
              </a:rPr>
              <a:t>KEY DESIGN DECISION</a:t>
            </a:r>
          </a:p>
        </p:txBody>
      </p:sp>
      <p:sp>
        <p:nvSpPr>
          <p:cNvPr id="38" name="TextBox 37"/>
          <p:cNvSpPr txBox="1"/>
          <p:nvPr/>
        </p:nvSpPr>
        <p:spPr>
          <a:xfrm>
            <a:off x="777240" y="5532120"/>
            <a:ext cx="10698480" cy="731520"/>
          </a:xfrm>
          <a:prstGeom prst="rect">
            <a:avLst/>
          </a:prstGeom>
          <a:noFill/>
        </p:spPr>
        <p:txBody>
          <a:bodyPr wrap="square" lIns="0" rIns="0" tIns="0" bIns="0" anchor="t">
            <a:spAutoFit/>
          </a:bodyPr>
          <a:lstStyle/>
          <a:p>
            <a:pPr algn="l"/>
            <a:r>
              <a:rPr sz="1300" b="0" i="1">
                <a:solidFill>
                  <a:srgbClr val="FFFFFF"/>
                </a:solidFill>
                <a:latin typeface="Calibri"/>
              </a:rPr>
              <a:t>S5 mimicry_flood is excluded from training and validation. It is used only as a holdout test. This measures whether the model can generalize to an attack it has never seen.</a:t>
            </a:r>
          </a:p>
        </p:txBody>
      </p:sp>
      <p:sp>
        <p:nvSpPr>
          <p:cNvPr id="39" name="TextBox 38"/>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40" name="TextBox 39"/>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Anatomy of the Mimicry Attack</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Surface looks legit, behavior is flood — this asymmetry is the thesis question</a:t>
            </a:r>
          </a:p>
        </p:txBody>
      </p:sp>
      <p:sp>
        <p:nvSpPr>
          <p:cNvPr id="5" name="Rectangle 4"/>
          <p:cNvSpPr/>
          <p:nvPr/>
        </p:nvSpPr>
        <p:spPr>
          <a:xfrm>
            <a:off x="457200" y="1691640"/>
            <a:ext cx="562356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5623560" cy="5029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5074920" cy="411480"/>
          </a:xfrm>
          <a:prstGeom prst="rect">
            <a:avLst/>
          </a:prstGeom>
          <a:noFill/>
        </p:spPr>
        <p:txBody>
          <a:bodyPr wrap="square" lIns="0" rIns="0" tIns="0" bIns="0" anchor="ctr">
            <a:spAutoFit/>
          </a:bodyPr>
          <a:lstStyle/>
          <a:p>
            <a:pPr algn="l"/>
            <a:r>
              <a:rPr sz="1500" b="1" i="0" spc="200">
                <a:solidFill>
                  <a:srgbClr val="FFFFFF"/>
                </a:solidFill>
                <a:latin typeface="Calibri"/>
              </a:rPr>
              <a:t>Naive HTTP Flood</a:t>
            </a:r>
          </a:p>
        </p:txBody>
      </p:sp>
      <p:sp>
        <p:nvSpPr>
          <p:cNvPr id="8" name="TextBox 7"/>
          <p:cNvSpPr txBox="1"/>
          <p:nvPr/>
        </p:nvSpPr>
        <p:spPr>
          <a:xfrm>
            <a:off x="731520" y="2377440"/>
            <a:ext cx="1463040" cy="502920"/>
          </a:xfrm>
          <a:prstGeom prst="rect">
            <a:avLst/>
          </a:prstGeom>
          <a:noFill/>
        </p:spPr>
        <p:txBody>
          <a:bodyPr wrap="square" lIns="0" rIns="0" tIns="0" bIns="0" anchor="t">
            <a:spAutoFit/>
          </a:bodyPr>
          <a:lstStyle/>
          <a:p>
            <a:pPr algn="l"/>
            <a:r>
              <a:rPr sz="1000" b="1" i="0" spc="200">
                <a:solidFill>
                  <a:srgbClr val="F96167"/>
                </a:solidFill>
                <a:latin typeface="Calibri"/>
              </a:rPr>
              <a:t>User-Agent</a:t>
            </a:r>
          </a:p>
        </p:txBody>
      </p:sp>
      <p:sp>
        <p:nvSpPr>
          <p:cNvPr id="9" name="TextBox 8"/>
          <p:cNvSpPr txBox="1"/>
          <p:nvPr/>
        </p:nvSpPr>
        <p:spPr>
          <a:xfrm>
            <a:off x="2286000" y="2377440"/>
            <a:ext cx="3611880" cy="548640"/>
          </a:xfrm>
          <a:prstGeom prst="rect">
            <a:avLst/>
          </a:prstGeom>
          <a:noFill/>
        </p:spPr>
        <p:txBody>
          <a:bodyPr wrap="square" lIns="0" rIns="0" tIns="0" bIns="0" anchor="t">
            <a:spAutoFit/>
          </a:bodyPr>
          <a:lstStyle/>
          <a:p>
            <a:pPr algn="l"/>
            <a:r>
              <a:rPr sz="1100" b="0" i="0">
                <a:solidFill>
                  <a:srgbClr val="1A1A2E"/>
                </a:solidFill>
                <a:latin typeface="Calibri"/>
              </a:rPr>
              <a:t>curl/8.7.1, python-requests, Go-http-client</a:t>
            </a:r>
          </a:p>
        </p:txBody>
      </p:sp>
      <p:sp>
        <p:nvSpPr>
          <p:cNvPr id="10" name="TextBox 9"/>
          <p:cNvSpPr txBox="1"/>
          <p:nvPr/>
        </p:nvSpPr>
        <p:spPr>
          <a:xfrm>
            <a:off x="731520" y="2971800"/>
            <a:ext cx="1463040" cy="502920"/>
          </a:xfrm>
          <a:prstGeom prst="rect">
            <a:avLst/>
          </a:prstGeom>
          <a:noFill/>
        </p:spPr>
        <p:txBody>
          <a:bodyPr wrap="square" lIns="0" rIns="0" tIns="0" bIns="0" anchor="t">
            <a:spAutoFit/>
          </a:bodyPr>
          <a:lstStyle/>
          <a:p>
            <a:pPr algn="l"/>
            <a:r>
              <a:rPr sz="1000" b="1" i="0" spc="200">
                <a:solidFill>
                  <a:srgbClr val="F96167"/>
                </a:solidFill>
                <a:latin typeface="Calibri"/>
              </a:rPr>
              <a:t>IP Pool</a:t>
            </a:r>
          </a:p>
        </p:txBody>
      </p:sp>
      <p:sp>
        <p:nvSpPr>
          <p:cNvPr id="11" name="TextBox 10"/>
          <p:cNvSpPr txBox="1"/>
          <p:nvPr/>
        </p:nvSpPr>
        <p:spPr>
          <a:xfrm>
            <a:off x="2286000" y="2971800"/>
            <a:ext cx="3611880" cy="548640"/>
          </a:xfrm>
          <a:prstGeom prst="rect">
            <a:avLst/>
          </a:prstGeom>
          <a:noFill/>
        </p:spPr>
        <p:txBody>
          <a:bodyPr wrap="square" lIns="0" rIns="0" tIns="0" bIns="0" anchor="t">
            <a:spAutoFit/>
          </a:bodyPr>
          <a:lstStyle/>
          <a:p>
            <a:pPr algn="l"/>
            <a:r>
              <a:rPr sz="1100" b="0" i="0">
                <a:solidFill>
                  <a:srgbClr val="1A1A2E"/>
                </a:solidFill>
                <a:latin typeface="Calibri"/>
              </a:rPr>
              <a:t>Attacker-only pool with minimal legit overlap</a:t>
            </a:r>
          </a:p>
        </p:txBody>
      </p:sp>
      <p:sp>
        <p:nvSpPr>
          <p:cNvPr id="12" name="TextBox 11"/>
          <p:cNvSpPr txBox="1"/>
          <p:nvPr/>
        </p:nvSpPr>
        <p:spPr>
          <a:xfrm>
            <a:off x="731520" y="3566160"/>
            <a:ext cx="1463040" cy="502920"/>
          </a:xfrm>
          <a:prstGeom prst="rect">
            <a:avLst/>
          </a:prstGeom>
          <a:noFill/>
        </p:spPr>
        <p:txBody>
          <a:bodyPr wrap="square" lIns="0" rIns="0" tIns="0" bIns="0" anchor="t">
            <a:spAutoFit/>
          </a:bodyPr>
          <a:lstStyle/>
          <a:p>
            <a:pPr algn="l"/>
            <a:r>
              <a:rPr sz="1000" b="1" i="0" spc="200">
                <a:solidFill>
                  <a:srgbClr val="F96167"/>
                </a:solidFill>
                <a:latin typeface="Calibri"/>
              </a:rPr>
              <a:t>Login</a:t>
            </a:r>
          </a:p>
        </p:txBody>
      </p:sp>
      <p:sp>
        <p:nvSpPr>
          <p:cNvPr id="13" name="TextBox 12"/>
          <p:cNvSpPr txBox="1"/>
          <p:nvPr/>
        </p:nvSpPr>
        <p:spPr>
          <a:xfrm>
            <a:off x="2286000" y="3566160"/>
            <a:ext cx="3611880" cy="548640"/>
          </a:xfrm>
          <a:prstGeom prst="rect">
            <a:avLst/>
          </a:prstGeom>
          <a:noFill/>
        </p:spPr>
        <p:txBody>
          <a:bodyPr wrap="square" lIns="0" rIns="0" tIns="0" bIns="0" anchor="t">
            <a:spAutoFit/>
          </a:bodyPr>
          <a:lstStyle/>
          <a:p>
            <a:pPr algn="l"/>
            <a:r>
              <a:rPr sz="1100" b="0" i="0">
                <a:solidFill>
                  <a:srgbClr val="1A1A2E"/>
                </a:solidFill>
                <a:latin typeface="Calibri"/>
              </a:rPr>
              <a:t>Re-login every request, no token reuse</a:t>
            </a:r>
          </a:p>
        </p:txBody>
      </p:sp>
      <p:sp>
        <p:nvSpPr>
          <p:cNvPr id="14" name="TextBox 13"/>
          <p:cNvSpPr txBox="1"/>
          <p:nvPr/>
        </p:nvSpPr>
        <p:spPr>
          <a:xfrm>
            <a:off x="731520" y="4160520"/>
            <a:ext cx="1463040" cy="502920"/>
          </a:xfrm>
          <a:prstGeom prst="rect">
            <a:avLst/>
          </a:prstGeom>
          <a:noFill/>
        </p:spPr>
        <p:txBody>
          <a:bodyPr wrap="square" lIns="0" rIns="0" tIns="0" bIns="0" anchor="t">
            <a:spAutoFit/>
          </a:bodyPr>
          <a:lstStyle/>
          <a:p>
            <a:pPr algn="l"/>
            <a:r>
              <a:rPr sz="1000" b="1" i="0" spc="200">
                <a:solidFill>
                  <a:srgbClr val="F96167"/>
                </a:solidFill>
                <a:latin typeface="Calibri"/>
              </a:rPr>
              <a:t>Cadence</a:t>
            </a:r>
          </a:p>
        </p:txBody>
      </p:sp>
      <p:sp>
        <p:nvSpPr>
          <p:cNvPr id="15" name="TextBox 14"/>
          <p:cNvSpPr txBox="1"/>
          <p:nvPr/>
        </p:nvSpPr>
        <p:spPr>
          <a:xfrm>
            <a:off x="2286000" y="4160520"/>
            <a:ext cx="3611880" cy="548640"/>
          </a:xfrm>
          <a:prstGeom prst="rect">
            <a:avLst/>
          </a:prstGeom>
          <a:noFill/>
        </p:spPr>
        <p:txBody>
          <a:bodyPr wrap="square" lIns="0" rIns="0" tIns="0" bIns="0" anchor="t">
            <a:spAutoFit/>
          </a:bodyPr>
          <a:lstStyle/>
          <a:p>
            <a:pPr algn="l"/>
            <a:r>
              <a:rPr sz="1100" b="0" i="0">
                <a:solidFill>
                  <a:srgbClr val="1A1A2E"/>
                </a:solidFill>
                <a:latin typeface="Calibri"/>
              </a:rPr>
              <a:t>Burst of 2-5 requests, 10-50ms apart</a:t>
            </a:r>
          </a:p>
        </p:txBody>
      </p:sp>
      <p:sp>
        <p:nvSpPr>
          <p:cNvPr id="16" name="TextBox 15"/>
          <p:cNvSpPr txBox="1"/>
          <p:nvPr/>
        </p:nvSpPr>
        <p:spPr>
          <a:xfrm>
            <a:off x="731520" y="4754880"/>
            <a:ext cx="1463040" cy="502920"/>
          </a:xfrm>
          <a:prstGeom prst="rect">
            <a:avLst/>
          </a:prstGeom>
          <a:noFill/>
        </p:spPr>
        <p:txBody>
          <a:bodyPr wrap="square" lIns="0" rIns="0" tIns="0" bIns="0" anchor="t">
            <a:spAutoFit/>
          </a:bodyPr>
          <a:lstStyle/>
          <a:p>
            <a:pPr algn="l"/>
            <a:r>
              <a:rPr sz="1000" b="1" i="0" spc="200">
                <a:solidFill>
                  <a:srgbClr val="F96167"/>
                </a:solidFill>
                <a:latin typeface="Calibri"/>
              </a:rPr>
              <a:t>Signature</a:t>
            </a:r>
          </a:p>
        </p:txBody>
      </p:sp>
      <p:sp>
        <p:nvSpPr>
          <p:cNvPr id="17" name="TextBox 16"/>
          <p:cNvSpPr txBox="1"/>
          <p:nvPr/>
        </p:nvSpPr>
        <p:spPr>
          <a:xfrm>
            <a:off x="2286000" y="4754880"/>
            <a:ext cx="3611880" cy="548640"/>
          </a:xfrm>
          <a:prstGeom prst="rect">
            <a:avLst/>
          </a:prstGeom>
          <a:noFill/>
        </p:spPr>
        <p:txBody>
          <a:bodyPr wrap="square" lIns="0" rIns="0" tIns="0" bIns="0" anchor="t">
            <a:spAutoFit/>
          </a:bodyPr>
          <a:lstStyle/>
          <a:p>
            <a:pPr algn="l"/>
            <a:r>
              <a:rPr sz="1100" b="0" i="0">
                <a:solidFill>
                  <a:srgbClr val="1A1A2E"/>
                </a:solidFill>
                <a:latin typeface="Calibri"/>
              </a:rPr>
              <a:t>High rate + tool UA + distinct IP cluster</a:t>
            </a:r>
          </a:p>
        </p:txBody>
      </p:sp>
      <p:sp>
        <p:nvSpPr>
          <p:cNvPr id="18" name="Rectangle 17"/>
          <p:cNvSpPr/>
          <p:nvPr/>
        </p:nvSpPr>
        <p:spPr>
          <a:xfrm>
            <a:off x="6263640" y="1691640"/>
            <a:ext cx="5623560" cy="3840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1691640"/>
            <a:ext cx="5623560" cy="5029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1737360"/>
            <a:ext cx="5074920" cy="411480"/>
          </a:xfrm>
          <a:prstGeom prst="rect">
            <a:avLst/>
          </a:prstGeom>
          <a:noFill/>
        </p:spPr>
        <p:txBody>
          <a:bodyPr wrap="square" lIns="0" rIns="0" tIns="0" bIns="0" anchor="ctr">
            <a:spAutoFit/>
          </a:bodyPr>
          <a:lstStyle/>
          <a:p>
            <a:pPr algn="l"/>
            <a:r>
              <a:rPr sz="1500" b="1" i="0" spc="200">
                <a:solidFill>
                  <a:srgbClr val="FFFFFF"/>
                </a:solidFill>
                <a:latin typeface="Calibri"/>
              </a:rPr>
              <a:t>Mimicry Flood</a:t>
            </a:r>
          </a:p>
        </p:txBody>
      </p:sp>
      <p:sp>
        <p:nvSpPr>
          <p:cNvPr id="21" name="TextBox 20"/>
          <p:cNvSpPr txBox="1"/>
          <p:nvPr/>
        </p:nvSpPr>
        <p:spPr>
          <a:xfrm>
            <a:off x="6537960" y="2377440"/>
            <a:ext cx="1463040" cy="502920"/>
          </a:xfrm>
          <a:prstGeom prst="rect">
            <a:avLst/>
          </a:prstGeom>
          <a:noFill/>
        </p:spPr>
        <p:txBody>
          <a:bodyPr wrap="square" lIns="0" rIns="0" tIns="0" bIns="0" anchor="t">
            <a:spAutoFit/>
          </a:bodyPr>
          <a:lstStyle/>
          <a:p>
            <a:pPr algn="l"/>
            <a:r>
              <a:rPr sz="1000" b="1" i="0" spc="200">
                <a:solidFill>
                  <a:srgbClr val="1E2761"/>
                </a:solidFill>
                <a:latin typeface="Calibri"/>
              </a:rPr>
              <a:t>User-Agent</a:t>
            </a:r>
          </a:p>
        </p:txBody>
      </p:sp>
      <p:sp>
        <p:nvSpPr>
          <p:cNvPr id="22" name="TextBox 21"/>
          <p:cNvSpPr txBox="1"/>
          <p:nvPr/>
        </p:nvSpPr>
        <p:spPr>
          <a:xfrm>
            <a:off x="8092440" y="2377440"/>
            <a:ext cx="3611880" cy="548640"/>
          </a:xfrm>
          <a:prstGeom prst="rect">
            <a:avLst/>
          </a:prstGeom>
          <a:noFill/>
        </p:spPr>
        <p:txBody>
          <a:bodyPr wrap="square" lIns="0" rIns="0" tIns="0" bIns="0" anchor="t">
            <a:spAutoFit/>
          </a:bodyPr>
          <a:lstStyle/>
          <a:p>
            <a:pPr algn="l"/>
            <a:r>
              <a:rPr sz="1100" b="0" i="0">
                <a:solidFill>
                  <a:srgbClr val="1A1A2E"/>
                </a:solidFill>
                <a:latin typeface="Calibri"/>
              </a:rPr>
              <a:t>Chrome/Safari/Firefox/iPhone — same pool as legit</a:t>
            </a:r>
          </a:p>
        </p:txBody>
      </p:sp>
      <p:sp>
        <p:nvSpPr>
          <p:cNvPr id="23" name="TextBox 22"/>
          <p:cNvSpPr txBox="1"/>
          <p:nvPr/>
        </p:nvSpPr>
        <p:spPr>
          <a:xfrm>
            <a:off x="6537960" y="2971800"/>
            <a:ext cx="1463040" cy="502920"/>
          </a:xfrm>
          <a:prstGeom prst="rect">
            <a:avLst/>
          </a:prstGeom>
          <a:noFill/>
        </p:spPr>
        <p:txBody>
          <a:bodyPr wrap="square" lIns="0" rIns="0" tIns="0" bIns="0" anchor="t">
            <a:spAutoFit/>
          </a:bodyPr>
          <a:lstStyle/>
          <a:p>
            <a:pPr algn="l"/>
            <a:r>
              <a:rPr sz="1000" b="1" i="0" spc="200">
                <a:solidFill>
                  <a:srgbClr val="1E2761"/>
                </a:solidFill>
                <a:latin typeface="Calibri"/>
              </a:rPr>
              <a:t>IP Pool</a:t>
            </a:r>
          </a:p>
        </p:txBody>
      </p:sp>
      <p:sp>
        <p:nvSpPr>
          <p:cNvPr id="24" name="TextBox 23"/>
          <p:cNvSpPr txBox="1"/>
          <p:nvPr/>
        </p:nvSpPr>
        <p:spPr>
          <a:xfrm>
            <a:off x="8092440" y="2971800"/>
            <a:ext cx="3611880" cy="548640"/>
          </a:xfrm>
          <a:prstGeom prst="rect">
            <a:avLst/>
          </a:prstGeom>
          <a:noFill/>
        </p:spPr>
        <p:txBody>
          <a:bodyPr wrap="square" lIns="0" rIns="0" tIns="0" bIns="0" anchor="t">
            <a:spAutoFit/>
          </a:bodyPr>
          <a:lstStyle/>
          <a:p>
            <a:pPr algn="l"/>
            <a:r>
              <a:rPr sz="1100" b="0" i="0">
                <a:solidFill>
                  <a:srgbClr val="1A1A2E"/>
                </a:solidFill>
                <a:latin typeface="Calibri"/>
              </a:rPr>
              <a:t>15 IPs taken from legit pool + 5 new — overlap-heavy</a:t>
            </a:r>
          </a:p>
        </p:txBody>
      </p:sp>
      <p:sp>
        <p:nvSpPr>
          <p:cNvPr id="25" name="TextBox 24"/>
          <p:cNvSpPr txBox="1"/>
          <p:nvPr/>
        </p:nvSpPr>
        <p:spPr>
          <a:xfrm>
            <a:off x="6537960" y="3566160"/>
            <a:ext cx="1463040" cy="502920"/>
          </a:xfrm>
          <a:prstGeom prst="rect">
            <a:avLst/>
          </a:prstGeom>
          <a:noFill/>
        </p:spPr>
        <p:txBody>
          <a:bodyPr wrap="square" lIns="0" rIns="0" tIns="0" bIns="0" anchor="t">
            <a:spAutoFit/>
          </a:bodyPr>
          <a:lstStyle/>
          <a:p>
            <a:pPr algn="l"/>
            <a:r>
              <a:rPr sz="1000" b="1" i="0" spc="200">
                <a:solidFill>
                  <a:srgbClr val="1E2761"/>
                </a:solidFill>
                <a:latin typeface="Calibri"/>
              </a:rPr>
              <a:t>Login</a:t>
            </a:r>
          </a:p>
        </p:txBody>
      </p:sp>
      <p:sp>
        <p:nvSpPr>
          <p:cNvPr id="26" name="TextBox 25"/>
          <p:cNvSpPr txBox="1"/>
          <p:nvPr/>
        </p:nvSpPr>
        <p:spPr>
          <a:xfrm>
            <a:off x="8092440" y="3566160"/>
            <a:ext cx="3611880" cy="548640"/>
          </a:xfrm>
          <a:prstGeom prst="rect">
            <a:avLst/>
          </a:prstGeom>
          <a:noFill/>
        </p:spPr>
        <p:txBody>
          <a:bodyPr wrap="square" lIns="0" rIns="0" tIns="0" bIns="0" anchor="t">
            <a:spAutoFit/>
          </a:bodyPr>
          <a:lstStyle/>
          <a:p>
            <a:pPr algn="l"/>
            <a:r>
              <a:rPr sz="1100" b="0" i="0">
                <a:solidFill>
                  <a:srgbClr val="1A1A2E"/>
                </a:solidFill>
                <a:latin typeface="Calibri"/>
              </a:rPr>
              <a:t>Token reuse, re-login every 50 iterations — sticky session</a:t>
            </a:r>
          </a:p>
        </p:txBody>
      </p:sp>
      <p:sp>
        <p:nvSpPr>
          <p:cNvPr id="27" name="TextBox 26"/>
          <p:cNvSpPr txBox="1"/>
          <p:nvPr/>
        </p:nvSpPr>
        <p:spPr>
          <a:xfrm>
            <a:off x="6537960" y="4160520"/>
            <a:ext cx="1463040" cy="502920"/>
          </a:xfrm>
          <a:prstGeom prst="rect">
            <a:avLst/>
          </a:prstGeom>
          <a:noFill/>
        </p:spPr>
        <p:txBody>
          <a:bodyPr wrap="square" lIns="0" rIns="0" tIns="0" bIns="0" anchor="t">
            <a:spAutoFit/>
          </a:bodyPr>
          <a:lstStyle/>
          <a:p>
            <a:pPr algn="l"/>
            <a:r>
              <a:rPr sz="1000" b="1" i="0" spc="200">
                <a:solidFill>
                  <a:srgbClr val="1E2761"/>
                </a:solidFill>
                <a:latin typeface="Calibri"/>
              </a:rPr>
              <a:t>Cadence</a:t>
            </a:r>
          </a:p>
        </p:txBody>
      </p:sp>
      <p:sp>
        <p:nvSpPr>
          <p:cNvPr id="28" name="TextBox 27"/>
          <p:cNvSpPr txBox="1"/>
          <p:nvPr/>
        </p:nvSpPr>
        <p:spPr>
          <a:xfrm>
            <a:off x="8092440" y="4160520"/>
            <a:ext cx="3611880" cy="548640"/>
          </a:xfrm>
          <a:prstGeom prst="rect">
            <a:avLst/>
          </a:prstGeom>
          <a:noFill/>
        </p:spPr>
        <p:txBody>
          <a:bodyPr wrap="square" lIns="0" rIns="0" tIns="0" bIns="0" anchor="t">
            <a:spAutoFit/>
          </a:bodyPr>
          <a:lstStyle/>
          <a:p>
            <a:pPr algn="l"/>
            <a:r>
              <a:rPr sz="1100" b="0" i="0">
                <a:solidFill>
                  <a:srgbClr val="1A1A2E"/>
                </a:solidFill>
                <a:latin typeface="Calibri"/>
              </a:rPr>
              <a:t>Same burst pattern but inside legit-like sessions</a:t>
            </a:r>
          </a:p>
        </p:txBody>
      </p:sp>
      <p:sp>
        <p:nvSpPr>
          <p:cNvPr id="29" name="TextBox 28"/>
          <p:cNvSpPr txBox="1"/>
          <p:nvPr/>
        </p:nvSpPr>
        <p:spPr>
          <a:xfrm>
            <a:off x="6537960" y="4754880"/>
            <a:ext cx="1463040" cy="502920"/>
          </a:xfrm>
          <a:prstGeom prst="rect">
            <a:avLst/>
          </a:prstGeom>
          <a:noFill/>
        </p:spPr>
        <p:txBody>
          <a:bodyPr wrap="square" lIns="0" rIns="0" tIns="0" bIns="0" anchor="t">
            <a:spAutoFit/>
          </a:bodyPr>
          <a:lstStyle/>
          <a:p>
            <a:pPr algn="l"/>
            <a:r>
              <a:rPr sz="1000" b="1" i="0" spc="200">
                <a:solidFill>
                  <a:srgbClr val="1E2761"/>
                </a:solidFill>
                <a:latin typeface="Calibri"/>
              </a:rPr>
              <a:t>Signature</a:t>
            </a:r>
          </a:p>
        </p:txBody>
      </p:sp>
      <p:sp>
        <p:nvSpPr>
          <p:cNvPr id="30" name="TextBox 29"/>
          <p:cNvSpPr txBox="1"/>
          <p:nvPr/>
        </p:nvSpPr>
        <p:spPr>
          <a:xfrm>
            <a:off x="8092440" y="4754880"/>
            <a:ext cx="3611880" cy="548640"/>
          </a:xfrm>
          <a:prstGeom prst="rect">
            <a:avLst/>
          </a:prstGeom>
          <a:noFill/>
        </p:spPr>
        <p:txBody>
          <a:bodyPr wrap="square" lIns="0" rIns="0" tIns="0" bIns="0" anchor="t">
            <a:spAutoFit/>
          </a:bodyPr>
          <a:lstStyle/>
          <a:p>
            <a:pPr algn="l"/>
            <a:r>
              <a:rPr sz="1100" b="0" i="0">
                <a:solidFill>
                  <a:srgbClr val="1A1A2E"/>
                </a:solidFill>
                <a:latin typeface="Calibri"/>
              </a:rPr>
              <a:t>Surface looks legit, but total rate and endpoint focus remain</a:t>
            </a:r>
          </a:p>
        </p:txBody>
      </p:sp>
      <p:sp>
        <p:nvSpPr>
          <p:cNvPr id="31" name="Rectangle 30"/>
          <p:cNvSpPr/>
          <p:nvPr/>
        </p:nvSpPr>
        <p:spPr>
          <a:xfrm>
            <a:off x="457200" y="5715000"/>
            <a:ext cx="112471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760720"/>
            <a:ext cx="10972800" cy="548640"/>
          </a:xfrm>
          <a:prstGeom prst="rect">
            <a:avLst/>
          </a:prstGeom>
          <a:noFill/>
        </p:spPr>
        <p:txBody>
          <a:bodyPr wrap="square" lIns="0" rIns="0" tIns="0" bIns="0" anchor="ctr">
            <a:spAutoFit/>
          </a:bodyPr>
          <a:lstStyle/>
          <a:p>
            <a:pPr algn="l"/>
            <a:r>
              <a:rPr sz="1200" b="1" i="1">
                <a:solidFill>
                  <a:srgbClr val="1E2761"/>
                </a:solidFill>
                <a:latin typeface="Calibri"/>
              </a:rPr>
              <a:t>Takeaway: the attacker can imitate the surface, but the endpoint distribution, the backend cost asymmetry, and the session pattern are harder to fake. That gap is the signal we expect the model to catch.</a:t>
            </a:r>
          </a:p>
        </p:txBody>
      </p:sp>
      <p:sp>
        <p:nvSpPr>
          <p:cNvPr id="33" name="TextBox 32"/>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34" name="TextBox 33"/>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Four-Tier Feature Engineering</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Each tier looks at a different context — together they produce 37 features</a:t>
            </a:r>
          </a:p>
        </p:txBody>
      </p:sp>
      <p:sp>
        <p:nvSpPr>
          <p:cNvPr id="5" name="Rectangle 4"/>
          <p:cNvSpPr/>
          <p:nvPr/>
        </p:nvSpPr>
        <p:spPr>
          <a:xfrm>
            <a:off x="457200" y="1691640"/>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914400" cy="21945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57400"/>
            <a:ext cx="914400" cy="731520"/>
          </a:xfrm>
          <a:prstGeom prst="rect">
            <a:avLst/>
          </a:prstGeom>
          <a:noFill/>
        </p:spPr>
        <p:txBody>
          <a:bodyPr wrap="square" lIns="0" rIns="0" tIns="0" bIns="0" anchor="t">
            <a:spAutoFit/>
          </a:bodyPr>
          <a:lstStyle/>
          <a:p>
            <a:pPr algn="ctr"/>
            <a:r>
              <a:rPr sz="3200" b="1" i="0">
                <a:solidFill>
                  <a:srgbClr val="FFFFFF"/>
                </a:solidFill>
                <a:latin typeface="Georgia"/>
              </a:rPr>
              <a:t>01</a:t>
            </a:r>
          </a:p>
        </p:txBody>
      </p:sp>
      <p:sp>
        <p:nvSpPr>
          <p:cNvPr id="8" name="TextBox 7"/>
          <p:cNvSpPr txBox="1"/>
          <p:nvPr/>
        </p:nvSpPr>
        <p:spPr>
          <a:xfrm>
            <a:off x="457200" y="2788920"/>
            <a:ext cx="914400" cy="274320"/>
          </a:xfrm>
          <a:prstGeom prst="rect">
            <a:avLst/>
          </a:prstGeom>
          <a:noFill/>
        </p:spPr>
        <p:txBody>
          <a:bodyPr wrap="square" lIns="0" rIns="0" tIns="0" bIns="0" anchor="t">
            <a:spAutoFit/>
          </a:bodyPr>
          <a:lstStyle/>
          <a:p>
            <a:pPr algn="ctr"/>
            <a:r>
              <a:rPr sz="900" b="1" i="0" spc="300">
                <a:solidFill>
                  <a:srgbClr val="FFFFFF"/>
                </a:solidFill>
                <a:latin typeface="Calibri"/>
              </a:rPr>
              <a:t>TIER</a:t>
            </a:r>
          </a:p>
        </p:txBody>
      </p:sp>
      <p:sp>
        <p:nvSpPr>
          <p:cNvPr id="9" name="TextBox 8"/>
          <p:cNvSpPr txBox="1"/>
          <p:nvPr/>
        </p:nvSpPr>
        <p:spPr>
          <a:xfrm>
            <a:off x="1554480" y="1920240"/>
            <a:ext cx="4343400" cy="365760"/>
          </a:xfrm>
          <a:prstGeom prst="rect">
            <a:avLst/>
          </a:prstGeom>
          <a:noFill/>
        </p:spPr>
        <p:txBody>
          <a:bodyPr wrap="square" lIns="0" rIns="0" tIns="0" bIns="0" anchor="t">
            <a:spAutoFit/>
          </a:bodyPr>
          <a:lstStyle/>
          <a:p>
            <a:pPr algn="l"/>
            <a:r>
              <a:rPr sz="1500" b="1" i="0">
                <a:solidFill>
                  <a:srgbClr val="F96167"/>
                </a:solidFill>
                <a:latin typeface="Calibri"/>
              </a:rPr>
              <a:t>Connection-level</a:t>
            </a:r>
          </a:p>
        </p:txBody>
      </p:sp>
      <p:sp>
        <p:nvSpPr>
          <p:cNvPr id="10" name="TextBox 9"/>
          <p:cNvSpPr txBox="1"/>
          <p:nvPr/>
        </p:nvSpPr>
        <p:spPr>
          <a:xfrm>
            <a:off x="1554480" y="2331720"/>
            <a:ext cx="4343400" cy="594360"/>
          </a:xfrm>
          <a:prstGeom prst="rect">
            <a:avLst/>
          </a:prstGeom>
          <a:noFill/>
        </p:spPr>
        <p:txBody>
          <a:bodyPr wrap="square" lIns="0" rIns="0" tIns="0" bIns="0" anchor="t">
            <a:spAutoFit/>
          </a:bodyPr>
          <a:lstStyle/>
          <a:p>
            <a:pPr algn="l"/>
            <a:r>
              <a:rPr sz="1100" b="0" i="0">
                <a:solidFill>
                  <a:srgbClr val="1A1A2E"/>
                </a:solidFill>
                <a:latin typeface="Calibri"/>
              </a:rPr>
              <a:t>Per-TCP connection: duration, request count, keepalive, partial/timeout flags</a:t>
            </a:r>
          </a:p>
        </p:txBody>
      </p:sp>
      <p:sp>
        <p:nvSpPr>
          <p:cNvPr id="11" name="TextBox 10"/>
          <p:cNvSpPr txBox="1"/>
          <p:nvPr/>
        </p:nvSpPr>
        <p:spPr>
          <a:xfrm>
            <a:off x="1554480" y="3291840"/>
            <a:ext cx="4343400" cy="502920"/>
          </a:xfrm>
          <a:prstGeom prst="rect">
            <a:avLst/>
          </a:prstGeom>
          <a:noFill/>
        </p:spPr>
        <p:txBody>
          <a:bodyPr wrap="square" lIns="0" rIns="0" tIns="0" bIns="0" anchor="t">
            <a:spAutoFit/>
          </a:bodyPr>
          <a:lstStyle/>
          <a:p>
            <a:pPr algn="l"/>
            <a:r>
              <a:rPr sz="950" b="0" i="0">
                <a:solidFill>
                  <a:srgbClr val="64748B"/>
                </a:solidFill>
                <a:latin typeface="Consolas"/>
              </a:rPr>
              <a:t>durationMs · requestCount · partialRequestCount · timeoutRequestCount</a:t>
            </a:r>
          </a:p>
        </p:txBody>
      </p:sp>
      <p:sp>
        <p:nvSpPr>
          <p:cNvPr id="12" name="Rectangle 11"/>
          <p:cNvSpPr/>
          <p:nvPr/>
        </p:nvSpPr>
        <p:spPr>
          <a:xfrm>
            <a:off x="6263640" y="1691640"/>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691640"/>
            <a:ext cx="914400" cy="2194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057400"/>
            <a:ext cx="914400" cy="731520"/>
          </a:xfrm>
          <a:prstGeom prst="rect">
            <a:avLst/>
          </a:prstGeom>
          <a:noFill/>
        </p:spPr>
        <p:txBody>
          <a:bodyPr wrap="square" lIns="0" rIns="0" tIns="0" bIns="0" anchor="t">
            <a:spAutoFit/>
          </a:bodyPr>
          <a:lstStyle/>
          <a:p>
            <a:pPr algn="ctr"/>
            <a:r>
              <a:rPr sz="3200" b="1" i="0">
                <a:solidFill>
                  <a:srgbClr val="FFFFFF"/>
                </a:solidFill>
                <a:latin typeface="Georgia"/>
              </a:rPr>
              <a:t>02</a:t>
            </a:r>
          </a:p>
        </p:txBody>
      </p:sp>
      <p:sp>
        <p:nvSpPr>
          <p:cNvPr id="15" name="TextBox 14"/>
          <p:cNvSpPr txBox="1"/>
          <p:nvPr/>
        </p:nvSpPr>
        <p:spPr>
          <a:xfrm>
            <a:off x="6263640" y="2788920"/>
            <a:ext cx="914400" cy="274320"/>
          </a:xfrm>
          <a:prstGeom prst="rect">
            <a:avLst/>
          </a:prstGeom>
          <a:noFill/>
        </p:spPr>
        <p:txBody>
          <a:bodyPr wrap="square" lIns="0" rIns="0" tIns="0" bIns="0" anchor="t">
            <a:spAutoFit/>
          </a:bodyPr>
          <a:lstStyle/>
          <a:p>
            <a:pPr algn="ctr"/>
            <a:r>
              <a:rPr sz="900" b="1" i="0" spc="300">
                <a:solidFill>
                  <a:srgbClr val="FFFFFF"/>
                </a:solidFill>
                <a:latin typeface="Calibri"/>
              </a:rPr>
              <a:t>TIER</a:t>
            </a:r>
          </a:p>
        </p:txBody>
      </p:sp>
      <p:sp>
        <p:nvSpPr>
          <p:cNvPr id="16" name="TextBox 15"/>
          <p:cNvSpPr txBox="1"/>
          <p:nvPr/>
        </p:nvSpPr>
        <p:spPr>
          <a:xfrm>
            <a:off x="7360920" y="1920240"/>
            <a:ext cx="4343400" cy="365760"/>
          </a:xfrm>
          <a:prstGeom prst="rect">
            <a:avLst/>
          </a:prstGeom>
          <a:noFill/>
        </p:spPr>
        <p:txBody>
          <a:bodyPr wrap="square" lIns="0" rIns="0" tIns="0" bIns="0" anchor="t">
            <a:spAutoFit/>
          </a:bodyPr>
          <a:lstStyle/>
          <a:p>
            <a:pPr algn="l"/>
            <a:r>
              <a:rPr sz="1500" b="1" i="0">
                <a:solidFill>
                  <a:srgbClr val="1E2761"/>
                </a:solidFill>
                <a:latin typeface="Calibri"/>
              </a:rPr>
              <a:t>Window-level (10s)</a:t>
            </a:r>
          </a:p>
        </p:txBody>
      </p:sp>
      <p:sp>
        <p:nvSpPr>
          <p:cNvPr id="17" name="TextBox 16"/>
          <p:cNvSpPr txBox="1"/>
          <p:nvPr/>
        </p:nvSpPr>
        <p:spPr>
          <a:xfrm>
            <a:off x="7360920" y="2331720"/>
            <a:ext cx="4343400" cy="594360"/>
          </a:xfrm>
          <a:prstGeom prst="rect">
            <a:avLst/>
          </a:prstGeom>
          <a:noFill/>
        </p:spPr>
        <p:txBody>
          <a:bodyPr wrap="square" lIns="0" rIns="0" tIns="0" bIns="0" anchor="t">
            <a:spAutoFit/>
          </a:bodyPr>
          <a:lstStyle/>
          <a:p>
            <a:pPr algn="l"/>
            <a:r>
              <a:rPr sz="1100" b="0" i="0">
                <a:solidFill>
                  <a:srgbClr val="1A1A2E"/>
                </a:solidFill>
                <a:latin typeface="Calibri"/>
              </a:rPr>
              <a:t>10-second traffic summaries per source IP and /24 subnet</a:t>
            </a:r>
          </a:p>
        </p:txBody>
      </p:sp>
      <p:sp>
        <p:nvSpPr>
          <p:cNvPr id="18" name="TextBox 17"/>
          <p:cNvSpPr txBox="1"/>
          <p:nvPr/>
        </p:nvSpPr>
        <p:spPr>
          <a:xfrm>
            <a:off x="7360920" y="3291840"/>
            <a:ext cx="4343400" cy="502920"/>
          </a:xfrm>
          <a:prstGeom prst="rect">
            <a:avLst/>
          </a:prstGeom>
          <a:noFill/>
        </p:spPr>
        <p:txBody>
          <a:bodyPr wrap="square" lIns="0" rIns="0" tIns="0" bIns="0" anchor="t">
            <a:spAutoFit/>
          </a:bodyPr>
          <a:lstStyle/>
          <a:p>
            <a:pPr algn="l"/>
            <a:r>
              <a:rPr sz="950" b="0" i="0">
                <a:solidFill>
                  <a:srgbClr val="64748B"/>
                </a:solidFill>
                <a:latin typeface="Consolas"/>
              </a:rPr>
              <a:t>req_rate · iat_cv · endpoint_entropy · endpoint_cost_mean · login_present_ratio · status_4xx_ratio</a:t>
            </a:r>
          </a:p>
        </p:txBody>
      </p:sp>
      <p:sp>
        <p:nvSpPr>
          <p:cNvPr id="19" name="Rectangle 18"/>
          <p:cNvSpPr/>
          <p:nvPr/>
        </p:nvSpPr>
        <p:spPr>
          <a:xfrm>
            <a:off x="457200" y="4050791"/>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050791"/>
            <a:ext cx="914400" cy="219456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416552"/>
            <a:ext cx="914400" cy="731520"/>
          </a:xfrm>
          <a:prstGeom prst="rect">
            <a:avLst/>
          </a:prstGeom>
          <a:noFill/>
        </p:spPr>
        <p:txBody>
          <a:bodyPr wrap="square" lIns="0" rIns="0" tIns="0" bIns="0" anchor="t">
            <a:spAutoFit/>
          </a:bodyPr>
          <a:lstStyle/>
          <a:p>
            <a:pPr algn="ctr"/>
            <a:r>
              <a:rPr sz="3200" b="1" i="0">
                <a:solidFill>
                  <a:srgbClr val="FFFFFF"/>
                </a:solidFill>
                <a:latin typeface="Georgia"/>
              </a:rPr>
              <a:t>03</a:t>
            </a:r>
          </a:p>
        </p:txBody>
      </p:sp>
      <p:sp>
        <p:nvSpPr>
          <p:cNvPr id="22" name="TextBox 21"/>
          <p:cNvSpPr txBox="1"/>
          <p:nvPr/>
        </p:nvSpPr>
        <p:spPr>
          <a:xfrm>
            <a:off x="457200" y="5148072"/>
            <a:ext cx="914400" cy="274320"/>
          </a:xfrm>
          <a:prstGeom prst="rect">
            <a:avLst/>
          </a:prstGeom>
          <a:noFill/>
        </p:spPr>
        <p:txBody>
          <a:bodyPr wrap="square" lIns="0" rIns="0" tIns="0" bIns="0" anchor="t">
            <a:spAutoFit/>
          </a:bodyPr>
          <a:lstStyle/>
          <a:p>
            <a:pPr algn="ctr"/>
            <a:r>
              <a:rPr sz="900" b="1" i="0" spc="300">
                <a:solidFill>
                  <a:srgbClr val="FFFFFF"/>
                </a:solidFill>
                <a:latin typeface="Calibri"/>
              </a:rPr>
              <a:t>TIER</a:t>
            </a:r>
          </a:p>
        </p:txBody>
      </p:sp>
      <p:sp>
        <p:nvSpPr>
          <p:cNvPr id="23" name="TextBox 22"/>
          <p:cNvSpPr txBox="1"/>
          <p:nvPr/>
        </p:nvSpPr>
        <p:spPr>
          <a:xfrm>
            <a:off x="1554480" y="4279392"/>
            <a:ext cx="4343400" cy="365760"/>
          </a:xfrm>
          <a:prstGeom prst="rect">
            <a:avLst/>
          </a:prstGeom>
          <a:noFill/>
        </p:spPr>
        <p:txBody>
          <a:bodyPr wrap="square" lIns="0" rIns="0" tIns="0" bIns="0" anchor="t">
            <a:spAutoFit/>
          </a:bodyPr>
          <a:lstStyle/>
          <a:p>
            <a:pPr algn="l"/>
            <a:r>
              <a:rPr sz="1500" b="1" i="0">
                <a:solidFill>
                  <a:srgbClr val="2B3A8C"/>
                </a:solidFill>
                <a:latin typeface="Calibri"/>
              </a:rPr>
              <a:t>Global (system-wide)</a:t>
            </a:r>
          </a:p>
        </p:txBody>
      </p:sp>
      <p:sp>
        <p:nvSpPr>
          <p:cNvPr id="24" name="TextBox 23"/>
          <p:cNvSpPr txBox="1"/>
          <p:nvPr/>
        </p:nvSpPr>
        <p:spPr>
          <a:xfrm>
            <a:off x="1554480" y="4690872"/>
            <a:ext cx="4343400" cy="594360"/>
          </a:xfrm>
          <a:prstGeom prst="rect">
            <a:avLst/>
          </a:prstGeom>
          <a:noFill/>
        </p:spPr>
        <p:txBody>
          <a:bodyPr wrap="square" lIns="0" rIns="0" tIns="0" bIns="0" anchor="t">
            <a:spAutoFit/>
          </a:bodyPr>
          <a:lstStyle/>
          <a:p>
            <a:pPr algn="l"/>
            <a:r>
              <a:rPr sz="1100" b="0" i="0">
                <a:solidFill>
                  <a:srgbClr val="1A1A2E"/>
                </a:solidFill>
                <a:latin typeface="Calibri"/>
              </a:rPr>
              <a:t>What happens system-wide in that 10-second window — the spread signature</a:t>
            </a:r>
          </a:p>
        </p:txBody>
      </p:sp>
      <p:sp>
        <p:nvSpPr>
          <p:cNvPr id="25" name="TextBox 24"/>
          <p:cNvSpPr txBox="1"/>
          <p:nvPr/>
        </p:nvSpPr>
        <p:spPr>
          <a:xfrm>
            <a:off x="1554480" y="5650992"/>
            <a:ext cx="4343400" cy="502920"/>
          </a:xfrm>
          <a:prstGeom prst="rect">
            <a:avLst/>
          </a:prstGeom>
          <a:noFill/>
        </p:spPr>
        <p:txBody>
          <a:bodyPr wrap="square" lIns="0" rIns="0" tIns="0" bIns="0" anchor="t">
            <a:spAutoFit/>
          </a:bodyPr>
          <a:lstStyle/>
          <a:p>
            <a:pPr algn="l"/>
            <a:r>
              <a:rPr sz="950" b="0" i="0">
                <a:solidFill>
                  <a:srgbClr val="64748B"/>
                </a:solidFill>
                <a:latin typeface="Consolas"/>
              </a:rPr>
              <a:t>global_unique_ip · global_unique_subnet · global_req_rate · global_new_src_ratio</a:t>
            </a:r>
          </a:p>
        </p:txBody>
      </p:sp>
      <p:sp>
        <p:nvSpPr>
          <p:cNvPr id="26" name="Rectangle 25"/>
          <p:cNvSpPr/>
          <p:nvPr/>
        </p:nvSpPr>
        <p:spPr>
          <a:xfrm>
            <a:off x="6263640" y="4050791"/>
            <a:ext cx="562356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4050791"/>
            <a:ext cx="914400" cy="219456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4416552"/>
            <a:ext cx="914400" cy="731520"/>
          </a:xfrm>
          <a:prstGeom prst="rect">
            <a:avLst/>
          </a:prstGeom>
          <a:noFill/>
        </p:spPr>
        <p:txBody>
          <a:bodyPr wrap="square" lIns="0" rIns="0" tIns="0" bIns="0" anchor="t">
            <a:spAutoFit/>
          </a:bodyPr>
          <a:lstStyle/>
          <a:p>
            <a:pPr algn="ctr"/>
            <a:r>
              <a:rPr sz="3200" b="1" i="0">
                <a:solidFill>
                  <a:srgbClr val="FFFFFF"/>
                </a:solidFill>
                <a:latin typeface="Georgia"/>
              </a:rPr>
              <a:t>04</a:t>
            </a:r>
          </a:p>
        </p:txBody>
      </p:sp>
      <p:sp>
        <p:nvSpPr>
          <p:cNvPr id="29" name="TextBox 28"/>
          <p:cNvSpPr txBox="1"/>
          <p:nvPr/>
        </p:nvSpPr>
        <p:spPr>
          <a:xfrm>
            <a:off x="6263640" y="5148072"/>
            <a:ext cx="914400" cy="274320"/>
          </a:xfrm>
          <a:prstGeom prst="rect">
            <a:avLst/>
          </a:prstGeom>
          <a:noFill/>
        </p:spPr>
        <p:txBody>
          <a:bodyPr wrap="square" lIns="0" rIns="0" tIns="0" bIns="0" anchor="t">
            <a:spAutoFit/>
          </a:bodyPr>
          <a:lstStyle/>
          <a:p>
            <a:pPr algn="ctr"/>
            <a:r>
              <a:rPr sz="900" b="1" i="0" spc="300">
                <a:solidFill>
                  <a:srgbClr val="FFFFFF"/>
                </a:solidFill>
                <a:latin typeface="Calibri"/>
              </a:rPr>
              <a:t>TIER</a:t>
            </a:r>
          </a:p>
        </p:txBody>
      </p:sp>
      <p:sp>
        <p:nvSpPr>
          <p:cNvPr id="30" name="TextBox 29"/>
          <p:cNvSpPr txBox="1"/>
          <p:nvPr/>
        </p:nvSpPr>
        <p:spPr>
          <a:xfrm>
            <a:off x="7360920" y="4279392"/>
            <a:ext cx="4343400" cy="365760"/>
          </a:xfrm>
          <a:prstGeom prst="rect">
            <a:avLst/>
          </a:prstGeom>
          <a:noFill/>
        </p:spPr>
        <p:txBody>
          <a:bodyPr wrap="square" lIns="0" rIns="0" tIns="0" bIns="0" anchor="t">
            <a:spAutoFit/>
          </a:bodyPr>
          <a:lstStyle/>
          <a:p>
            <a:pPr algn="l"/>
            <a:r>
              <a:rPr sz="1500" b="1" i="0">
                <a:solidFill>
                  <a:srgbClr val="018F71"/>
                </a:solidFill>
                <a:latin typeface="Calibri"/>
              </a:rPr>
              <a:t>Baseline Distance</a:t>
            </a:r>
          </a:p>
        </p:txBody>
      </p:sp>
      <p:sp>
        <p:nvSpPr>
          <p:cNvPr id="31" name="TextBox 30"/>
          <p:cNvSpPr txBox="1"/>
          <p:nvPr/>
        </p:nvSpPr>
        <p:spPr>
          <a:xfrm>
            <a:off x="7360920" y="4690872"/>
            <a:ext cx="4343400" cy="594360"/>
          </a:xfrm>
          <a:prstGeom prst="rect">
            <a:avLst/>
          </a:prstGeom>
          <a:noFill/>
        </p:spPr>
        <p:txBody>
          <a:bodyPr wrap="square" lIns="0" rIns="0" tIns="0" bIns="0" anchor="t">
            <a:spAutoFit/>
          </a:bodyPr>
          <a:lstStyle/>
          <a:p>
            <a:pPr algn="l"/>
            <a:r>
              <a:rPr sz="1100" b="0" i="0">
                <a:solidFill>
                  <a:srgbClr val="1A1A2E"/>
                </a:solidFill>
                <a:latin typeface="Calibri"/>
              </a:rPr>
              <a:t>Distance from a historical reference (NASA traces) — Markov + IAT KS</a:t>
            </a:r>
          </a:p>
        </p:txBody>
      </p:sp>
      <p:sp>
        <p:nvSpPr>
          <p:cNvPr id="32" name="TextBox 31"/>
          <p:cNvSpPr txBox="1"/>
          <p:nvPr/>
        </p:nvSpPr>
        <p:spPr>
          <a:xfrm>
            <a:off x="7360920" y="5650992"/>
            <a:ext cx="4343400" cy="502920"/>
          </a:xfrm>
          <a:prstGeom prst="rect">
            <a:avLst/>
          </a:prstGeom>
          <a:noFill/>
        </p:spPr>
        <p:txBody>
          <a:bodyPr wrap="square" lIns="0" rIns="0" tIns="0" bIns="0" anchor="t">
            <a:spAutoFit/>
          </a:bodyPr>
          <a:lstStyle/>
          <a:p>
            <a:pPr algn="l"/>
            <a:r>
              <a:rPr sz="950" b="0" i="0">
                <a:solidFill>
                  <a:srgbClr val="64748B"/>
                </a:solidFill>
                <a:latin typeface="Consolas"/>
              </a:rPr>
              <a:t>markov_log_likelihood · iat_ks_distance</a:t>
            </a:r>
          </a:p>
        </p:txBody>
      </p:sp>
      <p:sp>
        <p:nvSpPr>
          <p:cNvPr id="33" name="TextBox 32"/>
          <p:cNvSpPr txBox="1"/>
          <p:nvPr/>
        </p:nvSpPr>
        <p:spPr>
          <a:xfrm>
            <a:off x="457200" y="6263640"/>
            <a:ext cx="11247120" cy="274320"/>
          </a:xfrm>
          <a:prstGeom prst="rect">
            <a:avLst/>
          </a:prstGeom>
          <a:noFill/>
        </p:spPr>
        <p:txBody>
          <a:bodyPr wrap="square" lIns="0" rIns="0" tIns="0" bIns="0" anchor="t">
            <a:spAutoFit/>
          </a:bodyPr>
          <a:lstStyle/>
          <a:p>
            <a:pPr algn="ctr"/>
            <a:r>
              <a:rPr sz="1100" b="0" i="1">
                <a:solidFill>
                  <a:srgbClr val="64748B"/>
                </a:solidFill>
                <a:latin typeface="Calibri"/>
              </a:rPr>
              <a:t>37 numerical features in total · separate rows for IP and /24 subnet aggregations · NaN values filled with 0</a:t>
            </a:r>
          </a:p>
        </p:txBody>
      </p:sp>
      <p:sp>
        <p:nvSpPr>
          <p:cNvPr id="34" name="TextBox 33"/>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35" name="TextBox 34"/>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Proposed Model: ISO + RF (Stacked)</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A semi-supervised anomaly layer followed by a supervised classifier</a:t>
            </a:r>
          </a:p>
        </p:txBody>
      </p:sp>
      <p:sp>
        <p:nvSpPr>
          <p:cNvPr id="5" name="Rectangle 4"/>
          <p:cNvSpPr/>
          <p:nvPr/>
        </p:nvSpPr>
        <p:spPr>
          <a:xfrm>
            <a:off x="457200" y="1828800"/>
            <a:ext cx="530352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303520" cy="4572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74519"/>
            <a:ext cx="4937760" cy="365760"/>
          </a:xfrm>
          <a:prstGeom prst="rect">
            <a:avLst/>
          </a:prstGeom>
          <a:noFill/>
        </p:spPr>
        <p:txBody>
          <a:bodyPr wrap="square" lIns="0" rIns="0" tIns="0" bIns="0" anchor="ctr">
            <a:spAutoFit/>
          </a:bodyPr>
          <a:lstStyle/>
          <a:p>
            <a:pPr algn="l"/>
            <a:r>
              <a:rPr sz="1300" b="1" i="0" spc="200">
                <a:solidFill>
                  <a:srgbClr val="FFFFFF"/>
                </a:solidFill>
                <a:latin typeface="Calibri"/>
              </a:rPr>
              <a:t>LAYER A · Isolation Forest</a:t>
            </a:r>
          </a:p>
        </p:txBody>
      </p:sp>
      <p:sp>
        <p:nvSpPr>
          <p:cNvPr id="8" name="TextBox 7"/>
          <p:cNvSpPr txBox="1"/>
          <p:nvPr/>
        </p:nvSpPr>
        <p:spPr>
          <a:xfrm>
            <a:off x="640080" y="2423160"/>
            <a:ext cx="4937760" cy="320040"/>
          </a:xfrm>
          <a:prstGeom prst="rect">
            <a:avLst/>
          </a:prstGeom>
          <a:noFill/>
        </p:spPr>
        <p:txBody>
          <a:bodyPr wrap="square" lIns="0" rIns="0" tIns="0" bIns="0" anchor="t">
            <a:spAutoFit/>
          </a:bodyPr>
          <a:lstStyle/>
          <a:p>
            <a:pPr algn="l"/>
            <a:r>
              <a:rPr sz="1100" b="0" i="1">
                <a:solidFill>
                  <a:srgbClr val="64748B"/>
                </a:solidFill>
                <a:latin typeface="Calibri"/>
              </a:rPr>
              <a:t>Semi-supervised · Trained only on normal_user traffic</a:t>
            </a:r>
          </a:p>
        </p:txBody>
      </p:sp>
      <p:sp>
        <p:nvSpPr>
          <p:cNvPr id="9" name="TextBox 8"/>
          <p:cNvSpPr txBox="1"/>
          <p:nvPr/>
        </p:nvSpPr>
        <p:spPr>
          <a:xfrm>
            <a:off x="640080" y="2880360"/>
            <a:ext cx="4937760" cy="2926080"/>
          </a:xfrm>
          <a:prstGeom prst="rect">
            <a:avLst/>
          </a:prstGeom>
          <a:noFill/>
        </p:spPr>
        <p:txBody>
          <a:bodyPr wrap="square" lIns="0" rIns="0" tIns="0" bIns="0" anchor="t">
            <a:spAutoFit/>
          </a:bodyPr>
          <a:lstStyle/>
          <a:p>
            <a:pPr algn="l"/>
            <a:r>
              <a:rPr sz="1200" b="1" i="0">
                <a:solidFill>
                  <a:srgbClr val="1A1A2E"/>
                </a:solidFill>
                <a:latin typeface="Calibri"/>
              </a:rPr>
              <a:t>Goal: </a:t>
            </a:r>
            <a:r>
              <a:rPr sz="1200" b="0" i="0">
                <a:solidFill>
                  <a:srgbClr val="1A1A2E"/>
                </a:solidFill>
                <a:latin typeface="Calibri"/>
              </a:rPr>
              <a:t>produce a per-window </a:t>
            </a:r>
            <a:r>
              <a:rPr sz="1200" b="1" i="0">
                <a:solidFill>
                  <a:srgbClr val="1E2761"/>
                </a:solidFill>
                <a:latin typeface="Calibri"/>
              </a:rPr>
              <a:t>anomaly_score </a:t>
            </a:r>
            <a:r>
              <a:rPr sz="1200" b="0" i="0">
                <a:solidFill>
                  <a:srgbClr val="1A1A2E"/>
                </a:solidFill>
                <a:latin typeface="Calibri"/>
              </a:rPr>
              <a:t>feature.</a:t>
            </a:r>
          </a:p>
          <a:p>
            <a:pPr algn="l"/>
            <a:r>
              <a:rPr sz="1200" b="1" i="0">
                <a:solidFill>
                  <a:srgbClr val="1A1A2E"/>
                </a:solidFill>
                <a:latin typeface="Calibri"/>
              </a:rPr>
              <a:t>Setup: </a:t>
            </a:r>
            <a:r>
              <a:rPr sz="1200" b="0" i="0">
                <a:solidFill>
                  <a:srgbClr val="1A1A2E"/>
                </a:solidFill>
                <a:latin typeface="Calibri"/>
              </a:rPr>
              <a:t>200 trees, contamination=0.05, decision_function inverted so higher = more anomalous.</a:t>
            </a:r>
          </a:p>
          <a:p>
            <a:pPr algn="l"/>
            <a:r>
              <a:rPr sz="1200" b="1" i="0">
                <a:solidFill>
                  <a:srgbClr val="1A1A2E"/>
                </a:solidFill>
                <a:latin typeface="Calibri"/>
              </a:rPr>
              <a:t>Output: </a:t>
            </a:r>
            <a:r>
              <a:rPr sz="1200" b="0" i="0">
                <a:solidFill>
                  <a:srgbClr val="1A1A2E"/>
                </a:solidFill>
                <a:latin typeface="Calibri"/>
              </a:rPr>
              <a:t>one extra feature, passed forward to Layer B alongside the original 37.</a:t>
            </a:r>
          </a:p>
        </p:txBody>
      </p:sp>
      <p:sp>
        <p:nvSpPr>
          <p:cNvPr id="10" name="Right Triangle 9"/>
          <p:cNvSpPr/>
          <p:nvPr/>
        </p:nvSpPr>
        <p:spPr>
          <a:xfrm rot="5400000">
            <a:off x="5943600" y="3703320"/>
            <a:ext cx="411480" cy="457200"/>
          </a:xfrm>
          <a:prstGeom prst="rtTriangl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828800"/>
            <a:ext cx="530352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828800"/>
            <a:ext cx="53035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874519"/>
            <a:ext cx="4937760" cy="365760"/>
          </a:xfrm>
          <a:prstGeom prst="rect">
            <a:avLst/>
          </a:prstGeom>
          <a:noFill/>
        </p:spPr>
        <p:txBody>
          <a:bodyPr wrap="square" lIns="0" rIns="0" tIns="0" bIns="0" anchor="ctr">
            <a:spAutoFit/>
          </a:bodyPr>
          <a:lstStyle/>
          <a:p>
            <a:pPr algn="l"/>
            <a:r>
              <a:rPr sz="1300" b="1" i="0" spc="200">
                <a:solidFill>
                  <a:srgbClr val="FFFFFF"/>
                </a:solidFill>
                <a:latin typeface="Calibri"/>
              </a:rPr>
              <a:t>LAYER B · Random Forest</a:t>
            </a:r>
          </a:p>
        </p:txBody>
      </p:sp>
      <p:sp>
        <p:nvSpPr>
          <p:cNvPr id="14" name="TextBox 13"/>
          <p:cNvSpPr txBox="1"/>
          <p:nvPr/>
        </p:nvSpPr>
        <p:spPr>
          <a:xfrm>
            <a:off x="6583680" y="2423160"/>
            <a:ext cx="4937760" cy="320040"/>
          </a:xfrm>
          <a:prstGeom prst="rect">
            <a:avLst/>
          </a:prstGeom>
          <a:noFill/>
        </p:spPr>
        <p:txBody>
          <a:bodyPr wrap="square" lIns="0" rIns="0" tIns="0" bIns="0" anchor="t">
            <a:spAutoFit/>
          </a:bodyPr>
          <a:lstStyle/>
          <a:p>
            <a:pPr algn="l"/>
            <a:r>
              <a:rPr sz="1100" b="0" i="1">
                <a:solidFill>
                  <a:srgbClr val="64748B"/>
                </a:solidFill>
                <a:latin typeface="Calibri"/>
              </a:rPr>
              <a:t>Supervised · 4-class multiclass classification</a:t>
            </a:r>
          </a:p>
        </p:txBody>
      </p:sp>
      <p:sp>
        <p:nvSpPr>
          <p:cNvPr id="15" name="TextBox 14"/>
          <p:cNvSpPr txBox="1"/>
          <p:nvPr/>
        </p:nvSpPr>
        <p:spPr>
          <a:xfrm>
            <a:off x="6583680" y="2880360"/>
            <a:ext cx="4937760" cy="2926080"/>
          </a:xfrm>
          <a:prstGeom prst="rect">
            <a:avLst/>
          </a:prstGeom>
          <a:noFill/>
        </p:spPr>
        <p:txBody>
          <a:bodyPr wrap="square" lIns="0" rIns="0" tIns="0" bIns="0" anchor="t">
            <a:spAutoFit/>
          </a:bodyPr>
          <a:lstStyle/>
          <a:p>
            <a:pPr algn="l"/>
            <a:r>
              <a:rPr sz="1200" b="1" i="0">
                <a:solidFill>
                  <a:srgbClr val="1A1A2E"/>
                </a:solidFill>
                <a:latin typeface="Calibri"/>
              </a:rPr>
              <a:t>Classes: </a:t>
            </a:r>
            <a:r>
              <a:rPr sz="1200" b="0" i="0">
                <a:solidFill>
                  <a:srgbClr val="1A1A2E"/>
                </a:solidFill>
                <a:latin typeface="Calibri"/>
              </a:rPr>
              <a:t>normal_user · http_flood · low_rate_bot · credential_stuffing</a:t>
            </a:r>
          </a:p>
          <a:p>
            <a:pPr algn="l"/>
            <a:r>
              <a:rPr sz="1200" b="1" i="0">
                <a:solidFill>
                  <a:srgbClr val="1A1A2E"/>
                </a:solidFill>
                <a:latin typeface="Calibri"/>
              </a:rPr>
              <a:t>Setup: </a:t>
            </a:r>
            <a:r>
              <a:rPr sz="1200" b="0" i="0">
                <a:solidFill>
                  <a:srgbClr val="1A1A2E"/>
                </a:solidFill>
                <a:latin typeface="Calibri"/>
              </a:rPr>
              <a:t>300 trees, balanced_subsample class weight, 37 + 1 (anomaly_score) features.</a:t>
            </a:r>
          </a:p>
          <a:p>
            <a:pPr algn="l"/>
            <a:r>
              <a:rPr sz="1200" b="1" i="0">
                <a:solidFill>
                  <a:srgbClr val="1A1A2E"/>
                </a:solidFill>
                <a:latin typeface="Calibri"/>
              </a:rPr>
              <a:t>Comparison: </a:t>
            </a:r>
            <a:r>
              <a:rPr sz="1200" b="0" i="0">
                <a:solidFill>
                  <a:srgbClr val="1A1A2E"/>
                </a:solidFill>
                <a:latin typeface="Calibri"/>
              </a:rPr>
              <a:t>directly compared against a baseline RF trained on the same 37 features without anomaly_score.</a:t>
            </a:r>
          </a:p>
        </p:txBody>
      </p:sp>
      <p:sp>
        <p:nvSpPr>
          <p:cNvPr id="16" name="TextBox 15"/>
          <p:cNvSpPr txBox="1"/>
          <p:nvPr/>
        </p:nvSpPr>
        <p:spPr>
          <a:xfrm>
            <a:off x="457200" y="6126480"/>
            <a:ext cx="11247120" cy="411480"/>
          </a:xfrm>
          <a:prstGeom prst="rect">
            <a:avLst/>
          </a:prstGeom>
          <a:noFill/>
        </p:spPr>
        <p:txBody>
          <a:bodyPr wrap="square" lIns="0" rIns="0" tIns="0" bIns="0" anchor="t">
            <a:spAutoFit/>
          </a:bodyPr>
          <a:lstStyle/>
          <a:p>
            <a:pPr algn="ctr"/>
            <a:r>
              <a:rPr sz="1100" b="0" i="1">
                <a:solidFill>
                  <a:srgbClr val="64748B"/>
                </a:solidFill>
                <a:latin typeface="Calibri"/>
              </a:rPr>
              <a:t>Why stacked? — The semi-supervised layer learns the "shape" of normal traffic; the supervised layer maps deviations into specific attack types. The two together gave consistent results both in-distribution and on the mimicry holdout.</a:t>
            </a:r>
          </a:p>
        </p:txBody>
      </p:sp>
      <p:sp>
        <p:nvSpPr>
          <p:cNvPr id="17" name="TextBox 16"/>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18" name="TextBox 17"/>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2 · METHODOLOGY</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Evaluation Protocol</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Three independent exams: in-distribution, holdout, and leakage check</a:t>
            </a:r>
          </a:p>
        </p:txBody>
      </p:sp>
      <p:sp>
        <p:nvSpPr>
          <p:cNvPr id="5" name="Rectangle 4"/>
          <p:cNvSpPr/>
          <p:nvPr/>
        </p:nvSpPr>
        <p:spPr>
          <a:xfrm>
            <a:off x="457200" y="1691640"/>
            <a:ext cx="1124712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822960" cy="14173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11680"/>
            <a:ext cx="822960" cy="777240"/>
          </a:xfrm>
          <a:prstGeom prst="rect">
            <a:avLst/>
          </a:prstGeom>
          <a:noFill/>
        </p:spPr>
        <p:txBody>
          <a:bodyPr wrap="square" lIns="0" rIns="0" tIns="0" bIns="0" anchor="t">
            <a:spAutoFit/>
          </a:bodyPr>
          <a:lstStyle/>
          <a:p>
            <a:pPr algn="ctr"/>
            <a:r>
              <a:rPr sz="4000" b="1" i="0">
                <a:solidFill>
                  <a:srgbClr val="FFFFFF"/>
                </a:solidFill>
                <a:latin typeface="Georgia"/>
              </a:rPr>
              <a:t>A</a:t>
            </a:r>
          </a:p>
        </p:txBody>
      </p:sp>
      <p:sp>
        <p:nvSpPr>
          <p:cNvPr id="8" name="TextBox 7"/>
          <p:cNvSpPr txBox="1"/>
          <p:nvPr/>
        </p:nvSpPr>
        <p:spPr>
          <a:xfrm>
            <a:off x="1463040" y="1874520"/>
            <a:ext cx="10058400" cy="365760"/>
          </a:xfrm>
          <a:prstGeom prst="rect">
            <a:avLst/>
          </a:prstGeom>
          <a:noFill/>
        </p:spPr>
        <p:txBody>
          <a:bodyPr wrap="square" lIns="0" rIns="0" tIns="0" bIns="0" anchor="t">
            <a:spAutoFit/>
          </a:bodyPr>
          <a:lstStyle/>
          <a:p>
            <a:pPr algn="l"/>
            <a:r>
              <a:rPr sz="1600" b="1" i="0">
                <a:solidFill>
                  <a:srgbClr val="1E2761"/>
                </a:solidFill>
                <a:latin typeface="Calibri"/>
              </a:rPr>
              <a:t>In-Distribution Test</a:t>
            </a:r>
          </a:p>
        </p:txBody>
      </p:sp>
      <p:sp>
        <p:nvSpPr>
          <p:cNvPr id="9" name="TextBox 8"/>
          <p:cNvSpPr txBox="1"/>
          <p:nvPr/>
        </p:nvSpPr>
        <p:spPr>
          <a:xfrm>
            <a:off x="1463040" y="2240280"/>
            <a:ext cx="10058400" cy="320040"/>
          </a:xfrm>
          <a:prstGeom prst="rect">
            <a:avLst/>
          </a:prstGeom>
          <a:noFill/>
        </p:spPr>
        <p:txBody>
          <a:bodyPr wrap="square" lIns="0" rIns="0" tIns="0" bIns="0" anchor="t">
            <a:spAutoFit/>
          </a:bodyPr>
          <a:lstStyle/>
          <a:p>
            <a:pPr algn="l"/>
            <a:r>
              <a:rPr sz="1000" b="1" i="0">
                <a:solidFill>
                  <a:srgbClr val="64748B"/>
                </a:solidFill>
                <a:latin typeface="Calibri"/>
              </a:rPr>
              <a:t>What it does:  </a:t>
            </a:r>
            <a:r>
              <a:rPr sz="1100" b="0" i="0">
                <a:solidFill>
                  <a:srgbClr val="1A1A2E"/>
                </a:solidFill>
                <a:latin typeface="Calibri"/>
              </a:rPr>
              <a:t>Four classes (normal / flood / low-rate / credential) with stratified train/val/test split</a:t>
            </a:r>
          </a:p>
        </p:txBody>
      </p:sp>
      <p:sp>
        <p:nvSpPr>
          <p:cNvPr id="10" name="TextBox 9"/>
          <p:cNvSpPr txBox="1"/>
          <p:nvPr/>
        </p:nvSpPr>
        <p:spPr>
          <a:xfrm>
            <a:off x="1463040" y="2532888"/>
            <a:ext cx="10058400" cy="274320"/>
          </a:xfrm>
          <a:prstGeom prst="rect">
            <a:avLst/>
          </a:prstGeom>
          <a:noFill/>
        </p:spPr>
        <p:txBody>
          <a:bodyPr wrap="square" lIns="0" rIns="0" tIns="0" bIns="0" anchor="t">
            <a:spAutoFit/>
          </a:bodyPr>
          <a:lstStyle/>
          <a:p>
            <a:pPr algn="l"/>
            <a:r>
              <a:rPr sz="1000" b="1" i="0">
                <a:solidFill>
                  <a:srgbClr val="64748B"/>
                </a:solidFill>
                <a:latin typeface="Calibri"/>
              </a:rPr>
              <a:t>Metrics:  </a:t>
            </a:r>
            <a:r>
              <a:rPr sz="1050" b="0" i="1">
                <a:solidFill>
                  <a:srgbClr val="1A1A2E"/>
                </a:solidFill>
                <a:latin typeface="Calibri"/>
              </a:rPr>
              <a:t>Accuracy · Macro-F1 · PR-AUC · Confusion Matrix</a:t>
            </a:r>
          </a:p>
        </p:txBody>
      </p:sp>
      <p:sp>
        <p:nvSpPr>
          <p:cNvPr id="11" name="TextBox 10"/>
          <p:cNvSpPr txBox="1"/>
          <p:nvPr/>
        </p:nvSpPr>
        <p:spPr>
          <a:xfrm>
            <a:off x="1463040" y="2807208"/>
            <a:ext cx="10058400" cy="274320"/>
          </a:xfrm>
          <a:prstGeom prst="rect">
            <a:avLst/>
          </a:prstGeom>
          <a:noFill/>
        </p:spPr>
        <p:txBody>
          <a:bodyPr wrap="square" lIns="0" rIns="0" tIns="0" bIns="0" anchor="t">
            <a:spAutoFit/>
          </a:bodyPr>
          <a:lstStyle/>
          <a:p>
            <a:pPr algn="l"/>
            <a:r>
              <a:rPr sz="1000" b="1" i="0">
                <a:solidFill>
                  <a:srgbClr val="64748B"/>
                </a:solidFill>
                <a:latin typeface="Calibri"/>
              </a:rPr>
              <a:t>Purpose:  </a:t>
            </a:r>
            <a:r>
              <a:rPr sz="1100" b="0" i="1">
                <a:solidFill>
                  <a:srgbClr val="1E2761"/>
                </a:solidFill>
                <a:latin typeface="Calibri"/>
              </a:rPr>
              <a:t>Does the model separate known attack types correctly?</a:t>
            </a:r>
          </a:p>
        </p:txBody>
      </p:sp>
      <p:sp>
        <p:nvSpPr>
          <p:cNvPr id="12" name="Rectangle 11"/>
          <p:cNvSpPr/>
          <p:nvPr/>
        </p:nvSpPr>
        <p:spPr>
          <a:xfrm>
            <a:off x="457200" y="3246120"/>
            <a:ext cx="1124712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246120"/>
            <a:ext cx="822960" cy="1417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566160"/>
            <a:ext cx="822960" cy="777240"/>
          </a:xfrm>
          <a:prstGeom prst="rect">
            <a:avLst/>
          </a:prstGeom>
          <a:noFill/>
        </p:spPr>
        <p:txBody>
          <a:bodyPr wrap="square" lIns="0" rIns="0" tIns="0" bIns="0" anchor="t">
            <a:spAutoFit/>
          </a:bodyPr>
          <a:lstStyle/>
          <a:p>
            <a:pPr algn="ctr"/>
            <a:r>
              <a:rPr sz="4000" b="1" i="0">
                <a:solidFill>
                  <a:srgbClr val="FFFFFF"/>
                </a:solidFill>
                <a:latin typeface="Georgia"/>
              </a:rPr>
              <a:t>B</a:t>
            </a:r>
          </a:p>
        </p:txBody>
      </p:sp>
      <p:sp>
        <p:nvSpPr>
          <p:cNvPr id="15" name="TextBox 14"/>
          <p:cNvSpPr txBox="1"/>
          <p:nvPr/>
        </p:nvSpPr>
        <p:spPr>
          <a:xfrm>
            <a:off x="1463040" y="3429000"/>
            <a:ext cx="10058400" cy="365760"/>
          </a:xfrm>
          <a:prstGeom prst="rect">
            <a:avLst/>
          </a:prstGeom>
          <a:noFill/>
        </p:spPr>
        <p:txBody>
          <a:bodyPr wrap="square" lIns="0" rIns="0" tIns="0" bIns="0" anchor="t">
            <a:spAutoFit/>
          </a:bodyPr>
          <a:lstStyle/>
          <a:p>
            <a:pPr algn="l"/>
            <a:r>
              <a:rPr sz="1600" b="1" i="0">
                <a:solidFill>
                  <a:srgbClr val="F96167"/>
                </a:solidFill>
                <a:latin typeface="Calibri"/>
              </a:rPr>
              <a:t>★ Mimicry Holdout</a:t>
            </a:r>
          </a:p>
        </p:txBody>
      </p:sp>
      <p:sp>
        <p:nvSpPr>
          <p:cNvPr id="16" name="TextBox 15"/>
          <p:cNvSpPr txBox="1"/>
          <p:nvPr/>
        </p:nvSpPr>
        <p:spPr>
          <a:xfrm>
            <a:off x="1463040" y="3794759"/>
            <a:ext cx="10058400" cy="320040"/>
          </a:xfrm>
          <a:prstGeom prst="rect">
            <a:avLst/>
          </a:prstGeom>
          <a:noFill/>
        </p:spPr>
        <p:txBody>
          <a:bodyPr wrap="square" lIns="0" rIns="0" tIns="0" bIns="0" anchor="t">
            <a:spAutoFit/>
          </a:bodyPr>
          <a:lstStyle/>
          <a:p>
            <a:pPr algn="l"/>
            <a:r>
              <a:rPr sz="1000" b="1" i="0">
                <a:solidFill>
                  <a:srgbClr val="64748B"/>
                </a:solidFill>
                <a:latin typeface="Calibri"/>
              </a:rPr>
              <a:t>What it does:  </a:t>
            </a:r>
            <a:r>
              <a:rPr sz="1100" b="0" i="0">
                <a:solidFill>
                  <a:srgbClr val="1A1A2E"/>
                </a:solidFill>
                <a:latin typeface="Calibri"/>
              </a:rPr>
              <a:t>S5 is excluded from training. The model only meets it during testing.</a:t>
            </a:r>
          </a:p>
        </p:txBody>
      </p:sp>
      <p:sp>
        <p:nvSpPr>
          <p:cNvPr id="17" name="TextBox 16"/>
          <p:cNvSpPr txBox="1"/>
          <p:nvPr/>
        </p:nvSpPr>
        <p:spPr>
          <a:xfrm>
            <a:off x="1463040" y="4087368"/>
            <a:ext cx="10058400" cy="274320"/>
          </a:xfrm>
          <a:prstGeom prst="rect">
            <a:avLst/>
          </a:prstGeom>
          <a:noFill/>
        </p:spPr>
        <p:txBody>
          <a:bodyPr wrap="square" lIns="0" rIns="0" tIns="0" bIns="0" anchor="t">
            <a:spAutoFit/>
          </a:bodyPr>
          <a:lstStyle/>
          <a:p>
            <a:pPr algn="l"/>
            <a:r>
              <a:rPr sz="1000" b="1" i="0">
                <a:solidFill>
                  <a:srgbClr val="64748B"/>
                </a:solidFill>
                <a:latin typeface="Calibri"/>
              </a:rPr>
              <a:t>Metrics:  </a:t>
            </a:r>
            <a:r>
              <a:rPr sz="1050" b="0" i="1">
                <a:solidFill>
                  <a:srgbClr val="1A1A2E"/>
                </a:solidFill>
                <a:latin typeface="Calibri"/>
              </a:rPr>
              <a:t>recall_as_flood · evasion_rate · binary_attack_recall</a:t>
            </a:r>
          </a:p>
        </p:txBody>
      </p:sp>
      <p:sp>
        <p:nvSpPr>
          <p:cNvPr id="18" name="TextBox 17"/>
          <p:cNvSpPr txBox="1"/>
          <p:nvPr/>
        </p:nvSpPr>
        <p:spPr>
          <a:xfrm>
            <a:off x="1463040" y="4361688"/>
            <a:ext cx="10058400" cy="274320"/>
          </a:xfrm>
          <a:prstGeom prst="rect">
            <a:avLst/>
          </a:prstGeom>
          <a:noFill/>
        </p:spPr>
        <p:txBody>
          <a:bodyPr wrap="square" lIns="0" rIns="0" tIns="0" bIns="0" anchor="t">
            <a:spAutoFit/>
          </a:bodyPr>
          <a:lstStyle/>
          <a:p>
            <a:pPr algn="l"/>
            <a:r>
              <a:rPr sz="1000" b="1" i="0">
                <a:solidFill>
                  <a:srgbClr val="64748B"/>
                </a:solidFill>
                <a:latin typeface="Calibri"/>
              </a:rPr>
              <a:t>Purpose:  </a:t>
            </a:r>
            <a:r>
              <a:rPr sz="1100" b="0" i="1">
                <a:solidFill>
                  <a:srgbClr val="F96167"/>
                </a:solidFill>
                <a:latin typeface="Calibri"/>
              </a:rPr>
              <a:t>Does the model also catch an attack type it has never seen?</a:t>
            </a:r>
          </a:p>
        </p:txBody>
      </p:sp>
      <p:sp>
        <p:nvSpPr>
          <p:cNvPr id="19" name="Rectangle 18"/>
          <p:cNvSpPr/>
          <p:nvPr/>
        </p:nvSpPr>
        <p:spPr>
          <a:xfrm>
            <a:off x="457200" y="4800600"/>
            <a:ext cx="11247120" cy="1417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800600"/>
            <a:ext cx="822960" cy="141732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120640"/>
            <a:ext cx="822960" cy="777240"/>
          </a:xfrm>
          <a:prstGeom prst="rect">
            <a:avLst/>
          </a:prstGeom>
          <a:noFill/>
        </p:spPr>
        <p:txBody>
          <a:bodyPr wrap="square" lIns="0" rIns="0" tIns="0" bIns="0" anchor="t">
            <a:spAutoFit/>
          </a:bodyPr>
          <a:lstStyle/>
          <a:p>
            <a:pPr algn="ctr"/>
            <a:r>
              <a:rPr sz="4000" b="1" i="0">
                <a:solidFill>
                  <a:srgbClr val="FFFFFF"/>
                </a:solidFill>
                <a:latin typeface="Georgia"/>
              </a:rPr>
              <a:t>C</a:t>
            </a:r>
          </a:p>
        </p:txBody>
      </p:sp>
      <p:sp>
        <p:nvSpPr>
          <p:cNvPr id="22" name="TextBox 21"/>
          <p:cNvSpPr txBox="1"/>
          <p:nvPr/>
        </p:nvSpPr>
        <p:spPr>
          <a:xfrm>
            <a:off x="1463040" y="4983480"/>
            <a:ext cx="10058400" cy="365760"/>
          </a:xfrm>
          <a:prstGeom prst="rect">
            <a:avLst/>
          </a:prstGeom>
          <a:noFill/>
        </p:spPr>
        <p:txBody>
          <a:bodyPr wrap="square" lIns="0" rIns="0" tIns="0" bIns="0" anchor="t">
            <a:spAutoFit/>
          </a:bodyPr>
          <a:lstStyle/>
          <a:p>
            <a:pPr algn="l"/>
            <a:r>
              <a:rPr sz="1600" b="1" i="0">
                <a:solidFill>
                  <a:srgbClr val="018F71"/>
                </a:solidFill>
                <a:latin typeface="Calibri"/>
              </a:rPr>
              <a:t>Leakage &amp; Ablation Checks</a:t>
            </a:r>
          </a:p>
        </p:txBody>
      </p:sp>
      <p:sp>
        <p:nvSpPr>
          <p:cNvPr id="23" name="TextBox 22"/>
          <p:cNvSpPr txBox="1"/>
          <p:nvPr/>
        </p:nvSpPr>
        <p:spPr>
          <a:xfrm>
            <a:off x="1463040" y="5349240"/>
            <a:ext cx="10058400" cy="320040"/>
          </a:xfrm>
          <a:prstGeom prst="rect">
            <a:avLst/>
          </a:prstGeom>
          <a:noFill/>
        </p:spPr>
        <p:txBody>
          <a:bodyPr wrap="square" lIns="0" rIns="0" tIns="0" bIns="0" anchor="t">
            <a:spAutoFit/>
          </a:bodyPr>
          <a:lstStyle/>
          <a:p>
            <a:pPr algn="l"/>
            <a:r>
              <a:rPr sz="1000" b="1" i="0">
                <a:solidFill>
                  <a:srgbClr val="64748B"/>
                </a:solidFill>
                <a:latin typeface="Calibri"/>
              </a:rPr>
              <a:t>What it does:  </a:t>
            </a:r>
            <a:r>
              <a:rPr sz="1100" b="0" i="0">
                <a:solidFill>
                  <a:srgbClr val="1A1A2E"/>
                </a:solidFill>
                <a:latin typeface="Calibri"/>
              </a:rPr>
              <a:t>Random-label permutation + 12 feature-group ablation experiments</a:t>
            </a:r>
          </a:p>
        </p:txBody>
      </p:sp>
      <p:sp>
        <p:nvSpPr>
          <p:cNvPr id="24" name="TextBox 23"/>
          <p:cNvSpPr txBox="1"/>
          <p:nvPr/>
        </p:nvSpPr>
        <p:spPr>
          <a:xfrm>
            <a:off x="1463040" y="5641848"/>
            <a:ext cx="10058400" cy="274320"/>
          </a:xfrm>
          <a:prstGeom prst="rect">
            <a:avLst/>
          </a:prstGeom>
          <a:noFill/>
        </p:spPr>
        <p:txBody>
          <a:bodyPr wrap="square" lIns="0" rIns="0" tIns="0" bIns="0" anchor="t">
            <a:spAutoFit/>
          </a:bodyPr>
          <a:lstStyle/>
          <a:p>
            <a:pPr algn="l"/>
            <a:r>
              <a:rPr sz="1000" b="1" i="0">
                <a:solidFill>
                  <a:srgbClr val="64748B"/>
                </a:solidFill>
                <a:latin typeface="Calibri"/>
              </a:rPr>
              <a:t>Metrics:  </a:t>
            </a:r>
            <a:r>
              <a:rPr sz="1050" b="0" i="1">
                <a:solidFill>
                  <a:srgbClr val="1A1A2E"/>
                </a:solidFill>
                <a:latin typeface="Calibri"/>
              </a:rPr>
              <a:t>Δ accuracy (real vs permuted) · per-group validation accuracy</a:t>
            </a:r>
          </a:p>
        </p:txBody>
      </p:sp>
      <p:sp>
        <p:nvSpPr>
          <p:cNvPr id="25" name="TextBox 24"/>
          <p:cNvSpPr txBox="1"/>
          <p:nvPr/>
        </p:nvSpPr>
        <p:spPr>
          <a:xfrm>
            <a:off x="1463040" y="5916168"/>
            <a:ext cx="10058400" cy="274320"/>
          </a:xfrm>
          <a:prstGeom prst="rect">
            <a:avLst/>
          </a:prstGeom>
          <a:noFill/>
        </p:spPr>
        <p:txBody>
          <a:bodyPr wrap="square" lIns="0" rIns="0" tIns="0" bIns="0" anchor="t">
            <a:spAutoFit/>
          </a:bodyPr>
          <a:lstStyle/>
          <a:p>
            <a:pPr algn="l"/>
            <a:r>
              <a:rPr sz="1000" b="1" i="0">
                <a:solidFill>
                  <a:srgbClr val="64748B"/>
                </a:solidFill>
                <a:latin typeface="Calibri"/>
              </a:rPr>
              <a:t>Purpose:  </a:t>
            </a:r>
            <a:r>
              <a:rPr sz="1100" b="0" i="1">
                <a:solidFill>
                  <a:srgbClr val="018F71"/>
                </a:solidFill>
                <a:latin typeface="Calibri"/>
              </a:rPr>
              <a:t>Is the model learning real signal, or just taking shortcuts?</a:t>
            </a:r>
          </a:p>
        </p:txBody>
      </p:sp>
      <p:sp>
        <p:nvSpPr>
          <p:cNvPr id="26" name="TextBox 25"/>
          <p:cNvSpPr txBox="1"/>
          <p:nvPr/>
        </p:nvSpPr>
        <p:spPr>
          <a:xfrm>
            <a:off x="457200" y="6309360"/>
            <a:ext cx="11247120" cy="274320"/>
          </a:xfrm>
          <a:prstGeom prst="rect">
            <a:avLst/>
          </a:prstGeom>
          <a:noFill/>
        </p:spPr>
        <p:txBody>
          <a:bodyPr wrap="square" lIns="0" rIns="0" tIns="0" bIns="0" anchor="t">
            <a:spAutoFit/>
          </a:bodyPr>
          <a:lstStyle/>
          <a:p>
            <a:pPr algn="ctr"/>
            <a:r>
              <a:rPr sz="1100" b="0" i="1">
                <a:solidFill>
                  <a:srgbClr val="64748B"/>
                </a:solidFill>
                <a:latin typeface="Calibri"/>
              </a:rPr>
              <a:t>Three independent exams. When all three point the same way, the central claim becomes defensible.</a:t>
            </a:r>
          </a:p>
        </p:txBody>
      </p:sp>
      <p:sp>
        <p:nvSpPr>
          <p:cNvPr id="27" name="TextBox 26"/>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28" name="TextBox 27"/>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3 · RESULTS</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Result 1 — In-Distribution Performance</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On the four known classes, the model is near-perfect</a:t>
            </a:r>
          </a:p>
        </p:txBody>
      </p:sp>
      <p:sp>
        <p:nvSpPr>
          <p:cNvPr id="5" name="Rectangle 4"/>
          <p:cNvSpPr/>
          <p:nvPr/>
        </p:nvSpPr>
        <p:spPr>
          <a:xfrm>
            <a:off x="45720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91440" cy="13716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291840" cy="822960"/>
          </a:xfrm>
          <a:prstGeom prst="rect">
            <a:avLst/>
          </a:prstGeom>
          <a:noFill/>
        </p:spPr>
        <p:txBody>
          <a:bodyPr wrap="square" lIns="0" rIns="0" tIns="0" bIns="0" anchor="t">
            <a:spAutoFit/>
          </a:bodyPr>
          <a:lstStyle/>
          <a:p>
            <a:pPr algn="l"/>
            <a:r>
              <a:rPr sz="4400" b="1" i="0">
                <a:solidFill>
                  <a:srgbClr val="1E2761"/>
                </a:solidFill>
                <a:latin typeface="Calibri"/>
              </a:rPr>
              <a:t>99.14%</a:t>
            </a:r>
          </a:p>
        </p:txBody>
      </p:sp>
      <p:sp>
        <p:nvSpPr>
          <p:cNvPr id="8" name="TextBox 7"/>
          <p:cNvSpPr txBox="1"/>
          <p:nvPr/>
        </p:nvSpPr>
        <p:spPr>
          <a:xfrm>
            <a:off x="731520" y="2651760"/>
            <a:ext cx="3291840" cy="320040"/>
          </a:xfrm>
          <a:prstGeom prst="rect">
            <a:avLst/>
          </a:prstGeom>
          <a:noFill/>
        </p:spPr>
        <p:txBody>
          <a:bodyPr wrap="square" lIns="0" rIns="0" tIns="0" bIns="0" anchor="t">
            <a:spAutoFit/>
          </a:bodyPr>
          <a:lstStyle/>
          <a:p>
            <a:pPr algn="l"/>
            <a:r>
              <a:rPr sz="1000" b="1" i="0" spc="300">
                <a:solidFill>
                  <a:srgbClr val="64748B"/>
                </a:solidFill>
                <a:latin typeface="Calibri"/>
              </a:rPr>
              <a:t>TEST ACCURACY</a:t>
            </a:r>
          </a:p>
        </p:txBody>
      </p:sp>
      <p:sp>
        <p:nvSpPr>
          <p:cNvPr id="9" name="Rectangle 8"/>
          <p:cNvSpPr/>
          <p:nvPr/>
        </p:nvSpPr>
        <p:spPr>
          <a:xfrm>
            <a:off x="425196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691640"/>
            <a:ext cx="91440" cy="137160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828800"/>
            <a:ext cx="3291840" cy="822960"/>
          </a:xfrm>
          <a:prstGeom prst="rect">
            <a:avLst/>
          </a:prstGeom>
          <a:noFill/>
        </p:spPr>
        <p:txBody>
          <a:bodyPr wrap="square" lIns="0" rIns="0" tIns="0" bIns="0" anchor="t">
            <a:spAutoFit/>
          </a:bodyPr>
          <a:lstStyle/>
          <a:p>
            <a:pPr algn="l"/>
            <a:r>
              <a:rPr sz="4400" b="1" i="0">
                <a:solidFill>
                  <a:srgbClr val="2B3A8C"/>
                </a:solidFill>
                <a:latin typeface="Calibri"/>
              </a:rPr>
              <a:t>99.23%</a:t>
            </a:r>
          </a:p>
        </p:txBody>
      </p:sp>
      <p:sp>
        <p:nvSpPr>
          <p:cNvPr id="12" name="TextBox 11"/>
          <p:cNvSpPr txBox="1"/>
          <p:nvPr/>
        </p:nvSpPr>
        <p:spPr>
          <a:xfrm>
            <a:off x="4526280" y="2651760"/>
            <a:ext cx="3291840" cy="320040"/>
          </a:xfrm>
          <a:prstGeom prst="rect">
            <a:avLst/>
          </a:prstGeom>
          <a:noFill/>
        </p:spPr>
        <p:txBody>
          <a:bodyPr wrap="square" lIns="0" rIns="0" tIns="0" bIns="0" anchor="t">
            <a:spAutoFit/>
          </a:bodyPr>
          <a:lstStyle/>
          <a:p>
            <a:pPr algn="l"/>
            <a:r>
              <a:rPr sz="1000" b="1" i="0" spc="300">
                <a:solidFill>
                  <a:srgbClr val="64748B"/>
                </a:solidFill>
                <a:latin typeface="Calibri"/>
              </a:rPr>
              <a:t>MACRO-F1</a:t>
            </a:r>
          </a:p>
        </p:txBody>
      </p:sp>
      <p:sp>
        <p:nvSpPr>
          <p:cNvPr id="13" name="Rectangle 12"/>
          <p:cNvSpPr/>
          <p:nvPr/>
        </p:nvSpPr>
        <p:spPr>
          <a:xfrm>
            <a:off x="8046720" y="1691640"/>
            <a:ext cx="3657600" cy="13716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691640"/>
            <a:ext cx="91440" cy="137160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828800"/>
            <a:ext cx="3291840" cy="822960"/>
          </a:xfrm>
          <a:prstGeom prst="rect">
            <a:avLst/>
          </a:prstGeom>
          <a:noFill/>
        </p:spPr>
        <p:txBody>
          <a:bodyPr wrap="square" lIns="0" rIns="0" tIns="0" bIns="0" anchor="t">
            <a:spAutoFit/>
          </a:bodyPr>
          <a:lstStyle/>
          <a:p>
            <a:pPr algn="l"/>
            <a:r>
              <a:rPr sz="4400" b="1" i="0">
                <a:solidFill>
                  <a:srgbClr val="018F71"/>
                </a:solidFill>
                <a:latin typeface="Calibri"/>
              </a:rPr>
              <a:t>99.92%</a:t>
            </a:r>
          </a:p>
        </p:txBody>
      </p:sp>
      <p:sp>
        <p:nvSpPr>
          <p:cNvPr id="16" name="TextBox 15"/>
          <p:cNvSpPr txBox="1"/>
          <p:nvPr/>
        </p:nvSpPr>
        <p:spPr>
          <a:xfrm>
            <a:off x="8321040" y="2651760"/>
            <a:ext cx="3291840" cy="320040"/>
          </a:xfrm>
          <a:prstGeom prst="rect">
            <a:avLst/>
          </a:prstGeom>
          <a:noFill/>
        </p:spPr>
        <p:txBody>
          <a:bodyPr wrap="square" lIns="0" rIns="0" tIns="0" bIns="0" anchor="t">
            <a:spAutoFit/>
          </a:bodyPr>
          <a:lstStyle/>
          <a:p>
            <a:pPr algn="l"/>
            <a:r>
              <a:rPr sz="1000" b="1" i="0" spc="300">
                <a:solidFill>
                  <a:srgbClr val="64748B"/>
                </a:solidFill>
                <a:latin typeface="Calibri"/>
              </a:rPr>
              <a:t>MEAN PR-AUC</a:t>
            </a:r>
          </a:p>
        </p:txBody>
      </p:sp>
      <p:sp>
        <p:nvSpPr>
          <p:cNvPr id="17" name="TextBox 16"/>
          <p:cNvSpPr txBox="1"/>
          <p:nvPr/>
        </p:nvSpPr>
        <p:spPr>
          <a:xfrm>
            <a:off x="457200" y="3291840"/>
            <a:ext cx="11247120" cy="365760"/>
          </a:xfrm>
          <a:prstGeom prst="rect">
            <a:avLst/>
          </a:prstGeom>
          <a:noFill/>
        </p:spPr>
        <p:txBody>
          <a:bodyPr wrap="square" lIns="0" rIns="0" tIns="0" bIns="0" anchor="t">
            <a:spAutoFit/>
          </a:bodyPr>
          <a:lstStyle/>
          <a:p>
            <a:pPr algn="l"/>
            <a:r>
              <a:rPr sz="1400" b="1" i="0">
                <a:solidFill>
                  <a:srgbClr val="1E2761"/>
                </a:solidFill>
                <a:latin typeface="Calibri"/>
              </a:rPr>
              <a:t>Per-class performance (Proposed model · Test set)</a:t>
            </a:r>
          </a:p>
        </p:txBody>
      </p:sp>
      <p:graphicFrame>
        <p:nvGraphicFramePr>
          <p:cNvPr id="18" name="Table 17"/>
          <p:cNvGraphicFramePr>
            <a:graphicFrameLocks noGrp="1"/>
          </p:cNvGraphicFramePr>
          <p:nvPr/>
        </p:nvGraphicFramePr>
        <p:xfrm>
          <a:off x="457200" y="3703320"/>
          <a:ext cx="11247120" cy="1828800"/>
        </p:xfrm>
        <a:graphic>
          <a:graphicData uri="http://schemas.openxmlformats.org/drawingml/2006/table">
            <a:tbl>
              <a:tblPr firstRow="1" bandRow="1">
                <a:tableStyleId>{5C22544A-7EE6-4342-B048-85BDC9FD1C3A}</a:tableStyleId>
              </a:tblPr>
              <a:tblGrid>
                <a:gridCol w="3200400"/>
                <a:gridCol w="2011680"/>
                <a:gridCol w="2011680"/>
                <a:gridCol w="2011680"/>
                <a:gridCol w="2011680"/>
              </a:tblGrid>
              <a:tr h="365760">
                <a:tc>
                  <a:txBody>
                    <a:bodyPr wrap="square" anchor="ctr"/>
                    <a:lstStyle/>
                    <a:p>
                      <a:pPr algn="l"/>
                      <a:r>
                        <a:rPr sz="1200" b="1">
                          <a:solidFill>
                            <a:srgbClr val="FFFFFF"/>
                          </a:solidFill>
                          <a:latin typeface="Calibri"/>
                        </a:rPr>
                        <a:t>Class</a:t>
                      </a:r>
                    </a:p>
                  </a:txBody>
                  <a:tcPr marL="73152" marR="73152" marT="36576" marB="36576">
                    <a:solidFill>
                      <a:srgbClr val="1E2761"/>
                    </a:solidFill>
                  </a:tcPr>
                </a:tc>
                <a:tc>
                  <a:txBody>
                    <a:bodyPr wrap="square" anchor="ctr"/>
                    <a:lstStyle/>
                    <a:p>
                      <a:pPr algn="ctr"/>
                      <a:r>
                        <a:rPr sz="1200" b="1">
                          <a:solidFill>
                            <a:srgbClr val="FFFFFF"/>
                          </a:solidFill>
                          <a:latin typeface="Calibri"/>
                        </a:rPr>
                        <a:t>Precision</a:t>
                      </a:r>
                    </a:p>
                  </a:txBody>
                  <a:tcPr marL="73152" marR="73152" marT="36576" marB="36576">
                    <a:solidFill>
                      <a:srgbClr val="1E2761"/>
                    </a:solidFill>
                  </a:tcPr>
                </a:tc>
                <a:tc>
                  <a:txBody>
                    <a:bodyPr wrap="square" anchor="ctr"/>
                    <a:lstStyle/>
                    <a:p>
                      <a:pPr algn="ctr"/>
                      <a:r>
                        <a:rPr sz="1200" b="1">
                          <a:solidFill>
                            <a:srgbClr val="FFFFFF"/>
                          </a:solidFill>
                          <a:latin typeface="Calibri"/>
                        </a:rPr>
                        <a:t>Recall</a:t>
                      </a:r>
                    </a:p>
                  </a:txBody>
                  <a:tcPr marL="73152" marR="73152" marT="36576" marB="36576">
                    <a:solidFill>
                      <a:srgbClr val="1E2761"/>
                    </a:solidFill>
                  </a:tcPr>
                </a:tc>
                <a:tc>
                  <a:txBody>
                    <a:bodyPr wrap="square" anchor="ctr"/>
                    <a:lstStyle/>
                    <a:p>
                      <a:pPr algn="ctr"/>
                      <a:r>
                        <a:rPr sz="1200" b="1">
                          <a:solidFill>
                            <a:srgbClr val="FFFFFF"/>
                          </a:solidFill>
                          <a:latin typeface="Calibri"/>
                        </a:rPr>
                        <a:t>F1-score</a:t>
                      </a:r>
                    </a:p>
                  </a:txBody>
                  <a:tcPr marL="73152" marR="73152" marT="36576" marB="36576">
                    <a:solidFill>
                      <a:srgbClr val="1E2761"/>
                    </a:solidFill>
                  </a:tcPr>
                </a:tc>
                <a:tc>
                  <a:txBody>
                    <a:bodyPr wrap="square" anchor="ctr"/>
                    <a:lstStyle/>
                    <a:p>
                      <a:pPr algn="ctr"/>
                      <a:r>
                        <a:rPr sz="1200" b="1">
                          <a:solidFill>
                            <a:srgbClr val="FFFFFF"/>
                          </a:solidFill>
                          <a:latin typeface="Calibri"/>
                        </a:rPr>
                        <a:t>Support</a:t>
                      </a:r>
                    </a:p>
                  </a:txBody>
                  <a:tcPr marL="73152" marR="73152" marT="36576" marB="36576">
                    <a:solidFill>
                      <a:srgbClr val="1E2761"/>
                    </a:solidFill>
                  </a:tcPr>
                </a:tc>
              </a:tr>
              <a:tr h="365760">
                <a:tc>
                  <a:txBody>
                    <a:bodyPr wrap="square" anchor="ctr"/>
                    <a:lstStyle/>
                    <a:p>
                      <a:pPr algn="l"/>
                      <a:r>
                        <a:rPr sz="1200" b="0">
                          <a:solidFill>
                            <a:srgbClr val="1A1A2E"/>
                          </a:solidFill>
                          <a:latin typeface="Calibri"/>
                        </a:rPr>
                        <a:t>credential_stuffing</a:t>
                      </a:r>
                    </a:p>
                  </a:txBody>
                  <a:tcPr marL="73152" marR="73152" marT="36576" marB="36576"/>
                </a:tc>
                <a:tc>
                  <a:txBody>
                    <a:bodyPr wrap="square" anchor="ctr"/>
                    <a:lstStyle/>
                    <a:p>
                      <a:pPr algn="ctr"/>
                      <a:r>
                        <a:rPr sz="1200" b="0">
                          <a:solidFill>
                            <a:srgbClr val="1A1A2E"/>
                          </a:solidFill>
                          <a:latin typeface="Calibri"/>
                        </a:rPr>
                        <a:t>1.0000</a:t>
                      </a:r>
                    </a:p>
                  </a:txBody>
                  <a:tcPr marL="73152" marR="73152" marT="36576" marB="36576"/>
                </a:tc>
                <a:tc>
                  <a:txBody>
                    <a:bodyPr wrap="square" anchor="ctr"/>
                    <a:lstStyle/>
                    <a:p>
                      <a:pPr algn="ctr"/>
                      <a:r>
                        <a:rPr sz="1200" b="0">
                          <a:solidFill>
                            <a:srgbClr val="1A1A2E"/>
                          </a:solidFill>
                          <a:latin typeface="Calibri"/>
                        </a:rPr>
                        <a:t>1.0000</a:t>
                      </a:r>
                    </a:p>
                  </a:txBody>
                  <a:tcPr marL="73152" marR="73152" marT="36576" marB="36576"/>
                </a:tc>
                <a:tc>
                  <a:txBody>
                    <a:bodyPr wrap="square" anchor="ctr"/>
                    <a:lstStyle/>
                    <a:p>
                      <a:pPr algn="ctr"/>
                      <a:r>
                        <a:rPr sz="1200" b="0">
                          <a:solidFill>
                            <a:srgbClr val="1A1A2E"/>
                          </a:solidFill>
                          <a:latin typeface="Calibri"/>
                        </a:rPr>
                        <a:t>1.0000</a:t>
                      </a:r>
                    </a:p>
                  </a:txBody>
                  <a:tcPr marL="73152" marR="73152" marT="36576" marB="36576"/>
                </a:tc>
                <a:tc>
                  <a:txBody>
                    <a:bodyPr wrap="square" anchor="ctr"/>
                    <a:lstStyle/>
                    <a:p>
                      <a:pPr algn="ctr"/>
                      <a:r>
                        <a:rPr sz="1200" b="0">
                          <a:solidFill>
                            <a:srgbClr val="1A1A2E"/>
                          </a:solidFill>
                          <a:latin typeface="Calibri"/>
                        </a:rPr>
                        <a:t>378</a:t>
                      </a:r>
                    </a:p>
                  </a:txBody>
                  <a:tcPr marL="73152" marR="73152" marT="36576" marB="36576"/>
                </a:tc>
              </a:tr>
              <a:tr h="365760">
                <a:tc>
                  <a:txBody>
                    <a:bodyPr wrap="square" anchor="ctr"/>
                    <a:lstStyle/>
                    <a:p>
                      <a:pPr algn="l"/>
                      <a:r>
                        <a:rPr sz="1200" b="0">
                          <a:solidFill>
                            <a:srgbClr val="1A1A2E"/>
                          </a:solidFill>
                          <a:latin typeface="Calibri"/>
                        </a:rPr>
                        <a:t>http_flood</a:t>
                      </a:r>
                    </a:p>
                  </a:txBody>
                  <a:tcPr marL="73152" marR="73152" marT="36576" marB="36576"/>
                </a:tc>
                <a:tc>
                  <a:txBody>
                    <a:bodyPr wrap="square" anchor="ctr"/>
                    <a:lstStyle/>
                    <a:p>
                      <a:pPr algn="ctr"/>
                      <a:r>
                        <a:rPr sz="1200" b="0">
                          <a:solidFill>
                            <a:srgbClr val="1A1A2E"/>
                          </a:solidFill>
                          <a:latin typeface="Calibri"/>
                        </a:rPr>
                        <a:t>0.9899</a:t>
                      </a:r>
                    </a:p>
                  </a:txBody>
                  <a:tcPr marL="73152" marR="73152" marT="36576" marB="36576"/>
                </a:tc>
                <a:tc>
                  <a:txBody>
                    <a:bodyPr wrap="square" anchor="ctr"/>
                    <a:lstStyle/>
                    <a:p>
                      <a:pPr algn="ctr"/>
                      <a:r>
                        <a:rPr sz="1200" b="0">
                          <a:solidFill>
                            <a:srgbClr val="1A1A2E"/>
                          </a:solidFill>
                          <a:latin typeface="Calibri"/>
                        </a:rPr>
                        <a:t>0.9879</a:t>
                      </a:r>
                    </a:p>
                  </a:txBody>
                  <a:tcPr marL="73152" marR="73152" marT="36576" marB="36576"/>
                </a:tc>
                <a:tc>
                  <a:txBody>
                    <a:bodyPr wrap="square" anchor="ctr"/>
                    <a:lstStyle/>
                    <a:p>
                      <a:pPr algn="ctr"/>
                      <a:r>
                        <a:rPr sz="1200" b="0">
                          <a:solidFill>
                            <a:srgbClr val="1A1A2E"/>
                          </a:solidFill>
                          <a:latin typeface="Calibri"/>
                        </a:rPr>
                        <a:t>0.9889</a:t>
                      </a:r>
                    </a:p>
                  </a:txBody>
                  <a:tcPr marL="73152" marR="73152" marT="36576" marB="36576"/>
                </a:tc>
                <a:tc>
                  <a:txBody>
                    <a:bodyPr wrap="square" anchor="ctr"/>
                    <a:lstStyle/>
                    <a:p>
                      <a:pPr algn="ctr"/>
                      <a:r>
                        <a:rPr sz="1200" b="0">
                          <a:solidFill>
                            <a:srgbClr val="1A1A2E"/>
                          </a:solidFill>
                          <a:latin typeface="Calibri"/>
                        </a:rPr>
                        <a:t>495</a:t>
                      </a:r>
                    </a:p>
                  </a:txBody>
                  <a:tcPr marL="73152" marR="73152" marT="36576" marB="36576"/>
                </a:tc>
              </a:tr>
              <a:tr h="365760">
                <a:tc>
                  <a:txBody>
                    <a:bodyPr wrap="square" anchor="ctr"/>
                    <a:lstStyle/>
                    <a:p>
                      <a:pPr algn="l"/>
                      <a:r>
                        <a:rPr sz="1200" b="0">
                          <a:solidFill>
                            <a:srgbClr val="1A1A2E"/>
                          </a:solidFill>
                          <a:latin typeface="Calibri"/>
                        </a:rPr>
                        <a:t>low_rate_bot</a:t>
                      </a:r>
                    </a:p>
                  </a:txBody>
                  <a:tcPr marL="73152" marR="73152" marT="36576" marB="36576"/>
                </a:tc>
                <a:tc>
                  <a:txBody>
                    <a:bodyPr wrap="square" anchor="ctr"/>
                    <a:lstStyle/>
                    <a:p>
                      <a:pPr algn="ctr"/>
                      <a:r>
                        <a:rPr sz="1200" b="0">
                          <a:solidFill>
                            <a:srgbClr val="1A1A2E"/>
                          </a:solidFill>
                          <a:latin typeface="Calibri"/>
                        </a:rPr>
                        <a:t>0.9870</a:t>
                      </a:r>
                    </a:p>
                  </a:txBody>
                  <a:tcPr marL="73152" marR="73152" marT="36576" marB="36576"/>
                </a:tc>
                <a:tc>
                  <a:txBody>
                    <a:bodyPr wrap="square" anchor="ctr"/>
                    <a:lstStyle/>
                    <a:p>
                      <a:pPr algn="ctr"/>
                      <a:r>
                        <a:rPr sz="1200" b="0">
                          <a:solidFill>
                            <a:srgbClr val="1A1A2E"/>
                          </a:solidFill>
                          <a:latin typeface="Calibri"/>
                        </a:rPr>
                        <a:t>1.0000</a:t>
                      </a:r>
                    </a:p>
                  </a:txBody>
                  <a:tcPr marL="73152" marR="73152" marT="36576" marB="36576"/>
                </a:tc>
                <a:tc>
                  <a:txBody>
                    <a:bodyPr wrap="square" anchor="ctr"/>
                    <a:lstStyle/>
                    <a:p>
                      <a:pPr algn="ctr"/>
                      <a:r>
                        <a:rPr sz="1200" b="0">
                          <a:solidFill>
                            <a:srgbClr val="1A1A2E"/>
                          </a:solidFill>
                          <a:latin typeface="Calibri"/>
                        </a:rPr>
                        <a:t>0.9935</a:t>
                      </a:r>
                    </a:p>
                  </a:txBody>
                  <a:tcPr marL="73152" marR="73152" marT="36576" marB="36576"/>
                </a:tc>
                <a:tc>
                  <a:txBody>
                    <a:bodyPr wrap="square" anchor="ctr"/>
                    <a:lstStyle/>
                    <a:p>
                      <a:pPr algn="ctr"/>
                      <a:r>
                        <a:rPr sz="1200" b="0">
                          <a:solidFill>
                            <a:srgbClr val="1A1A2E"/>
                          </a:solidFill>
                          <a:latin typeface="Calibri"/>
                        </a:rPr>
                        <a:t>76</a:t>
                      </a:r>
                    </a:p>
                  </a:txBody>
                  <a:tcPr marL="73152" marR="73152" marT="36576" marB="36576"/>
                </a:tc>
              </a:tr>
              <a:tr h="365760">
                <a:tc>
                  <a:txBody>
                    <a:bodyPr wrap="square" anchor="ctr"/>
                    <a:lstStyle/>
                    <a:p>
                      <a:pPr algn="l"/>
                      <a:r>
                        <a:rPr sz="1200" b="0">
                          <a:solidFill>
                            <a:srgbClr val="1A1A2E"/>
                          </a:solidFill>
                          <a:latin typeface="Calibri"/>
                        </a:rPr>
                        <a:t>normal_user</a:t>
                      </a:r>
                    </a:p>
                  </a:txBody>
                  <a:tcPr marL="73152" marR="73152" marT="36576" marB="36576"/>
                </a:tc>
                <a:tc>
                  <a:txBody>
                    <a:bodyPr wrap="square" anchor="ctr"/>
                    <a:lstStyle/>
                    <a:p>
                      <a:pPr algn="ctr"/>
                      <a:r>
                        <a:rPr sz="1200" b="0">
                          <a:solidFill>
                            <a:srgbClr val="1A1A2E"/>
                          </a:solidFill>
                          <a:latin typeface="Calibri"/>
                        </a:rPr>
                        <a:t>0.9868</a:t>
                      </a:r>
                    </a:p>
                  </a:txBody>
                  <a:tcPr marL="73152" marR="73152" marT="36576" marB="36576"/>
                </a:tc>
                <a:tc>
                  <a:txBody>
                    <a:bodyPr wrap="square" anchor="ctr"/>
                    <a:lstStyle/>
                    <a:p>
                      <a:pPr algn="ctr"/>
                      <a:r>
                        <a:rPr sz="1200" b="0">
                          <a:solidFill>
                            <a:srgbClr val="1A1A2E"/>
                          </a:solidFill>
                          <a:latin typeface="Calibri"/>
                        </a:rPr>
                        <a:t>0.9868</a:t>
                      </a:r>
                    </a:p>
                  </a:txBody>
                  <a:tcPr marL="73152" marR="73152" marT="36576" marB="36576"/>
                </a:tc>
                <a:tc>
                  <a:txBody>
                    <a:bodyPr wrap="square" anchor="ctr"/>
                    <a:lstStyle/>
                    <a:p>
                      <a:pPr algn="ctr"/>
                      <a:r>
                        <a:rPr sz="1200" b="0">
                          <a:solidFill>
                            <a:srgbClr val="1A1A2E"/>
                          </a:solidFill>
                          <a:latin typeface="Calibri"/>
                        </a:rPr>
                        <a:t>0.9868</a:t>
                      </a:r>
                    </a:p>
                  </a:txBody>
                  <a:tcPr marL="73152" marR="73152" marT="36576" marB="36576"/>
                </a:tc>
                <a:tc>
                  <a:txBody>
                    <a:bodyPr wrap="square" anchor="ctr"/>
                    <a:lstStyle/>
                    <a:p>
                      <a:pPr algn="ctr"/>
                      <a:r>
                        <a:rPr sz="1200" b="0">
                          <a:solidFill>
                            <a:srgbClr val="1A1A2E"/>
                          </a:solidFill>
                          <a:latin typeface="Calibri"/>
                        </a:rPr>
                        <a:t>454</a:t>
                      </a:r>
                    </a:p>
                  </a:txBody>
                  <a:tcPr marL="73152" marR="73152" marT="36576" marB="36576"/>
                </a:tc>
              </a:tr>
            </a:tbl>
          </a:graphicData>
        </a:graphic>
      </p:graphicFrame>
      <p:sp>
        <p:nvSpPr>
          <p:cNvPr id="19" name="Rectangle 18"/>
          <p:cNvSpPr/>
          <p:nvPr/>
        </p:nvSpPr>
        <p:spPr>
          <a:xfrm>
            <a:off x="457200" y="5852160"/>
            <a:ext cx="11247120" cy="64008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852160"/>
            <a:ext cx="10972800" cy="640080"/>
          </a:xfrm>
          <a:prstGeom prst="rect">
            <a:avLst/>
          </a:prstGeom>
          <a:noFill/>
        </p:spPr>
        <p:txBody>
          <a:bodyPr wrap="square" lIns="0" rIns="0" tIns="0" bIns="0" anchor="ctr">
            <a:spAutoFit/>
          </a:bodyPr>
          <a:lstStyle/>
          <a:p>
            <a:pPr algn="l"/>
            <a:r>
              <a:rPr sz="1200" b="1" i="0">
                <a:solidFill>
                  <a:srgbClr val="1E2761"/>
                </a:solidFill>
                <a:latin typeface="Calibri"/>
              </a:rPr>
              <a:t>Reading: </a:t>
            </a:r>
            <a:r>
              <a:rPr sz="1200" b="0" i="1">
                <a:solidFill>
                  <a:srgbClr val="1A1A2E"/>
                </a:solidFill>
                <a:latin typeface="Calibri"/>
              </a:rPr>
              <a:t>the only errors sit between http_flood and normal_user — the grey zone where distributed flood and high-rate legit overlap. Credential stuffing and low-rate bot separate perfectly.</a:t>
            </a:r>
          </a:p>
        </p:txBody>
      </p:sp>
      <p:sp>
        <p:nvSpPr>
          <p:cNvPr id="21" name="TextBox 20"/>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22" name="TextBox 21"/>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3 · RESULTS</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Confusion Matrix — Visual Inspection</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Confirming the error pattern with the confusion matrix</a:t>
            </a:r>
          </a:p>
        </p:txBody>
      </p:sp>
      <p:pic>
        <p:nvPicPr>
          <p:cNvPr id="5" name="Picture 4" descr="fig1_confusion_matrix.png"/>
          <p:cNvPicPr>
            <a:picLocks noChangeAspect="1"/>
          </p:cNvPicPr>
          <p:nvPr/>
        </p:nvPicPr>
        <p:blipFill>
          <a:blip r:embed="rId2"/>
          <a:stretch>
            <a:fillRect/>
          </a:stretch>
        </p:blipFill>
        <p:spPr>
          <a:xfrm>
            <a:off x="457200" y="1691640"/>
            <a:ext cx="6858000" cy="4572000"/>
          </a:xfrm>
          <a:prstGeom prst="rect">
            <a:avLst/>
          </a:prstGeom>
        </p:spPr>
      </p:pic>
      <p:sp>
        <p:nvSpPr>
          <p:cNvPr id="6" name="TextBox 5"/>
          <p:cNvSpPr txBox="1"/>
          <p:nvPr/>
        </p:nvSpPr>
        <p:spPr>
          <a:xfrm>
            <a:off x="7589520" y="1783080"/>
            <a:ext cx="4114800" cy="365760"/>
          </a:xfrm>
          <a:prstGeom prst="rect">
            <a:avLst/>
          </a:prstGeom>
          <a:noFill/>
        </p:spPr>
        <p:txBody>
          <a:bodyPr wrap="square" lIns="0" rIns="0" tIns="0" bIns="0" anchor="t">
            <a:spAutoFit/>
          </a:bodyPr>
          <a:lstStyle/>
          <a:p>
            <a:pPr algn="l"/>
            <a:r>
              <a:rPr sz="1600" b="1" i="0">
                <a:solidFill>
                  <a:srgbClr val="1E2761"/>
                </a:solidFill>
                <a:latin typeface="Calibri"/>
              </a:rPr>
              <a:t>Observations</a:t>
            </a:r>
          </a:p>
        </p:txBody>
      </p:sp>
      <p:sp>
        <p:nvSpPr>
          <p:cNvPr id="7" name="Rectangle 6"/>
          <p:cNvSpPr/>
          <p:nvPr/>
        </p:nvSpPr>
        <p:spPr>
          <a:xfrm>
            <a:off x="7589520" y="2148840"/>
            <a:ext cx="914400" cy="3657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423160"/>
            <a:ext cx="4114800" cy="274320"/>
          </a:xfrm>
          <a:prstGeom prst="rect">
            <a:avLst/>
          </a:prstGeom>
          <a:noFill/>
        </p:spPr>
        <p:txBody>
          <a:bodyPr wrap="square" lIns="0" rIns="0" tIns="0" bIns="0" anchor="t">
            <a:spAutoFit/>
          </a:bodyPr>
          <a:lstStyle/>
          <a:p>
            <a:pPr algn="l"/>
            <a:r>
              <a:rPr sz="1400" b="1" i="0">
                <a:solidFill>
                  <a:srgbClr val="1E2761"/>
                </a:solidFill>
                <a:latin typeface="Consolas"/>
              </a:rPr>
              <a:t>378 / 378</a:t>
            </a:r>
          </a:p>
        </p:txBody>
      </p:sp>
      <p:sp>
        <p:nvSpPr>
          <p:cNvPr id="9" name="TextBox 8"/>
          <p:cNvSpPr txBox="1"/>
          <p:nvPr/>
        </p:nvSpPr>
        <p:spPr>
          <a:xfrm>
            <a:off x="7589520" y="2697479"/>
            <a:ext cx="4114800" cy="411480"/>
          </a:xfrm>
          <a:prstGeom prst="rect">
            <a:avLst/>
          </a:prstGeom>
          <a:noFill/>
        </p:spPr>
        <p:txBody>
          <a:bodyPr wrap="square" lIns="0" rIns="0" tIns="0" bIns="0" anchor="t">
            <a:spAutoFit/>
          </a:bodyPr>
          <a:lstStyle/>
          <a:p>
            <a:pPr algn="l"/>
            <a:r>
              <a:rPr sz="1100" b="0" i="0">
                <a:solidFill>
                  <a:srgbClr val="1A1A2E"/>
                </a:solidFill>
                <a:latin typeface="Calibri"/>
              </a:rPr>
              <a:t>credential_stuffing classified perfectly</a:t>
            </a:r>
          </a:p>
        </p:txBody>
      </p:sp>
      <p:sp>
        <p:nvSpPr>
          <p:cNvPr id="10" name="TextBox 9"/>
          <p:cNvSpPr txBox="1"/>
          <p:nvPr/>
        </p:nvSpPr>
        <p:spPr>
          <a:xfrm>
            <a:off x="7589520" y="3136391"/>
            <a:ext cx="4114800" cy="274320"/>
          </a:xfrm>
          <a:prstGeom prst="rect">
            <a:avLst/>
          </a:prstGeom>
          <a:noFill/>
        </p:spPr>
        <p:txBody>
          <a:bodyPr wrap="square" lIns="0" rIns="0" tIns="0" bIns="0" anchor="t">
            <a:spAutoFit/>
          </a:bodyPr>
          <a:lstStyle/>
          <a:p>
            <a:pPr algn="l"/>
            <a:r>
              <a:rPr sz="1400" b="1" i="0">
                <a:solidFill>
                  <a:srgbClr val="1E2761"/>
                </a:solidFill>
                <a:latin typeface="Consolas"/>
              </a:rPr>
              <a:t>489 + 6</a:t>
            </a:r>
          </a:p>
        </p:txBody>
      </p:sp>
      <p:sp>
        <p:nvSpPr>
          <p:cNvPr id="11" name="TextBox 10"/>
          <p:cNvSpPr txBox="1"/>
          <p:nvPr/>
        </p:nvSpPr>
        <p:spPr>
          <a:xfrm>
            <a:off x="7589520" y="3410711"/>
            <a:ext cx="4114800" cy="411480"/>
          </a:xfrm>
          <a:prstGeom prst="rect">
            <a:avLst/>
          </a:prstGeom>
          <a:noFill/>
        </p:spPr>
        <p:txBody>
          <a:bodyPr wrap="square" lIns="0" rIns="0" tIns="0" bIns="0" anchor="t">
            <a:spAutoFit/>
          </a:bodyPr>
          <a:lstStyle/>
          <a:p>
            <a:pPr algn="l"/>
            <a:r>
              <a:rPr sz="1100" b="0" i="0">
                <a:solidFill>
                  <a:srgbClr val="1A1A2E"/>
                </a:solidFill>
                <a:latin typeface="Calibri"/>
              </a:rPr>
              <a:t>http_flood: 489 correct, 6 labeled as normal_user</a:t>
            </a:r>
          </a:p>
        </p:txBody>
      </p:sp>
      <p:sp>
        <p:nvSpPr>
          <p:cNvPr id="12" name="TextBox 11"/>
          <p:cNvSpPr txBox="1"/>
          <p:nvPr/>
        </p:nvSpPr>
        <p:spPr>
          <a:xfrm>
            <a:off x="7589520" y="3849624"/>
            <a:ext cx="4114800" cy="274320"/>
          </a:xfrm>
          <a:prstGeom prst="rect">
            <a:avLst/>
          </a:prstGeom>
          <a:noFill/>
        </p:spPr>
        <p:txBody>
          <a:bodyPr wrap="square" lIns="0" rIns="0" tIns="0" bIns="0" anchor="t">
            <a:spAutoFit/>
          </a:bodyPr>
          <a:lstStyle/>
          <a:p>
            <a:pPr algn="l"/>
            <a:r>
              <a:rPr sz="1400" b="1" i="0">
                <a:solidFill>
                  <a:srgbClr val="1E2761"/>
                </a:solidFill>
                <a:latin typeface="Consolas"/>
              </a:rPr>
              <a:t>76 / 76</a:t>
            </a:r>
          </a:p>
        </p:txBody>
      </p:sp>
      <p:sp>
        <p:nvSpPr>
          <p:cNvPr id="13" name="TextBox 12"/>
          <p:cNvSpPr txBox="1"/>
          <p:nvPr/>
        </p:nvSpPr>
        <p:spPr>
          <a:xfrm>
            <a:off x="7589520" y="4123944"/>
            <a:ext cx="4114800" cy="411480"/>
          </a:xfrm>
          <a:prstGeom prst="rect">
            <a:avLst/>
          </a:prstGeom>
          <a:noFill/>
        </p:spPr>
        <p:txBody>
          <a:bodyPr wrap="square" lIns="0" rIns="0" tIns="0" bIns="0" anchor="t">
            <a:spAutoFit/>
          </a:bodyPr>
          <a:lstStyle/>
          <a:p>
            <a:pPr algn="l"/>
            <a:r>
              <a:rPr sz="1100" b="0" i="0">
                <a:solidFill>
                  <a:srgbClr val="1A1A2E"/>
                </a:solidFill>
                <a:latin typeface="Calibri"/>
              </a:rPr>
              <a:t>low_rate_bot fully correct</a:t>
            </a:r>
          </a:p>
        </p:txBody>
      </p:sp>
      <p:sp>
        <p:nvSpPr>
          <p:cNvPr id="14" name="TextBox 13"/>
          <p:cNvSpPr txBox="1"/>
          <p:nvPr/>
        </p:nvSpPr>
        <p:spPr>
          <a:xfrm>
            <a:off x="7589520" y="4562856"/>
            <a:ext cx="4114800" cy="274320"/>
          </a:xfrm>
          <a:prstGeom prst="rect">
            <a:avLst/>
          </a:prstGeom>
          <a:noFill/>
        </p:spPr>
        <p:txBody>
          <a:bodyPr wrap="square" lIns="0" rIns="0" tIns="0" bIns="0" anchor="t">
            <a:spAutoFit/>
          </a:bodyPr>
          <a:lstStyle/>
          <a:p>
            <a:pPr algn="l"/>
            <a:r>
              <a:rPr sz="1400" b="1" i="0">
                <a:solidFill>
                  <a:srgbClr val="1E2761"/>
                </a:solidFill>
                <a:latin typeface="Consolas"/>
              </a:rPr>
              <a:t>448 + 5 + 1</a:t>
            </a:r>
          </a:p>
        </p:txBody>
      </p:sp>
      <p:sp>
        <p:nvSpPr>
          <p:cNvPr id="15" name="TextBox 14"/>
          <p:cNvSpPr txBox="1"/>
          <p:nvPr/>
        </p:nvSpPr>
        <p:spPr>
          <a:xfrm>
            <a:off x="7589520" y="4837176"/>
            <a:ext cx="4114800" cy="411480"/>
          </a:xfrm>
          <a:prstGeom prst="rect">
            <a:avLst/>
          </a:prstGeom>
          <a:noFill/>
        </p:spPr>
        <p:txBody>
          <a:bodyPr wrap="square" lIns="0" rIns="0" tIns="0" bIns="0" anchor="t">
            <a:spAutoFit/>
          </a:bodyPr>
          <a:lstStyle/>
          <a:p>
            <a:pPr algn="l"/>
            <a:r>
              <a:rPr sz="1100" b="0" i="0">
                <a:solidFill>
                  <a:srgbClr val="1A1A2E"/>
                </a:solidFill>
                <a:latin typeface="Calibri"/>
              </a:rPr>
              <a:t>normal_user: 448 correct, 5 false-flood + 1 false-low-rate</a:t>
            </a:r>
          </a:p>
        </p:txBody>
      </p:sp>
      <p:sp>
        <p:nvSpPr>
          <p:cNvPr id="16" name="TextBox 15"/>
          <p:cNvSpPr txBox="1"/>
          <p:nvPr/>
        </p:nvSpPr>
        <p:spPr>
          <a:xfrm>
            <a:off x="7589520" y="5276088"/>
            <a:ext cx="4114800" cy="274320"/>
          </a:xfrm>
          <a:prstGeom prst="rect">
            <a:avLst/>
          </a:prstGeom>
          <a:noFill/>
        </p:spPr>
        <p:txBody>
          <a:bodyPr wrap="square" lIns="0" rIns="0" tIns="0" bIns="0" anchor="t">
            <a:spAutoFit/>
          </a:bodyPr>
          <a:lstStyle/>
          <a:p>
            <a:pPr algn="l"/>
            <a:r>
              <a:rPr sz="1400" b="1" i="0">
                <a:solidFill>
                  <a:srgbClr val="1E2761"/>
                </a:solidFill>
                <a:latin typeface="Consolas"/>
              </a:rPr>
              <a:t>11 / 1403</a:t>
            </a:r>
          </a:p>
        </p:txBody>
      </p:sp>
      <p:sp>
        <p:nvSpPr>
          <p:cNvPr id="17" name="TextBox 16"/>
          <p:cNvSpPr txBox="1"/>
          <p:nvPr/>
        </p:nvSpPr>
        <p:spPr>
          <a:xfrm>
            <a:off x="7589520" y="5550407"/>
            <a:ext cx="4114800" cy="411480"/>
          </a:xfrm>
          <a:prstGeom prst="rect">
            <a:avLst/>
          </a:prstGeom>
          <a:noFill/>
        </p:spPr>
        <p:txBody>
          <a:bodyPr wrap="square" lIns="0" rIns="0" tIns="0" bIns="0" anchor="t">
            <a:spAutoFit/>
          </a:bodyPr>
          <a:lstStyle/>
          <a:p>
            <a:pPr algn="l"/>
            <a:r>
              <a:rPr sz="1100" b="0" i="0">
                <a:solidFill>
                  <a:srgbClr val="1A1A2E"/>
                </a:solidFill>
                <a:latin typeface="Calibri"/>
              </a:rPr>
              <a:t>Total errors: 11 windows — about 0.8% error rate</a:t>
            </a:r>
          </a:p>
        </p:txBody>
      </p:sp>
      <p:sp>
        <p:nvSpPr>
          <p:cNvPr id="18" name="TextBox 17"/>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19" name="TextBox 18"/>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5486400" cy="274320"/>
          </a:xfrm>
          <a:prstGeom prst="rect">
            <a:avLst/>
          </a:prstGeom>
          <a:noFill/>
        </p:spPr>
        <p:txBody>
          <a:bodyPr wrap="square" lIns="0" rIns="0" tIns="0" bIns="0" anchor="t">
            <a:spAutoFit/>
          </a:bodyPr>
          <a:lstStyle/>
          <a:p>
            <a:pPr algn="l"/>
            <a:r>
              <a:rPr sz="1000" b="1" i="0" spc="400">
                <a:solidFill>
                  <a:srgbClr val="F96167"/>
                </a:solidFill>
                <a:latin typeface="Calibri"/>
              </a:rPr>
              <a:t>3 · RESULTS · THE KEY EXPERIMENT</a:t>
            </a:r>
          </a:p>
        </p:txBody>
      </p:sp>
      <p:sp>
        <p:nvSpPr>
          <p:cNvPr id="4" name="TextBox 3"/>
          <p:cNvSpPr txBox="1"/>
          <p:nvPr/>
        </p:nvSpPr>
        <p:spPr>
          <a:xfrm>
            <a:off x="457200" y="548640"/>
            <a:ext cx="11430000" cy="640080"/>
          </a:xfrm>
          <a:prstGeom prst="rect">
            <a:avLst/>
          </a:prstGeom>
          <a:noFill/>
        </p:spPr>
        <p:txBody>
          <a:bodyPr wrap="square" lIns="0" rIns="0" tIns="0" bIns="0" anchor="t">
            <a:spAutoFit/>
          </a:bodyPr>
          <a:lstStyle/>
          <a:p>
            <a:pPr algn="l"/>
            <a:r>
              <a:rPr sz="2800" b="1" i="0">
                <a:solidFill>
                  <a:srgbClr val="FFFFFF"/>
                </a:solidFill>
                <a:latin typeface="Calibri"/>
              </a:rPr>
              <a:t>★ Mimicry Holdout — The Heart of the Thesis</a:t>
            </a:r>
          </a:p>
        </p:txBody>
      </p:sp>
      <p:sp>
        <p:nvSpPr>
          <p:cNvPr id="5" name="TextBox 4"/>
          <p:cNvSpPr txBox="1"/>
          <p:nvPr/>
        </p:nvSpPr>
        <p:spPr>
          <a:xfrm>
            <a:off x="457200" y="1188720"/>
            <a:ext cx="11430000" cy="365760"/>
          </a:xfrm>
          <a:prstGeom prst="rect">
            <a:avLst/>
          </a:prstGeom>
          <a:noFill/>
        </p:spPr>
        <p:txBody>
          <a:bodyPr wrap="square" lIns="0" rIns="0" tIns="0" bIns="0" anchor="t">
            <a:spAutoFit/>
          </a:bodyPr>
          <a:lstStyle/>
          <a:p>
            <a:pPr algn="l"/>
            <a:r>
              <a:rPr sz="1400" b="0" i="1">
                <a:solidFill>
                  <a:srgbClr val="CADCFC"/>
                </a:solidFill>
                <a:latin typeface="Calibri"/>
              </a:rPr>
              <a:t>The model never saw this attack during training. It only met it during the exam.</a:t>
            </a:r>
          </a:p>
        </p:txBody>
      </p:sp>
      <p:sp>
        <p:nvSpPr>
          <p:cNvPr id="6" name="Rectangle 5"/>
          <p:cNvSpPr/>
          <p:nvPr/>
        </p:nvSpPr>
        <p:spPr>
          <a:xfrm>
            <a:off x="457200" y="1828800"/>
            <a:ext cx="3657600" cy="2560320"/>
          </a:xfrm>
          <a:prstGeom prst="rect">
            <a:avLst/>
          </a:prstGeom>
          <a:solidFill>
            <a:srgbClr val="131A47"/>
          </a:solidFill>
          <a:ln w="38100">
            <a:solidFill>
              <a:srgbClr val="02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94560"/>
            <a:ext cx="3657600" cy="1280160"/>
          </a:xfrm>
          <a:prstGeom prst="rect">
            <a:avLst/>
          </a:prstGeom>
          <a:noFill/>
        </p:spPr>
        <p:txBody>
          <a:bodyPr wrap="square" lIns="0" rIns="0" tIns="0" bIns="0" anchor="t">
            <a:spAutoFit/>
          </a:bodyPr>
          <a:lstStyle/>
          <a:p>
            <a:pPr algn="ctr"/>
            <a:r>
              <a:rPr sz="6400" b="1" i="0">
                <a:solidFill>
                  <a:srgbClr val="02C39A"/>
                </a:solidFill>
                <a:latin typeface="Calibri"/>
              </a:rPr>
              <a:t>91.96%</a:t>
            </a:r>
          </a:p>
        </p:txBody>
      </p:sp>
      <p:sp>
        <p:nvSpPr>
          <p:cNvPr id="8" name="TextBox 7"/>
          <p:cNvSpPr txBox="1"/>
          <p:nvPr/>
        </p:nvSpPr>
        <p:spPr>
          <a:xfrm>
            <a:off x="731520" y="3474720"/>
            <a:ext cx="3108960" cy="822960"/>
          </a:xfrm>
          <a:prstGeom prst="rect">
            <a:avLst/>
          </a:prstGeom>
          <a:noFill/>
        </p:spPr>
        <p:txBody>
          <a:bodyPr wrap="square" lIns="0" rIns="0" tIns="0" bIns="0" anchor="t">
            <a:spAutoFit/>
          </a:bodyPr>
          <a:lstStyle/>
          <a:p>
            <a:pPr algn="ctr"/>
            <a:r>
              <a:rPr sz="1100" b="1" i="0" spc="200">
                <a:solidFill>
                  <a:srgbClr val="CADCFC"/>
                </a:solidFill>
                <a:latin typeface="Calibri"/>
              </a:rPr>
              <a:t>classified CORRECTLY
as http_flood</a:t>
            </a:r>
          </a:p>
        </p:txBody>
      </p:sp>
      <p:sp>
        <p:nvSpPr>
          <p:cNvPr id="9" name="Rectangle 8"/>
          <p:cNvSpPr/>
          <p:nvPr/>
        </p:nvSpPr>
        <p:spPr>
          <a:xfrm>
            <a:off x="4251960" y="1828800"/>
            <a:ext cx="3657600" cy="2560320"/>
          </a:xfrm>
          <a:prstGeom prst="rect">
            <a:avLst/>
          </a:prstGeom>
          <a:solidFill>
            <a:srgbClr val="131A47"/>
          </a:solidFill>
          <a:ln w="12700">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2194560"/>
            <a:ext cx="3657600" cy="1280160"/>
          </a:xfrm>
          <a:prstGeom prst="rect">
            <a:avLst/>
          </a:prstGeom>
          <a:noFill/>
        </p:spPr>
        <p:txBody>
          <a:bodyPr wrap="square" lIns="0" rIns="0" tIns="0" bIns="0" anchor="t">
            <a:spAutoFit/>
          </a:bodyPr>
          <a:lstStyle/>
          <a:p>
            <a:pPr algn="ctr"/>
            <a:r>
              <a:rPr sz="6400" b="1" i="0">
                <a:solidFill>
                  <a:srgbClr val="F96167"/>
                </a:solidFill>
                <a:latin typeface="Calibri"/>
              </a:rPr>
              <a:t>5.74%</a:t>
            </a:r>
          </a:p>
        </p:txBody>
      </p:sp>
      <p:sp>
        <p:nvSpPr>
          <p:cNvPr id="11" name="TextBox 10"/>
          <p:cNvSpPr txBox="1"/>
          <p:nvPr/>
        </p:nvSpPr>
        <p:spPr>
          <a:xfrm>
            <a:off x="4526280" y="3474720"/>
            <a:ext cx="3108960" cy="822960"/>
          </a:xfrm>
          <a:prstGeom prst="rect">
            <a:avLst/>
          </a:prstGeom>
          <a:noFill/>
        </p:spPr>
        <p:txBody>
          <a:bodyPr wrap="square" lIns="0" rIns="0" tIns="0" bIns="0" anchor="t">
            <a:spAutoFit/>
          </a:bodyPr>
          <a:lstStyle/>
          <a:p>
            <a:pPr algn="ctr"/>
            <a:r>
              <a:rPr sz="1100" b="1" i="0" spc="200">
                <a:solidFill>
                  <a:srgbClr val="CADCFC"/>
                </a:solidFill>
                <a:latin typeface="Calibri"/>
              </a:rPr>
              <a:t>missed as normal_user
(evasion rate)</a:t>
            </a:r>
          </a:p>
        </p:txBody>
      </p:sp>
      <p:sp>
        <p:nvSpPr>
          <p:cNvPr id="12" name="Rectangle 11"/>
          <p:cNvSpPr/>
          <p:nvPr/>
        </p:nvSpPr>
        <p:spPr>
          <a:xfrm>
            <a:off x="8046720" y="1828800"/>
            <a:ext cx="3657600" cy="2560320"/>
          </a:xfrm>
          <a:prstGeom prst="rect">
            <a:avLst/>
          </a:prstGeom>
          <a:solidFill>
            <a:srgbClr val="131A47"/>
          </a:solidFill>
          <a:ln w="12700">
            <a:solidFill>
              <a:srgbClr val="8FAE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194560"/>
            <a:ext cx="3657600" cy="1280160"/>
          </a:xfrm>
          <a:prstGeom prst="rect">
            <a:avLst/>
          </a:prstGeom>
          <a:noFill/>
        </p:spPr>
        <p:txBody>
          <a:bodyPr wrap="square" lIns="0" rIns="0" tIns="0" bIns="0" anchor="t">
            <a:spAutoFit/>
          </a:bodyPr>
          <a:lstStyle/>
          <a:p>
            <a:pPr algn="ctr"/>
            <a:r>
              <a:rPr sz="6400" b="1" i="0">
                <a:solidFill>
                  <a:srgbClr val="8FAEEB"/>
                </a:solidFill>
                <a:latin typeface="Calibri"/>
              </a:rPr>
              <a:t>94.26%</a:t>
            </a:r>
          </a:p>
        </p:txBody>
      </p:sp>
      <p:sp>
        <p:nvSpPr>
          <p:cNvPr id="14" name="TextBox 13"/>
          <p:cNvSpPr txBox="1"/>
          <p:nvPr/>
        </p:nvSpPr>
        <p:spPr>
          <a:xfrm>
            <a:off x="8321040" y="3474720"/>
            <a:ext cx="3108960" cy="822960"/>
          </a:xfrm>
          <a:prstGeom prst="rect">
            <a:avLst/>
          </a:prstGeom>
          <a:noFill/>
        </p:spPr>
        <p:txBody>
          <a:bodyPr wrap="square" lIns="0" rIns="0" tIns="0" bIns="0" anchor="t">
            <a:spAutoFit/>
          </a:bodyPr>
          <a:lstStyle/>
          <a:p>
            <a:pPr algn="ctr"/>
            <a:r>
              <a:rPr sz="1100" b="1" i="0" spc="200">
                <a:solidFill>
                  <a:srgbClr val="CADCFC"/>
                </a:solidFill>
                <a:latin typeface="Calibri"/>
              </a:rPr>
              <a:t>BINARY ATTACK
RECALL (total)</a:t>
            </a:r>
          </a:p>
        </p:txBody>
      </p:sp>
      <p:sp>
        <p:nvSpPr>
          <p:cNvPr id="15" name="TextBox 14"/>
          <p:cNvSpPr txBox="1"/>
          <p:nvPr/>
        </p:nvSpPr>
        <p:spPr>
          <a:xfrm>
            <a:off x="457200" y="4617720"/>
            <a:ext cx="11430000" cy="320040"/>
          </a:xfrm>
          <a:prstGeom prst="rect">
            <a:avLst/>
          </a:prstGeom>
          <a:noFill/>
        </p:spPr>
        <p:txBody>
          <a:bodyPr wrap="square" lIns="0" rIns="0" tIns="0" bIns="0" anchor="t">
            <a:spAutoFit/>
          </a:bodyPr>
          <a:lstStyle/>
          <a:p>
            <a:pPr algn="l"/>
            <a:r>
              <a:rPr sz="1300" b="1" i="0">
                <a:solidFill>
                  <a:srgbClr val="CADCFC"/>
                </a:solidFill>
                <a:latin typeface="Calibri"/>
              </a:rPr>
              <a:t>Baseline RF vs Proposed ISO+RF — mimicry predictions</a:t>
            </a:r>
          </a:p>
        </p:txBody>
      </p:sp>
      <p:graphicFrame>
        <p:nvGraphicFramePr>
          <p:cNvPr id="16" name="Chart 15"/>
          <p:cNvGraphicFramePr>
            <a:graphicFrameLocks noGrp="1"/>
          </p:cNvGraphicFramePr>
          <p:nvPr/>
        </p:nvGraphicFramePr>
        <p:xfrm>
          <a:off x="457200" y="4937760"/>
          <a:ext cx="11430000" cy="1371600"/>
        </p:xfrm>
        <a:graphic>
          <a:graphicData uri="http://schemas.openxmlformats.org/drawingml/2006/chart">
            <c:chart xmlns:c="http://schemas.openxmlformats.org/drawingml/2006/chart" r:id="rId2"/>
          </a:graphicData>
        </a:graphic>
      </p:graphicFrame>
      <p:sp>
        <p:nvSpPr>
          <p:cNvPr id="17" name="TextBox 16"/>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3 · RESULTS · INTERPRETATION</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How to Read the Mimicry Result</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Three layers: what the attacker did, what they couldn't fake, and why it matters</a:t>
            </a:r>
          </a:p>
        </p:txBody>
      </p:sp>
      <p:pic>
        <p:nvPicPr>
          <p:cNvPr id="5" name="Picture 4" descr="fig10_mimicry_breakdown.png"/>
          <p:cNvPicPr>
            <a:picLocks noChangeAspect="1"/>
          </p:cNvPicPr>
          <p:nvPr/>
        </p:nvPicPr>
        <p:blipFill>
          <a:blip r:embed="rId2"/>
          <a:stretch>
            <a:fillRect/>
          </a:stretch>
        </p:blipFill>
        <p:spPr>
          <a:xfrm>
            <a:off x="457200" y="1691640"/>
            <a:ext cx="5943600" cy="4114800"/>
          </a:xfrm>
          <a:prstGeom prst="rect">
            <a:avLst/>
          </a:prstGeom>
        </p:spPr>
      </p:pic>
      <p:sp>
        <p:nvSpPr>
          <p:cNvPr id="6" name="TextBox 5"/>
          <p:cNvSpPr txBox="1"/>
          <p:nvPr/>
        </p:nvSpPr>
        <p:spPr>
          <a:xfrm>
            <a:off x="6675120" y="1691640"/>
            <a:ext cx="5212080" cy="320040"/>
          </a:xfrm>
          <a:prstGeom prst="rect">
            <a:avLst/>
          </a:prstGeom>
          <a:noFill/>
        </p:spPr>
        <p:txBody>
          <a:bodyPr wrap="square" lIns="0" rIns="0" tIns="0" bIns="0" anchor="t">
            <a:spAutoFit/>
          </a:bodyPr>
          <a:lstStyle/>
          <a:p>
            <a:pPr algn="l"/>
            <a:r>
              <a:rPr sz="1000" b="1" i="0" spc="400">
                <a:solidFill>
                  <a:srgbClr val="F96167"/>
                </a:solidFill>
                <a:latin typeface="Calibri"/>
              </a:rPr>
              <a:t>LAYERS OF INTERPRETATION</a:t>
            </a:r>
          </a:p>
        </p:txBody>
      </p:sp>
      <p:sp>
        <p:nvSpPr>
          <p:cNvPr id="7" name="TextBox 6"/>
          <p:cNvSpPr txBox="1"/>
          <p:nvPr/>
        </p:nvSpPr>
        <p:spPr>
          <a:xfrm>
            <a:off x="6675120" y="2103120"/>
            <a:ext cx="457200" cy="457200"/>
          </a:xfrm>
          <a:prstGeom prst="rect">
            <a:avLst/>
          </a:prstGeom>
          <a:noFill/>
        </p:spPr>
        <p:txBody>
          <a:bodyPr wrap="square" lIns="0" rIns="0" tIns="0" bIns="0" anchor="t">
            <a:spAutoFit/>
          </a:bodyPr>
          <a:lstStyle/>
          <a:p>
            <a:pPr algn="l"/>
            <a:r>
              <a:rPr sz="3200" b="1" i="0">
                <a:solidFill>
                  <a:srgbClr val="1E2761"/>
                </a:solidFill>
                <a:latin typeface="Georgia"/>
              </a:rPr>
              <a:t>1</a:t>
            </a:r>
          </a:p>
        </p:txBody>
      </p:sp>
      <p:sp>
        <p:nvSpPr>
          <p:cNvPr id="8" name="TextBox 7"/>
          <p:cNvSpPr txBox="1"/>
          <p:nvPr/>
        </p:nvSpPr>
        <p:spPr>
          <a:xfrm>
            <a:off x="7178040" y="2148839"/>
            <a:ext cx="4663440" cy="320040"/>
          </a:xfrm>
          <a:prstGeom prst="rect">
            <a:avLst/>
          </a:prstGeom>
          <a:noFill/>
        </p:spPr>
        <p:txBody>
          <a:bodyPr wrap="square" lIns="0" rIns="0" tIns="0" bIns="0" anchor="t">
            <a:spAutoFit/>
          </a:bodyPr>
          <a:lstStyle/>
          <a:p>
            <a:pPr algn="l"/>
            <a:r>
              <a:rPr sz="1300" b="1" i="0">
                <a:solidFill>
                  <a:srgbClr val="1E2761"/>
                </a:solidFill>
                <a:latin typeface="Calibri"/>
              </a:rPr>
              <a:t>What the attacker did well</a:t>
            </a:r>
          </a:p>
        </p:txBody>
      </p:sp>
      <p:sp>
        <p:nvSpPr>
          <p:cNvPr id="9" name="TextBox 8"/>
          <p:cNvSpPr txBox="1"/>
          <p:nvPr/>
        </p:nvSpPr>
        <p:spPr>
          <a:xfrm>
            <a:off x="7178040" y="2487168"/>
            <a:ext cx="4663440" cy="914400"/>
          </a:xfrm>
          <a:prstGeom prst="rect">
            <a:avLst/>
          </a:prstGeom>
          <a:noFill/>
        </p:spPr>
        <p:txBody>
          <a:bodyPr wrap="square" lIns="0" rIns="0" tIns="0" bIns="0" anchor="t">
            <a:spAutoFit/>
          </a:bodyPr>
          <a:lstStyle/>
          <a:p>
            <a:pPr algn="l"/>
            <a:r>
              <a:rPr sz="1100" b="0" i="0">
                <a:solidFill>
                  <a:srgbClr val="1A1A2E"/>
                </a:solidFill>
                <a:latin typeface="Calibri"/>
              </a:rPr>
              <a:t>Surface mimicry worked: UA pool, IP overlap, token reuse, sticky sessions — all successfully imitated. Even per-window request rate overlaps normal_user.</a:t>
            </a:r>
          </a:p>
        </p:txBody>
      </p:sp>
      <p:sp>
        <p:nvSpPr>
          <p:cNvPr id="10" name="TextBox 9"/>
          <p:cNvSpPr txBox="1"/>
          <p:nvPr/>
        </p:nvSpPr>
        <p:spPr>
          <a:xfrm>
            <a:off x="6675120" y="3520439"/>
            <a:ext cx="457200" cy="457200"/>
          </a:xfrm>
          <a:prstGeom prst="rect">
            <a:avLst/>
          </a:prstGeom>
          <a:noFill/>
        </p:spPr>
        <p:txBody>
          <a:bodyPr wrap="square" lIns="0" rIns="0" tIns="0" bIns="0" anchor="t">
            <a:spAutoFit/>
          </a:bodyPr>
          <a:lstStyle/>
          <a:p>
            <a:pPr algn="l"/>
            <a:r>
              <a:rPr sz="3200" b="1" i="0">
                <a:solidFill>
                  <a:srgbClr val="1E2761"/>
                </a:solidFill>
                <a:latin typeface="Georgia"/>
              </a:rPr>
              <a:t>2</a:t>
            </a:r>
          </a:p>
        </p:txBody>
      </p:sp>
      <p:sp>
        <p:nvSpPr>
          <p:cNvPr id="11" name="TextBox 10"/>
          <p:cNvSpPr txBox="1"/>
          <p:nvPr/>
        </p:nvSpPr>
        <p:spPr>
          <a:xfrm>
            <a:off x="7178040" y="3566159"/>
            <a:ext cx="4663440" cy="320040"/>
          </a:xfrm>
          <a:prstGeom prst="rect">
            <a:avLst/>
          </a:prstGeom>
          <a:noFill/>
        </p:spPr>
        <p:txBody>
          <a:bodyPr wrap="square" lIns="0" rIns="0" tIns="0" bIns="0" anchor="t">
            <a:spAutoFit/>
          </a:bodyPr>
          <a:lstStyle/>
          <a:p>
            <a:pPr algn="l"/>
            <a:r>
              <a:rPr sz="1300" b="1" i="0">
                <a:solidFill>
                  <a:srgbClr val="1E2761"/>
                </a:solidFill>
                <a:latin typeface="Calibri"/>
              </a:rPr>
              <a:t>What the attacker could not fake</a:t>
            </a:r>
          </a:p>
        </p:txBody>
      </p:sp>
      <p:sp>
        <p:nvSpPr>
          <p:cNvPr id="12" name="TextBox 11"/>
          <p:cNvSpPr txBox="1"/>
          <p:nvPr/>
        </p:nvSpPr>
        <p:spPr>
          <a:xfrm>
            <a:off x="7178040" y="3904487"/>
            <a:ext cx="4663440" cy="914400"/>
          </a:xfrm>
          <a:prstGeom prst="rect">
            <a:avLst/>
          </a:prstGeom>
          <a:noFill/>
        </p:spPr>
        <p:txBody>
          <a:bodyPr wrap="square" lIns="0" rIns="0" tIns="0" bIns="0" anchor="t">
            <a:spAutoFit/>
          </a:bodyPr>
          <a:lstStyle/>
          <a:p>
            <a:pPr algn="l"/>
            <a:r>
              <a:rPr sz="1100" b="0" i="0">
                <a:solidFill>
                  <a:srgbClr val="1A1A2E"/>
                </a:solidFill>
                <a:latin typeface="Calibri"/>
              </a:rPr>
              <a:t>Endpoint distribution (search-burst only), endpoint cost asymmetry (heavy login + search), login pattern, status code mix — these behavioral signatures bleed through.</a:t>
            </a:r>
          </a:p>
        </p:txBody>
      </p:sp>
      <p:sp>
        <p:nvSpPr>
          <p:cNvPr id="13" name="TextBox 12"/>
          <p:cNvSpPr txBox="1"/>
          <p:nvPr/>
        </p:nvSpPr>
        <p:spPr>
          <a:xfrm>
            <a:off x="6675120" y="4937760"/>
            <a:ext cx="457200" cy="457200"/>
          </a:xfrm>
          <a:prstGeom prst="rect">
            <a:avLst/>
          </a:prstGeom>
          <a:noFill/>
        </p:spPr>
        <p:txBody>
          <a:bodyPr wrap="square" lIns="0" rIns="0" tIns="0" bIns="0" anchor="t">
            <a:spAutoFit/>
          </a:bodyPr>
          <a:lstStyle/>
          <a:p>
            <a:pPr algn="l"/>
            <a:r>
              <a:rPr sz="3200" b="1" i="0">
                <a:solidFill>
                  <a:srgbClr val="1E2761"/>
                </a:solidFill>
                <a:latin typeface="Georgia"/>
              </a:rPr>
              <a:t>3</a:t>
            </a:r>
          </a:p>
        </p:txBody>
      </p:sp>
      <p:sp>
        <p:nvSpPr>
          <p:cNvPr id="14" name="TextBox 13"/>
          <p:cNvSpPr txBox="1"/>
          <p:nvPr/>
        </p:nvSpPr>
        <p:spPr>
          <a:xfrm>
            <a:off x="7178040" y="4983480"/>
            <a:ext cx="4663440" cy="320040"/>
          </a:xfrm>
          <a:prstGeom prst="rect">
            <a:avLst/>
          </a:prstGeom>
          <a:noFill/>
        </p:spPr>
        <p:txBody>
          <a:bodyPr wrap="square" lIns="0" rIns="0" tIns="0" bIns="0" anchor="t">
            <a:spAutoFit/>
          </a:bodyPr>
          <a:lstStyle/>
          <a:p>
            <a:pPr algn="l"/>
            <a:r>
              <a:rPr sz="1300" b="1" i="0">
                <a:solidFill>
                  <a:srgbClr val="1E2761"/>
                </a:solidFill>
                <a:latin typeface="Calibri"/>
              </a:rPr>
              <a:t>Why this matters</a:t>
            </a:r>
          </a:p>
        </p:txBody>
      </p:sp>
      <p:sp>
        <p:nvSpPr>
          <p:cNvPr id="15" name="TextBox 14"/>
          <p:cNvSpPr txBox="1"/>
          <p:nvPr/>
        </p:nvSpPr>
        <p:spPr>
          <a:xfrm>
            <a:off x="7178040" y="5321808"/>
            <a:ext cx="4663440" cy="914400"/>
          </a:xfrm>
          <a:prstGeom prst="rect">
            <a:avLst/>
          </a:prstGeom>
          <a:noFill/>
        </p:spPr>
        <p:txBody>
          <a:bodyPr wrap="square" lIns="0" rIns="0" tIns="0" bIns="0" anchor="t">
            <a:spAutoFit/>
          </a:bodyPr>
          <a:lstStyle/>
          <a:p>
            <a:pPr algn="l"/>
            <a:r>
              <a:rPr sz="1100" b="0" i="0">
                <a:solidFill>
                  <a:srgbClr val="1A1A2E"/>
                </a:solidFill>
                <a:latin typeface="Calibri"/>
              </a:rPr>
              <a:t>The model never saw the mimicry variant of these features during training. It still flagged 94% of mimicry windows as attack — the features GENERALIZE to a new attack type.</a:t>
            </a:r>
          </a:p>
        </p:txBody>
      </p:sp>
      <p:sp>
        <p:nvSpPr>
          <p:cNvPr id="16" name="TextBox 15"/>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17" name="TextBox 16"/>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3 · RESULTS · ABLATION</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 Proving What the Model Is NOT Relying On</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12 feature-group experiments — is any single group taking the shortcut?</a:t>
            </a:r>
          </a:p>
        </p:txBody>
      </p:sp>
      <p:pic>
        <p:nvPicPr>
          <p:cNvPr id="5" name="Picture 4" descr="fig6_ablation.png"/>
          <p:cNvPicPr>
            <a:picLocks noChangeAspect="1"/>
          </p:cNvPicPr>
          <p:nvPr/>
        </p:nvPicPr>
        <p:blipFill>
          <a:blip r:embed="rId2"/>
          <a:stretch>
            <a:fillRect/>
          </a:stretch>
        </p:blipFill>
        <p:spPr>
          <a:xfrm>
            <a:off x="457200" y="1691640"/>
            <a:ext cx="6858000" cy="4572000"/>
          </a:xfrm>
          <a:prstGeom prst="rect">
            <a:avLst/>
          </a:prstGeom>
        </p:spPr>
      </p:pic>
      <p:sp>
        <p:nvSpPr>
          <p:cNvPr id="6" name="TextBox 5"/>
          <p:cNvSpPr txBox="1"/>
          <p:nvPr/>
        </p:nvSpPr>
        <p:spPr>
          <a:xfrm>
            <a:off x="7589520" y="1783080"/>
            <a:ext cx="4297680" cy="320040"/>
          </a:xfrm>
          <a:prstGeom prst="rect">
            <a:avLst/>
          </a:prstGeom>
          <a:noFill/>
        </p:spPr>
        <p:txBody>
          <a:bodyPr wrap="square" lIns="0" rIns="0" tIns="0" bIns="0" anchor="t">
            <a:spAutoFit/>
          </a:bodyPr>
          <a:lstStyle/>
          <a:p>
            <a:pPr algn="l"/>
            <a:r>
              <a:rPr sz="1000" b="1" i="0" spc="400">
                <a:solidFill>
                  <a:srgbClr val="F96167"/>
                </a:solidFill>
                <a:latin typeface="Calibri"/>
              </a:rPr>
              <a:t>KEY FINDINGS</a:t>
            </a:r>
          </a:p>
        </p:txBody>
      </p:sp>
      <p:sp>
        <p:nvSpPr>
          <p:cNvPr id="7" name="Rectangle 6"/>
          <p:cNvSpPr/>
          <p:nvPr/>
        </p:nvSpPr>
        <p:spPr>
          <a:xfrm>
            <a:off x="7589520" y="219456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0" y="2194560"/>
            <a:ext cx="73152" cy="8686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2240279"/>
            <a:ext cx="1371600" cy="411480"/>
          </a:xfrm>
          <a:prstGeom prst="rect">
            <a:avLst/>
          </a:prstGeom>
          <a:noFill/>
        </p:spPr>
        <p:txBody>
          <a:bodyPr wrap="square" lIns="0" rIns="0" tIns="0" bIns="0" anchor="t">
            <a:spAutoFit/>
          </a:bodyPr>
          <a:lstStyle/>
          <a:p>
            <a:pPr algn="l"/>
            <a:r>
              <a:rPr sz="2200" b="1" i="0">
                <a:solidFill>
                  <a:srgbClr val="F96167"/>
                </a:solidFill>
                <a:latin typeface="Calibri"/>
              </a:rPr>
              <a:t>9.5%</a:t>
            </a:r>
          </a:p>
        </p:txBody>
      </p:sp>
      <p:sp>
        <p:nvSpPr>
          <p:cNvPr id="10" name="TextBox 9"/>
          <p:cNvSpPr txBox="1"/>
          <p:nvPr/>
        </p:nvSpPr>
        <p:spPr>
          <a:xfrm>
            <a:off x="9189720" y="2286000"/>
            <a:ext cx="2606040" cy="320040"/>
          </a:xfrm>
          <a:prstGeom prst="rect">
            <a:avLst/>
          </a:prstGeom>
          <a:noFill/>
        </p:spPr>
        <p:txBody>
          <a:bodyPr wrap="square" lIns="0" rIns="0" tIns="0" bIns="0" anchor="t">
            <a:spAutoFit/>
          </a:bodyPr>
          <a:lstStyle/>
          <a:p>
            <a:pPr algn="l"/>
            <a:r>
              <a:rPr sz="1200" b="1" i="0">
                <a:solidFill>
                  <a:srgbClr val="1E2761"/>
                </a:solidFill>
                <a:latin typeface="Calibri"/>
              </a:rPr>
              <a:t>UA-only</a:t>
            </a:r>
          </a:p>
        </p:txBody>
      </p:sp>
      <p:sp>
        <p:nvSpPr>
          <p:cNvPr id="11" name="TextBox 10"/>
          <p:cNvSpPr txBox="1"/>
          <p:nvPr/>
        </p:nvSpPr>
        <p:spPr>
          <a:xfrm>
            <a:off x="7772400" y="2651760"/>
            <a:ext cx="4023360" cy="411480"/>
          </a:xfrm>
          <a:prstGeom prst="rect">
            <a:avLst/>
          </a:prstGeom>
          <a:noFill/>
        </p:spPr>
        <p:txBody>
          <a:bodyPr wrap="square" lIns="0" rIns="0" tIns="0" bIns="0" anchor="t">
            <a:spAutoFit/>
          </a:bodyPr>
          <a:lstStyle/>
          <a:p>
            <a:pPr algn="l"/>
            <a:r>
              <a:rPr sz="1000" b="0" i="1">
                <a:solidFill>
                  <a:srgbClr val="64748B"/>
                </a:solidFill>
                <a:latin typeface="Calibri"/>
              </a:rPr>
              <a:t>Below even the class baseline. The model does NOT lean on UA.</a:t>
            </a:r>
          </a:p>
        </p:txBody>
      </p:sp>
      <p:sp>
        <p:nvSpPr>
          <p:cNvPr id="12" name="Rectangle 11"/>
          <p:cNvSpPr/>
          <p:nvPr/>
        </p:nvSpPr>
        <p:spPr>
          <a:xfrm>
            <a:off x="7589520" y="315468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3154680"/>
            <a:ext cx="73152" cy="8686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3200400"/>
            <a:ext cx="1371600" cy="411480"/>
          </a:xfrm>
          <a:prstGeom prst="rect">
            <a:avLst/>
          </a:prstGeom>
          <a:noFill/>
        </p:spPr>
        <p:txBody>
          <a:bodyPr wrap="square" lIns="0" rIns="0" tIns="0" bIns="0" anchor="t">
            <a:spAutoFit/>
          </a:bodyPr>
          <a:lstStyle/>
          <a:p>
            <a:pPr algn="l"/>
            <a:r>
              <a:rPr sz="2200" b="1" i="0">
                <a:solidFill>
                  <a:srgbClr val="8FAEEB"/>
                </a:solidFill>
                <a:latin typeface="Calibri"/>
              </a:rPr>
              <a:t>71.3%</a:t>
            </a:r>
          </a:p>
        </p:txBody>
      </p:sp>
      <p:sp>
        <p:nvSpPr>
          <p:cNvPr id="15" name="TextBox 14"/>
          <p:cNvSpPr txBox="1"/>
          <p:nvPr/>
        </p:nvSpPr>
        <p:spPr>
          <a:xfrm>
            <a:off x="9189720" y="3246120"/>
            <a:ext cx="2606040" cy="320040"/>
          </a:xfrm>
          <a:prstGeom prst="rect">
            <a:avLst/>
          </a:prstGeom>
          <a:noFill/>
        </p:spPr>
        <p:txBody>
          <a:bodyPr wrap="square" lIns="0" rIns="0" tIns="0" bIns="0" anchor="t">
            <a:spAutoFit/>
          </a:bodyPr>
          <a:lstStyle/>
          <a:p>
            <a:pPr algn="l"/>
            <a:r>
              <a:rPr sz="1200" b="1" i="0">
                <a:solidFill>
                  <a:srgbClr val="1E2761"/>
                </a:solidFill>
                <a:latin typeface="Calibri"/>
              </a:rPr>
              <a:t>Rate-only</a:t>
            </a:r>
          </a:p>
        </p:txBody>
      </p:sp>
      <p:sp>
        <p:nvSpPr>
          <p:cNvPr id="16" name="TextBox 15"/>
          <p:cNvSpPr txBox="1"/>
          <p:nvPr/>
        </p:nvSpPr>
        <p:spPr>
          <a:xfrm>
            <a:off x="7772400" y="3611880"/>
            <a:ext cx="4023360" cy="411480"/>
          </a:xfrm>
          <a:prstGeom prst="rect">
            <a:avLst/>
          </a:prstGeom>
          <a:noFill/>
        </p:spPr>
        <p:txBody>
          <a:bodyPr wrap="square" lIns="0" rIns="0" tIns="0" bIns="0" anchor="t">
            <a:spAutoFit/>
          </a:bodyPr>
          <a:lstStyle/>
          <a:p>
            <a:pPr algn="l"/>
            <a:r>
              <a:rPr sz="1000" b="0" i="1">
                <a:solidFill>
                  <a:srgbClr val="64748B"/>
                </a:solidFill>
                <a:latin typeface="Calibri"/>
              </a:rPr>
              <a:t>Insufficient on its own. The model does NOT depend on rate alone.</a:t>
            </a:r>
          </a:p>
        </p:txBody>
      </p:sp>
      <p:sp>
        <p:nvSpPr>
          <p:cNvPr id="17" name="Rectangle 16"/>
          <p:cNvSpPr/>
          <p:nvPr/>
        </p:nvSpPr>
        <p:spPr>
          <a:xfrm>
            <a:off x="7589520" y="411480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4114800"/>
            <a:ext cx="73152" cy="86868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4160520"/>
            <a:ext cx="1371600" cy="411480"/>
          </a:xfrm>
          <a:prstGeom prst="rect">
            <a:avLst/>
          </a:prstGeom>
          <a:noFill/>
        </p:spPr>
        <p:txBody>
          <a:bodyPr wrap="square" lIns="0" rIns="0" tIns="0" bIns="0" anchor="t">
            <a:spAutoFit/>
          </a:bodyPr>
          <a:lstStyle/>
          <a:p>
            <a:pPr algn="l"/>
            <a:r>
              <a:rPr sz="2200" b="1" i="0">
                <a:solidFill>
                  <a:srgbClr val="2B3A8C"/>
                </a:solidFill>
                <a:latin typeface="Calibri"/>
              </a:rPr>
              <a:t>93.3%</a:t>
            </a:r>
          </a:p>
        </p:txBody>
      </p:sp>
      <p:sp>
        <p:nvSpPr>
          <p:cNvPr id="20" name="TextBox 19"/>
          <p:cNvSpPr txBox="1"/>
          <p:nvPr/>
        </p:nvSpPr>
        <p:spPr>
          <a:xfrm>
            <a:off x="9189720" y="4206240"/>
            <a:ext cx="2606040" cy="320040"/>
          </a:xfrm>
          <a:prstGeom prst="rect">
            <a:avLst/>
          </a:prstGeom>
          <a:noFill/>
        </p:spPr>
        <p:txBody>
          <a:bodyPr wrap="square" lIns="0" rIns="0" tIns="0" bIns="0" anchor="t">
            <a:spAutoFit/>
          </a:bodyPr>
          <a:lstStyle/>
          <a:p>
            <a:pPr algn="l"/>
            <a:r>
              <a:rPr sz="1200" b="1" i="0">
                <a:solidFill>
                  <a:srgbClr val="1E2761"/>
                </a:solidFill>
                <a:latin typeface="Calibri"/>
              </a:rPr>
              <a:t>Endpoint-only</a:t>
            </a:r>
          </a:p>
        </p:txBody>
      </p:sp>
      <p:sp>
        <p:nvSpPr>
          <p:cNvPr id="21" name="TextBox 20"/>
          <p:cNvSpPr txBox="1"/>
          <p:nvPr/>
        </p:nvSpPr>
        <p:spPr>
          <a:xfrm>
            <a:off x="7772400" y="4572000"/>
            <a:ext cx="4023360" cy="411480"/>
          </a:xfrm>
          <a:prstGeom prst="rect">
            <a:avLst/>
          </a:prstGeom>
          <a:noFill/>
        </p:spPr>
        <p:txBody>
          <a:bodyPr wrap="square" lIns="0" rIns="0" tIns="0" bIns="0" anchor="t">
            <a:spAutoFit/>
          </a:bodyPr>
          <a:lstStyle/>
          <a:p>
            <a:pPr algn="l"/>
            <a:r>
              <a:rPr sz="1000" b="0" i="1">
                <a:solidFill>
                  <a:srgbClr val="64748B"/>
                </a:solidFill>
                <a:latin typeface="Calibri"/>
              </a:rPr>
              <a:t>Endpoint behavior is strong by itself but not the full story.</a:t>
            </a:r>
          </a:p>
        </p:txBody>
      </p:sp>
      <p:sp>
        <p:nvSpPr>
          <p:cNvPr id="22" name="Rectangle 21"/>
          <p:cNvSpPr/>
          <p:nvPr/>
        </p:nvSpPr>
        <p:spPr>
          <a:xfrm>
            <a:off x="7589520" y="5074920"/>
            <a:ext cx="429768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89520" y="5074920"/>
            <a:ext cx="73152" cy="86868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5120640"/>
            <a:ext cx="1371600" cy="411480"/>
          </a:xfrm>
          <a:prstGeom prst="rect">
            <a:avLst/>
          </a:prstGeom>
          <a:noFill/>
        </p:spPr>
        <p:txBody>
          <a:bodyPr wrap="square" lIns="0" rIns="0" tIns="0" bIns="0" anchor="t">
            <a:spAutoFit/>
          </a:bodyPr>
          <a:lstStyle/>
          <a:p>
            <a:pPr algn="l"/>
            <a:r>
              <a:rPr sz="2200" b="1" i="0">
                <a:solidFill>
                  <a:srgbClr val="02C39A"/>
                </a:solidFill>
                <a:latin typeface="Calibri"/>
              </a:rPr>
              <a:t>99.4%</a:t>
            </a:r>
          </a:p>
        </p:txBody>
      </p:sp>
      <p:sp>
        <p:nvSpPr>
          <p:cNvPr id="25" name="TextBox 24"/>
          <p:cNvSpPr txBox="1"/>
          <p:nvPr/>
        </p:nvSpPr>
        <p:spPr>
          <a:xfrm>
            <a:off x="9189720" y="5166360"/>
            <a:ext cx="2606040" cy="320040"/>
          </a:xfrm>
          <a:prstGeom prst="rect">
            <a:avLst/>
          </a:prstGeom>
          <a:noFill/>
        </p:spPr>
        <p:txBody>
          <a:bodyPr wrap="square" lIns="0" rIns="0" tIns="0" bIns="0" anchor="t">
            <a:spAutoFit/>
          </a:bodyPr>
          <a:lstStyle/>
          <a:p>
            <a:pPr algn="l"/>
            <a:r>
              <a:rPr sz="1200" b="1" i="0">
                <a:solidFill>
                  <a:srgbClr val="1E2761"/>
                </a:solidFill>
                <a:latin typeface="Calibri"/>
              </a:rPr>
              <a:t>Full (all features)</a:t>
            </a:r>
          </a:p>
        </p:txBody>
      </p:sp>
      <p:sp>
        <p:nvSpPr>
          <p:cNvPr id="26" name="TextBox 25"/>
          <p:cNvSpPr txBox="1"/>
          <p:nvPr/>
        </p:nvSpPr>
        <p:spPr>
          <a:xfrm>
            <a:off x="7772400" y="5532120"/>
            <a:ext cx="4023360" cy="411480"/>
          </a:xfrm>
          <a:prstGeom prst="rect">
            <a:avLst/>
          </a:prstGeom>
          <a:noFill/>
        </p:spPr>
        <p:txBody>
          <a:bodyPr wrap="square" lIns="0" rIns="0" tIns="0" bIns="0" anchor="t">
            <a:spAutoFit/>
          </a:bodyPr>
          <a:lstStyle/>
          <a:p>
            <a:pPr algn="l"/>
            <a:r>
              <a:rPr sz="1000" b="0" i="1">
                <a:solidFill>
                  <a:srgbClr val="64748B"/>
                </a:solidFill>
                <a:latin typeface="Calibri"/>
              </a:rPr>
              <a:t>Combining everything gives the best, most balanced result.</a:t>
            </a:r>
          </a:p>
        </p:txBody>
      </p:sp>
      <p:sp>
        <p:nvSpPr>
          <p:cNvPr id="27" name="TextBox 26"/>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28" name="TextBox 27"/>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3 · RESULTS · FEATURES</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What Features Is the Model Actually Using?</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Top feature importances · Proposed ISO+RF model</a:t>
            </a:r>
          </a:p>
        </p:txBody>
      </p:sp>
      <p:pic>
        <p:nvPicPr>
          <p:cNvPr id="5" name="Picture 4" descr="fig4_feature_importance.png"/>
          <p:cNvPicPr>
            <a:picLocks noChangeAspect="1"/>
          </p:cNvPicPr>
          <p:nvPr/>
        </p:nvPicPr>
        <p:blipFill>
          <a:blip r:embed="rId2"/>
          <a:stretch>
            <a:fillRect/>
          </a:stretch>
        </p:blipFill>
        <p:spPr>
          <a:xfrm>
            <a:off x="457200" y="1691640"/>
            <a:ext cx="6400800" cy="4572000"/>
          </a:xfrm>
          <a:prstGeom prst="rect">
            <a:avLst/>
          </a:prstGeom>
        </p:spPr>
      </p:pic>
      <p:sp>
        <p:nvSpPr>
          <p:cNvPr id="6" name="TextBox 5"/>
          <p:cNvSpPr txBox="1"/>
          <p:nvPr/>
        </p:nvSpPr>
        <p:spPr>
          <a:xfrm>
            <a:off x="7223760" y="1737360"/>
            <a:ext cx="4663440" cy="320040"/>
          </a:xfrm>
          <a:prstGeom prst="rect">
            <a:avLst/>
          </a:prstGeom>
          <a:noFill/>
        </p:spPr>
        <p:txBody>
          <a:bodyPr wrap="square" lIns="0" rIns="0" tIns="0" bIns="0" anchor="t">
            <a:spAutoFit/>
          </a:bodyPr>
          <a:lstStyle/>
          <a:p>
            <a:pPr algn="l"/>
            <a:r>
              <a:rPr sz="1000" b="1" i="0" spc="400">
                <a:solidFill>
                  <a:srgbClr val="F96167"/>
                </a:solidFill>
                <a:latin typeface="Calibri"/>
              </a:rPr>
              <a:t>DISCRIMINATIVE GROUPS</a:t>
            </a:r>
          </a:p>
        </p:txBody>
      </p:sp>
      <p:sp>
        <p:nvSpPr>
          <p:cNvPr id="7" name="Rectangle 6"/>
          <p:cNvSpPr/>
          <p:nvPr/>
        </p:nvSpPr>
        <p:spPr>
          <a:xfrm>
            <a:off x="7223760" y="2148840"/>
            <a:ext cx="73152" cy="9144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0" y="2148840"/>
            <a:ext cx="4389120" cy="274320"/>
          </a:xfrm>
          <a:prstGeom prst="rect">
            <a:avLst/>
          </a:prstGeom>
          <a:noFill/>
        </p:spPr>
        <p:txBody>
          <a:bodyPr wrap="square" lIns="0" rIns="0" tIns="0" bIns="0" anchor="t">
            <a:spAutoFit/>
          </a:bodyPr>
          <a:lstStyle/>
          <a:p>
            <a:pPr algn="l"/>
            <a:r>
              <a:rPr sz="1200" b="1" i="0">
                <a:solidFill>
                  <a:srgbClr val="1E2761"/>
                </a:solidFill>
                <a:latin typeface="Calibri"/>
              </a:rPr>
              <a:t>Endpoint Behavior</a:t>
            </a:r>
          </a:p>
        </p:txBody>
      </p:sp>
      <p:sp>
        <p:nvSpPr>
          <p:cNvPr id="9" name="TextBox 8"/>
          <p:cNvSpPr txBox="1"/>
          <p:nvPr/>
        </p:nvSpPr>
        <p:spPr>
          <a:xfrm>
            <a:off x="7406640" y="2423160"/>
            <a:ext cx="4389120" cy="365760"/>
          </a:xfrm>
          <a:prstGeom prst="rect">
            <a:avLst/>
          </a:prstGeom>
          <a:noFill/>
        </p:spPr>
        <p:txBody>
          <a:bodyPr wrap="square" lIns="0" rIns="0" tIns="0" bIns="0" anchor="t">
            <a:spAutoFit/>
          </a:bodyPr>
          <a:lstStyle/>
          <a:p>
            <a:pPr algn="l"/>
            <a:r>
              <a:rPr sz="950" b="0" i="0">
                <a:solidFill>
                  <a:srgbClr val="1A1A2E"/>
                </a:solidFill>
                <a:latin typeface="Consolas"/>
              </a:rPr>
              <a:t>endpoint_entropy (#1) · endpoint_cost_mean (#3) · endpoint_unique (#6) · endpoint_cost_sum (#10)</a:t>
            </a:r>
          </a:p>
        </p:txBody>
      </p:sp>
      <p:sp>
        <p:nvSpPr>
          <p:cNvPr id="10" name="TextBox 9"/>
          <p:cNvSpPr txBox="1"/>
          <p:nvPr/>
        </p:nvSpPr>
        <p:spPr>
          <a:xfrm>
            <a:off x="7406640" y="2788920"/>
            <a:ext cx="4389120" cy="274320"/>
          </a:xfrm>
          <a:prstGeom prst="rect">
            <a:avLst/>
          </a:prstGeom>
          <a:noFill/>
        </p:spPr>
        <p:txBody>
          <a:bodyPr wrap="square" lIns="0" rIns="0" tIns="0" bIns="0" anchor="t">
            <a:spAutoFit/>
          </a:bodyPr>
          <a:lstStyle/>
          <a:p>
            <a:pPr algn="l"/>
            <a:r>
              <a:rPr sz="1000" b="0" i="1">
                <a:solidFill>
                  <a:srgbClr val="64748B"/>
                </a:solidFill>
                <a:latin typeface="Calibri"/>
              </a:rPr>
              <a:t>Which routes are hit, at what cost</a:t>
            </a:r>
          </a:p>
        </p:txBody>
      </p:sp>
      <p:sp>
        <p:nvSpPr>
          <p:cNvPr id="11" name="Rectangle 10"/>
          <p:cNvSpPr/>
          <p:nvPr/>
        </p:nvSpPr>
        <p:spPr>
          <a:xfrm>
            <a:off x="7223760" y="3154680"/>
            <a:ext cx="73152" cy="914400"/>
          </a:xfrm>
          <a:prstGeom prst="rect">
            <a:avLst/>
          </a:prstGeom>
          <a:solidFill>
            <a:srgbClr val="2B3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3154680"/>
            <a:ext cx="4389120" cy="274320"/>
          </a:xfrm>
          <a:prstGeom prst="rect">
            <a:avLst/>
          </a:prstGeom>
          <a:noFill/>
        </p:spPr>
        <p:txBody>
          <a:bodyPr wrap="square" lIns="0" rIns="0" tIns="0" bIns="0" anchor="t">
            <a:spAutoFit/>
          </a:bodyPr>
          <a:lstStyle/>
          <a:p>
            <a:pPr algn="l"/>
            <a:r>
              <a:rPr sz="1200" b="1" i="0">
                <a:solidFill>
                  <a:srgbClr val="2B3A8C"/>
                </a:solidFill>
                <a:latin typeface="Calibri"/>
              </a:rPr>
              <a:t>Identity &amp; Status</a:t>
            </a:r>
          </a:p>
        </p:txBody>
      </p:sp>
      <p:sp>
        <p:nvSpPr>
          <p:cNvPr id="13" name="TextBox 12"/>
          <p:cNvSpPr txBox="1"/>
          <p:nvPr/>
        </p:nvSpPr>
        <p:spPr>
          <a:xfrm>
            <a:off x="7406640" y="3429000"/>
            <a:ext cx="4389120" cy="365760"/>
          </a:xfrm>
          <a:prstGeom prst="rect">
            <a:avLst/>
          </a:prstGeom>
          <a:noFill/>
        </p:spPr>
        <p:txBody>
          <a:bodyPr wrap="square" lIns="0" rIns="0" tIns="0" bIns="0" anchor="t">
            <a:spAutoFit/>
          </a:bodyPr>
          <a:lstStyle/>
          <a:p>
            <a:pPr algn="l"/>
            <a:r>
              <a:rPr sz="950" b="0" i="0">
                <a:solidFill>
                  <a:srgbClr val="1A1A2E"/>
                </a:solidFill>
                <a:latin typeface="Consolas"/>
              </a:rPr>
              <a:t>login_present_ratio (#2) · status_4xx_ratio (#4)</a:t>
            </a:r>
          </a:p>
        </p:txBody>
      </p:sp>
      <p:sp>
        <p:nvSpPr>
          <p:cNvPr id="14" name="TextBox 13"/>
          <p:cNvSpPr txBox="1"/>
          <p:nvPr/>
        </p:nvSpPr>
        <p:spPr>
          <a:xfrm>
            <a:off x="7406640" y="3794760"/>
            <a:ext cx="4389120" cy="274320"/>
          </a:xfrm>
          <a:prstGeom prst="rect">
            <a:avLst/>
          </a:prstGeom>
          <a:noFill/>
        </p:spPr>
        <p:txBody>
          <a:bodyPr wrap="square" lIns="0" rIns="0" tIns="0" bIns="0" anchor="t">
            <a:spAutoFit/>
          </a:bodyPr>
          <a:lstStyle/>
          <a:p>
            <a:pPr algn="l"/>
            <a:r>
              <a:rPr sz="1000" b="0" i="1">
                <a:solidFill>
                  <a:srgbClr val="64748B"/>
                </a:solidFill>
                <a:latin typeface="Calibri"/>
              </a:rPr>
              <a:t>Auth pattern + error signal</a:t>
            </a:r>
          </a:p>
        </p:txBody>
      </p:sp>
      <p:sp>
        <p:nvSpPr>
          <p:cNvPr id="15" name="Rectangle 14"/>
          <p:cNvSpPr/>
          <p:nvPr/>
        </p:nvSpPr>
        <p:spPr>
          <a:xfrm>
            <a:off x="7223760" y="4160520"/>
            <a:ext cx="73152" cy="91440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4160520"/>
            <a:ext cx="4389120" cy="274320"/>
          </a:xfrm>
          <a:prstGeom prst="rect">
            <a:avLst/>
          </a:prstGeom>
          <a:noFill/>
        </p:spPr>
        <p:txBody>
          <a:bodyPr wrap="square" lIns="0" rIns="0" tIns="0" bIns="0" anchor="t">
            <a:spAutoFit/>
          </a:bodyPr>
          <a:lstStyle/>
          <a:p>
            <a:pPr algn="l"/>
            <a:r>
              <a:rPr sz="1200" b="1" i="0">
                <a:solidFill>
                  <a:srgbClr val="8FAEEB"/>
                </a:solidFill>
                <a:latin typeface="Calibri"/>
              </a:rPr>
              <a:t>Source Distribution</a:t>
            </a:r>
          </a:p>
        </p:txBody>
      </p:sp>
      <p:sp>
        <p:nvSpPr>
          <p:cNvPr id="17" name="TextBox 16"/>
          <p:cNvSpPr txBox="1"/>
          <p:nvPr/>
        </p:nvSpPr>
        <p:spPr>
          <a:xfrm>
            <a:off x="7406640" y="4434840"/>
            <a:ext cx="4389120" cy="365760"/>
          </a:xfrm>
          <a:prstGeom prst="rect">
            <a:avLst/>
          </a:prstGeom>
          <a:noFill/>
        </p:spPr>
        <p:txBody>
          <a:bodyPr wrap="square" lIns="0" rIns="0" tIns="0" bIns="0" anchor="t">
            <a:spAutoFit/>
          </a:bodyPr>
          <a:lstStyle/>
          <a:p>
            <a:pPr algn="l"/>
            <a:r>
              <a:rPr sz="950" b="0" i="0">
                <a:solidFill>
                  <a:srgbClr val="1A1A2E"/>
                </a:solidFill>
                <a:latin typeface="Consolas"/>
              </a:rPr>
              <a:t>global_unique_subnet (#5) · global_unique_ip (#18)</a:t>
            </a:r>
          </a:p>
        </p:txBody>
      </p:sp>
      <p:sp>
        <p:nvSpPr>
          <p:cNvPr id="18" name="TextBox 17"/>
          <p:cNvSpPr txBox="1"/>
          <p:nvPr/>
        </p:nvSpPr>
        <p:spPr>
          <a:xfrm>
            <a:off x="7406640" y="4800600"/>
            <a:ext cx="4389120" cy="274320"/>
          </a:xfrm>
          <a:prstGeom prst="rect">
            <a:avLst/>
          </a:prstGeom>
          <a:noFill/>
        </p:spPr>
        <p:txBody>
          <a:bodyPr wrap="square" lIns="0" rIns="0" tIns="0" bIns="0" anchor="t">
            <a:spAutoFit/>
          </a:bodyPr>
          <a:lstStyle/>
          <a:p>
            <a:pPr algn="l"/>
            <a:r>
              <a:rPr sz="1000" b="0" i="1">
                <a:solidFill>
                  <a:srgbClr val="64748B"/>
                </a:solidFill>
                <a:latin typeface="Calibri"/>
              </a:rPr>
              <a:t>Source diversity of the attack</a:t>
            </a:r>
          </a:p>
        </p:txBody>
      </p:sp>
      <p:sp>
        <p:nvSpPr>
          <p:cNvPr id="19" name="Rectangle 18"/>
          <p:cNvSpPr/>
          <p:nvPr/>
        </p:nvSpPr>
        <p:spPr>
          <a:xfrm>
            <a:off x="7223760" y="5166360"/>
            <a:ext cx="73152" cy="914400"/>
          </a:xfrm>
          <a:prstGeom prst="rect">
            <a:avLst/>
          </a:prstGeom>
          <a:solidFill>
            <a:srgbClr val="018F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5166360"/>
            <a:ext cx="4389120" cy="274320"/>
          </a:xfrm>
          <a:prstGeom prst="rect">
            <a:avLst/>
          </a:prstGeom>
          <a:noFill/>
        </p:spPr>
        <p:txBody>
          <a:bodyPr wrap="square" lIns="0" rIns="0" tIns="0" bIns="0" anchor="t">
            <a:spAutoFit/>
          </a:bodyPr>
          <a:lstStyle/>
          <a:p>
            <a:pPr algn="l"/>
            <a:r>
              <a:rPr sz="1200" b="1" i="0">
                <a:solidFill>
                  <a:srgbClr val="018F71"/>
                </a:solidFill>
                <a:latin typeface="Calibri"/>
              </a:rPr>
              <a:t>Backend Cost</a:t>
            </a:r>
          </a:p>
        </p:txBody>
      </p:sp>
      <p:sp>
        <p:nvSpPr>
          <p:cNvPr id="21" name="TextBox 20"/>
          <p:cNvSpPr txBox="1"/>
          <p:nvPr/>
        </p:nvSpPr>
        <p:spPr>
          <a:xfrm>
            <a:off x="7406640" y="5440680"/>
            <a:ext cx="4389120" cy="365760"/>
          </a:xfrm>
          <a:prstGeom prst="rect">
            <a:avLst/>
          </a:prstGeom>
          <a:noFill/>
        </p:spPr>
        <p:txBody>
          <a:bodyPr wrap="square" lIns="0" rIns="0" tIns="0" bIns="0" anchor="t">
            <a:spAutoFit/>
          </a:bodyPr>
          <a:lstStyle/>
          <a:p>
            <a:pPr algn="l"/>
            <a:r>
              <a:rPr sz="950" b="0" i="0">
                <a:solidFill>
                  <a:srgbClr val="1A1A2E"/>
                </a:solidFill>
                <a:latin typeface="Consolas"/>
              </a:rPr>
              <a:t>mean_db_time (#8) · mean_cpu_time (#9)</a:t>
            </a:r>
          </a:p>
        </p:txBody>
      </p:sp>
      <p:sp>
        <p:nvSpPr>
          <p:cNvPr id="22" name="TextBox 21"/>
          <p:cNvSpPr txBox="1"/>
          <p:nvPr/>
        </p:nvSpPr>
        <p:spPr>
          <a:xfrm>
            <a:off x="7406640" y="5806440"/>
            <a:ext cx="4389120" cy="274320"/>
          </a:xfrm>
          <a:prstGeom prst="rect">
            <a:avLst/>
          </a:prstGeom>
          <a:noFill/>
        </p:spPr>
        <p:txBody>
          <a:bodyPr wrap="square" lIns="0" rIns="0" tIns="0" bIns="0" anchor="t">
            <a:spAutoFit/>
          </a:bodyPr>
          <a:lstStyle/>
          <a:p>
            <a:pPr algn="l"/>
            <a:r>
              <a:rPr sz="1000" b="0" i="1">
                <a:solidFill>
                  <a:srgbClr val="64748B"/>
                </a:solidFill>
                <a:latin typeface="Calibri"/>
              </a:rPr>
              <a:t>Actual server-side load</a:t>
            </a:r>
          </a:p>
        </p:txBody>
      </p:sp>
      <p:sp>
        <p:nvSpPr>
          <p:cNvPr id="23" name="TextBox 22"/>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24" name="TextBox 23"/>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3 · RESULTS · DEEP-DIVE</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Mimicry, Flood, and Legit — Side by Side</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Which features overlap, which ones separate?</a:t>
            </a:r>
          </a:p>
        </p:txBody>
      </p:sp>
      <p:pic>
        <p:nvPicPr>
          <p:cNvPr id="5" name="Picture 4" descr="fig9_mimicry_features.png"/>
          <p:cNvPicPr>
            <a:picLocks noChangeAspect="1"/>
          </p:cNvPicPr>
          <p:nvPr/>
        </p:nvPicPr>
        <p:blipFill>
          <a:blip r:embed="rId2"/>
          <a:stretch>
            <a:fillRect/>
          </a:stretch>
        </p:blipFill>
        <p:spPr>
          <a:xfrm>
            <a:off x="457200" y="1691640"/>
            <a:ext cx="7772400" cy="4572000"/>
          </a:xfrm>
          <a:prstGeom prst="rect">
            <a:avLst/>
          </a:prstGeom>
        </p:spPr>
      </p:pic>
      <p:sp>
        <p:nvSpPr>
          <p:cNvPr id="6" name="TextBox 5"/>
          <p:cNvSpPr txBox="1"/>
          <p:nvPr/>
        </p:nvSpPr>
        <p:spPr>
          <a:xfrm>
            <a:off x="8595360" y="1783080"/>
            <a:ext cx="3291840" cy="320040"/>
          </a:xfrm>
          <a:prstGeom prst="rect">
            <a:avLst/>
          </a:prstGeom>
          <a:noFill/>
        </p:spPr>
        <p:txBody>
          <a:bodyPr wrap="square" lIns="0" rIns="0" tIns="0" bIns="0" anchor="t">
            <a:spAutoFit/>
          </a:bodyPr>
          <a:lstStyle/>
          <a:p>
            <a:pPr algn="l"/>
            <a:r>
              <a:rPr sz="1000" b="1" i="0" spc="300">
                <a:solidFill>
                  <a:srgbClr val="F96167"/>
                </a:solidFill>
                <a:latin typeface="Calibri"/>
              </a:rPr>
              <a:t>SEPARATION POINTS</a:t>
            </a:r>
          </a:p>
        </p:txBody>
      </p:sp>
      <p:sp>
        <p:nvSpPr>
          <p:cNvPr id="7" name="TextBox 6"/>
          <p:cNvSpPr txBox="1"/>
          <p:nvPr/>
        </p:nvSpPr>
        <p:spPr>
          <a:xfrm>
            <a:off x="8595360" y="2194560"/>
            <a:ext cx="3291840" cy="274320"/>
          </a:xfrm>
          <a:prstGeom prst="rect">
            <a:avLst/>
          </a:prstGeom>
          <a:noFill/>
        </p:spPr>
        <p:txBody>
          <a:bodyPr wrap="square" lIns="0" rIns="0" tIns="0" bIns="0" anchor="t">
            <a:spAutoFit/>
          </a:bodyPr>
          <a:lstStyle/>
          <a:p>
            <a:pPr algn="l"/>
            <a:r>
              <a:rPr sz="1100" b="1" i="0">
                <a:solidFill>
                  <a:srgbClr val="1E2761"/>
                </a:solidFill>
                <a:latin typeface="Consolas"/>
              </a:rPr>
              <a:t>req_rate</a:t>
            </a:r>
          </a:p>
        </p:txBody>
      </p:sp>
      <p:sp>
        <p:nvSpPr>
          <p:cNvPr id="8" name="TextBox 7"/>
          <p:cNvSpPr txBox="1"/>
          <p:nvPr/>
        </p:nvSpPr>
        <p:spPr>
          <a:xfrm>
            <a:off x="8595360" y="2468879"/>
            <a:ext cx="3291840" cy="274320"/>
          </a:xfrm>
          <a:prstGeom prst="rect">
            <a:avLst/>
          </a:prstGeom>
          <a:noFill/>
        </p:spPr>
        <p:txBody>
          <a:bodyPr wrap="square" lIns="0" rIns="0" tIns="0" bIns="0" anchor="t">
            <a:spAutoFit/>
          </a:bodyPr>
          <a:lstStyle/>
          <a:p>
            <a:pPr algn="l"/>
            <a:r>
              <a:rPr sz="900" b="1" i="0" spc="300">
                <a:solidFill>
                  <a:srgbClr val="F96167"/>
                </a:solidFill>
                <a:latin typeface="Calibri"/>
              </a:rPr>
              <a:t>OVERLAPS</a:t>
            </a:r>
          </a:p>
        </p:txBody>
      </p:sp>
      <p:sp>
        <p:nvSpPr>
          <p:cNvPr id="9" name="TextBox 8"/>
          <p:cNvSpPr txBox="1"/>
          <p:nvPr/>
        </p:nvSpPr>
        <p:spPr>
          <a:xfrm>
            <a:off x="8595360" y="2743200"/>
            <a:ext cx="3291840" cy="502920"/>
          </a:xfrm>
          <a:prstGeom prst="rect">
            <a:avLst/>
          </a:prstGeom>
          <a:noFill/>
        </p:spPr>
        <p:txBody>
          <a:bodyPr wrap="square" lIns="0" rIns="0" tIns="0" bIns="0" anchor="t">
            <a:spAutoFit/>
          </a:bodyPr>
          <a:lstStyle/>
          <a:p>
            <a:pPr algn="l"/>
            <a:r>
              <a:rPr sz="1000" b="0" i="0">
                <a:solidFill>
                  <a:srgbClr val="1A1A2E"/>
                </a:solidFill>
                <a:latin typeface="Calibri"/>
              </a:rPr>
              <a:t>All three classes share similar rate distributions — rate alone cannot tell mimicry from legit.</a:t>
            </a:r>
          </a:p>
        </p:txBody>
      </p:sp>
      <p:sp>
        <p:nvSpPr>
          <p:cNvPr id="10" name="TextBox 9"/>
          <p:cNvSpPr txBox="1"/>
          <p:nvPr/>
        </p:nvSpPr>
        <p:spPr>
          <a:xfrm>
            <a:off x="8595360" y="3337560"/>
            <a:ext cx="3291840" cy="274320"/>
          </a:xfrm>
          <a:prstGeom prst="rect">
            <a:avLst/>
          </a:prstGeom>
          <a:noFill/>
        </p:spPr>
        <p:txBody>
          <a:bodyPr wrap="square" lIns="0" rIns="0" tIns="0" bIns="0" anchor="t">
            <a:spAutoFit/>
          </a:bodyPr>
          <a:lstStyle/>
          <a:p>
            <a:pPr algn="l"/>
            <a:r>
              <a:rPr sz="1100" b="1" i="0">
                <a:solidFill>
                  <a:srgbClr val="1E2761"/>
                </a:solidFill>
                <a:latin typeface="Consolas"/>
              </a:rPr>
              <a:t>endpoint_entropy</a:t>
            </a:r>
          </a:p>
        </p:txBody>
      </p:sp>
      <p:sp>
        <p:nvSpPr>
          <p:cNvPr id="11" name="TextBox 10"/>
          <p:cNvSpPr txBox="1"/>
          <p:nvPr/>
        </p:nvSpPr>
        <p:spPr>
          <a:xfrm>
            <a:off x="8595360" y="3611879"/>
            <a:ext cx="3291840" cy="274320"/>
          </a:xfrm>
          <a:prstGeom prst="rect">
            <a:avLst/>
          </a:prstGeom>
          <a:noFill/>
        </p:spPr>
        <p:txBody>
          <a:bodyPr wrap="square" lIns="0" rIns="0" tIns="0" bIns="0" anchor="t">
            <a:spAutoFit/>
          </a:bodyPr>
          <a:lstStyle/>
          <a:p>
            <a:pPr algn="l"/>
            <a:r>
              <a:rPr sz="900" b="1" i="0" spc="300">
                <a:solidFill>
                  <a:srgbClr val="02C39A"/>
                </a:solidFill>
                <a:latin typeface="Calibri"/>
              </a:rPr>
              <a:t>SEPARATES</a:t>
            </a:r>
          </a:p>
        </p:txBody>
      </p:sp>
      <p:sp>
        <p:nvSpPr>
          <p:cNvPr id="12" name="TextBox 11"/>
          <p:cNvSpPr txBox="1"/>
          <p:nvPr/>
        </p:nvSpPr>
        <p:spPr>
          <a:xfrm>
            <a:off x="8595360" y="3886200"/>
            <a:ext cx="3291840" cy="502920"/>
          </a:xfrm>
          <a:prstGeom prst="rect">
            <a:avLst/>
          </a:prstGeom>
          <a:noFill/>
        </p:spPr>
        <p:txBody>
          <a:bodyPr wrap="square" lIns="0" rIns="0" tIns="0" bIns="0" anchor="t">
            <a:spAutoFit/>
          </a:bodyPr>
          <a:lstStyle/>
          <a:p>
            <a:pPr algn="l"/>
            <a:r>
              <a:rPr sz="1000" b="0" i="0">
                <a:solidFill>
                  <a:srgbClr val="1A1A2E"/>
                </a:solidFill>
                <a:latin typeface="Calibri"/>
              </a:rPr>
              <a:t>Legit ~1.6, mimicry ~0.2. Mimicry only bursts on search — its distribution is narrow.</a:t>
            </a:r>
          </a:p>
        </p:txBody>
      </p:sp>
      <p:sp>
        <p:nvSpPr>
          <p:cNvPr id="13" name="TextBox 12"/>
          <p:cNvSpPr txBox="1"/>
          <p:nvPr/>
        </p:nvSpPr>
        <p:spPr>
          <a:xfrm>
            <a:off x="8595360" y="4480560"/>
            <a:ext cx="3291840" cy="274320"/>
          </a:xfrm>
          <a:prstGeom prst="rect">
            <a:avLst/>
          </a:prstGeom>
          <a:noFill/>
        </p:spPr>
        <p:txBody>
          <a:bodyPr wrap="square" lIns="0" rIns="0" tIns="0" bIns="0" anchor="t">
            <a:spAutoFit/>
          </a:bodyPr>
          <a:lstStyle/>
          <a:p>
            <a:pPr algn="l"/>
            <a:r>
              <a:rPr sz="1100" b="1" i="0">
                <a:solidFill>
                  <a:srgbClr val="1E2761"/>
                </a:solidFill>
                <a:latin typeface="Consolas"/>
              </a:rPr>
              <a:t>endpoint_cost_sum</a:t>
            </a:r>
          </a:p>
        </p:txBody>
      </p:sp>
      <p:sp>
        <p:nvSpPr>
          <p:cNvPr id="14" name="TextBox 13"/>
          <p:cNvSpPr txBox="1"/>
          <p:nvPr/>
        </p:nvSpPr>
        <p:spPr>
          <a:xfrm>
            <a:off x="8595360" y="4754880"/>
            <a:ext cx="3291840" cy="274320"/>
          </a:xfrm>
          <a:prstGeom prst="rect">
            <a:avLst/>
          </a:prstGeom>
          <a:noFill/>
        </p:spPr>
        <p:txBody>
          <a:bodyPr wrap="square" lIns="0" rIns="0" tIns="0" bIns="0" anchor="t">
            <a:spAutoFit/>
          </a:bodyPr>
          <a:lstStyle/>
          <a:p>
            <a:pPr algn="l"/>
            <a:r>
              <a:rPr sz="900" b="1" i="0" spc="300">
                <a:solidFill>
                  <a:srgbClr val="02C39A"/>
                </a:solidFill>
                <a:latin typeface="Calibri"/>
              </a:rPr>
              <a:t>SEPARATES</a:t>
            </a:r>
          </a:p>
        </p:txBody>
      </p:sp>
      <p:sp>
        <p:nvSpPr>
          <p:cNvPr id="15" name="TextBox 14"/>
          <p:cNvSpPr txBox="1"/>
          <p:nvPr/>
        </p:nvSpPr>
        <p:spPr>
          <a:xfrm>
            <a:off x="8595360" y="5029200"/>
            <a:ext cx="3291840" cy="502920"/>
          </a:xfrm>
          <a:prstGeom prst="rect">
            <a:avLst/>
          </a:prstGeom>
          <a:noFill/>
        </p:spPr>
        <p:txBody>
          <a:bodyPr wrap="square" lIns="0" rIns="0" tIns="0" bIns="0" anchor="t">
            <a:spAutoFit/>
          </a:bodyPr>
          <a:lstStyle/>
          <a:p>
            <a:pPr algn="l"/>
            <a:r>
              <a:rPr sz="1000" b="0" i="0">
                <a:solidFill>
                  <a:srgbClr val="1A1A2E"/>
                </a:solidFill>
                <a:latin typeface="Calibri"/>
              </a:rPr>
              <a:t>Legit is high, mimicry is low. Mimicry's endpoint pattern cannot fake the cost asymmetry.</a:t>
            </a:r>
          </a:p>
        </p:txBody>
      </p:sp>
      <p:sp>
        <p:nvSpPr>
          <p:cNvPr id="16" name="TextBox 15"/>
          <p:cNvSpPr txBox="1"/>
          <p:nvPr/>
        </p:nvSpPr>
        <p:spPr>
          <a:xfrm>
            <a:off x="8595360" y="5623560"/>
            <a:ext cx="3291840" cy="274320"/>
          </a:xfrm>
          <a:prstGeom prst="rect">
            <a:avLst/>
          </a:prstGeom>
          <a:noFill/>
        </p:spPr>
        <p:txBody>
          <a:bodyPr wrap="square" lIns="0" rIns="0" tIns="0" bIns="0" anchor="t">
            <a:spAutoFit/>
          </a:bodyPr>
          <a:lstStyle/>
          <a:p>
            <a:pPr algn="l"/>
            <a:r>
              <a:rPr sz="1100" b="1" i="0">
                <a:solidFill>
                  <a:srgbClr val="1E2761"/>
                </a:solidFill>
                <a:latin typeface="Consolas"/>
              </a:rPr>
              <a:t>ua_entropy</a:t>
            </a:r>
          </a:p>
        </p:txBody>
      </p:sp>
      <p:sp>
        <p:nvSpPr>
          <p:cNvPr id="17" name="TextBox 16"/>
          <p:cNvSpPr txBox="1"/>
          <p:nvPr/>
        </p:nvSpPr>
        <p:spPr>
          <a:xfrm>
            <a:off x="8595360" y="5897880"/>
            <a:ext cx="3291840" cy="274320"/>
          </a:xfrm>
          <a:prstGeom prst="rect">
            <a:avLst/>
          </a:prstGeom>
          <a:noFill/>
        </p:spPr>
        <p:txBody>
          <a:bodyPr wrap="square" lIns="0" rIns="0" tIns="0" bIns="0" anchor="t">
            <a:spAutoFit/>
          </a:bodyPr>
          <a:lstStyle/>
          <a:p>
            <a:pPr algn="l"/>
            <a:r>
              <a:rPr sz="900" b="1" i="0" spc="300">
                <a:solidFill>
                  <a:srgbClr val="8FAEEB"/>
                </a:solidFill>
                <a:latin typeface="Calibri"/>
              </a:rPr>
              <a:t>INVERTED</a:t>
            </a:r>
          </a:p>
        </p:txBody>
      </p:sp>
      <p:sp>
        <p:nvSpPr>
          <p:cNvPr id="18" name="TextBox 17"/>
          <p:cNvSpPr txBox="1"/>
          <p:nvPr/>
        </p:nvSpPr>
        <p:spPr>
          <a:xfrm>
            <a:off x="8595360" y="6172200"/>
            <a:ext cx="3291840" cy="502920"/>
          </a:xfrm>
          <a:prstGeom prst="rect">
            <a:avLst/>
          </a:prstGeom>
          <a:noFill/>
        </p:spPr>
        <p:txBody>
          <a:bodyPr wrap="square" lIns="0" rIns="0" tIns="0" bIns="0" anchor="t">
            <a:spAutoFit/>
          </a:bodyPr>
          <a:lstStyle/>
          <a:p>
            <a:pPr algn="l"/>
            <a:r>
              <a:rPr sz="1000" b="0" i="0">
                <a:solidFill>
                  <a:srgbClr val="1A1A2E"/>
                </a:solidFill>
                <a:latin typeface="Calibri"/>
              </a:rPr>
              <a:t>Higher in mimicry — the attacker DIVERSIFIES UA strings, and that itself is a signal.</a:t>
            </a:r>
          </a:p>
        </p:txBody>
      </p:sp>
      <p:sp>
        <p:nvSpPr>
          <p:cNvPr id="19" name="TextBox 18"/>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20" name="TextBox 19"/>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3 · RESULTS · OPERATIONAL</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Detection Latency and False Positive Rate</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How fast does the system react, and how often does it bother real users?</a:t>
            </a:r>
          </a:p>
        </p:txBody>
      </p:sp>
      <p:sp>
        <p:nvSpPr>
          <p:cNvPr id="5" name="TextBox 4"/>
          <p:cNvSpPr txBox="1"/>
          <p:nvPr/>
        </p:nvSpPr>
        <p:spPr>
          <a:xfrm>
            <a:off x="457200" y="1691640"/>
            <a:ext cx="5943600" cy="320040"/>
          </a:xfrm>
          <a:prstGeom prst="rect">
            <a:avLst/>
          </a:prstGeom>
          <a:noFill/>
        </p:spPr>
        <p:txBody>
          <a:bodyPr wrap="square" lIns="0" rIns="0" tIns="0" bIns="0" anchor="t">
            <a:spAutoFit/>
          </a:bodyPr>
          <a:lstStyle/>
          <a:p>
            <a:pPr algn="l"/>
            <a:r>
              <a:rPr sz="1300" b="1" i="0">
                <a:solidFill>
                  <a:srgbClr val="1E2761"/>
                </a:solidFill>
                <a:latin typeface="Calibri"/>
              </a:rPr>
              <a:t>Detection latency by scenario flow</a:t>
            </a:r>
          </a:p>
        </p:txBody>
      </p:sp>
      <p:graphicFrame>
        <p:nvGraphicFramePr>
          <p:cNvPr id="6" name="Table 5"/>
          <p:cNvGraphicFramePr>
            <a:graphicFrameLocks noGrp="1"/>
          </p:cNvGraphicFramePr>
          <p:nvPr/>
        </p:nvGraphicFramePr>
        <p:xfrm>
          <a:off x="457200" y="2057400"/>
          <a:ext cx="5943600" cy="2304288"/>
        </p:xfrm>
        <a:graphic>
          <a:graphicData uri="http://schemas.openxmlformats.org/drawingml/2006/table">
            <a:tbl>
              <a:tblPr firstRow="1" bandRow="1">
                <a:tableStyleId>{5C22544A-7EE6-4342-B048-85BDC9FD1C3A}</a:tableStyleId>
              </a:tblPr>
              <a:tblGrid>
                <a:gridCol w="2743200"/>
                <a:gridCol w="1554480"/>
                <a:gridCol w="1645920"/>
              </a:tblGrid>
              <a:tr h="384048">
                <a:tc>
                  <a:txBody>
                    <a:bodyPr wrap="square" anchor="ctr"/>
                    <a:lstStyle/>
                    <a:p>
                      <a:pPr algn="l"/>
                      <a:r>
                        <a:rPr sz="1100" b="1">
                          <a:solidFill>
                            <a:srgbClr val="FFFFFF"/>
                          </a:solidFill>
                          <a:latin typeface="Calibri"/>
                        </a:rPr>
                        <a:t>Scenario</a:t>
                      </a:r>
                    </a:p>
                  </a:txBody>
                  <a:tcPr marL="73152" marR="73152" marT="36576" marB="36576">
                    <a:solidFill>
                      <a:srgbClr val="1E2761"/>
                    </a:solidFill>
                  </a:tcPr>
                </a:tc>
                <a:tc>
                  <a:txBody>
                    <a:bodyPr wrap="square" anchor="ctr"/>
                    <a:lstStyle/>
                    <a:p>
                      <a:pPr algn="ctr"/>
                      <a:r>
                        <a:rPr sz="1100" b="1">
                          <a:solidFill>
                            <a:srgbClr val="FFFFFF"/>
                          </a:solidFill>
                          <a:latin typeface="Calibri"/>
                        </a:rPr>
                        <a:t>Latency (s)</a:t>
                      </a:r>
                    </a:p>
                  </a:txBody>
                  <a:tcPr marL="73152" marR="73152" marT="36576" marB="36576">
                    <a:solidFill>
                      <a:srgbClr val="1E2761"/>
                    </a:solidFill>
                  </a:tcPr>
                </a:tc>
                <a:tc>
                  <a:txBody>
                    <a:bodyPr wrap="square" anchor="ctr"/>
                    <a:lstStyle/>
                    <a:p>
                      <a:pPr algn="ctr"/>
                      <a:r>
                        <a:rPr sz="1100" b="1">
                          <a:solidFill>
                            <a:srgbClr val="FFFFFF"/>
                          </a:solidFill>
                          <a:latin typeface="Calibri"/>
                        </a:rPr>
                        <a:t>Scenario Recall</a:t>
                      </a:r>
                    </a:p>
                  </a:txBody>
                  <a:tcPr marL="73152" marR="73152" marT="36576" marB="36576">
                    <a:solidFill>
                      <a:srgbClr val="1E2761"/>
                    </a:solidFill>
                  </a:tcPr>
                </a:tc>
              </a:tr>
              <a:tr h="384048">
                <a:tc>
                  <a:txBody>
                    <a:bodyPr wrap="square" anchor="ctr"/>
                    <a:lstStyle/>
                    <a:p>
                      <a:pPr algn="l"/>
                      <a:r>
                        <a:rPr sz="1100" b="0">
                          <a:solidFill>
                            <a:srgbClr val="1A1A2E"/>
                          </a:solidFill>
                          <a:latin typeface="Calibri"/>
                        </a:rPr>
                        <a:t>S2 — http_flood</a:t>
                      </a:r>
                    </a:p>
                  </a:txBody>
                  <a:tcPr marL="73152" marR="73152" marT="36576" marB="36576"/>
                </a:tc>
                <a:tc>
                  <a:txBody>
                    <a:bodyPr wrap="square" anchor="ctr"/>
                    <a:lstStyle/>
                    <a:p>
                      <a:pPr algn="ctr"/>
                      <a:r>
                        <a:rPr sz="1100" b="0">
                          <a:solidFill>
                            <a:srgbClr val="1A1A2E"/>
                          </a:solidFill>
                          <a:latin typeface="Calibri"/>
                        </a:rPr>
                        <a:t>0.0</a:t>
                      </a:r>
                    </a:p>
                  </a:txBody>
                  <a:tcPr marL="73152" marR="73152" marT="36576" marB="36576"/>
                </a:tc>
                <a:tc>
                  <a:txBody>
                    <a:bodyPr wrap="square" anchor="ctr"/>
                    <a:lstStyle/>
                    <a:p>
                      <a:pPr algn="ctr"/>
                      <a:r>
                        <a:rPr sz="1100" b="0">
                          <a:solidFill>
                            <a:srgbClr val="1A1A2E"/>
                          </a:solidFill>
                          <a:latin typeface="Calibri"/>
                        </a:rPr>
                        <a:t>86.9%</a:t>
                      </a:r>
                    </a:p>
                  </a:txBody>
                  <a:tcPr marL="73152" marR="73152" marT="36576" marB="36576"/>
                </a:tc>
              </a:tr>
              <a:tr h="384048">
                <a:tc>
                  <a:txBody>
                    <a:bodyPr wrap="square" anchor="ctr"/>
                    <a:lstStyle/>
                    <a:p>
                      <a:pPr algn="l"/>
                      <a:r>
                        <a:rPr sz="1100" b="0">
                          <a:solidFill>
                            <a:srgbClr val="1A1A2E"/>
                          </a:solidFill>
                          <a:latin typeface="Calibri"/>
                        </a:rPr>
                        <a:t>S3 — low_rate_bot</a:t>
                      </a:r>
                    </a:p>
                  </a:txBody>
                  <a:tcPr marL="73152" marR="73152" marT="36576" marB="36576"/>
                </a:tc>
                <a:tc>
                  <a:txBody>
                    <a:bodyPr wrap="square" anchor="ctr"/>
                    <a:lstStyle/>
                    <a:p>
                      <a:pPr algn="ctr"/>
                      <a:r>
                        <a:rPr sz="1100" b="0">
                          <a:solidFill>
                            <a:srgbClr val="1A1A2E"/>
                          </a:solidFill>
                          <a:latin typeface="Calibri"/>
                        </a:rPr>
                        <a:t>10.0</a:t>
                      </a:r>
                    </a:p>
                  </a:txBody>
                  <a:tcPr marL="73152" marR="73152" marT="36576" marB="36576"/>
                </a:tc>
                <a:tc>
                  <a:txBody>
                    <a:bodyPr wrap="square" anchor="ctr"/>
                    <a:lstStyle/>
                    <a:p>
                      <a:pPr algn="ctr"/>
                      <a:r>
                        <a:rPr sz="1100" b="0">
                          <a:solidFill>
                            <a:srgbClr val="1A1A2E"/>
                          </a:solidFill>
                          <a:latin typeface="Calibri"/>
                        </a:rPr>
                        <a:t>46.6%</a:t>
                      </a:r>
                    </a:p>
                  </a:txBody>
                  <a:tcPr marL="73152" marR="73152" marT="36576" marB="36576"/>
                </a:tc>
              </a:tr>
              <a:tr h="384048">
                <a:tc>
                  <a:txBody>
                    <a:bodyPr wrap="square" anchor="ctr"/>
                    <a:lstStyle/>
                    <a:p>
                      <a:pPr algn="l"/>
                      <a:r>
                        <a:rPr sz="1100" b="0">
                          <a:solidFill>
                            <a:srgbClr val="1A1A2E"/>
                          </a:solidFill>
                          <a:latin typeface="Calibri"/>
                        </a:rPr>
                        <a:t>S4 — credential_stuffing</a:t>
                      </a:r>
                    </a:p>
                  </a:txBody>
                  <a:tcPr marL="73152" marR="73152" marT="36576" marB="36576"/>
                </a:tc>
                <a:tc>
                  <a:txBody>
                    <a:bodyPr wrap="square" anchor="ctr"/>
                    <a:lstStyle/>
                    <a:p>
                      <a:pPr algn="ctr"/>
                      <a:r>
                        <a:rPr sz="1100" b="0">
                          <a:solidFill>
                            <a:srgbClr val="1A1A2E"/>
                          </a:solidFill>
                          <a:latin typeface="Calibri"/>
                        </a:rPr>
                        <a:t>0.0</a:t>
                      </a:r>
                    </a:p>
                  </a:txBody>
                  <a:tcPr marL="73152" marR="73152" marT="36576" marB="36576"/>
                </a:tc>
                <a:tc>
                  <a:txBody>
                    <a:bodyPr wrap="square" anchor="ctr"/>
                    <a:lstStyle/>
                    <a:p>
                      <a:pPr algn="ctr"/>
                      <a:r>
                        <a:rPr sz="1100" b="0">
                          <a:solidFill>
                            <a:srgbClr val="1A1A2E"/>
                          </a:solidFill>
                          <a:latin typeface="Calibri"/>
                        </a:rPr>
                        <a:t>82.0%</a:t>
                      </a:r>
                    </a:p>
                  </a:txBody>
                  <a:tcPr marL="73152" marR="73152" marT="36576" marB="36576"/>
                </a:tc>
              </a:tr>
              <a:tr h="384048">
                <a:tc>
                  <a:txBody>
                    <a:bodyPr wrap="square" anchor="ctr"/>
                    <a:lstStyle/>
                    <a:p>
                      <a:pPr algn="l"/>
                      <a:r>
                        <a:rPr sz="1100" b="0">
                          <a:solidFill>
                            <a:srgbClr val="1A1A2E"/>
                          </a:solidFill>
                          <a:latin typeface="Calibri"/>
                        </a:rPr>
                        <a:t>S5 — mimicry_flood</a:t>
                      </a:r>
                    </a:p>
                  </a:txBody>
                  <a:tcPr marL="73152" marR="73152" marT="36576" marB="36576"/>
                </a:tc>
                <a:tc>
                  <a:txBody>
                    <a:bodyPr wrap="square" anchor="ctr"/>
                    <a:lstStyle/>
                    <a:p>
                      <a:pPr algn="ctr"/>
                      <a:r>
                        <a:rPr sz="1100" b="0">
                          <a:solidFill>
                            <a:srgbClr val="1A1A2E"/>
                          </a:solidFill>
                          <a:latin typeface="Calibri"/>
                        </a:rPr>
                        <a:t>0.0</a:t>
                      </a:r>
                    </a:p>
                  </a:txBody>
                  <a:tcPr marL="73152" marR="73152" marT="36576" marB="36576"/>
                </a:tc>
                <a:tc>
                  <a:txBody>
                    <a:bodyPr wrap="square" anchor="ctr"/>
                    <a:lstStyle/>
                    <a:p>
                      <a:pPr algn="ctr"/>
                      <a:r>
                        <a:rPr sz="1100" b="0">
                          <a:solidFill>
                            <a:srgbClr val="1A1A2E"/>
                          </a:solidFill>
                          <a:latin typeface="Calibri"/>
                        </a:rPr>
                        <a:t>89.6%</a:t>
                      </a:r>
                    </a:p>
                  </a:txBody>
                  <a:tcPr marL="73152" marR="73152" marT="36576" marB="36576"/>
                </a:tc>
              </a:tr>
              <a:tr h="384048">
                <a:tc>
                  <a:txBody>
                    <a:bodyPr wrap="square" anchor="ctr"/>
                    <a:lstStyle/>
                    <a:p>
                      <a:pPr algn="l"/>
                      <a:r>
                        <a:rPr sz="1100" b="0">
                          <a:solidFill>
                            <a:srgbClr val="64748B"/>
                          </a:solidFill>
                          <a:latin typeface="Calibri"/>
                        </a:rPr>
                        <a:t>S6 — slowloris *</a:t>
                      </a:r>
                    </a:p>
                  </a:txBody>
                  <a:tcPr marL="73152" marR="73152" marT="36576" marB="36576"/>
                </a:tc>
                <a:tc>
                  <a:txBody>
                    <a:bodyPr wrap="square" anchor="ctr"/>
                    <a:lstStyle/>
                    <a:p>
                      <a:pPr algn="ctr"/>
                      <a:r>
                        <a:rPr sz="1100" b="0">
                          <a:solidFill>
                            <a:srgbClr val="64748B"/>
                          </a:solidFill>
                          <a:latin typeface="Calibri"/>
                        </a:rPr>
                        <a:t>0.0</a:t>
                      </a:r>
                    </a:p>
                  </a:txBody>
                  <a:tcPr marL="73152" marR="73152" marT="36576" marB="36576"/>
                </a:tc>
                <a:tc>
                  <a:txBody>
                    <a:bodyPr wrap="square" anchor="ctr"/>
                    <a:lstStyle/>
                    <a:p>
                      <a:pPr algn="ctr"/>
                      <a:r>
                        <a:rPr sz="1100" b="0">
                          <a:solidFill>
                            <a:srgbClr val="64748B"/>
                          </a:solidFill>
                          <a:latin typeface="Calibri"/>
                        </a:rPr>
                        <a:t>0.2% *</a:t>
                      </a:r>
                    </a:p>
                  </a:txBody>
                  <a:tcPr marL="73152" marR="73152" marT="36576" marB="36576"/>
                </a:tc>
              </a:tr>
            </a:tbl>
          </a:graphicData>
        </a:graphic>
      </p:graphicFrame>
      <p:sp>
        <p:nvSpPr>
          <p:cNvPr id="7" name="TextBox 6"/>
          <p:cNvSpPr txBox="1"/>
          <p:nvPr/>
        </p:nvSpPr>
        <p:spPr>
          <a:xfrm>
            <a:off x="457200" y="4617720"/>
            <a:ext cx="5943600" cy="274320"/>
          </a:xfrm>
          <a:prstGeom prst="rect">
            <a:avLst/>
          </a:prstGeom>
          <a:noFill/>
        </p:spPr>
        <p:txBody>
          <a:bodyPr wrap="square" lIns="0" rIns="0" tIns="0" bIns="0" anchor="t">
            <a:spAutoFit/>
          </a:bodyPr>
          <a:lstStyle/>
          <a:p>
            <a:pPr algn="l"/>
            <a:r>
              <a:rPr sz="900" b="0" i="1">
                <a:solidFill>
                  <a:srgbClr val="64748B"/>
                </a:solidFill>
                <a:latin typeface="Calibri"/>
              </a:rPr>
              <a:t>* S6 sparse — see Discussion §5.3</a:t>
            </a:r>
          </a:p>
        </p:txBody>
      </p:sp>
      <p:sp>
        <p:nvSpPr>
          <p:cNvPr id="8" name="TextBox 7"/>
          <p:cNvSpPr txBox="1"/>
          <p:nvPr/>
        </p:nvSpPr>
        <p:spPr>
          <a:xfrm>
            <a:off x="6858000" y="1691640"/>
            <a:ext cx="5029200" cy="320040"/>
          </a:xfrm>
          <a:prstGeom prst="rect">
            <a:avLst/>
          </a:prstGeom>
          <a:noFill/>
        </p:spPr>
        <p:txBody>
          <a:bodyPr wrap="square" lIns="0" rIns="0" tIns="0" bIns="0" anchor="t">
            <a:spAutoFit/>
          </a:bodyPr>
          <a:lstStyle/>
          <a:p>
            <a:pPr algn="l"/>
            <a:r>
              <a:rPr sz="1300" b="1" i="0">
                <a:solidFill>
                  <a:srgbClr val="1E2761"/>
                </a:solidFill>
                <a:latin typeface="Calibri"/>
              </a:rPr>
              <a:t>False positives on normal users</a:t>
            </a:r>
          </a:p>
        </p:txBody>
      </p:sp>
      <p:sp>
        <p:nvSpPr>
          <p:cNvPr id="9" name="Rectangle 8"/>
          <p:cNvSpPr/>
          <p:nvPr/>
        </p:nvSpPr>
        <p:spPr>
          <a:xfrm>
            <a:off x="6858000" y="21031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0" y="2103120"/>
            <a:ext cx="91440" cy="7772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2194560"/>
            <a:ext cx="1645920" cy="594360"/>
          </a:xfrm>
          <a:prstGeom prst="rect">
            <a:avLst/>
          </a:prstGeom>
          <a:noFill/>
        </p:spPr>
        <p:txBody>
          <a:bodyPr wrap="square" lIns="0" rIns="0" tIns="0" bIns="0" anchor="t">
            <a:spAutoFit/>
          </a:bodyPr>
          <a:lstStyle/>
          <a:p>
            <a:pPr algn="l"/>
            <a:r>
              <a:rPr sz="3200" b="1" i="0">
                <a:solidFill>
                  <a:srgbClr val="F96167"/>
                </a:solidFill>
                <a:latin typeface="Calibri"/>
              </a:rPr>
              <a:t>8</a:t>
            </a:r>
          </a:p>
        </p:txBody>
      </p:sp>
      <p:sp>
        <p:nvSpPr>
          <p:cNvPr id="12" name="TextBox 11"/>
          <p:cNvSpPr txBox="1"/>
          <p:nvPr/>
        </p:nvSpPr>
        <p:spPr>
          <a:xfrm>
            <a:off x="8778240" y="2286000"/>
            <a:ext cx="2834640" cy="457200"/>
          </a:xfrm>
          <a:prstGeom prst="rect">
            <a:avLst/>
          </a:prstGeom>
          <a:noFill/>
        </p:spPr>
        <p:txBody>
          <a:bodyPr wrap="square" lIns="0" rIns="0" tIns="0" bIns="0" anchor="ctr">
            <a:spAutoFit/>
          </a:bodyPr>
          <a:lstStyle/>
          <a:p>
            <a:pPr algn="l"/>
            <a:r>
              <a:rPr sz="1100" b="0" i="0">
                <a:solidFill>
                  <a:srgbClr val="1A1A2E"/>
                </a:solidFill>
                <a:latin typeface="Calibri"/>
              </a:rPr>
              <a:t>false-positive windows</a:t>
            </a:r>
          </a:p>
        </p:txBody>
      </p:sp>
      <p:sp>
        <p:nvSpPr>
          <p:cNvPr id="13" name="Rectangle 12"/>
          <p:cNvSpPr/>
          <p:nvPr/>
        </p:nvSpPr>
        <p:spPr>
          <a:xfrm>
            <a:off x="6858000" y="30175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0" y="3017520"/>
            <a:ext cx="91440" cy="77724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3108960"/>
            <a:ext cx="1645920" cy="594360"/>
          </a:xfrm>
          <a:prstGeom prst="rect">
            <a:avLst/>
          </a:prstGeom>
          <a:noFill/>
        </p:spPr>
        <p:txBody>
          <a:bodyPr wrap="square" lIns="0" rIns="0" tIns="0" bIns="0" anchor="t">
            <a:spAutoFit/>
          </a:bodyPr>
          <a:lstStyle/>
          <a:p>
            <a:pPr algn="l"/>
            <a:r>
              <a:rPr sz="3200" b="1" i="0">
                <a:solidFill>
                  <a:srgbClr val="8FAEEB"/>
                </a:solidFill>
                <a:latin typeface="Calibri"/>
              </a:rPr>
              <a:t>2642</a:t>
            </a:r>
          </a:p>
        </p:txBody>
      </p:sp>
      <p:sp>
        <p:nvSpPr>
          <p:cNvPr id="16" name="TextBox 15"/>
          <p:cNvSpPr txBox="1"/>
          <p:nvPr/>
        </p:nvSpPr>
        <p:spPr>
          <a:xfrm>
            <a:off x="8778240" y="3200400"/>
            <a:ext cx="2834640" cy="457200"/>
          </a:xfrm>
          <a:prstGeom prst="rect">
            <a:avLst/>
          </a:prstGeom>
          <a:noFill/>
        </p:spPr>
        <p:txBody>
          <a:bodyPr wrap="square" lIns="0" rIns="0" tIns="0" bIns="0" anchor="ctr">
            <a:spAutoFit/>
          </a:bodyPr>
          <a:lstStyle/>
          <a:p>
            <a:pPr algn="l"/>
            <a:r>
              <a:rPr sz="1100" b="0" i="0">
                <a:solidFill>
                  <a:srgbClr val="1A1A2E"/>
                </a:solidFill>
                <a:latin typeface="Calibri"/>
              </a:rPr>
              <a:t>total normal windows</a:t>
            </a:r>
          </a:p>
        </p:txBody>
      </p:sp>
      <p:sp>
        <p:nvSpPr>
          <p:cNvPr id="17" name="Rectangle 16"/>
          <p:cNvSpPr/>
          <p:nvPr/>
        </p:nvSpPr>
        <p:spPr>
          <a:xfrm>
            <a:off x="6858000" y="3931920"/>
            <a:ext cx="4846320" cy="777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0" y="3931920"/>
            <a:ext cx="91440" cy="7772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4023359"/>
            <a:ext cx="1645920" cy="594360"/>
          </a:xfrm>
          <a:prstGeom prst="rect">
            <a:avLst/>
          </a:prstGeom>
          <a:noFill/>
        </p:spPr>
        <p:txBody>
          <a:bodyPr wrap="square" lIns="0" rIns="0" tIns="0" bIns="0" anchor="t">
            <a:spAutoFit/>
          </a:bodyPr>
          <a:lstStyle/>
          <a:p>
            <a:pPr algn="l"/>
            <a:r>
              <a:rPr sz="3200" b="1" i="0">
                <a:solidFill>
                  <a:srgbClr val="02C39A"/>
                </a:solidFill>
                <a:latin typeface="Calibri"/>
              </a:rPr>
              <a:t>0.018</a:t>
            </a:r>
          </a:p>
        </p:txBody>
      </p:sp>
      <p:sp>
        <p:nvSpPr>
          <p:cNvPr id="20" name="TextBox 19"/>
          <p:cNvSpPr txBox="1"/>
          <p:nvPr/>
        </p:nvSpPr>
        <p:spPr>
          <a:xfrm>
            <a:off x="8778240" y="4114800"/>
            <a:ext cx="2834640" cy="457200"/>
          </a:xfrm>
          <a:prstGeom prst="rect">
            <a:avLst/>
          </a:prstGeom>
          <a:noFill/>
        </p:spPr>
        <p:txBody>
          <a:bodyPr wrap="square" lIns="0" rIns="0" tIns="0" bIns="0" anchor="ctr">
            <a:spAutoFit/>
          </a:bodyPr>
          <a:lstStyle/>
          <a:p>
            <a:pPr algn="l"/>
            <a:r>
              <a:rPr sz="1100" b="0" i="0">
                <a:solidFill>
                  <a:srgbClr val="1A1A2E"/>
                </a:solidFill>
                <a:latin typeface="Calibri"/>
              </a:rPr>
              <a:t>FPR / legit IP-minute</a:t>
            </a:r>
          </a:p>
        </p:txBody>
      </p:sp>
      <p:sp>
        <p:nvSpPr>
          <p:cNvPr id="21" name="Rectangle 20"/>
          <p:cNvSpPr/>
          <p:nvPr/>
        </p:nvSpPr>
        <p:spPr>
          <a:xfrm>
            <a:off x="457200" y="5120640"/>
            <a:ext cx="11247120" cy="12801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120640"/>
            <a:ext cx="137160" cy="12801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212080"/>
            <a:ext cx="4572000" cy="274320"/>
          </a:xfrm>
          <a:prstGeom prst="rect">
            <a:avLst/>
          </a:prstGeom>
          <a:noFill/>
        </p:spPr>
        <p:txBody>
          <a:bodyPr wrap="square" lIns="0" rIns="0" tIns="0" bIns="0" anchor="t">
            <a:spAutoFit/>
          </a:bodyPr>
          <a:lstStyle/>
          <a:p>
            <a:pPr algn="l"/>
            <a:r>
              <a:rPr sz="1100" b="1" i="0" spc="400">
                <a:solidFill>
                  <a:srgbClr val="02C39A"/>
                </a:solidFill>
                <a:latin typeface="Calibri"/>
              </a:rPr>
              <a:t>OPERATIONAL READING</a:t>
            </a:r>
          </a:p>
        </p:txBody>
      </p:sp>
      <p:sp>
        <p:nvSpPr>
          <p:cNvPr id="24" name="TextBox 23"/>
          <p:cNvSpPr txBox="1"/>
          <p:nvPr/>
        </p:nvSpPr>
        <p:spPr>
          <a:xfrm>
            <a:off x="777240" y="5486400"/>
            <a:ext cx="10789920" cy="914400"/>
          </a:xfrm>
          <a:prstGeom prst="rect">
            <a:avLst/>
          </a:prstGeom>
          <a:noFill/>
        </p:spPr>
        <p:txBody>
          <a:bodyPr wrap="square" lIns="0" rIns="0" tIns="0" bIns="0" anchor="t">
            <a:spAutoFit/>
          </a:bodyPr>
          <a:lstStyle/>
          <a:p>
            <a:pPr algn="l"/>
            <a:r>
              <a:rPr sz="1200" b="0" i="1">
                <a:solidFill>
                  <a:srgbClr val="FFFFFF"/>
                </a:solidFill>
                <a:latin typeface="Calibri"/>
              </a:rPr>
              <a:t>Median detection is in the first window (0s). Low-rate bot lags by ~10s, which is expected since its behavior is closest to normal. Slow HTTP is sparse, so it is evaluated by a connection-level rule. The FPR translates to less than two stray alarms per legit user per minute — production-acceptable.</a:t>
            </a:r>
          </a:p>
        </p:txBody>
      </p:sp>
      <p:sp>
        <p:nvSpPr>
          <p:cNvPr id="25" name="TextBox 24"/>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26" name="TextBox 25"/>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3 · RESULTS · HONESTY</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Calibration Limit — A Transparent Note</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NASA traces are a structural guide, not a target to replicate</a:t>
            </a:r>
          </a:p>
        </p:txBody>
      </p:sp>
      <p:pic>
        <p:nvPicPr>
          <p:cNvPr id="5" name="Picture 4" descr="fig7_iat_calibration.png"/>
          <p:cNvPicPr>
            <a:picLocks noChangeAspect="1"/>
          </p:cNvPicPr>
          <p:nvPr/>
        </p:nvPicPr>
        <p:blipFill>
          <a:blip r:embed="rId2"/>
          <a:stretch>
            <a:fillRect/>
          </a:stretch>
        </p:blipFill>
        <p:spPr>
          <a:xfrm>
            <a:off x="457200" y="1691640"/>
            <a:ext cx="5760720" cy="2194560"/>
          </a:xfrm>
          <a:prstGeom prst="rect">
            <a:avLst/>
          </a:prstGeom>
        </p:spPr>
      </p:pic>
      <p:sp>
        <p:nvSpPr>
          <p:cNvPr id="6" name="TextBox 5"/>
          <p:cNvSpPr txBox="1"/>
          <p:nvPr/>
        </p:nvSpPr>
        <p:spPr>
          <a:xfrm>
            <a:off x="457200" y="3931920"/>
            <a:ext cx="5760720" cy="274320"/>
          </a:xfrm>
          <a:prstGeom prst="rect">
            <a:avLst/>
          </a:prstGeom>
          <a:noFill/>
        </p:spPr>
        <p:txBody>
          <a:bodyPr wrap="square" lIns="0" rIns="0" tIns="0" bIns="0" anchor="t">
            <a:spAutoFit/>
          </a:bodyPr>
          <a:lstStyle/>
          <a:p>
            <a:pPr algn="ctr"/>
            <a:r>
              <a:rPr sz="1100" b="0" i="1">
                <a:solidFill>
                  <a:srgbClr val="64748B"/>
                </a:solidFill>
                <a:latin typeface="Calibri"/>
              </a:rPr>
              <a:t>IAT distribution (KS = 0.994)</a:t>
            </a:r>
          </a:p>
        </p:txBody>
      </p:sp>
      <p:pic>
        <p:nvPicPr>
          <p:cNvPr id="7" name="Picture 6" descr="fig8_zipf_calibration.png"/>
          <p:cNvPicPr>
            <a:picLocks noChangeAspect="1"/>
          </p:cNvPicPr>
          <p:nvPr/>
        </p:nvPicPr>
        <p:blipFill>
          <a:blip r:embed="rId3"/>
          <a:stretch>
            <a:fillRect/>
          </a:stretch>
        </p:blipFill>
        <p:spPr>
          <a:xfrm>
            <a:off x="6400800" y="1691640"/>
            <a:ext cx="5486400" cy="2194560"/>
          </a:xfrm>
          <a:prstGeom prst="rect">
            <a:avLst/>
          </a:prstGeom>
        </p:spPr>
      </p:pic>
      <p:sp>
        <p:nvSpPr>
          <p:cNvPr id="8" name="TextBox 7"/>
          <p:cNvSpPr txBox="1"/>
          <p:nvPr/>
        </p:nvSpPr>
        <p:spPr>
          <a:xfrm>
            <a:off x="6400800" y="3931920"/>
            <a:ext cx="5486400" cy="274320"/>
          </a:xfrm>
          <a:prstGeom prst="rect">
            <a:avLst/>
          </a:prstGeom>
          <a:noFill/>
        </p:spPr>
        <p:txBody>
          <a:bodyPr wrap="square" lIns="0" rIns="0" tIns="0" bIns="0" anchor="t">
            <a:spAutoFit/>
          </a:bodyPr>
          <a:lstStyle/>
          <a:p>
            <a:pPr algn="ctr"/>
            <a:r>
              <a:rPr sz="1100" b="0" i="1">
                <a:solidFill>
                  <a:srgbClr val="64748B"/>
                </a:solidFill>
                <a:latin typeface="Calibri"/>
              </a:rPr>
              <a:t>Endpoint Zipf (α: synthetic 1.71 vs NASA 1.25)</a:t>
            </a:r>
          </a:p>
        </p:txBody>
      </p:sp>
      <p:sp>
        <p:nvSpPr>
          <p:cNvPr id="9" name="Rectangle 8"/>
          <p:cNvSpPr/>
          <p:nvPr/>
        </p:nvSpPr>
        <p:spPr>
          <a:xfrm>
            <a:off x="457200" y="4434840"/>
            <a:ext cx="11247120" cy="1920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434840"/>
            <a:ext cx="137160" cy="19202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526280"/>
            <a:ext cx="5486400" cy="320040"/>
          </a:xfrm>
          <a:prstGeom prst="rect">
            <a:avLst/>
          </a:prstGeom>
          <a:noFill/>
        </p:spPr>
        <p:txBody>
          <a:bodyPr wrap="square" lIns="0" rIns="0" tIns="0" bIns="0" anchor="t">
            <a:spAutoFit/>
          </a:bodyPr>
          <a:lstStyle/>
          <a:p>
            <a:pPr algn="l"/>
            <a:r>
              <a:rPr sz="1100" b="1" i="0" spc="400">
                <a:solidFill>
                  <a:srgbClr val="F96167"/>
                </a:solidFill>
                <a:latin typeface="Calibri"/>
              </a:rPr>
              <a:t>WHAT'S PRESERVED, WHAT'S NOT</a:t>
            </a:r>
          </a:p>
        </p:txBody>
      </p:sp>
      <p:sp>
        <p:nvSpPr>
          <p:cNvPr id="12" name="TextBox 11"/>
          <p:cNvSpPr txBox="1"/>
          <p:nvPr/>
        </p:nvSpPr>
        <p:spPr>
          <a:xfrm>
            <a:off x="777240" y="4846320"/>
            <a:ext cx="10789920" cy="1508760"/>
          </a:xfrm>
          <a:prstGeom prst="rect">
            <a:avLst/>
          </a:prstGeom>
          <a:noFill/>
        </p:spPr>
        <p:txBody>
          <a:bodyPr wrap="square" lIns="0" rIns="0" tIns="0" bIns="0" anchor="t">
            <a:spAutoFit/>
          </a:bodyPr>
          <a:lstStyle/>
          <a:p>
            <a:pPr algn="l"/>
            <a:r>
              <a:rPr sz="1150" b="1" i="0">
                <a:solidFill>
                  <a:srgbClr val="1A1A2E"/>
                </a:solidFill>
                <a:latin typeface="Calibri"/>
              </a:rPr>
              <a:t>Synthetic traffic does NOT replicate NASA — and that's expected.</a:t>
            </a:r>
          </a:p>
          <a:p>
            <a:pPr algn="l"/>
            <a:r>
              <a:rPr sz="1150" b="0" i="0">
                <a:solidFill>
                  <a:srgbClr val="1A1A2E"/>
                </a:solidFill>
                <a:latin typeface="Calibri"/>
              </a:rPr>
              <a:t>NASA: a broad public web in 1995, hundreds of paths. Ours: 4 routes, a focused API. Exact match would be meaningless.</a:t>
            </a:r>
          </a:p>
          <a:p>
            <a:pPr algn="l"/>
            <a:r>
              <a:rPr sz="1150" b="1" i="0">
                <a:solidFill>
                  <a:srgbClr val="1A1A2E"/>
                </a:solidFill>
                <a:latin typeface="Calibri"/>
              </a:rPr>
              <a:t>Structural properties preserved: </a:t>
            </a:r>
            <a:r>
              <a:rPr sz="1150" b="0" i="0">
                <a:solidFill>
                  <a:srgbClr val="1A1A2E"/>
                </a:solidFill>
                <a:latin typeface="Calibri"/>
              </a:rPr>
              <a:t>log-normal IAT shape, Zipf endpoint popularity, Markov navigation graph structure.</a:t>
            </a:r>
          </a:p>
          <a:p>
            <a:pPr algn="l"/>
            <a:r>
              <a:rPr sz="1150" b="1" i="0">
                <a:solidFill>
                  <a:srgbClr val="1A1A2E"/>
                </a:solidFill>
                <a:latin typeface="Calibri"/>
              </a:rPr>
              <a:t>Numerical parameters that change: </a:t>
            </a:r>
            <a:r>
              <a:rPr sz="1150" b="0" i="0">
                <a:solidFill>
                  <a:srgbClr val="1A1A2E"/>
                </a:solidFill>
                <a:latin typeface="Calibri"/>
              </a:rPr>
              <a:t>μ_log and α are re-parameterized per deployment context. This is the concrete instance of the structure-vs-context distinction (Discussion §5.4).</a:t>
            </a:r>
          </a:p>
        </p:txBody>
      </p:sp>
      <p:sp>
        <p:nvSpPr>
          <p:cNvPr id="13" name="TextBox 12"/>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14" name="TextBox 13"/>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Scientific Contributions</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Three methodological moves that make this thesis stand out</a:t>
            </a:r>
          </a:p>
        </p:txBody>
      </p:sp>
      <p:sp>
        <p:nvSpPr>
          <p:cNvPr id="5" name="Rectangle 4"/>
          <p:cNvSpPr/>
          <p:nvPr/>
        </p:nvSpPr>
        <p:spPr>
          <a:xfrm>
            <a:off x="457200" y="1691640"/>
            <a:ext cx="11247120" cy="1554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128016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65960"/>
            <a:ext cx="1280160" cy="868680"/>
          </a:xfrm>
          <a:prstGeom prst="rect">
            <a:avLst/>
          </a:prstGeom>
          <a:noFill/>
        </p:spPr>
        <p:txBody>
          <a:bodyPr wrap="square" lIns="0" rIns="0" tIns="0" bIns="0" anchor="t">
            <a:spAutoFit/>
          </a:bodyPr>
          <a:lstStyle/>
          <a:p>
            <a:pPr algn="ctr"/>
            <a:r>
              <a:rPr sz="4800" b="1" i="0">
                <a:solidFill>
                  <a:srgbClr val="FFFFFF"/>
                </a:solidFill>
                <a:latin typeface="Georgia"/>
              </a:rPr>
              <a:t>01</a:t>
            </a:r>
          </a:p>
        </p:txBody>
      </p:sp>
      <p:sp>
        <p:nvSpPr>
          <p:cNvPr id="8" name="TextBox 7"/>
          <p:cNvSpPr txBox="1"/>
          <p:nvPr/>
        </p:nvSpPr>
        <p:spPr>
          <a:xfrm>
            <a:off x="1920240" y="1874520"/>
            <a:ext cx="9601200" cy="365760"/>
          </a:xfrm>
          <a:prstGeom prst="rect">
            <a:avLst/>
          </a:prstGeom>
          <a:noFill/>
        </p:spPr>
        <p:txBody>
          <a:bodyPr wrap="square" lIns="0" rIns="0" tIns="0" bIns="0" anchor="t">
            <a:spAutoFit/>
          </a:bodyPr>
          <a:lstStyle/>
          <a:p>
            <a:pPr algn="l"/>
            <a:r>
              <a:rPr sz="1700" b="1" i="0">
                <a:solidFill>
                  <a:srgbClr val="1E2761"/>
                </a:solidFill>
                <a:latin typeface="Calibri"/>
              </a:rPr>
              <a:t>Mimicry Holdout Protocol</a:t>
            </a:r>
          </a:p>
        </p:txBody>
      </p:sp>
      <p:sp>
        <p:nvSpPr>
          <p:cNvPr id="9" name="TextBox 8"/>
          <p:cNvSpPr txBox="1"/>
          <p:nvPr/>
        </p:nvSpPr>
        <p:spPr>
          <a:xfrm>
            <a:off x="1920240" y="2286000"/>
            <a:ext cx="9601200" cy="685800"/>
          </a:xfrm>
          <a:prstGeom prst="rect">
            <a:avLst/>
          </a:prstGeom>
          <a:noFill/>
        </p:spPr>
        <p:txBody>
          <a:bodyPr wrap="square" lIns="0" rIns="0" tIns="0" bIns="0" anchor="t">
            <a:spAutoFit/>
          </a:bodyPr>
          <a:lstStyle/>
          <a:p>
            <a:pPr algn="l"/>
            <a:r>
              <a:rPr sz="1150" b="0" i="0">
                <a:solidFill>
                  <a:srgbClr val="1A1A2E"/>
                </a:solidFill>
                <a:latin typeface="Calibri"/>
              </a:rPr>
              <a:t>Testing on an attack variant excluded from training is not standard. This thesis defines the protocol explicitly: mimicry is removed from train and validation and lives only in a separate holdout test partition.</a:t>
            </a:r>
          </a:p>
        </p:txBody>
      </p:sp>
      <p:sp>
        <p:nvSpPr>
          <p:cNvPr id="10" name="Rounded Rectangle 9"/>
          <p:cNvSpPr/>
          <p:nvPr/>
        </p:nvSpPr>
        <p:spPr>
          <a:xfrm>
            <a:off x="1920240" y="2834639"/>
            <a:ext cx="758952"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0" y="2834639"/>
            <a:ext cx="758952" cy="274320"/>
          </a:xfrm>
          <a:prstGeom prst="rect">
            <a:avLst/>
          </a:prstGeom>
          <a:noFill/>
        </p:spPr>
        <p:txBody>
          <a:bodyPr wrap="square" lIns="0" rIns="0" tIns="0" bIns="0" anchor="ctr">
            <a:spAutoFit/>
          </a:bodyPr>
          <a:lstStyle/>
          <a:p>
            <a:pPr algn="ctr"/>
            <a:r>
              <a:rPr sz="900" b="1" i="0">
                <a:solidFill>
                  <a:srgbClr val="1E2761"/>
                </a:solidFill>
                <a:latin typeface="Consolas"/>
              </a:rPr>
              <a:t>protocol</a:t>
            </a:r>
          </a:p>
        </p:txBody>
      </p:sp>
      <p:sp>
        <p:nvSpPr>
          <p:cNvPr id="12" name="Rounded Rectangle 11"/>
          <p:cNvSpPr/>
          <p:nvPr/>
        </p:nvSpPr>
        <p:spPr>
          <a:xfrm>
            <a:off x="2770632" y="2834639"/>
            <a:ext cx="914400"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70632" y="2834639"/>
            <a:ext cx="914400" cy="274320"/>
          </a:xfrm>
          <a:prstGeom prst="rect">
            <a:avLst/>
          </a:prstGeom>
          <a:noFill/>
        </p:spPr>
        <p:txBody>
          <a:bodyPr wrap="square" lIns="0" rIns="0" tIns="0" bIns="0" anchor="ctr">
            <a:spAutoFit/>
          </a:bodyPr>
          <a:lstStyle/>
          <a:p>
            <a:pPr algn="ctr"/>
            <a:r>
              <a:rPr sz="900" b="1" i="0">
                <a:solidFill>
                  <a:srgbClr val="1E2761"/>
                </a:solidFill>
                <a:latin typeface="Consolas"/>
              </a:rPr>
              <a:t>evaluation</a:t>
            </a:r>
          </a:p>
        </p:txBody>
      </p:sp>
      <p:sp>
        <p:nvSpPr>
          <p:cNvPr id="14" name="Rectangle 13"/>
          <p:cNvSpPr/>
          <p:nvPr/>
        </p:nvSpPr>
        <p:spPr>
          <a:xfrm>
            <a:off x="457200" y="3383280"/>
            <a:ext cx="11247120" cy="1554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383280"/>
            <a:ext cx="128016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657600"/>
            <a:ext cx="1280160" cy="868680"/>
          </a:xfrm>
          <a:prstGeom prst="rect">
            <a:avLst/>
          </a:prstGeom>
          <a:noFill/>
        </p:spPr>
        <p:txBody>
          <a:bodyPr wrap="square" lIns="0" rIns="0" tIns="0" bIns="0" anchor="t">
            <a:spAutoFit/>
          </a:bodyPr>
          <a:lstStyle/>
          <a:p>
            <a:pPr algn="ctr"/>
            <a:r>
              <a:rPr sz="4800" b="1" i="0">
                <a:solidFill>
                  <a:srgbClr val="FFFFFF"/>
                </a:solidFill>
                <a:latin typeface="Georgia"/>
              </a:rPr>
              <a:t>02</a:t>
            </a:r>
          </a:p>
        </p:txBody>
      </p:sp>
      <p:sp>
        <p:nvSpPr>
          <p:cNvPr id="17" name="TextBox 16"/>
          <p:cNvSpPr txBox="1"/>
          <p:nvPr/>
        </p:nvSpPr>
        <p:spPr>
          <a:xfrm>
            <a:off x="1920240" y="3566160"/>
            <a:ext cx="9601200" cy="365760"/>
          </a:xfrm>
          <a:prstGeom prst="rect">
            <a:avLst/>
          </a:prstGeom>
          <a:noFill/>
        </p:spPr>
        <p:txBody>
          <a:bodyPr wrap="square" lIns="0" rIns="0" tIns="0" bIns="0" anchor="t">
            <a:spAutoFit/>
          </a:bodyPr>
          <a:lstStyle/>
          <a:p>
            <a:pPr algn="l"/>
            <a:r>
              <a:rPr sz="1700" b="1" i="0">
                <a:solidFill>
                  <a:srgbClr val="1E2761"/>
                </a:solidFill>
                <a:latin typeface="Calibri"/>
              </a:rPr>
              <a:t>Endpoint-Cost-Aware Feature Engineering</a:t>
            </a:r>
          </a:p>
        </p:txBody>
      </p:sp>
      <p:sp>
        <p:nvSpPr>
          <p:cNvPr id="18" name="TextBox 17"/>
          <p:cNvSpPr txBox="1"/>
          <p:nvPr/>
        </p:nvSpPr>
        <p:spPr>
          <a:xfrm>
            <a:off x="1920240" y="3977640"/>
            <a:ext cx="9601200" cy="685800"/>
          </a:xfrm>
          <a:prstGeom prst="rect">
            <a:avLst/>
          </a:prstGeom>
          <a:noFill/>
        </p:spPr>
        <p:txBody>
          <a:bodyPr wrap="square" lIns="0" rIns="0" tIns="0" bIns="0" anchor="t">
            <a:spAutoFit/>
          </a:bodyPr>
          <a:lstStyle/>
          <a:p>
            <a:pPr algn="l"/>
            <a:r>
              <a:rPr sz="1150" b="0" i="0">
                <a:solidFill>
                  <a:srgbClr val="1A1A2E"/>
                </a:solidFill>
                <a:latin typeface="Calibri"/>
              </a:rPr>
              <a:t>Most literature counts requests. This work captures per-route backend cost via timing telemetry (dbTotalTimeMs, cpuTimeMs) and folds that cost profile into the window features.</a:t>
            </a:r>
          </a:p>
        </p:txBody>
      </p:sp>
      <p:sp>
        <p:nvSpPr>
          <p:cNvPr id="19" name="Rounded Rectangle 18"/>
          <p:cNvSpPr/>
          <p:nvPr/>
        </p:nvSpPr>
        <p:spPr>
          <a:xfrm>
            <a:off x="1920240" y="4526280"/>
            <a:ext cx="758952"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0240" y="4526280"/>
            <a:ext cx="758952" cy="274320"/>
          </a:xfrm>
          <a:prstGeom prst="rect">
            <a:avLst/>
          </a:prstGeom>
          <a:noFill/>
        </p:spPr>
        <p:txBody>
          <a:bodyPr wrap="square" lIns="0" rIns="0" tIns="0" bIns="0" anchor="ctr">
            <a:spAutoFit/>
          </a:bodyPr>
          <a:lstStyle/>
          <a:p>
            <a:pPr algn="ctr"/>
            <a:r>
              <a:rPr sz="900" b="1" i="0">
                <a:solidFill>
                  <a:srgbClr val="1E2761"/>
                </a:solidFill>
                <a:latin typeface="Consolas"/>
              </a:rPr>
              <a:t>features</a:t>
            </a:r>
          </a:p>
        </p:txBody>
      </p:sp>
      <p:sp>
        <p:nvSpPr>
          <p:cNvPr id="21" name="Rounded Rectangle 20"/>
          <p:cNvSpPr/>
          <p:nvPr/>
        </p:nvSpPr>
        <p:spPr>
          <a:xfrm>
            <a:off x="2770632" y="4526280"/>
            <a:ext cx="836676"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70632" y="4526280"/>
            <a:ext cx="836676" cy="274320"/>
          </a:xfrm>
          <a:prstGeom prst="rect">
            <a:avLst/>
          </a:prstGeom>
          <a:noFill/>
        </p:spPr>
        <p:txBody>
          <a:bodyPr wrap="square" lIns="0" rIns="0" tIns="0" bIns="0" anchor="ctr">
            <a:spAutoFit/>
          </a:bodyPr>
          <a:lstStyle/>
          <a:p>
            <a:pPr algn="ctr"/>
            <a:r>
              <a:rPr sz="900" b="1" i="0">
                <a:solidFill>
                  <a:srgbClr val="1E2761"/>
                </a:solidFill>
                <a:latin typeface="Consolas"/>
              </a:rPr>
              <a:t>asymmetry</a:t>
            </a:r>
          </a:p>
        </p:txBody>
      </p:sp>
      <p:sp>
        <p:nvSpPr>
          <p:cNvPr id="23" name="Rectangle 22"/>
          <p:cNvSpPr/>
          <p:nvPr/>
        </p:nvSpPr>
        <p:spPr>
          <a:xfrm>
            <a:off x="457200" y="5074920"/>
            <a:ext cx="11247120" cy="15544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5074920"/>
            <a:ext cx="128016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349240"/>
            <a:ext cx="1280160" cy="868680"/>
          </a:xfrm>
          <a:prstGeom prst="rect">
            <a:avLst/>
          </a:prstGeom>
          <a:noFill/>
        </p:spPr>
        <p:txBody>
          <a:bodyPr wrap="square" lIns="0" rIns="0" tIns="0" bIns="0" anchor="t">
            <a:spAutoFit/>
          </a:bodyPr>
          <a:lstStyle/>
          <a:p>
            <a:pPr algn="ctr"/>
            <a:r>
              <a:rPr sz="4800" b="1" i="0">
                <a:solidFill>
                  <a:srgbClr val="FFFFFF"/>
                </a:solidFill>
                <a:latin typeface="Georgia"/>
              </a:rPr>
              <a:t>03</a:t>
            </a:r>
          </a:p>
        </p:txBody>
      </p:sp>
      <p:sp>
        <p:nvSpPr>
          <p:cNvPr id="26" name="TextBox 25"/>
          <p:cNvSpPr txBox="1"/>
          <p:nvPr/>
        </p:nvSpPr>
        <p:spPr>
          <a:xfrm>
            <a:off x="1920240" y="5257800"/>
            <a:ext cx="9601200" cy="365760"/>
          </a:xfrm>
          <a:prstGeom prst="rect">
            <a:avLst/>
          </a:prstGeom>
          <a:noFill/>
        </p:spPr>
        <p:txBody>
          <a:bodyPr wrap="square" lIns="0" rIns="0" tIns="0" bIns="0" anchor="t">
            <a:spAutoFit/>
          </a:bodyPr>
          <a:lstStyle/>
          <a:p>
            <a:pPr algn="l"/>
            <a:r>
              <a:rPr sz="1700" b="1" i="0">
                <a:solidFill>
                  <a:srgbClr val="1E2761"/>
                </a:solidFill>
                <a:latin typeface="Calibri"/>
              </a:rPr>
              <a:t>nginx 408 Enrichment</a:t>
            </a:r>
          </a:p>
        </p:txBody>
      </p:sp>
      <p:sp>
        <p:nvSpPr>
          <p:cNvPr id="27" name="TextBox 26"/>
          <p:cNvSpPr txBox="1"/>
          <p:nvPr/>
        </p:nvSpPr>
        <p:spPr>
          <a:xfrm>
            <a:off x="1920240" y="5669280"/>
            <a:ext cx="9601200" cy="685800"/>
          </a:xfrm>
          <a:prstGeom prst="rect">
            <a:avLst/>
          </a:prstGeom>
          <a:noFill/>
        </p:spPr>
        <p:txBody>
          <a:bodyPr wrap="square" lIns="0" rIns="0" tIns="0" bIns="0" anchor="t">
            <a:spAutoFit/>
          </a:bodyPr>
          <a:lstStyle/>
          <a:p>
            <a:pPr algn="l"/>
            <a:r>
              <a:rPr sz="1150" b="0" i="0">
                <a:solidFill>
                  <a:srgbClr val="1A1A2E"/>
                </a:solidFill>
                <a:latin typeface="Calibri"/>
              </a:rPr>
              <a:t>Slowloris connections die at nginx before middleware sees them. The fix: pull 408 entries from the access log into the Connection table so reverse-proxy telemetry feeds the application-layer feature pipeline.</a:t>
            </a:r>
          </a:p>
        </p:txBody>
      </p:sp>
      <p:sp>
        <p:nvSpPr>
          <p:cNvPr id="28" name="Rounded Rectangle 27"/>
          <p:cNvSpPr/>
          <p:nvPr/>
        </p:nvSpPr>
        <p:spPr>
          <a:xfrm>
            <a:off x="1920240" y="6217920"/>
            <a:ext cx="1303020"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20240" y="6217920"/>
            <a:ext cx="1303020" cy="274320"/>
          </a:xfrm>
          <a:prstGeom prst="rect">
            <a:avLst/>
          </a:prstGeom>
          <a:noFill/>
        </p:spPr>
        <p:txBody>
          <a:bodyPr wrap="square" lIns="0" rIns="0" tIns="0" bIns="0" anchor="ctr">
            <a:spAutoFit/>
          </a:bodyPr>
          <a:lstStyle/>
          <a:p>
            <a:pPr algn="ctr"/>
            <a:r>
              <a:rPr sz="900" b="1" i="0">
                <a:solidFill>
                  <a:srgbClr val="1E2761"/>
                </a:solidFill>
                <a:latin typeface="Consolas"/>
              </a:rPr>
              <a:t>instrumentation</a:t>
            </a:r>
          </a:p>
        </p:txBody>
      </p:sp>
      <p:sp>
        <p:nvSpPr>
          <p:cNvPr id="30" name="Rounded Rectangle 29"/>
          <p:cNvSpPr/>
          <p:nvPr/>
        </p:nvSpPr>
        <p:spPr>
          <a:xfrm>
            <a:off x="3314700" y="6217920"/>
            <a:ext cx="836676" cy="274320"/>
          </a:xfrm>
          <a:prstGeom prst="round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14700" y="6217920"/>
            <a:ext cx="836676" cy="274320"/>
          </a:xfrm>
          <a:prstGeom prst="rect">
            <a:avLst/>
          </a:prstGeom>
          <a:noFill/>
        </p:spPr>
        <p:txBody>
          <a:bodyPr wrap="square" lIns="0" rIns="0" tIns="0" bIns="0" anchor="ctr">
            <a:spAutoFit/>
          </a:bodyPr>
          <a:lstStyle/>
          <a:p>
            <a:pPr algn="ctr"/>
            <a:r>
              <a:rPr sz="900" b="1" i="0">
                <a:solidFill>
                  <a:srgbClr val="1E2761"/>
                </a:solidFill>
                <a:latin typeface="Consolas"/>
              </a:rPr>
              <a:t>slowloris</a:t>
            </a:r>
          </a:p>
        </p:txBody>
      </p:sp>
      <p:sp>
        <p:nvSpPr>
          <p:cNvPr id="32" name="TextBox 31"/>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33" name="TextBox 32"/>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Limitations — The Honest List</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Aligned with Discussion §5.6 — a complete inventory</a:t>
            </a:r>
          </a:p>
        </p:txBody>
      </p:sp>
      <p:sp>
        <p:nvSpPr>
          <p:cNvPr id="5" name="Rectangle 4"/>
          <p:cNvSpPr/>
          <p:nvPr/>
        </p:nvSpPr>
        <p:spPr>
          <a:xfrm>
            <a:off x="457200" y="1691640"/>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91640"/>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91640"/>
            <a:ext cx="777240" cy="1097280"/>
          </a:xfrm>
          <a:prstGeom prst="rect">
            <a:avLst/>
          </a:prstGeom>
          <a:noFill/>
        </p:spPr>
        <p:txBody>
          <a:bodyPr wrap="square" lIns="0" rIns="0" tIns="0" bIns="0" anchor="ctr">
            <a:spAutoFit/>
          </a:bodyPr>
          <a:lstStyle/>
          <a:p>
            <a:pPr algn="ctr"/>
            <a:r>
              <a:rPr sz="1000" b="1" i="0" spc="200">
                <a:solidFill>
                  <a:srgbClr val="FFFFFF"/>
                </a:solidFill>
                <a:latin typeface="Calibri"/>
              </a:rPr>
              <a:t>SCOPE</a:t>
            </a:r>
          </a:p>
        </p:txBody>
      </p:sp>
      <p:sp>
        <p:nvSpPr>
          <p:cNvPr id="8" name="TextBox 7"/>
          <p:cNvSpPr txBox="1"/>
          <p:nvPr/>
        </p:nvSpPr>
        <p:spPr>
          <a:xfrm>
            <a:off x="1371600" y="1801368"/>
            <a:ext cx="4617720" cy="320040"/>
          </a:xfrm>
          <a:prstGeom prst="rect">
            <a:avLst/>
          </a:prstGeom>
          <a:noFill/>
        </p:spPr>
        <p:txBody>
          <a:bodyPr wrap="square" lIns="0" rIns="0" tIns="0" bIns="0" anchor="t">
            <a:spAutoFit/>
          </a:bodyPr>
          <a:lstStyle/>
          <a:p>
            <a:pPr algn="l"/>
            <a:r>
              <a:rPr sz="1200" b="1" i="0">
                <a:solidFill>
                  <a:srgbClr val="1E2761"/>
                </a:solidFill>
                <a:latin typeface="Calibri"/>
              </a:rPr>
              <a:t>Single application</a:t>
            </a:r>
          </a:p>
        </p:txBody>
      </p:sp>
      <p:sp>
        <p:nvSpPr>
          <p:cNvPr id="9" name="TextBox 8"/>
          <p:cNvSpPr txBox="1"/>
          <p:nvPr/>
        </p:nvSpPr>
        <p:spPr>
          <a:xfrm>
            <a:off x="1371600" y="2130552"/>
            <a:ext cx="4617720" cy="640080"/>
          </a:xfrm>
          <a:prstGeom prst="rect">
            <a:avLst/>
          </a:prstGeom>
          <a:noFill/>
        </p:spPr>
        <p:txBody>
          <a:bodyPr wrap="square" lIns="0" rIns="0" tIns="0" bIns="0" anchor="t">
            <a:spAutoFit/>
          </a:bodyPr>
          <a:lstStyle/>
          <a:p>
            <a:pPr algn="l"/>
            <a:r>
              <a:rPr sz="1000" b="0" i="0">
                <a:solidFill>
                  <a:srgbClr val="1A1A2E"/>
                </a:solidFill>
                <a:latin typeface="Calibri"/>
              </a:rPr>
              <a:t>All results are from one NestJS API. Endpoint cost profile is application-specific.</a:t>
            </a:r>
          </a:p>
        </p:txBody>
      </p:sp>
      <p:sp>
        <p:nvSpPr>
          <p:cNvPr id="10" name="Rectangle 9"/>
          <p:cNvSpPr/>
          <p:nvPr/>
        </p:nvSpPr>
        <p:spPr>
          <a:xfrm>
            <a:off x="6263640" y="1691640"/>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691640"/>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691640"/>
            <a:ext cx="777240" cy="1097280"/>
          </a:xfrm>
          <a:prstGeom prst="rect">
            <a:avLst/>
          </a:prstGeom>
          <a:noFill/>
        </p:spPr>
        <p:txBody>
          <a:bodyPr wrap="square" lIns="0" rIns="0" tIns="0" bIns="0" anchor="ctr">
            <a:spAutoFit/>
          </a:bodyPr>
          <a:lstStyle/>
          <a:p>
            <a:pPr algn="ctr"/>
            <a:r>
              <a:rPr sz="1000" b="1" i="0" spc="200">
                <a:solidFill>
                  <a:srgbClr val="FFFFFF"/>
                </a:solidFill>
                <a:latin typeface="Calibri"/>
              </a:rPr>
              <a:t>DATA</a:t>
            </a:r>
          </a:p>
        </p:txBody>
      </p:sp>
      <p:sp>
        <p:nvSpPr>
          <p:cNvPr id="13" name="TextBox 12"/>
          <p:cNvSpPr txBox="1"/>
          <p:nvPr/>
        </p:nvSpPr>
        <p:spPr>
          <a:xfrm>
            <a:off x="7178040" y="1801368"/>
            <a:ext cx="4617720" cy="320040"/>
          </a:xfrm>
          <a:prstGeom prst="rect">
            <a:avLst/>
          </a:prstGeom>
          <a:noFill/>
        </p:spPr>
        <p:txBody>
          <a:bodyPr wrap="square" lIns="0" rIns="0" tIns="0" bIns="0" anchor="t">
            <a:spAutoFit/>
          </a:bodyPr>
          <a:lstStyle/>
          <a:p>
            <a:pPr algn="l"/>
            <a:r>
              <a:rPr sz="1200" b="1" i="0">
                <a:solidFill>
                  <a:srgbClr val="1E2761"/>
                </a:solidFill>
                <a:latin typeface="Calibri"/>
              </a:rPr>
              <a:t>Synthetic traffic</a:t>
            </a:r>
          </a:p>
        </p:txBody>
      </p:sp>
      <p:sp>
        <p:nvSpPr>
          <p:cNvPr id="14" name="TextBox 13"/>
          <p:cNvSpPr txBox="1"/>
          <p:nvPr/>
        </p:nvSpPr>
        <p:spPr>
          <a:xfrm>
            <a:off x="7178040" y="2130552"/>
            <a:ext cx="4617720" cy="640080"/>
          </a:xfrm>
          <a:prstGeom prst="rect">
            <a:avLst/>
          </a:prstGeom>
          <a:noFill/>
        </p:spPr>
        <p:txBody>
          <a:bodyPr wrap="square" lIns="0" rIns="0" tIns="0" bIns="0" anchor="t">
            <a:spAutoFit/>
          </a:bodyPr>
          <a:lstStyle/>
          <a:p>
            <a:pPr algn="l"/>
            <a:r>
              <a:rPr sz="1000" b="0" i="0">
                <a:solidFill>
                  <a:srgbClr val="1A1A2E"/>
                </a:solidFill>
                <a:latin typeface="Calibri"/>
              </a:rPr>
              <a:t>Generated by k6 and slowhttptest in a controlled setting. No production trace validation.</a:t>
            </a:r>
          </a:p>
        </p:txBody>
      </p:sp>
      <p:sp>
        <p:nvSpPr>
          <p:cNvPr id="15" name="Rectangle 14"/>
          <p:cNvSpPr/>
          <p:nvPr/>
        </p:nvSpPr>
        <p:spPr>
          <a:xfrm>
            <a:off x="457200" y="2898648"/>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898648"/>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898648"/>
            <a:ext cx="777240" cy="1097280"/>
          </a:xfrm>
          <a:prstGeom prst="rect">
            <a:avLst/>
          </a:prstGeom>
          <a:noFill/>
        </p:spPr>
        <p:txBody>
          <a:bodyPr wrap="square" lIns="0" rIns="0" tIns="0" bIns="0" anchor="ctr">
            <a:spAutoFit/>
          </a:bodyPr>
          <a:lstStyle/>
          <a:p>
            <a:pPr algn="ctr"/>
            <a:r>
              <a:rPr sz="1000" b="1" i="0" spc="200">
                <a:solidFill>
                  <a:srgbClr val="FFFFFF"/>
                </a:solidFill>
                <a:latin typeface="Calibri"/>
              </a:rPr>
              <a:t>ADV.</a:t>
            </a:r>
          </a:p>
        </p:txBody>
      </p:sp>
      <p:sp>
        <p:nvSpPr>
          <p:cNvPr id="18" name="TextBox 17"/>
          <p:cNvSpPr txBox="1"/>
          <p:nvPr/>
        </p:nvSpPr>
        <p:spPr>
          <a:xfrm>
            <a:off x="1371600" y="3008376"/>
            <a:ext cx="4617720" cy="320040"/>
          </a:xfrm>
          <a:prstGeom prst="rect">
            <a:avLst/>
          </a:prstGeom>
          <a:noFill/>
        </p:spPr>
        <p:txBody>
          <a:bodyPr wrap="square" lIns="0" rIns="0" tIns="0" bIns="0" anchor="t">
            <a:spAutoFit/>
          </a:bodyPr>
          <a:lstStyle/>
          <a:p>
            <a:pPr algn="l"/>
            <a:r>
              <a:rPr sz="1200" b="1" i="0">
                <a:solidFill>
                  <a:srgbClr val="1E2761"/>
                </a:solidFill>
                <a:latin typeface="Calibri"/>
              </a:rPr>
              <a:t>No adaptive adversary</a:t>
            </a:r>
          </a:p>
        </p:txBody>
      </p:sp>
      <p:sp>
        <p:nvSpPr>
          <p:cNvPr id="19" name="TextBox 18"/>
          <p:cNvSpPr txBox="1"/>
          <p:nvPr/>
        </p:nvSpPr>
        <p:spPr>
          <a:xfrm>
            <a:off x="1371600" y="3337560"/>
            <a:ext cx="4617720" cy="640080"/>
          </a:xfrm>
          <a:prstGeom prst="rect">
            <a:avLst/>
          </a:prstGeom>
          <a:noFill/>
        </p:spPr>
        <p:txBody>
          <a:bodyPr wrap="square" lIns="0" rIns="0" tIns="0" bIns="0" anchor="t">
            <a:spAutoFit/>
          </a:bodyPr>
          <a:lstStyle/>
          <a:p>
            <a:pPr algn="l"/>
            <a:r>
              <a:rPr sz="1000" b="0" i="0">
                <a:solidFill>
                  <a:srgbClr val="1A1A2E"/>
                </a:solidFill>
                <a:latin typeface="Calibri"/>
              </a:rPr>
              <a:t>Mimicry is static. The attacker does not iteratively optimize against detector feedback.</a:t>
            </a:r>
          </a:p>
        </p:txBody>
      </p:sp>
      <p:sp>
        <p:nvSpPr>
          <p:cNvPr id="20" name="Rectangle 19"/>
          <p:cNvSpPr/>
          <p:nvPr/>
        </p:nvSpPr>
        <p:spPr>
          <a:xfrm>
            <a:off x="6263640" y="2898648"/>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898648"/>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2898648"/>
            <a:ext cx="777240" cy="1097280"/>
          </a:xfrm>
          <a:prstGeom prst="rect">
            <a:avLst/>
          </a:prstGeom>
          <a:noFill/>
        </p:spPr>
        <p:txBody>
          <a:bodyPr wrap="square" lIns="0" rIns="0" tIns="0" bIns="0" anchor="ctr">
            <a:spAutoFit/>
          </a:bodyPr>
          <a:lstStyle/>
          <a:p>
            <a:pPr algn="ctr"/>
            <a:r>
              <a:rPr sz="1000" b="1" i="0" spc="200">
                <a:solidFill>
                  <a:srgbClr val="FFFFFF"/>
                </a:solidFill>
                <a:latin typeface="Calibri"/>
              </a:rPr>
              <a:t>SIGNAL</a:t>
            </a:r>
          </a:p>
        </p:txBody>
      </p:sp>
      <p:sp>
        <p:nvSpPr>
          <p:cNvPr id="23" name="TextBox 22"/>
          <p:cNvSpPr txBox="1"/>
          <p:nvPr/>
        </p:nvSpPr>
        <p:spPr>
          <a:xfrm>
            <a:off x="7178040" y="3008376"/>
            <a:ext cx="4617720" cy="320040"/>
          </a:xfrm>
          <a:prstGeom prst="rect">
            <a:avLst/>
          </a:prstGeom>
          <a:noFill/>
        </p:spPr>
        <p:txBody>
          <a:bodyPr wrap="square" lIns="0" rIns="0" tIns="0" bIns="0" anchor="t">
            <a:spAutoFit/>
          </a:bodyPr>
          <a:lstStyle/>
          <a:p>
            <a:pPr algn="l"/>
            <a:r>
              <a:rPr sz="1200" b="1" i="0">
                <a:solidFill>
                  <a:srgbClr val="1E2761"/>
                </a:solidFill>
                <a:latin typeface="Calibri"/>
              </a:rPr>
              <a:t>Slow HTTP is sparse</a:t>
            </a:r>
          </a:p>
        </p:txBody>
      </p:sp>
      <p:sp>
        <p:nvSpPr>
          <p:cNvPr id="24" name="TextBox 23"/>
          <p:cNvSpPr txBox="1"/>
          <p:nvPr/>
        </p:nvSpPr>
        <p:spPr>
          <a:xfrm>
            <a:off x="7178040" y="3337560"/>
            <a:ext cx="4617720" cy="640080"/>
          </a:xfrm>
          <a:prstGeom prst="rect">
            <a:avLst/>
          </a:prstGeom>
          <a:noFill/>
        </p:spPr>
        <p:txBody>
          <a:bodyPr wrap="square" lIns="0" rIns="0" tIns="0" bIns="0" anchor="t">
            <a:spAutoFit/>
          </a:bodyPr>
          <a:lstStyle/>
          <a:p>
            <a:pPr algn="l"/>
            <a:r>
              <a:rPr sz="1000" b="0" i="0">
                <a:solidFill>
                  <a:srgbClr val="1A1A2E"/>
                </a:solidFill>
                <a:latin typeface="Calibri"/>
              </a:rPr>
              <a:t>nginx 60s timeout kills slowloris early; evaluated by rule rather than as a supervised class.</a:t>
            </a:r>
          </a:p>
        </p:txBody>
      </p:sp>
      <p:sp>
        <p:nvSpPr>
          <p:cNvPr id="25" name="Rectangle 24"/>
          <p:cNvSpPr/>
          <p:nvPr/>
        </p:nvSpPr>
        <p:spPr>
          <a:xfrm>
            <a:off x="457200" y="4105656"/>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105656"/>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105656"/>
            <a:ext cx="777240" cy="1097280"/>
          </a:xfrm>
          <a:prstGeom prst="rect">
            <a:avLst/>
          </a:prstGeom>
          <a:noFill/>
        </p:spPr>
        <p:txBody>
          <a:bodyPr wrap="square" lIns="0" rIns="0" tIns="0" bIns="0" anchor="ctr">
            <a:spAutoFit/>
          </a:bodyPr>
          <a:lstStyle/>
          <a:p>
            <a:pPr algn="ctr"/>
            <a:r>
              <a:rPr sz="1000" b="1" i="0" spc="200">
                <a:solidFill>
                  <a:srgbClr val="FFFFFF"/>
                </a:solidFill>
                <a:latin typeface="Calibri"/>
              </a:rPr>
              <a:t>AUTH</a:t>
            </a:r>
          </a:p>
        </p:txBody>
      </p:sp>
      <p:sp>
        <p:nvSpPr>
          <p:cNvPr id="28" name="TextBox 27"/>
          <p:cNvSpPr txBox="1"/>
          <p:nvPr/>
        </p:nvSpPr>
        <p:spPr>
          <a:xfrm>
            <a:off x="1371600" y="4215384"/>
            <a:ext cx="4617720" cy="320040"/>
          </a:xfrm>
          <a:prstGeom prst="rect">
            <a:avLst/>
          </a:prstGeom>
          <a:noFill/>
        </p:spPr>
        <p:txBody>
          <a:bodyPr wrap="square" lIns="0" rIns="0" tIns="0" bIns="0" anchor="t">
            <a:spAutoFit/>
          </a:bodyPr>
          <a:lstStyle/>
          <a:p>
            <a:pPr algn="l"/>
            <a:r>
              <a:rPr sz="1200" b="1" i="0">
                <a:solidFill>
                  <a:srgbClr val="1E2761"/>
                </a:solidFill>
                <a:latin typeface="Calibri"/>
              </a:rPr>
              <a:t>Auth-layer rate limiting DISABLED</a:t>
            </a:r>
          </a:p>
        </p:txBody>
      </p:sp>
      <p:sp>
        <p:nvSpPr>
          <p:cNvPr id="29" name="TextBox 28"/>
          <p:cNvSpPr txBox="1"/>
          <p:nvPr/>
        </p:nvSpPr>
        <p:spPr>
          <a:xfrm>
            <a:off x="1371600" y="4544568"/>
            <a:ext cx="4617720" cy="640080"/>
          </a:xfrm>
          <a:prstGeom prst="rect">
            <a:avLst/>
          </a:prstGeom>
          <a:noFill/>
        </p:spPr>
        <p:txBody>
          <a:bodyPr wrap="square" lIns="0" rIns="0" tIns="0" bIns="0" anchor="t">
            <a:spAutoFit/>
          </a:bodyPr>
          <a:lstStyle/>
          <a:p>
            <a:pPr algn="l"/>
            <a:r>
              <a:rPr sz="1000" b="0" i="0">
                <a:solidFill>
                  <a:srgbClr val="1A1A2E"/>
                </a:solidFill>
                <a:latin typeface="Calibri"/>
              </a:rPr>
              <a:t>To isolate the behavioral signal, AuthService IP block and account lockout were deliberately turned off.</a:t>
            </a:r>
          </a:p>
        </p:txBody>
      </p:sp>
      <p:sp>
        <p:nvSpPr>
          <p:cNvPr id="30" name="Rectangle 29"/>
          <p:cNvSpPr/>
          <p:nvPr/>
        </p:nvSpPr>
        <p:spPr>
          <a:xfrm>
            <a:off x="6263640" y="4105656"/>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63640" y="4105656"/>
            <a:ext cx="777240" cy="10972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4105656"/>
            <a:ext cx="777240" cy="1097280"/>
          </a:xfrm>
          <a:prstGeom prst="rect">
            <a:avLst/>
          </a:prstGeom>
          <a:noFill/>
        </p:spPr>
        <p:txBody>
          <a:bodyPr wrap="square" lIns="0" rIns="0" tIns="0" bIns="0" anchor="ctr">
            <a:spAutoFit/>
          </a:bodyPr>
          <a:lstStyle/>
          <a:p>
            <a:pPr algn="ctr"/>
            <a:r>
              <a:rPr sz="1000" b="1" i="0" spc="200">
                <a:solidFill>
                  <a:srgbClr val="FFFFFF"/>
                </a:solidFill>
                <a:latin typeface="Calibri"/>
              </a:rPr>
              <a:t>BUG</a:t>
            </a:r>
          </a:p>
        </p:txBody>
      </p:sp>
      <p:sp>
        <p:nvSpPr>
          <p:cNvPr id="33" name="TextBox 32"/>
          <p:cNvSpPr txBox="1"/>
          <p:nvPr/>
        </p:nvSpPr>
        <p:spPr>
          <a:xfrm>
            <a:off x="7178040" y="4215384"/>
            <a:ext cx="4617720" cy="320040"/>
          </a:xfrm>
          <a:prstGeom prst="rect">
            <a:avLst/>
          </a:prstGeom>
          <a:noFill/>
        </p:spPr>
        <p:txBody>
          <a:bodyPr wrap="square" lIns="0" rIns="0" tIns="0" bIns="0" anchor="t">
            <a:spAutoFit/>
          </a:bodyPr>
          <a:lstStyle/>
          <a:p>
            <a:pPr algn="l"/>
            <a:r>
              <a:rPr sz="1200" b="1" i="0">
                <a:solidFill>
                  <a:srgbClr val="1E2761"/>
                </a:solidFill>
                <a:latin typeface="Calibri"/>
              </a:rPr>
              <a:t>Think-time sleep missing</a:t>
            </a:r>
          </a:p>
        </p:txBody>
      </p:sp>
      <p:sp>
        <p:nvSpPr>
          <p:cNvPr id="34" name="TextBox 33"/>
          <p:cNvSpPr txBox="1"/>
          <p:nvPr/>
        </p:nvSpPr>
        <p:spPr>
          <a:xfrm>
            <a:off x="7178040" y="4544568"/>
            <a:ext cx="4617720" cy="640080"/>
          </a:xfrm>
          <a:prstGeom prst="rect">
            <a:avLst/>
          </a:prstGeom>
          <a:noFill/>
        </p:spPr>
        <p:txBody>
          <a:bodyPr wrap="square" lIns="0" rIns="0" tIns="0" bIns="0" anchor="t">
            <a:spAutoFit/>
          </a:bodyPr>
          <a:lstStyle/>
          <a:p>
            <a:pPr algn="l"/>
            <a:r>
              <a:rPr sz="1000" b="0" i="0">
                <a:solidFill>
                  <a:srgbClr val="1A1A2E"/>
                </a:solidFill>
                <a:latin typeface="Calibri"/>
              </a:rPr>
              <a:t>k6 legit flow computes think times but doesn't apply them via sleep(). Legit RPS is higher than realistic — paradoxically this makes the detection task HARDER, not easier.</a:t>
            </a:r>
          </a:p>
        </p:txBody>
      </p:sp>
      <p:sp>
        <p:nvSpPr>
          <p:cNvPr id="35" name="Rectangle 34"/>
          <p:cNvSpPr/>
          <p:nvPr/>
        </p:nvSpPr>
        <p:spPr>
          <a:xfrm>
            <a:off x="457200" y="5312664"/>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5312664"/>
            <a:ext cx="777240" cy="109728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312664"/>
            <a:ext cx="777240" cy="1097280"/>
          </a:xfrm>
          <a:prstGeom prst="rect">
            <a:avLst/>
          </a:prstGeom>
          <a:noFill/>
        </p:spPr>
        <p:txBody>
          <a:bodyPr wrap="square" lIns="0" rIns="0" tIns="0" bIns="0" anchor="ctr">
            <a:spAutoFit/>
          </a:bodyPr>
          <a:lstStyle/>
          <a:p>
            <a:pPr algn="ctr"/>
            <a:r>
              <a:rPr sz="1000" b="1" i="0" spc="200">
                <a:solidFill>
                  <a:srgbClr val="FFFFFF"/>
                </a:solidFill>
                <a:latin typeface="Calibri"/>
              </a:rPr>
              <a:t>BUG</a:t>
            </a:r>
          </a:p>
        </p:txBody>
      </p:sp>
      <p:sp>
        <p:nvSpPr>
          <p:cNvPr id="38" name="TextBox 37"/>
          <p:cNvSpPr txBox="1"/>
          <p:nvPr/>
        </p:nvSpPr>
        <p:spPr>
          <a:xfrm>
            <a:off x="1371600" y="5422392"/>
            <a:ext cx="4617720" cy="320040"/>
          </a:xfrm>
          <a:prstGeom prst="rect">
            <a:avLst/>
          </a:prstGeom>
          <a:noFill/>
        </p:spPr>
        <p:txBody>
          <a:bodyPr wrap="square" lIns="0" rIns="0" tIns="0" bIns="0" anchor="t">
            <a:spAutoFit/>
          </a:bodyPr>
          <a:lstStyle/>
          <a:p>
            <a:pPr algn="l"/>
            <a:r>
              <a:rPr sz="1200" b="1" i="0">
                <a:solidFill>
                  <a:srgbClr val="1E2761"/>
                </a:solidFill>
                <a:latin typeface="Calibri"/>
              </a:rPr>
              <a:t>UserService Prisma client mismatch</a:t>
            </a:r>
          </a:p>
        </p:txBody>
      </p:sp>
      <p:sp>
        <p:nvSpPr>
          <p:cNvPr id="39" name="TextBox 38"/>
          <p:cNvSpPr txBox="1"/>
          <p:nvPr/>
        </p:nvSpPr>
        <p:spPr>
          <a:xfrm>
            <a:off x="1371600" y="5751575"/>
            <a:ext cx="4617720" cy="640080"/>
          </a:xfrm>
          <a:prstGeom prst="rect">
            <a:avLst/>
          </a:prstGeom>
          <a:noFill/>
        </p:spPr>
        <p:txBody>
          <a:bodyPr wrap="square" lIns="0" rIns="0" tIns="0" bIns="0" anchor="t">
            <a:spAutoFit/>
          </a:bodyPr>
          <a:lstStyle/>
          <a:p>
            <a:pPr algn="l"/>
            <a:r>
              <a:rPr sz="1000" b="0" i="0">
                <a:solidFill>
                  <a:srgbClr val="1A1A2E"/>
                </a:solidFill>
                <a:latin typeface="Calibri"/>
              </a:rPr>
              <a:t>Search endpoint query timings were under-measured. Endpoint cost asymmetry is captured as a relative-categorical signal rather than absolute timings.</a:t>
            </a:r>
          </a:p>
        </p:txBody>
      </p:sp>
      <p:sp>
        <p:nvSpPr>
          <p:cNvPr id="40" name="Rectangle 39"/>
          <p:cNvSpPr/>
          <p:nvPr/>
        </p:nvSpPr>
        <p:spPr>
          <a:xfrm>
            <a:off x="6263640" y="5312664"/>
            <a:ext cx="5623560" cy="10972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63640" y="5312664"/>
            <a:ext cx="777240" cy="1097280"/>
          </a:xfrm>
          <a:prstGeom prst="rect">
            <a:avLst/>
          </a:prstGeom>
          <a:solidFill>
            <a:srgbClr val="8FAE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63640" y="5312664"/>
            <a:ext cx="777240" cy="1097280"/>
          </a:xfrm>
          <a:prstGeom prst="rect">
            <a:avLst/>
          </a:prstGeom>
          <a:noFill/>
        </p:spPr>
        <p:txBody>
          <a:bodyPr wrap="square" lIns="0" rIns="0" tIns="0" bIns="0" anchor="ctr">
            <a:spAutoFit/>
          </a:bodyPr>
          <a:lstStyle/>
          <a:p>
            <a:pPr algn="ctr"/>
            <a:r>
              <a:rPr sz="1000" b="1" i="0" spc="200">
                <a:solidFill>
                  <a:srgbClr val="FFFFFF"/>
                </a:solidFill>
                <a:latin typeface="Calibri"/>
              </a:rPr>
              <a:t>EXT.</a:t>
            </a:r>
          </a:p>
        </p:txBody>
      </p:sp>
      <p:sp>
        <p:nvSpPr>
          <p:cNvPr id="43" name="TextBox 42"/>
          <p:cNvSpPr txBox="1"/>
          <p:nvPr/>
        </p:nvSpPr>
        <p:spPr>
          <a:xfrm>
            <a:off x="7178040" y="5422392"/>
            <a:ext cx="4617720" cy="320040"/>
          </a:xfrm>
          <a:prstGeom prst="rect">
            <a:avLst/>
          </a:prstGeom>
          <a:noFill/>
        </p:spPr>
        <p:txBody>
          <a:bodyPr wrap="square" lIns="0" rIns="0" tIns="0" bIns="0" anchor="t">
            <a:spAutoFit/>
          </a:bodyPr>
          <a:lstStyle/>
          <a:p>
            <a:pPr algn="l"/>
            <a:r>
              <a:rPr sz="1200" b="1" i="0">
                <a:solidFill>
                  <a:srgbClr val="1E2761"/>
                </a:solidFill>
                <a:latin typeface="Calibri"/>
              </a:rPr>
              <a:t>External validation is limited</a:t>
            </a:r>
          </a:p>
        </p:txBody>
      </p:sp>
      <p:sp>
        <p:nvSpPr>
          <p:cNvPr id="44" name="TextBox 43"/>
          <p:cNvSpPr txBox="1"/>
          <p:nvPr/>
        </p:nvSpPr>
        <p:spPr>
          <a:xfrm>
            <a:off x="7178040" y="5751575"/>
            <a:ext cx="4617720" cy="640080"/>
          </a:xfrm>
          <a:prstGeom prst="rect">
            <a:avLst/>
          </a:prstGeom>
          <a:noFill/>
        </p:spPr>
        <p:txBody>
          <a:bodyPr wrap="square" lIns="0" rIns="0" tIns="0" bIns="0" anchor="t">
            <a:spAutoFit/>
          </a:bodyPr>
          <a:lstStyle/>
          <a:p>
            <a:pPr algn="l"/>
            <a:r>
              <a:rPr sz="1000" b="0" i="0">
                <a:solidFill>
                  <a:srgbClr val="1A1A2E"/>
                </a:solidFill>
                <a:latin typeface="Calibri"/>
              </a:rPr>
              <a:t>CIC-DDoS2019 UDPLag flow-level sanity check was performed. This is NOT direct validation of the API-layer model — feature spaces differ.</a:t>
            </a:r>
          </a:p>
        </p:txBody>
      </p:sp>
      <p:sp>
        <p:nvSpPr>
          <p:cNvPr id="45" name="TextBox 44"/>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46" name="TextBox 45"/>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TextBox 1"/>
          <p:cNvSpPr txBox="1"/>
          <p:nvPr/>
        </p:nvSpPr>
        <p:spPr>
          <a:xfrm>
            <a:off x="365760" y="274320"/>
            <a:ext cx="5486400" cy="274320"/>
          </a:xfrm>
          <a:prstGeom prst="rect">
            <a:avLst/>
          </a:prstGeom>
          <a:noFill/>
        </p:spPr>
        <p:txBody>
          <a:bodyPr wrap="square" lIns="0" rIns="0" tIns="0" bIns="0" anchor="t">
            <a:spAutoFit/>
          </a:bodyPr>
          <a:lstStyle/>
          <a:p>
            <a:pPr algn="l"/>
            <a:r>
              <a:rPr sz="1000" b="1" i="0" spc="400">
                <a:solidFill>
                  <a:srgbClr val="8FAEEB"/>
                </a:solidFill>
                <a:latin typeface="Calibri"/>
              </a:rPr>
              <a:t>4 · CONTRIBUTIONS &amp; LIMITS</a:t>
            </a:r>
          </a:p>
        </p:txBody>
      </p:sp>
      <p:sp>
        <p:nvSpPr>
          <p:cNvPr id="3" name="TextBox 2"/>
          <p:cNvSpPr txBox="1"/>
          <p:nvPr/>
        </p:nvSpPr>
        <p:spPr>
          <a:xfrm>
            <a:off x="365760" y="548640"/>
            <a:ext cx="11430000" cy="640080"/>
          </a:xfrm>
          <a:prstGeom prst="rect">
            <a:avLst/>
          </a:prstGeom>
          <a:noFill/>
        </p:spPr>
        <p:txBody>
          <a:bodyPr wrap="square" lIns="0" rIns="0" tIns="0" bIns="0" anchor="t">
            <a:spAutoFit/>
          </a:bodyPr>
          <a:lstStyle/>
          <a:p>
            <a:pPr algn="l"/>
            <a:r>
              <a:rPr sz="2800" b="1" i="0">
                <a:solidFill>
                  <a:srgbClr val="1E2761"/>
                </a:solidFill>
                <a:latin typeface="Calibri"/>
              </a:rPr>
              <a:t>Future Work</a:t>
            </a:r>
          </a:p>
        </p:txBody>
      </p:sp>
      <p:sp>
        <p:nvSpPr>
          <p:cNvPr id="4" name="TextBox 3"/>
          <p:cNvSpPr txBox="1"/>
          <p:nvPr/>
        </p:nvSpPr>
        <p:spPr>
          <a:xfrm>
            <a:off x="365760" y="1188720"/>
            <a:ext cx="11430000" cy="365760"/>
          </a:xfrm>
          <a:prstGeom prst="rect">
            <a:avLst/>
          </a:prstGeom>
          <a:noFill/>
        </p:spPr>
        <p:txBody>
          <a:bodyPr wrap="square" lIns="0" rIns="0" tIns="0" bIns="0" anchor="t">
            <a:spAutoFit/>
          </a:bodyPr>
          <a:lstStyle/>
          <a:p>
            <a:pPr algn="l"/>
            <a:r>
              <a:rPr sz="1400" b="0" i="1">
                <a:solidFill>
                  <a:srgbClr val="64748B"/>
                </a:solidFill>
                <a:latin typeface="Calibri"/>
              </a:rPr>
              <a:t>Five natural extensions of this thesis</a:t>
            </a:r>
          </a:p>
        </p:txBody>
      </p:sp>
      <p:sp>
        <p:nvSpPr>
          <p:cNvPr id="5" name="Rectangle 4"/>
          <p:cNvSpPr/>
          <p:nvPr/>
        </p:nvSpPr>
        <p:spPr>
          <a:xfrm>
            <a:off x="457200" y="1783080"/>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783080"/>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457200" cy="548640"/>
          </a:xfrm>
          <a:prstGeom prst="rect">
            <a:avLst/>
          </a:prstGeom>
          <a:noFill/>
        </p:spPr>
        <p:txBody>
          <a:bodyPr wrap="square" lIns="0" rIns="0" tIns="0" bIns="0" anchor="t">
            <a:spAutoFit/>
          </a:bodyPr>
          <a:lstStyle/>
          <a:p>
            <a:pPr algn="l"/>
            <a:r>
              <a:rPr sz="2800" b="1" i="0">
                <a:solidFill>
                  <a:srgbClr val="02C39A"/>
                </a:solidFill>
                <a:latin typeface="Calibri"/>
              </a:rPr>
              <a:t>→</a:t>
            </a:r>
          </a:p>
        </p:txBody>
      </p:sp>
      <p:sp>
        <p:nvSpPr>
          <p:cNvPr id="8" name="TextBox 7"/>
          <p:cNvSpPr txBox="1"/>
          <p:nvPr/>
        </p:nvSpPr>
        <p:spPr>
          <a:xfrm>
            <a:off x="1143000" y="1892807"/>
            <a:ext cx="10469880" cy="320040"/>
          </a:xfrm>
          <a:prstGeom prst="rect">
            <a:avLst/>
          </a:prstGeom>
          <a:noFill/>
        </p:spPr>
        <p:txBody>
          <a:bodyPr wrap="square" lIns="0" rIns="0" tIns="0" bIns="0" anchor="t">
            <a:spAutoFit/>
          </a:bodyPr>
          <a:lstStyle/>
          <a:p>
            <a:pPr algn="l"/>
            <a:r>
              <a:rPr sz="1400" b="1" i="0">
                <a:solidFill>
                  <a:srgbClr val="1E2761"/>
                </a:solidFill>
                <a:latin typeface="Calibri"/>
              </a:rPr>
              <a:t>Multi-application validation</a:t>
            </a:r>
          </a:p>
        </p:txBody>
      </p:sp>
      <p:sp>
        <p:nvSpPr>
          <p:cNvPr id="9" name="TextBox 8"/>
          <p:cNvSpPr txBox="1"/>
          <p:nvPr/>
        </p:nvSpPr>
        <p:spPr>
          <a:xfrm>
            <a:off x="1143000" y="2194560"/>
            <a:ext cx="10469880" cy="365760"/>
          </a:xfrm>
          <a:prstGeom prst="rect">
            <a:avLst/>
          </a:prstGeom>
          <a:noFill/>
        </p:spPr>
        <p:txBody>
          <a:bodyPr wrap="square" lIns="0" rIns="0" tIns="0" bIns="0" anchor="t">
            <a:spAutoFit/>
          </a:bodyPr>
          <a:lstStyle/>
          <a:p>
            <a:pPr algn="l"/>
            <a:r>
              <a:rPr sz="1100" b="0" i="0">
                <a:solidFill>
                  <a:srgbClr val="1A1A2E"/>
                </a:solidFill>
                <a:latin typeface="Calibri"/>
              </a:rPr>
              <a:t>Test the same pipeline on 3-5 APIs with different endpoint structures and cost profiles.</a:t>
            </a:r>
          </a:p>
        </p:txBody>
      </p:sp>
      <p:sp>
        <p:nvSpPr>
          <p:cNvPr id="10" name="Rectangle 9"/>
          <p:cNvSpPr/>
          <p:nvPr/>
        </p:nvSpPr>
        <p:spPr>
          <a:xfrm>
            <a:off x="457200" y="2715768"/>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15768"/>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852927"/>
            <a:ext cx="457200" cy="548640"/>
          </a:xfrm>
          <a:prstGeom prst="rect">
            <a:avLst/>
          </a:prstGeom>
          <a:noFill/>
        </p:spPr>
        <p:txBody>
          <a:bodyPr wrap="square" lIns="0" rIns="0" tIns="0" bIns="0" anchor="t">
            <a:spAutoFit/>
          </a:bodyPr>
          <a:lstStyle/>
          <a:p>
            <a:pPr algn="l"/>
            <a:r>
              <a:rPr sz="2800" b="1" i="0">
                <a:solidFill>
                  <a:srgbClr val="02C39A"/>
                </a:solidFill>
                <a:latin typeface="Calibri"/>
              </a:rPr>
              <a:t>→</a:t>
            </a:r>
          </a:p>
        </p:txBody>
      </p:sp>
      <p:sp>
        <p:nvSpPr>
          <p:cNvPr id="13" name="TextBox 12"/>
          <p:cNvSpPr txBox="1"/>
          <p:nvPr/>
        </p:nvSpPr>
        <p:spPr>
          <a:xfrm>
            <a:off x="1143000" y="2825496"/>
            <a:ext cx="10469880" cy="320040"/>
          </a:xfrm>
          <a:prstGeom prst="rect">
            <a:avLst/>
          </a:prstGeom>
          <a:noFill/>
        </p:spPr>
        <p:txBody>
          <a:bodyPr wrap="square" lIns="0" rIns="0" tIns="0" bIns="0" anchor="t">
            <a:spAutoFit/>
          </a:bodyPr>
          <a:lstStyle/>
          <a:p>
            <a:pPr algn="l"/>
            <a:r>
              <a:rPr sz="1400" b="1" i="0">
                <a:solidFill>
                  <a:srgbClr val="1E2761"/>
                </a:solidFill>
                <a:latin typeface="Calibri"/>
              </a:rPr>
              <a:t>Adaptive adversary</a:t>
            </a:r>
          </a:p>
        </p:txBody>
      </p:sp>
      <p:sp>
        <p:nvSpPr>
          <p:cNvPr id="14" name="TextBox 13"/>
          <p:cNvSpPr txBox="1"/>
          <p:nvPr/>
        </p:nvSpPr>
        <p:spPr>
          <a:xfrm>
            <a:off x="1143000" y="3127248"/>
            <a:ext cx="10469880" cy="365760"/>
          </a:xfrm>
          <a:prstGeom prst="rect">
            <a:avLst/>
          </a:prstGeom>
          <a:noFill/>
        </p:spPr>
        <p:txBody>
          <a:bodyPr wrap="square" lIns="0" rIns="0" tIns="0" bIns="0" anchor="t">
            <a:spAutoFit/>
          </a:bodyPr>
          <a:lstStyle/>
          <a:p>
            <a:pPr algn="l"/>
            <a:r>
              <a:rPr sz="1100" b="0" i="0">
                <a:solidFill>
                  <a:srgbClr val="1A1A2E"/>
                </a:solidFill>
                <a:latin typeface="Calibri"/>
              </a:rPr>
              <a:t>Scenarios where the attacker observes detection feedback and iteratively optimizes endpoint, IP, and timing choices.</a:t>
            </a:r>
          </a:p>
        </p:txBody>
      </p:sp>
      <p:sp>
        <p:nvSpPr>
          <p:cNvPr id="15" name="Rectangle 14"/>
          <p:cNvSpPr/>
          <p:nvPr/>
        </p:nvSpPr>
        <p:spPr>
          <a:xfrm>
            <a:off x="457200" y="3648456"/>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648456"/>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785616"/>
            <a:ext cx="457200" cy="548640"/>
          </a:xfrm>
          <a:prstGeom prst="rect">
            <a:avLst/>
          </a:prstGeom>
          <a:noFill/>
        </p:spPr>
        <p:txBody>
          <a:bodyPr wrap="square" lIns="0" rIns="0" tIns="0" bIns="0" anchor="t">
            <a:spAutoFit/>
          </a:bodyPr>
          <a:lstStyle/>
          <a:p>
            <a:pPr algn="l"/>
            <a:r>
              <a:rPr sz="2800" b="1" i="0">
                <a:solidFill>
                  <a:srgbClr val="02C39A"/>
                </a:solidFill>
                <a:latin typeface="Calibri"/>
              </a:rPr>
              <a:t>→</a:t>
            </a:r>
          </a:p>
        </p:txBody>
      </p:sp>
      <p:sp>
        <p:nvSpPr>
          <p:cNvPr id="18" name="TextBox 17"/>
          <p:cNvSpPr txBox="1"/>
          <p:nvPr/>
        </p:nvSpPr>
        <p:spPr>
          <a:xfrm>
            <a:off x="1143000" y="3758184"/>
            <a:ext cx="10469880" cy="320040"/>
          </a:xfrm>
          <a:prstGeom prst="rect">
            <a:avLst/>
          </a:prstGeom>
          <a:noFill/>
        </p:spPr>
        <p:txBody>
          <a:bodyPr wrap="square" lIns="0" rIns="0" tIns="0" bIns="0" anchor="t">
            <a:spAutoFit/>
          </a:bodyPr>
          <a:lstStyle/>
          <a:p>
            <a:pPr algn="l"/>
            <a:r>
              <a:rPr sz="1400" b="1" i="0">
                <a:solidFill>
                  <a:srgbClr val="1E2761"/>
                </a:solidFill>
                <a:latin typeface="Calibri"/>
              </a:rPr>
              <a:t>Production trace validation</a:t>
            </a:r>
          </a:p>
        </p:txBody>
      </p:sp>
      <p:sp>
        <p:nvSpPr>
          <p:cNvPr id="19" name="TextBox 18"/>
          <p:cNvSpPr txBox="1"/>
          <p:nvPr/>
        </p:nvSpPr>
        <p:spPr>
          <a:xfrm>
            <a:off x="1143000" y="4059936"/>
            <a:ext cx="10469880" cy="365760"/>
          </a:xfrm>
          <a:prstGeom prst="rect">
            <a:avLst/>
          </a:prstGeom>
          <a:noFill/>
        </p:spPr>
        <p:txBody>
          <a:bodyPr wrap="square" lIns="0" rIns="0" tIns="0" bIns="0" anchor="t">
            <a:spAutoFit/>
          </a:bodyPr>
          <a:lstStyle/>
          <a:p>
            <a:pPr algn="l"/>
            <a:r>
              <a:rPr sz="1100" b="0" i="0">
                <a:solidFill>
                  <a:srgbClr val="1A1A2E"/>
                </a:solidFill>
                <a:latin typeface="Calibri"/>
              </a:rPr>
              <a:t>Run the model on anonymized production API logs; explore synthetic-to-real transfer learning.</a:t>
            </a:r>
          </a:p>
        </p:txBody>
      </p:sp>
      <p:sp>
        <p:nvSpPr>
          <p:cNvPr id="20" name="Rectangle 19"/>
          <p:cNvSpPr/>
          <p:nvPr/>
        </p:nvSpPr>
        <p:spPr>
          <a:xfrm>
            <a:off x="457200" y="4581144"/>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581144"/>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718304"/>
            <a:ext cx="457200" cy="548640"/>
          </a:xfrm>
          <a:prstGeom prst="rect">
            <a:avLst/>
          </a:prstGeom>
          <a:noFill/>
        </p:spPr>
        <p:txBody>
          <a:bodyPr wrap="square" lIns="0" rIns="0" tIns="0" bIns="0" anchor="t">
            <a:spAutoFit/>
          </a:bodyPr>
          <a:lstStyle/>
          <a:p>
            <a:pPr algn="l"/>
            <a:r>
              <a:rPr sz="2800" b="1" i="0">
                <a:solidFill>
                  <a:srgbClr val="02C39A"/>
                </a:solidFill>
                <a:latin typeface="Calibri"/>
              </a:rPr>
              <a:t>→</a:t>
            </a:r>
          </a:p>
        </p:txBody>
      </p:sp>
      <p:sp>
        <p:nvSpPr>
          <p:cNvPr id="23" name="TextBox 22"/>
          <p:cNvSpPr txBox="1"/>
          <p:nvPr/>
        </p:nvSpPr>
        <p:spPr>
          <a:xfrm>
            <a:off x="1143000" y="4690872"/>
            <a:ext cx="10469880" cy="320040"/>
          </a:xfrm>
          <a:prstGeom prst="rect">
            <a:avLst/>
          </a:prstGeom>
          <a:noFill/>
        </p:spPr>
        <p:txBody>
          <a:bodyPr wrap="square" lIns="0" rIns="0" tIns="0" bIns="0" anchor="t">
            <a:spAutoFit/>
          </a:bodyPr>
          <a:lstStyle/>
          <a:p>
            <a:pPr algn="l"/>
            <a:r>
              <a:rPr sz="1400" b="1" i="0">
                <a:solidFill>
                  <a:srgbClr val="1E2761"/>
                </a:solidFill>
                <a:latin typeface="Calibri"/>
              </a:rPr>
              <a:t>Protocol-level features</a:t>
            </a:r>
          </a:p>
        </p:txBody>
      </p:sp>
      <p:sp>
        <p:nvSpPr>
          <p:cNvPr id="24" name="TextBox 23"/>
          <p:cNvSpPr txBox="1"/>
          <p:nvPr/>
        </p:nvSpPr>
        <p:spPr>
          <a:xfrm>
            <a:off x="1143000" y="4992624"/>
            <a:ext cx="10469880" cy="365760"/>
          </a:xfrm>
          <a:prstGeom prst="rect">
            <a:avLst/>
          </a:prstGeom>
          <a:noFill/>
        </p:spPr>
        <p:txBody>
          <a:bodyPr wrap="square" lIns="0" rIns="0" tIns="0" bIns="0" anchor="t">
            <a:spAutoFit/>
          </a:bodyPr>
          <a:lstStyle/>
          <a:p>
            <a:pPr algn="l"/>
            <a:r>
              <a:rPr sz="1100" b="0" i="0">
                <a:solidFill>
                  <a:srgbClr val="1A1A2E"/>
                </a:solidFill>
                <a:latin typeface="Calibri"/>
              </a:rPr>
              <a:t>TLS JA3/JA4 fingerprints, HTTP/2 behavior, and browser automation traces (Selenium, Puppeteer).</a:t>
            </a:r>
          </a:p>
        </p:txBody>
      </p:sp>
      <p:sp>
        <p:nvSpPr>
          <p:cNvPr id="25" name="Rectangle 24"/>
          <p:cNvSpPr/>
          <p:nvPr/>
        </p:nvSpPr>
        <p:spPr>
          <a:xfrm>
            <a:off x="457200" y="5513832"/>
            <a:ext cx="112471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513832"/>
            <a:ext cx="73152" cy="8229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650992"/>
            <a:ext cx="457200" cy="548640"/>
          </a:xfrm>
          <a:prstGeom prst="rect">
            <a:avLst/>
          </a:prstGeom>
          <a:noFill/>
        </p:spPr>
        <p:txBody>
          <a:bodyPr wrap="square" lIns="0" rIns="0" tIns="0" bIns="0" anchor="t">
            <a:spAutoFit/>
          </a:bodyPr>
          <a:lstStyle/>
          <a:p>
            <a:pPr algn="l"/>
            <a:r>
              <a:rPr sz="2800" b="1" i="0">
                <a:solidFill>
                  <a:srgbClr val="02C39A"/>
                </a:solidFill>
                <a:latin typeface="Calibri"/>
              </a:rPr>
              <a:t>→</a:t>
            </a:r>
          </a:p>
        </p:txBody>
      </p:sp>
      <p:sp>
        <p:nvSpPr>
          <p:cNvPr id="28" name="TextBox 27"/>
          <p:cNvSpPr txBox="1"/>
          <p:nvPr/>
        </p:nvSpPr>
        <p:spPr>
          <a:xfrm>
            <a:off x="1143000" y="5623560"/>
            <a:ext cx="10469880" cy="320040"/>
          </a:xfrm>
          <a:prstGeom prst="rect">
            <a:avLst/>
          </a:prstGeom>
          <a:noFill/>
        </p:spPr>
        <p:txBody>
          <a:bodyPr wrap="square" lIns="0" rIns="0" tIns="0" bIns="0" anchor="t">
            <a:spAutoFit/>
          </a:bodyPr>
          <a:lstStyle/>
          <a:p>
            <a:pPr algn="l"/>
            <a:r>
              <a:rPr sz="1400" b="1" i="0">
                <a:solidFill>
                  <a:srgbClr val="1E2761"/>
                </a:solidFill>
                <a:latin typeface="Calibri"/>
              </a:rPr>
              <a:t>Richer slow HTTP telemetry</a:t>
            </a:r>
          </a:p>
        </p:txBody>
      </p:sp>
      <p:sp>
        <p:nvSpPr>
          <p:cNvPr id="29" name="TextBox 28"/>
          <p:cNvSpPr txBox="1"/>
          <p:nvPr/>
        </p:nvSpPr>
        <p:spPr>
          <a:xfrm>
            <a:off x="1143000" y="5925312"/>
            <a:ext cx="10469880" cy="365760"/>
          </a:xfrm>
          <a:prstGeom prst="rect">
            <a:avLst/>
          </a:prstGeom>
          <a:noFill/>
        </p:spPr>
        <p:txBody>
          <a:bodyPr wrap="square" lIns="0" rIns="0" tIns="0" bIns="0" anchor="t">
            <a:spAutoFit/>
          </a:bodyPr>
          <a:lstStyle/>
          <a:p>
            <a:pPr algn="l"/>
            <a:r>
              <a:rPr sz="1100" b="0" i="0">
                <a:solidFill>
                  <a:srgbClr val="1A1A2E"/>
                </a:solidFill>
                <a:latin typeface="Calibri"/>
              </a:rPr>
              <a:t>More detailed reverse-proxy and socket-level metrics to model slowloris as a continuous rather than sparse signal.</a:t>
            </a:r>
          </a:p>
        </p:txBody>
      </p:sp>
      <p:sp>
        <p:nvSpPr>
          <p:cNvPr id="30" name="TextBox 29"/>
          <p:cNvSpPr txBox="1"/>
          <p:nvPr/>
        </p:nvSpPr>
        <p:spPr>
          <a:xfrm>
            <a:off x="365760" y="6537960"/>
            <a:ext cx="7315200" cy="228600"/>
          </a:xfrm>
          <a:prstGeom prst="rect">
            <a:avLst/>
          </a:prstGeom>
          <a:noFill/>
        </p:spPr>
        <p:txBody>
          <a:bodyPr wrap="square" lIns="0" rIns="0" tIns="0" bIns="0" anchor="t">
            <a:spAutoFit/>
          </a:bodyPr>
          <a:lstStyle/>
          <a:p>
            <a:pPr algn="l"/>
            <a:r>
              <a:rPr sz="900" b="0" i="0">
                <a:solidFill>
                  <a:srgbClr val="64748B"/>
                </a:solidFill>
                <a:latin typeface="Calibri"/>
              </a:rPr>
              <a:t>Beyza Yavuz · Thesis Checkpoint Presentation</a:t>
            </a:r>
          </a:p>
        </p:txBody>
      </p:sp>
      <p:sp>
        <p:nvSpPr>
          <p:cNvPr id="31" name="TextBox 30"/>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48640"/>
            <a:ext cx="4572000" cy="365760"/>
          </a:xfrm>
          <a:prstGeom prst="rect">
            <a:avLst/>
          </a:prstGeom>
          <a:noFill/>
        </p:spPr>
        <p:txBody>
          <a:bodyPr wrap="square" lIns="0" rIns="0" tIns="0" bIns="0" anchor="t">
            <a:spAutoFit/>
          </a:bodyPr>
          <a:lstStyle/>
          <a:p>
            <a:pPr algn="l"/>
            <a:r>
              <a:rPr sz="1200" b="1" i="0" spc="600">
                <a:solidFill>
                  <a:srgbClr val="02C39A"/>
                </a:solidFill>
                <a:latin typeface="Calibri"/>
              </a:rPr>
              <a:t>CLOSING</a:t>
            </a:r>
          </a:p>
        </p:txBody>
      </p:sp>
      <p:sp>
        <p:nvSpPr>
          <p:cNvPr id="4" name="TextBox 3"/>
          <p:cNvSpPr txBox="1"/>
          <p:nvPr/>
        </p:nvSpPr>
        <p:spPr>
          <a:xfrm>
            <a:off x="457200" y="960120"/>
            <a:ext cx="11430000" cy="731520"/>
          </a:xfrm>
          <a:prstGeom prst="rect">
            <a:avLst/>
          </a:prstGeom>
          <a:noFill/>
        </p:spPr>
        <p:txBody>
          <a:bodyPr wrap="square" lIns="0" rIns="0" tIns="0" bIns="0" anchor="t">
            <a:spAutoFit/>
          </a:bodyPr>
          <a:lstStyle/>
          <a:p>
            <a:pPr algn="l"/>
            <a:r>
              <a:rPr sz="3600" b="1" i="0">
                <a:solidFill>
                  <a:srgbClr val="FFFFFF"/>
                </a:solidFill>
                <a:latin typeface="Calibri"/>
              </a:rPr>
              <a:t>Summary and Verdict</a:t>
            </a:r>
          </a:p>
        </p:txBody>
      </p:sp>
      <p:sp>
        <p:nvSpPr>
          <p:cNvPr id="5" name="Rectangle 4"/>
          <p:cNvSpPr/>
          <p:nvPr/>
        </p:nvSpPr>
        <p:spPr>
          <a:xfrm>
            <a:off x="548640" y="2011680"/>
            <a:ext cx="11064240" cy="1828800"/>
          </a:xfrm>
          <a:prstGeom prst="rect">
            <a:avLst/>
          </a:prstGeom>
          <a:solidFill>
            <a:srgbClr val="131A47"/>
          </a:solidFill>
          <a:ln w="25400">
            <a:solidFill>
              <a:srgbClr val="02C3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240280"/>
            <a:ext cx="731520" cy="1371600"/>
          </a:xfrm>
          <a:prstGeom prst="rect">
            <a:avLst/>
          </a:prstGeom>
          <a:noFill/>
        </p:spPr>
        <p:txBody>
          <a:bodyPr wrap="square" lIns="0" rIns="0" tIns="0" bIns="0" anchor="ctr">
            <a:spAutoFit/>
          </a:bodyPr>
          <a:lstStyle/>
          <a:p>
            <a:pPr algn="l"/>
            <a:r>
              <a:rPr sz="6000" b="1" i="0">
                <a:solidFill>
                  <a:srgbClr val="02C39A"/>
                </a:solidFill>
                <a:latin typeface="Calibri"/>
              </a:rPr>
              <a:t>✓</a:t>
            </a:r>
          </a:p>
        </p:txBody>
      </p:sp>
      <p:sp>
        <p:nvSpPr>
          <p:cNvPr id="7" name="TextBox 6"/>
          <p:cNvSpPr txBox="1"/>
          <p:nvPr/>
        </p:nvSpPr>
        <p:spPr>
          <a:xfrm>
            <a:off x="1737360" y="2194560"/>
            <a:ext cx="9784080" cy="731520"/>
          </a:xfrm>
          <a:prstGeom prst="rect">
            <a:avLst/>
          </a:prstGeom>
          <a:noFill/>
        </p:spPr>
        <p:txBody>
          <a:bodyPr wrap="square" lIns="0" rIns="0" tIns="0" bIns="0" anchor="ctr">
            <a:spAutoFit/>
          </a:bodyPr>
          <a:lstStyle/>
          <a:p>
            <a:pPr algn="l"/>
            <a:r>
              <a:rPr sz="1800" b="1" i="0">
                <a:solidFill>
                  <a:srgbClr val="FFFFFF"/>
                </a:solidFill>
                <a:latin typeface="Calibri"/>
              </a:rPr>
              <a:t>Behavior-based API-layer detection is robust to surface mimicry in this controlled setting.</a:t>
            </a:r>
          </a:p>
        </p:txBody>
      </p:sp>
      <p:sp>
        <p:nvSpPr>
          <p:cNvPr id="8" name="TextBox 7"/>
          <p:cNvSpPr txBox="1"/>
          <p:nvPr/>
        </p:nvSpPr>
        <p:spPr>
          <a:xfrm>
            <a:off x="1737360" y="2971800"/>
            <a:ext cx="9784080" cy="640080"/>
          </a:xfrm>
          <a:prstGeom prst="rect">
            <a:avLst/>
          </a:prstGeom>
          <a:noFill/>
        </p:spPr>
        <p:txBody>
          <a:bodyPr wrap="square" lIns="0" rIns="0" tIns="0" bIns="0" anchor="ctr">
            <a:spAutoFit/>
          </a:bodyPr>
          <a:lstStyle/>
          <a:p>
            <a:pPr algn="l"/>
            <a:r>
              <a:rPr sz="1300" b="0" i="1">
                <a:solidFill>
                  <a:srgbClr val="CADCFC"/>
                </a:solidFill>
                <a:latin typeface="Calibri"/>
              </a:rPr>
              <a:t>Mimicry holdout 91.96% detection · Ablation: rate-only 71% · UA-only 9% · full 99%</a:t>
            </a:r>
          </a:p>
        </p:txBody>
      </p:sp>
      <p:sp>
        <p:nvSpPr>
          <p:cNvPr id="9" name="TextBox 8"/>
          <p:cNvSpPr txBox="1"/>
          <p:nvPr/>
        </p:nvSpPr>
        <p:spPr>
          <a:xfrm>
            <a:off x="640080" y="4160520"/>
            <a:ext cx="457200" cy="457200"/>
          </a:xfrm>
          <a:prstGeom prst="rect">
            <a:avLst/>
          </a:prstGeom>
          <a:noFill/>
        </p:spPr>
        <p:txBody>
          <a:bodyPr wrap="square" lIns="0" rIns="0" tIns="0" bIns="0" anchor="t">
            <a:spAutoFit/>
          </a:bodyPr>
          <a:lstStyle/>
          <a:p>
            <a:pPr algn="l"/>
            <a:r>
              <a:rPr sz="1600" b="1" i="0">
                <a:solidFill>
                  <a:srgbClr val="02C39A"/>
                </a:solidFill>
                <a:latin typeface="Georgia"/>
              </a:rPr>
              <a:t>01</a:t>
            </a:r>
          </a:p>
        </p:txBody>
      </p:sp>
      <p:sp>
        <p:nvSpPr>
          <p:cNvPr id="10" name="TextBox 9"/>
          <p:cNvSpPr txBox="1"/>
          <p:nvPr/>
        </p:nvSpPr>
        <p:spPr>
          <a:xfrm>
            <a:off x="1143000" y="4160520"/>
            <a:ext cx="10515600" cy="548640"/>
          </a:xfrm>
          <a:prstGeom prst="rect">
            <a:avLst/>
          </a:prstGeom>
          <a:noFill/>
        </p:spPr>
        <p:txBody>
          <a:bodyPr wrap="square" lIns="0" rIns="0" tIns="0" bIns="0" anchor="t">
            <a:spAutoFit/>
          </a:bodyPr>
          <a:lstStyle/>
          <a:p>
            <a:pPr algn="l"/>
            <a:r>
              <a:rPr sz="1300" b="0" i="0">
                <a:solidFill>
                  <a:srgbClr val="CADCFC"/>
                </a:solidFill>
                <a:latin typeface="Calibri"/>
              </a:rPr>
              <a:t>The mimicry holdout protocol is the methodological core — the model truly generalizes to a new attack.</a:t>
            </a:r>
          </a:p>
        </p:txBody>
      </p:sp>
      <p:sp>
        <p:nvSpPr>
          <p:cNvPr id="11" name="TextBox 10"/>
          <p:cNvSpPr txBox="1"/>
          <p:nvPr/>
        </p:nvSpPr>
        <p:spPr>
          <a:xfrm>
            <a:off x="640080" y="4800600"/>
            <a:ext cx="457200" cy="457200"/>
          </a:xfrm>
          <a:prstGeom prst="rect">
            <a:avLst/>
          </a:prstGeom>
          <a:noFill/>
        </p:spPr>
        <p:txBody>
          <a:bodyPr wrap="square" lIns="0" rIns="0" tIns="0" bIns="0" anchor="t">
            <a:spAutoFit/>
          </a:bodyPr>
          <a:lstStyle/>
          <a:p>
            <a:pPr algn="l"/>
            <a:r>
              <a:rPr sz="1600" b="1" i="0">
                <a:solidFill>
                  <a:srgbClr val="02C39A"/>
                </a:solidFill>
                <a:latin typeface="Georgia"/>
              </a:rPr>
              <a:t>02</a:t>
            </a:r>
          </a:p>
        </p:txBody>
      </p:sp>
      <p:sp>
        <p:nvSpPr>
          <p:cNvPr id="12" name="TextBox 11"/>
          <p:cNvSpPr txBox="1"/>
          <p:nvPr/>
        </p:nvSpPr>
        <p:spPr>
          <a:xfrm>
            <a:off x="1143000" y="4800600"/>
            <a:ext cx="10515600" cy="548640"/>
          </a:xfrm>
          <a:prstGeom prst="rect">
            <a:avLst/>
          </a:prstGeom>
          <a:noFill/>
        </p:spPr>
        <p:txBody>
          <a:bodyPr wrap="square" lIns="0" rIns="0" tIns="0" bIns="0" anchor="t">
            <a:spAutoFit/>
          </a:bodyPr>
          <a:lstStyle/>
          <a:p>
            <a:pPr algn="l"/>
            <a:r>
              <a:rPr sz="1300" b="0" i="0">
                <a:solidFill>
                  <a:srgbClr val="CADCFC"/>
                </a:solidFill>
                <a:latin typeface="Calibri"/>
              </a:rPr>
              <a:t>Ablation rules out shortcut-learning — neither UA nor rate alone is enough.</a:t>
            </a:r>
          </a:p>
        </p:txBody>
      </p:sp>
      <p:sp>
        <p:nvSpPr>
          <p:cNvPr id="13" name="TextBox 12"/>
          <p:cNvSpPr txBox="1"/>
          <p:nvPr/>
        </p:nvSpPr>
        <p:spPr>
          <a:xfrm>
            <a:off x="640080" y="5440679"/>
            <a:ext cx="457200" cy="457200"/>
          </a:xfrm>
          <a:prstGeom prst="rect">
            <a:avLst/>
          </a:prstGeom>
          <a:noFill/>
        </p:spPr>
        <p:txBody>
          <a:bodyPr wrap="square" lIns="0" rIns="0" tIns="0" bIns="0" anchor="t">
            <a:spAutoFit/>
          </a:bodyPr>
          <a:lstStyle/>
          <a:p>
            <a:pPr algn="l"/>
            <a:r>
              <a:rPr sz="1600" b="1" i="0">
                <a:solidFill>
                  <a:srgbClr val="02C39A"/>
                </a:solidFill>
                <a:latin typeface="Georgia"/>
              </a:rPr>
              <a:t>03</a:t>
            </a:r>
          </a:p>
        </p:txBody>
      </p:sp>
      <p:sp>
        <p:nvSpPr>
          <p:cNvPr id="14" name="TextBox 13"/>
          <p:cNvSpPr txBox="1"/>
          <p:nvPr/>
        </p:nvSpPr>
        <p:spPr>
          <a:xfrm>
            <a:off x="1143000" y="5440679"/>
            <a:ext cx="10515600" cy="548640"/>
          </a:xfrm>
          <a:prstGeom prst="rect">
            <a:avLst/>
          </a:prstGeom>
          <a:noFill/>
        </p:spPr>
        <p:txBody>
          <a:bodyPr wrap="square" lIns="0" rIns="0" tIns="0" bIns="0" anchor="t">
            <a:spAutoFit/>
          </a:bodyPr>
          <a:lstStyle/>
          <a:p>
            <a:pPr algn="l"/>
            <a:r>
              <a:rPr sz="1300" b="0" i="0">
                <a:solidFill>
                  <a:srgbClr val="CADCFC"/>
                </a:solidFill>
                <a:latin typeface="Calibri"/>
              </a:rPr>
              <a:t>Limitations (synthetic traffic, single app, slowloris sparse, two code-level bugs) are transparently logged in Discussion §5.6.</a:t>
            </a:r>
          </a:p>
        </p:txBody>
      </p:sp>
      <p:sp>
        <p:nvSpPr>
          <p:cNvPr id="15" name="TextBox 14"/>
          <p:cNvSpPr txBox="1"/>
          <p:nvPr/>
        </p:nvSpPr>
        <p:spPr>
          <a:xfrm>
            <a:off x="11338560" y="6537960"/>
            <a:ext cx="731520" cy="228600"/>
          </a:xfrm>
          <a:prstGeom prst="rect">
            <a:avLst/>
          </a:prstGeom>
          <a:noFill/>
        </p:spPr>
        <p:txBody>
          <a:bodyPr wrap="square" lIns="0" rIns="0" tIns="0" bIns="0" anchor="t">
            <a:spAutoFit/>
          </a:bodyPr>
          <a:lstStyle/>
          <a:p>
            <a:pPr algn="r"/>
            <a:r>
              <a:rPr sz="900" b="0" i="0">
                <a:solidFill>
                  <a:srgbClr val="64748B"/>
                </a:solidFill>
                <a:latin typeface="Calibri"/>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